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Arial Black" panose="020B0A04020102020204" pitchFamily="34" charset="0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elvetica Neue" panose="020B060402020202020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Proxima Nova" panose="020B0604020202020204" charset="0"/>
      <p:regular r:id="rId26"/>
      <p:bold r:id="rId27"/>
      <p:italic r:id="rId28"/>
      <p:boldItalic r:id="rId29"/>
    </p:embeddedFont>
  </p:embeddedFontLst>
  <p:custDataLst>
    <p:tags r:id="rId3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6427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2d59b0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2d59b049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2d59b049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2b382b33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42b382b33c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42b382b33c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image" Target="../media/image11.jp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2;p16" descr="Background pattern&#10;&#10;Description automatically generated">
            <a:extLst>
              <a:ext uri="{FF2B5EF4-FFF2-40B4-BE49-F238E27FC236}">
                <a16:creationId xmlns:a16="http://schemas.microsoft.com/office/drawing/2014/main" id="{B03F7EC1-3470-4EFA-A4E6-28B4C5CD22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76849" y="3632200"/>
            <a:ext cx="3225800" cy="322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01;p16" descr="A picture containing shape&#10;&#10;Description automatically generated">
            <a:extLst>
              <a:ext uri="{FF2B5EF4-FFF2-40B4-BE49-F238E27FC236}">
                <a16:creationId xmlns:a16="http://schemas.microsoft.com/office/drawing/2014/main" id="{60FD7EDB-3AE9-4FFD-9080-A16E4875A14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096A6914-CF31-492C-A169-C7A06D48DFCF}"/>
              </a:ext>
            </a:extLst>
          </p:cNvPr>
          <p:cNvSpPr txBox="1">
            <a:spLocks/>
          </p:cNvSpPr>
          <p:nvPr/>
        </p:nvSpPr>
        <p:spPr>
          <a:xfrm>
            <a:off x="1622194" y="2525253"/>
            <a:ext cx="6308826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8. ИНДЕКСЫ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061C7664-5886-445A-9997-2F1AD2DB01E5}"/>
              </a:ext>
            </a:extLst>
          </p:cNvPr>
          <p:cNvSpPr txBox="1">
            <a:spLocks/>
          </p:cNvSpPr>
          <p:nvPr/>
        </p:nvSpPr>
        <p:spPr>
          <a:xfrm>
            <a:off x="1609724" y="3100033"/>
            <a:ext cx="8358240" cy="141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ОБСЛУЖИВАНИЕ ИНДЕКСОВ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97696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BE78EF20-C546-4441-9AFB-8AF67FE4E540}"/>
              </a:ext>
            </a:extLst>
          </p:cNvPr>
          <p:cNvSpPr/>
          <p:nvPr/>
        </p:nvSpPr>
        <p:spPr>
          <a:xfrm>
            <a:off x="1719852" y="1434098"/>
            <a:ext cx="329933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 причины обслуживания индексов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в </a:t>
            </a:r>
            <a:r>
              <a:rPr lang="ru-RU" sz="1800" dirty="0" err="1">
                <a:solidFill>
                  <a:schemeClr val="dk1"/>
                </a:solidFill>
              </a:rPr>
              <a:t>Постгресе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17649076-80A0-4CF6-9DE6-2DFF6256FAD7}"/>
              </a:ext>
            </a:extLst>
          </p:cNvPr>
          <p:cNvSpPr/>
          <p:nvPr/>
        </p:nvSpPr>
        <p:spPr>
          <a:xfrm>
            <a:off x="5249348" y="1434109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как это делать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FF8D4CDC-03C2-403A-B571-C5C164A2B8F8}"/>
              </a:ext>
            </a:extLst>
          </p:cNvPr>
          <p:cNvSpPr/>
          <p:nvPr/>
        </p:nvSpPr>
        <p:spPr>
          <a:xfrm>
            <a:off x="1719849" y="3499359"/>
            <a:ext cx="7357406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Перестроить индексы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19ED8C5E-7DCF-4F88-833E-1A46E51DD33A}"/>
              </a:ext>
            </a:extLst>
          </p:cNvPr>
          <p:cNvSpPr/>
          <p:nvPr/>
        </p:nvSpPr>
        <p:spPr>
          <a:xfrm>
            <a:off x="1902732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CBBD64D6-0C55-47C5-9A77-EEB1233947A5}"/>
              </a:ext>
            </a:extLst>
          </p:cNvPr>
          <p:cNvSpPr/>
          <p:nvPr/>
        </p:nvSpPr>
        <p:spPr>
          <a:xfrm>
            <a:off x="5432234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3224B1DE-9B2F-47F6-9E23-F91D25E31BAC}"/>
              </a:ext>
            </a:extLst>
          </p:cNvPr>
          <p:cNvSpPr/>
          <p:nvPr/>
        </p:nvSpPr>
        <p:spPr>
          <a:xfrm>
            <a:off x="1902732" y="3645805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26DD3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826D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3F50B50F-9AAB-4054-BFC2-DBA1C699447B}"/>
              </a:ext>
            </a:extLst>
          </p:cNvPr>
          <p:cNvSpPr/>
          <p:nvPr/>
        </p:nvSpPr>
        <p:spPr>
          <a:xfrm>
            <a:off x="2863612" y="3363561"/>
            <a:ext cx="3145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что обращать внимание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26C80A23-87A8-423D-AAAC-B37457CD7623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213EDBC5-BFA5-4647-AF60-AAE5F2162F45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6C69C3A0-65F8-4476-9976-1D6E30E00F40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9E51662A-9183-40D7-8B9D-9A56A981DEF8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EDA26C3B-8F57-4F3D-A9A1-83A4C0848276}"/>
              </a:ext>
            </a:extLst>
          </p:cNvPr>
          <p:cNvSpPr txBox="1"/>
          <p:nvPr/>
        </p:nvSpPr>
        <p:spPr>
          <a:xfrm>
            <a:off x="2863612" y="1925905"/>
            <a:ext cx="32221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Причины обслуживания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индексов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C5CC9978-778F-4A48-8CD6-6CD079FB1DA5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6EB415BF-C876-4221-A9F6-009FDD834116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99E55951-2688-41F6-B3FE-0320A836203F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1756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ПРИЧИНЫ ОБСЛУЖИВАНИЯ ИНДЕКСОВ</a:t>
            </a: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AEF18C-7F50-46B8-B767-FC9EBD7C4F90}"/>
              </a:ext>
            </a:extLst>
          </p:cNvPr>
          <p:cNvSpPr txBox="1"/>
          <p:nvPr/>
        </p:nvSpPr>
        <p:spPr>
          <a:xfrm>
            <a:off x="1723053" y="1940052"/>
            <a:ext cx="9050694" cy="2370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Обязательно мониторим использование индексов!!</a:t>
            </a:r>
          </a:p>
          <a:p>
            <a:pPr lvl="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285750" lvl="0" indent="-28575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ненужные удаляем (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pg_stat_user_indexes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)</a:t>
            </a:r>
          </a:p>
          <a:p>
            <a:pPr marL="285750" lvl="0" indent="-28575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отсутствующие добавляем (профилирование)</a:t>
            </a:r>
          </a:p>
          <a:p>
            <a:pPr marL="285750" lvl="0" indent="-28575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при постоянном обновлении и удалении появляются также мертвые строки и в индексах, не только в файлах данных, соответственно необоснованно растет размер - лишнее место в памяти и потеря производительности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CAF37-FF4C-4EA6-B06A-803E69AEE172}"/>
              </a:ext>
            </a:extLst>
          </p:cNvPr>
          <p:cNvSpPr txBox="1"/>
          <p:nvPr/>
        </p:nvSpPr>
        <p:spPr>
          <a:xfrm>
            <a:off x="1723053" y="4788767"/>
            <a:ext cx="2510624" cy="35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Посмотрим на практике.</a:t>
            </a:r>
          </a:p>
        </p:txBody>
      </p:sp>
      <p:cxnSp>
        <p:nvCxnSpPr>
          <p:cNvPr id="20" name="Google Shape;323;g142b2dfbfff_0_0">
            <a:extLst>
              <a:ext uri="{FF2B5EF4-FFF2-40B4-BE49-F238E27FC236}">
                <a16:creationId xmlns:a16="http://schemas.microsoft.com/office/drawing/2014/main" id="{2A8C63AA-D872-4E9D-82A3-CE76CD80756D}"/>
              </a:ext>
            </a:extLst>
          </p:cNvPr>
          <p:cNvCxnSpPr>
            <a:cxnSpLocks/>
          </p:cNvCxnSpPr>
          <p:nvPr/>
        </p:nvCxnSpPr>
        <p:spPr>
          <a:xfrm>
            <a:off x="1774825" y="4573005"/>
            <a:ext cx="8929948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3" name="Google Shape;183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0" name="Google Shape;190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НА ЧТО ОБРАЩАТЬ ВНИМАНИЕ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C6FC02-F9B0-4E09-8109-EEED01B8251F}"/>
              </a:ext>
            </a:extLst>
          </p:cNvPr>
          <p:cNvSpPr txBox="1"/>
          <p:nvPr/>
        </p:nvSpPr>
        <p:spPr>
          <a:xfrm>
            <a:off x="1703062" y="2104587"/>
            <a:ext cx="7705081" cy="244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Обязательно смотрим состав индексов и перестраиваем:</a:t>
            </a:r>
          </a:p>
          <a:p>
            <a:pPr lvl="0">
              <a:lnSpc>
                <a:spcPct val="115000"/>
              </a:lnSpc>
              <a:spcBef>
                <a:spcPts val="703"/>
              </a:spcBef>
              <a:buClr>
                <a:schemeClr val="dk1"/>
              </a:buClr>
              <a:buSzPts val="1100"/>
            </a:pPr>
            <a:endParaRPr lang="ru-RU" sz="1600" b="1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387350" lvl="0" indent="-28575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при большой фрагментарности листьев индекса</a:t>
            </a:r>
          </a:p>
          <a:p>
            <a:pPr marL="387350" lvl="0" indent="-28575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при низкой средней плотности</a:t>
            </a:r>
          </a:p>
          <a:p>
            <a:pPr marL="387350" lvl="0" indent="-28575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при большом количестве пустых или удаленных листьев</a:t>
            </a:r>
          </a:p>
          <a:p>
            <a:pPr marL="387350" lvl="0" indent="-285750">
              <a:lnSpc>
                <a:spcPct val="115000"/>
              </a:lnSpc>
              <a:spcBef>
                <a:spcPts val="600"/>
              </a:spcBef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!! REINDEX CONCURRENTLY - только конкурентная перестройка индексов, иначе нужна полная блокировка таблицы !!</a:t>
            </a: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FCECE202-4D5F-4383-A76C-8934E8DFBDE7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09F57C26-62F4-4F77-8B9A-84BA86729D6E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21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04" name="Google Shape;204;p21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05" name="Google Shape;205;p21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1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1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1"/>
            <p:cNvSpPr txBox="1"/>
            <p:nvPr/>
          </p:nvSpPr>
          <p:spPr>
            <a:xfrm>
              <a:off x="3260998" y="5605514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18" name="Google Shape;218;p22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219" name="Google Shape;219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" name="Google Shape;221;p22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222" name="Google Shape;222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" name="Google Shape;225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26" name="Google Shape;226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7" name="Google Shape;227;p22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28" name="Google Shape;228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9BB00C00-B1DB-40CE-B31E-2E7466F37378}"/>
              </a:ext>
            </a:extLst>
          </p:cNvPr>
          <p:cNvSpPr/>
          <p:nvPr/>
        </p:nvSpPr>
        <p:spPr>
          <a:xfrm>
            <a:off x="1725839" y="1706788"/>
            <a:ext cx="284584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 причины обслуживания индексов в </a:t>
            </a:r>
            <a:r>
              <a:rPr lang="ru-RU" sz="1800" dirty="0" err="1">
                <a:solidFill>
                  <a:schemeClr val="dk1"/>
                </a:solidFill>
              </a:rPr>
              <a:t>Постгресе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66B5FF49-ECD7-4F2A-9E52-AAADDB490425}"/>
              </a:ext>
            </a:extLst>
          </p:cNvPr>
          <p:cNvSpPr/>
          <p:nvPr/>
        </p:nvSpPr>
        <p:spPr>
          <a:xfrm>
            <a:off x="4845698" y="1706777"/>
            <a:ext cx="3713583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 как это делать</a:t>
            </a:r>
          </a:p>
        </p:txBody>
      </p:sp>
      <p:pic>
        <p:nvPicPr>
          <p:cNvPr id="18" name="Google Shape;534;g142b2dfbfff_0_351">
            <a:extLst>
              <a:ext uri="{FF2B5EF4-FFF2-40B4-BE49-F238E27FC236}">
                <a16:creationId xmlns:a16="http://schemas.microsoft.com/office/drawing/2014/main" id="{19DE7BB0-47E8-4DBF-8FBA-794E6416D73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86591" y="1872268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35;g142b2dfbfff_0_351">
            <a:extLst>
              <a:ext uri="{FF2B5EF4-FFF2-40B4-BE49-F238E27FC236}">
                <a16:creationId xmlns:a16="http://schemas.microsoft.com/office/drawing/2014/main" id="{3FADC66B-CA10-423D-9B96-F59882003B0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07699" y="1872268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537;g142b2dfbfff_0_351">
            <a:extLst>
              <a:ext uri="{FF2B5EF4-FFF2-40B4-BE49-F238E27FC236}">
                <a16:creationId xmlns:a16="http://schemas.microsoft.com/office/drawing/2014/main" id="{1BBBE722-8DB2-4CBA-A147-680E5C553560}"/>
              </a:ext>
            </a:extLst>
          </p:cNvPr>
          <p:cNvSpPr/>
          <p:nvPr/>
        </p:nvSpPr>
        <p:spPr>
          <a:xfrm>
            <a:off x="1725847" y="3565052"/>
            <a:ext cx="6833435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b="0" i="0" u="none" strike="noStrike" cap="none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Перестроили индексы</a:t>
            </a:r>
          </a:p>
        </p:txBody>
      </p:sp>
      <p:pic>
        <p:nvPicPr>
          <p:cNvPr id="21" name="Google Shape;538;g142b2dfbfff_0_351">
            <a:extLst>
              <a:ext uri="{FF2B5EF4-FFF2-40B4-BE49-F238E27FC236}">
                <a16:creationId xmlns:a16="http://schemas.microsoft.com/office/drawing/2014/main" id="{AEBEF147-27CB-4F2F-8A2E-61774B61AF4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07700" y="3730543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37" name="Google Shape;237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38" name="Google Shape;238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" name="Google Shape;240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41" name="Google Shape;241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4" name="Google Shape;244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45" name="Google Shape;245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" name="Google Shape;246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47" name="Google Shape;247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1651000" y="981094"/>
            <a:ext cx="10236600" cy="826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Посмотреть как изменяется размер индексов</a:t>
            </a: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605D15-6C12-4150-B75E-E502D91898AC}"/>
              </a:ext>
            </a:extLst>
          </p:cNvPr>
          <p:cNvSpPr txBox="1"/>
          <p:nvPr/>
        </p:nvSpPr>
        <p:spPr>
          <a:xfrm>
            <a:off x="1669921" y="1912156"/>
            <a:ext cx="770741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таблицу из 100 000 строк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индекс по любому полю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расширение </a:t>
            </a:r>
            <a:r>
              <a:rPr lang="ru-RU" sz="1600" dirty="0" err="1">
                <a:solidFill>
                  <a:schemeClr val="dk1"/>
                </a:solidFill>
              </a:rPr>
              <a:t>pgstattuple</a:t>
            </a: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Посмотреть размер индекса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Обновить все строки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Посмотреть размер индекса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Перестроить индекс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Убедиться, что индекс вернулся к первоначальному размеру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3CB28A79-4E4A-48DD-BD51-FB1E5376F434}"/>
              </a:ext>
            </a:extLst>
          </p:cNvPr>
          <p:cNvCxnSpPr/>
          <p:nvPr/>
        </p:nvCxnSpPr>
        <p:spPr>
          <a:xfrm>
            <a:off x="1774825" y="172752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5" name="Google Shape;255;p24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1721050" y="2129818"/>
            <a:ext cx="7480200" cy="2387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переходим к сл</a:t>
            </a:r>
            <a:r>
              <a:rPr lang="ru-RU" sz="1800" dirty="0">
                <a:solidFill>
                  <a:schemeClr val="lt1"/>
                </a:solidFill>
              </a:rPr>
              <a:t>е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д</a:t>
            </a:r>
            <a:r>
              <a:rPr lang="ru-RU" sz="1800" dirty="0">
                <a:solidFill>
                  <a:schemeClr val="lt1"/>
                </a:solidFill>
              </a:rPr>
              <a:t>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ющ</a:t>
            </a:r>
            <a:r>
              <a:rPr lang="ru-RU" sz="1800" dirty="0">
                <a:solidFill>
                  <a:schemeClr val="lt1"/>
                </a:solidFill>
              </a:rPr>
              <a:t>е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му блоку Различные виды </a:t>
            </a:r>
            <a:r>
              <a:rPr lang="ru-RU" sz="1800" i="0" u="none" strike="noStrike" cap="none" dirty="0" err="1">
                <a:solidFill>
                  <a:schemeClr val="lt1"/>
                </a:solidFill>
              </a:rPr>
              <a:t>джойнов</a:t>
            </a:r>
            <a:r>
              <a:rPr lang="ru-RU" sz="1800" dirty="0">
                <a:solidFill>
                  <a:schemeClr val="lt1"/>
                </a:solidFill>
              </a:rPr>
              <a:t>, их п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рименение и оптимизация</a:t>
            </a:r>
            <a:r>
              <a:rPr lang="ru-RU" sz="1800" dirty="0">
                <a:solidFill>
                  <a:schemeClr val="lt1"/>
                </a:solidFill>
              </a:rPr>
              <a:t>. Будут рассмотрены темы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lt1"/>
                </a:solidFill>
              </a:rPr>
              <a:t>Джойны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Множества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259" name="Google Shape;259;p24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4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263" name="Google Shape;263;p24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24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265" name="Google Shape;265;p24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267</Words>
  <Application>Microsoft Office PowerPoint</Application>
  <PresentationFormat>Широкоэкранный</PresentationFormat>
  <Paragraphs>82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Proxima Nova</vt:lpstr>
      <vt:lpstr>Arial Black</vt:lpstr>
      <vt:lpstr>Helvetica Neue</vt:lpstr>
      <vt:lpstr>Open Sans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6</cp:revision>
  <dcterms:modified xsi:type="dcterms:W3CDTF">2022-08-29T14:49:04Z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892E138E-46DC-4AA9-9353-0D4F5EB09F17</vt:lpwstr>
  </property>
  <property fmtid="{D5CDD505-2E9C-101B-9397-08002B2CF9AE}" pid="3" name="ArticulatePath">
    <vt:lpwstr>29 Обслуживание индексов</vt:lpwstr>
  </property>
</Properties>
</file>