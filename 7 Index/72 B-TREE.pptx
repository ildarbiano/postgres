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5"/>
  </p:notesMasterIdLst>
  <p:sldIdLst>
    <p:sldId id="256" r:id="rId2"/>
    <p:sldId id="269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custDataLst>
    <p:tags r:id="rId1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C3FD"/>
    <a:srgbClr val="826DD3"/>
    <a:srgbClr val="E5E0F6"/>
    <a:srgbClr val="00C290"/>
    <a:srgbClr val="CCF3E9"/>
    <a:srgbClr val="1B4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905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3139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22d59b049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422d59b049_0_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1422d59b049_0_1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40502478e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140502478ee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140502478ee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422d59b049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422d59b049_0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g1422d59b049_0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422d59b049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1422d59b049_0_2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g1422d59b049_0_2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422d59b049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1422d59b049_0_2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g1422d59b049_0_2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422d59b049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1422d59b049_0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65" name="Google Shape;265;g1422d59b049_0_3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3e3b21b46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13e3b21b463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g13e3b21b46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8" name="Google Shape;33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hyperlink" Target="https://habr.com/ru/company/postgrespro/blog/330544/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11" Type="http://schemas.openxmlformats.org/officeDocument/2006/relationships/hyperlink" Target="https://www.cybertec-postgresql.com/en/b-tree-index-deduplication/" TargetMode="External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10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10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10" Type="http://schemas.openxmlformats.org/officeDocument/2006/relationships/image" Target="../media/image11.png"/><Relationship Id="rId4" Type="http://schemas.openxmlformats.org/officeDocument/2006/relationships/hyperlink" Target="https://ru.wikipedia.org/wiki/%D0%92%D1%8B%D1%87%D0%B8%D1%81%D0%BB%D0%B8%D1%82%D0%B5%D0%BB%D1%8C%D0%BD%D0%B0%D1%8F_%D1%81%D0%BB%D0%BE%D0%B6%D0%BD%D0%BE%D1%81%D1%82%D1%8C" TargetMode="Externa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11" Type="http://schemas.openxmlformats.org/officeDocument/2006/relationships/hyperlink" Target="https://www.db-fiddle.com/f/v98FqExg2Lw7MLeb2PKPhR/0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s://www.db-fiddle.com/f/97z9hNo3ZqFCXUvN9DNAV5/0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hyperlink" Target="https://www.db-fiddle.com/f/97z9hNo3ZqFCXUvN9DNAV5/0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1;p1">
            <a:extLst>
              <a:ext uri="{FF2B5EF4-FFF2-40B4-BE49-F238E27FC236}">
                <a16:creationId xmlns:a16="http://schemas.microsoft.com/office/drawing/2014/main" id="{FB95C54C-A65C-48D1-91D1-E9FAE37E9F11}"/>
              </a:ext>
            </a:extLst>
          </p:cNvPr>
          <p:cNvSpPr txBox="1">
            <a:spLocks/>
          </p:cNvSpPr>
          <p:nvPr/>
        </p:nvSpPr>
        <p:spPr>
          <a:xfrm>
            <a:off x="1622194" y="2923360"/>
            <a:ext cx="6308826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r>
              <a:rPr lang="ru-RU" dirty="0"/>
              <a:t>БЛОК 8. ИНДЕКЕСЫ</a:t>
            </a:r>
          </a:p>
        </p:txBody>
      </p:sp>
      <p:sp>
        <p:nvSpPr>
          <p:cNvPr id="23" name="Google Shape;82;p1">
            <a:extLst>
              <a:ext uri="{FF2B5EF4-FFF2-40B4-BE49-F238E27FC236}">
                <a16:creationId xmlns:a16="http://schemas.microsoft.com/office/drawing/2014/main" id="{0D9EAF78-A014-4CFF-B3FC-B1F2B3EA5205}"/>
              </a:ext>
            </a:extLst>
          </p:cNvPr>
          <p:cNvSpPr txBox="1">
            <a:spLocks/>
          </p:cNvSpPr>
          <p:nvPr/>
        </p:nvSpPr>
        <p:spPr>
          <a:xfrm>
            <a:off x="1609724" y="3498140"/>
            <a:ext cx="8358240" cy="70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>
                <a:solidFill>
                  <a:srgbClr val="FFFFFF"/>
                </a:solidFill>
              </a:rPr>
              <a:t>B-TREE</a:t>
            </a:r>
            <a:endParaRPr lang="ru-RU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61148" y="389425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07CA18EE-4FDD-4BA9-BA29-3ABFFA5C9EE7}"/>
              </a:ext>
            </a:extLst>
          </p:cNvPr>
          <p:cNvSpPr/>
          <p:nvPr/>
        </p:nvSpPr>
        <p:spPr>
          <a:xfrm>
            <a:off x="1719852" y="1614489"/>
            <a:ext cx="3299336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Понять, зачем нужны </a:t>
            </a:r>
            <a:r>
              <a:rPr lang="ru-RU" sz="1800" dirty="0" err="1">
                <a:solidFill>
                  <a:schemeClr val="dk1"/>
                </a:solidFill>
              </a:rPr>
              <a:t>btree</a:t>
            </a:r>
            <a:r>
              <a:rPr lang="ru-RU" sz="1800" dirty="0">
                <a:solidFill>
                  <a:schemeClr val="dk1"/>
                </a:solidFill>
              </a:rPr>
              <a:t> индексы</a:t>
            </a:r>
          </a:p>
        </p:txBody>
      </p:sp>
      <p:sp>
        <p:nvSpPr>
          <p:cNvPr id="21" name="Google Shape;283;p2">
            <a:extLst>
              <a:ext uri="{FF2B5EF4-FFF2-40B4-BE49-F238E27FC236}">
                <a16:creationId xmlns:a16="http://schemas.microsoft.com/office/drawing/2014/main" id="{4DBA3E24-8A72-4863-BB11-81CA000FCB89}"/>
              </a:ext>
            </a:extLst>
          </p:cNvPr>
          <p:cNvSpPr/>
          <p:nvPr/>
        </p:nvSpPr>
        <p:spPr>
          <a:xfrm>
            <a:off x="5249348" y="1614500"/>
            <a:ext cx="3827907" cy="1822800"/>
          </a:xfrm>
          <a:prstGeom prst="roundRect">
            <a:avLst>
              <a:gd name="adj" fmla="val 6634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 архитектура </a:t>
            </a:r>
          </a:p>
          <a:p>
            <a:pPr marL="114300" lvl="0">
              <a:buClr>
                <a:schemeClr val="dk1"/>
              </a:buClr>
              <a:buSzPts val="1800"/>
            </a:pPr>
            <a:r>
              <a:rPr lang="en-US" sz="1800" dirty="0" err="1">
                <a:solidFill>
                  <a:schemeClr val="dk1"/>
                </a:solidFill>
              </a:rPr>
              <a:t>btree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ru-RU" sz="1800" dirty="0">
                <a:solidFill>
                  <a:schemeClr val="dk1"/>
                </a:solidFill>
              </a:rPr>
              <a:t>индекса</a:t>
            </a:r>
          </a:p>
        </p:txBody>
      </p:sp>
      <p:sp>
        <p:nvSpPr>
          <p:cNvPr id="22" name="Google Shape;284;p2">
            <a:extLst>
              <a:ext uri="{FF2B5EF4-FFF2-40B4-BE49-F238E27FC236}">
                <a16:creationId xmlns:a16="http://schemas.microsoft.com/office/drawing/2014/main" id="{451C66F2-BF2C-4538-8C02-88B05769F47A}"/>
              </a:ext>
            </a:extLst>
          </p:cNvPr>
          <p:cNvSpPr/>
          <p:nvPr/>
        </p:nvSpPr>
        <p:spPr>
          <a:xfrm>
            <a:off x="5915310" y="3679750"/>
            <a:ext cx="3161945" cy="1822800"/>
          </a:xfrm>
          <a:prstGeom prst="roundRect">
            <a:avLst>
              <a:gd name="adj" fmla="val 8306"/>
            </a:avLst>
          </a:prstGeom>
          <a:solidFill>
            <a:srgbClr val="CBF2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Научиться создавать </a:t>
            </a:r>
          </a:p>
          <a:p>
            <a:pPr marL="114300" lvl="0">
              <a:buClr>
                <a:schemeClr val="dk1"/>
              </a:buClr>
              <a:buSzPts val="1800"/>
            </a:pPr>
            <a:r>
              <a:rPr lang="en-US" sz="1800" dirty="0" err="1">
                <a:solidFill>
                  <a:schemeClr val="dk1"/>
                </a:solidFill>
              </a:rPr>
              <a:t>btree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ru-RU" sz="1800" dirty="0">
                <a:solidFill>
                  <a:schemeClr val="dk1"/>
                </a:solidFill>
              </a:rPr>
              <a:t>индекс</a:t>
            </a:r>
          </a:p>
        </p:txBody>
      </p:sp>
      <p:sp>
        <p:nvSpPr>
          <p:cNvPr id="23" name="Google Shape;285;p2">
            <a:extLst>
              <a:ext uri="{FF2B5EF4-FFF2-40B4-BE49-F238E27FC236}">
                <a16:creationId xmlns:a16="http://schemas.microsoft.com/office/drawing/2014/main" id="{DA1D2C48-430D-4E36-BF6C-BAAD4880AC7D}"/>
              </a:ext>
            </a:extLst>
          </p:cNvPr>
          <p:cNvSpPr/>
          <p:nvPr/>
        </p:nvSpPr>
        <p:spPr>
          <a:xfrm>
            <a:off x="1719849" y="3679750"/>
            <a:ext cx="3915628" cy="1822800"/>
          </a:xfrm>
          <a:prstGeom prst="roundRect">
            <a:avLst>
              <a:gd name="adj" fmla="val 551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Узнать их плюсы </a:t>
            </a: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и минусы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88;p2">
            <a:extLst>
              <a:ext uri="{FF2B5EF4-FFF2-40B4-BE49-F238E27FC236}">
                <a16:creationId xmlns:a16="http://schemas.microsoft.com/office/drawing/2014/main" id="{BCC6A34B-B6B8-4555-8A17-BEA93EB5DF62}"/>
              </a:ext>
            </a:extLst>
          </p:cNvPr>
          <p:cNvSpPr/>
          <p:nvPr/>
        </p:nvSpPr>
        <p:spPr>
          <a:xfrm>
            <a:off x="1902732" y="17191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01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89;p2">
            <a:extLst>
              <a:ext uri="{FF2B5EF4-FFF2-40B4-BE49-F238E27FC236}">
                <a16:creationId xmlns:a16="http://schemas.microsoft.com/office/drawing/2014/main" id="{62480256-2D7F-401A-9E57-C84999E644F1}"/>
              </a:ext>
            </a:extLst>
          </p:cNvPr>
          <p:cNvSpPr/>
          <p:nvPr/>
        </p:nvSpPr>
        <p:spPr>
          <a:xfrm>
            <a:off x="5432234" y="17191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290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00C29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Google Shape;290;p2">
            <a:extLst>
              <a:ext uri="{FF2B5EF4-FFF2-40B4-BE49-F238E27FC236}">
                <a16:creationId xmlns:a16="http://schemas.microsoft.com/office/drawing/2014/main" id="{79DDF220-C010-47D5-8E5D-7694CDC8217B}"/>
              </a:ext>
            </a:extLst>
          </p:cNvPr>
          <p:cNvSpPr/>
          <p:nvPr/>
        </p:nvSpPr>
        <p:spPr>
          <a:xfrm>
            <a:off x="6098198" y="378435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7C3FD"/>
                </a:solidFill>
                <a:sym typeface="Arial"/>
              </a:rPr>
              <a:t>04</a:t>
            </a:r>
            <a:endParaRPr sz="1500" b="0" i="0" u="none" strike="noStrike" cap="none" dirty="0">
              <a:solidFill>
                <a:srgbClr val="07C3F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Google Shape;291;p2">
            <a:extLst>
              <a:ext uri="{FF2B5EF4-FFF2-40B4-BE49-F238E27FC236}">
                <a16:creationId xmlns:a16="http://schemas.microsoft.com/office/drawing/2014/main" id="{5C9DF978-9303-4079-93B1-D890607E9BD4}"/>
              </a:ext>
            </a:extLst>
          </p:cNvPr>
          <p:cNvSpPr/>
          <p:nvPr/>
        </p:nvSpPr>
        <p:spPr>
          <a:xfrm>
            <a:off x="1902732" y="382619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26DD3"/>
                </a:solidFill>
                <a:sym typeface="Arial"/>
              </a:rPr>
              <a:t>03</a:t>
            </a:r>
            <a:endParaRPr sz="1500" b="0" i="0" u="none" strike="noStrike" cap="none" dirty="0">
              <a:solidFill>
                <a:srgbClr val="826D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995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47A3CF45-B47B-4B2D-89DF-D2FDA290B41A}"/>
              </a:ext>
            </a:extLst>
          </p:cNvPr>
          <p:cNvSpPr/>
          <p:nvPr/>
        </p:nvSpPr>
        <p:spPr>
          <a:xfrm>
            <a:off x="2863612" y="3517449"/>
            <a:ext cx="3145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Плюсы и минусы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10F656C6-F0ED-454D-8956-6E72699C8526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6B33A058-590A-405A-B936-B83ADFEEB776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04A41BA3-CE4F-4326-A2FD-7D2C18DC309F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2FEAB675-9F76-49AD-9A19-350B792DEAD2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A81533ED-8E33-469B-B962-764F9D1659BE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B-tree </a:t>
            </a:r>
            <a:r>
              <a:rPr lang="ru-RU" sz="2000" dirty="0">
                <a:solidFill>
                  <a:schemeClr val="dk1"/>
                </a:solidFill>
              </a:rPr>
              <a:t>индекс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F7E8D565-17EC-4282-8B44-0F7CF55EB0D1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01E42312-4E0E-4F88-85D4-4CF58384BEBE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FEBC2221-0625-40A1-9F95-29D3D6CE3736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5670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2" name="Google Shape;162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5" name="Google Shape;165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" name="Google Shape;168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69" name="Google Shape;169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1" name="Google Shape;171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СВОЙСТВА </a:t>
            </a:r>
            <a:r>
              <a:rPr lang="en-US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BTREE </a:t>
            </a: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ИНДЕКСА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1236768" y="1501500"/>
            <a:ext cx="8984700" cy="1201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1" dirty="0">
                <a:solidFill>
                  <a:srgbClr val="111111"/>
                </a:solidFill>
                <a:highlight>
                  <a:srgbClr val="FFFFFF"/>
                </a:highlight>
              </a:rPr>
              <a:t>Используется в 99% индексов.</a:t>
            </a:r>
            <a:endParaRPr sz="1600" b="1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111111"/>
                </a:solidFill>
                <a:highlight>
                  <a:srgbClr val="FFFFFF"/>
                </a:highlight>
              </a:rPr>
              <a:t>Применим для любого типа, который можно отсортировать в чётко определённом линейном порядке.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2AAA45-A7EB-4749-8443-2CB2CEAD1499}"/>
              </a:ext>
            </a:extLst>
          </p:cNvPr>
          <p:cNvSpPr txBox="1"/>
          <p:nvPr/>
        </p:nvSpPr>
        <p:spPr>
          <a:xfrm>
            <a:off x="1236768" y="2910061"/>
            <a:ext cx="958301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algn="just"/>
            <a:r>
              <a:rPr lang="ru-RU" dirty="0">
                <a:solidFill>
                  <a:srgbClr val="111111"/>
                </a:solidFill>
                <a:highlight>
                  <a:srgbClr val="FFFFFF"/>
                </a:highlight>
              </a:rPr>
              <a:t> </a:t>
            </a:r>
          </a:p>
          <a:p>
            <a:pPr marL="457200" lvl="0" algn="just">
              <a:buClr>
                <a:schemeClr val="dk1"/>
              </a:buClr>
              <a:buSzPts val="1100"/>
            </a:pPr>
            <a:r>
              <a:rPr lang="ru-RU" b="1" dirty="0">
                <a:solidFill>
                  <a:srgbClr val="111111"/>
                </a:solidFill>
                <a:highlight>
                  <a:srgbClr val="FFFFFF"/>
                </a:highlight>
              </a:rPr>
              <a:t>Поддерживает:</a:t>
            </a:r>
          </a:p>
          <a:p>
            <a:pPr marL="742950" lvl="0" indent="-285750" algn="just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11111"/>
                </a:solidFill>
                <a:highlight>
                  <a:srgbClr val="FFFFFF"/>
                </a:highlight>
              </a:rPr>
              <a:t>операторы сравнения &gt;, &lt;, =, &gt;=, &lt;=, BETWEEN и IN</a:t>
            </a:r>
          </a:p>
          <a:p>
            <a:pPr marL="742950" lvl="0" indent="-285750" algn="just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11111"/>
                </a:solidFill>
                <a:highlight>
                  <a:srgbClr val="FFFFFF"/>
                </a:highlight>
              </a:rPr>
              <a:t>условия пустоты IS NULL и IS NOT NULL</a:t>
            </a:r>
          </a:p>
          <a:p>
            <a:pPr marL="742950" lvl="0" indent="-285750" algn="just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11111"/>
                </a:solidFill>
                <a:highlight>
                  <a:srgbClr val="FFFFFF"/>
                </a:highlight>
              </a:rPr>
              <a:t>операторы поиска подстроки LIKE и ~, если искомая строка закреплена в начале шаблона (например </a:t>
            </a:r>
            <a:r>
              <a:rPr lang="ru-RU" dirty="0" err="1">
                <a:solidFill>
                  <a:srgbClr val="111111"/>
                </a:solidFill>
                <a:highlight>
                  <a:srgbClr val="FFFFFF"/>
                </a:highlight>
              </a:rPr>
              <a:t>str</a:t>
            </a:r>
            <a:r>
              <a:rPr lang="ru-RU" dirty="0">
                <a:solidFill>
                  <a:srgbClr val="111111"/>
                </a:solidFill>
                <a:highlight>
                  <a:srgbClr val="FFFFFF"/>
                </a:highlight>
              </a:rPr>
              <a:t> LIKE '</a:t>
            </a:r>
            <a:r>
              <a:rPr lang="ru-RU" dirty="0" err="1">
                <a:solidFill>
                  <a:srgbClr val="111111"/>
                </a:solidFill>
                <a:highlight>
                  <a:srgbClr val="FFFFFF"/>
                </a:highlight>
              </a:rPr>
              <a:t>search</a:t>
            </a:r>
            <a:r>
              <a:rPr lang="ru-RU" dirty="0">
                <a:solidFill>
                  <a:srgbClr val="111111"/>
                </a:solidFill>
                <a:highlight>
                  <a:srgbClr val="FFFFFF"/>
                </a:highlight>
              </a:rPr>
              <a:t>%')</a:t>
            </a:r>
          </a:p>
          <a:p>
            <a:pPr marL="742950" lvl="0" indent="-285750" algn="just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111111"/>
                </a:solidFill>
                <a:highlight>
                  <a:srgbClr val="FFFFFF"/>
                </a:highlight>
              </a:rPr>
              <a:t>регистронезависимые</a:t>
            </a:r>
            <a:r>
              <a:rPr lang="ru-RU" dirty="0">
                <a:solidFill>
                  <a:srgbClr val="111111"/>
                </a:solidFill>
                <a:highlight>
                  <a:srgbClr val="FFFFFF"/>
                </a:highlight>
              </a:rPr>
              <a:t> операторы поиска подстроки ILIKE и ~* (но только в том случае, если искомая строка начинается с символа, который одинаков и в верхнем, и в нижнем регистре, например, числа)</a:t>
            </a:r>
          </a:p>
          <a:p>
            <a:pPr marL="457200" lvl="0" algn="just"/>
            <a:endParaRPr lang="ru-RU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algn="just"/>
            <a:r>
              <a:rPr lang="ru-RU" u="sng" dirty="0">
                <a:solidFill>
                  <a:schemeClr val="hlink"/>
                </a:solidFill>
                <a:highlight>
                  <a:srgbClr val="FFFFFF"/>
                </a:highlight>
                <a:hlinkClick r:id="rId10"/>
              </a:rPr>
              <a:t>https://habr.com/ru/company/postgrespro/blog/330544/</a:t>
            </a:r>
            <a:r>
              <a:rPr lang="ru-RU" dirty="0">
                <a:solidFill>
                  <a:srgbClr val="111111"/>
                </a:solidFill>
                <a:highlight>
                  <a:srgbClr val="FFFFFF"/>
                </a:highlight>
              </a:rPr>
              <a:t> </a:t>
            </a:r>
          </a:p>
          <a:p>
            <a:endParaRPr lang="ru-RU" dirty="0"/>
          </a:p>
        </p:txBody>
      </p:sp>
      <p:cxnSp>
        <p:nvCxnSpPr>
          <p:cNvPr id="20" name="Google Shape;323;g142b2dfbfff_0_0">
            <a:extLst>
              <a:ext uri="{FF2B5EF4-FFF2-40B4-BE49-F238E27FC236}">
                <a16:creationId xmlns:a16="http://schemas.microsoft.com/office/drawing/2014/main" id="{C0C7B622-86CC-4F2F-B0DA-8C5D71366444}"/>
              </a:ext>
            </a:extLst>
          </p:cNvPr>
          <p:cNvCxnSpPr>
            <a:cxnSpLocks/>
          </p:cNvCxnSpPr>
          <p:nvPr/>
        </p:nvCxnSpPr>
        <p:spPr>
          <a:xfrm>
            <a:off x="1774825" y="2870014"/>
            <a:ext cx="8929948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25;p11">
            <a:extLst>
              <a:ext uri="{FF2B5EF4-FFF2-40B4-BE49-F238E27FC236}">
                <a16:creationId xmlns:a16="http://schemas.microsoft.com/office/drawing/2014/main" id="{6011D286-CEF6-4455-A6DC-45814674CCCA}"/>
              </a:ext>
            </a:extLst>
          </p:cNvPr>
          <p:cNvSpPr/>
          <p:nvPr/>
        </p:nvSpPr>
        <p:spPr>
          <a:xfrm>
            <a:off x="1689101" y="1121611"/>
            <a:ext cx="8889906" cy="3761409"/>
          </a:xfrm>
          <a:prstGeom prst="roundRect">
            <a:avLst>
              <a:gd name="adj" fmla="val 5760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3" name="Google Shape;183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86" name="Google Shape;186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9" name="Google Shape;189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90" name="Google Shape;190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1" name="Google Shape;191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2" name="Google Shape;192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1652729" y="325015"/>
            <a:ext cx="107526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5000"/>
              </a:lnSpc>
              <a:buClr>
                <a:schemeClr val="dk1"/>
              </a:buClr>
              <a:buSzPts val="35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en-US" dirty="0">
                <a:sym typeface="Avenir"/>
              </a:rPr>
              <a:t>BTREE - BALANCED TREE, NOT BINARY!</a:t>
            </a:r>
          </a:p>
        </p:txBody>
      </p:sp>
      <p:pic>
        <p:nvPicPr>
          <p:cNvPr id="197" name="Google Shape;197;p20" descr="https://habrastorage.org/web/2e4/4f4/003/2e44f400317048c78e4cec04ab45e48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965450" y="1501370"/>
            <a:ext cx="6334125" cy="28003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129656-518A-4E69-B491-C31682B61F49}"/>
              </a:ext>
            </a:extLst>
          </p:cNvPr>
          <p:cNvSpPr txBox="1"/>
          <p:nvPr/>
        </p:nvSpPr>
        <p:spPr>
          <a:xfrm>
            <a:off x="1708712" y="5964512"/>
            <a:ext cx="7597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1600" u="sng" dirty="0">
                <a:solidFill>
                  <a:schemeClr val="hlink"/>
                </a:solidFill>
                <a:hlinkClick r:id="rId11"/>
              </a:rPr>
              <a:t>https://www.cybertec-postgresql.com/en/b-tree-index-deduplication/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17BA7322-4C0B-488E-BED7-0A8F522F6BAE}"/>
              </a:ext>
            </a:extLst>
          </p:cNvPr>
          <p:cNvGrpSpPr/>
          <p:nvPr/>
        </p:nvGrpSpPr>
        <p:grpSpPr>
          <a:xfrm>
            <a:off x="1774825" y="5078866"/>
            <a:ext cx="8497200" cy="717900"/>
            <a:chOff x="3881705" y="4731057"/>
            <a:chExt cx="8497200" cy="717900"/>
          </a:xfrm>
        </p:grpSpPr>
        <p:sp>
          <p:nvSpPr>
            <p:cNvPr id="23" name="Google Shape;372;p43">
              <a:extLst>
                <a:ext uri="{FF2B5EF4-FFF2-40B4-BE49-F238E27FC236}">
                  <a16:creationId xmlns:a16="http://schemas.microsoft.com/office/drawing/2014/main" id="{098D9073-313C-4109-99CC-B9E5F1E2764A}"/>
                </a:ext>
              </a:extLst>
            </p:cNvPr>
            <p:cNvSpPr/>
            <p:nvPr/>
          </p:nvSpPr>
          <p:spPr>
            <a:xfrm>
              <a:off x="3881705" y="4731057"/>
              <a:ext cx="8497200" cy="717900"/>
            </a:xfrm>
            <a:prstGeom prst="roundRect">
              <a:avLst>
                <a:gd name="adj" fmla="val 16667"/>
              </a:avLst>
            </a:prstGeom>
            <a:solidFill>
              <a:srgbClr val="E5E0F6"/>
            </a:solidFill>
            <a:ln>
              <a:noFill/>
            </a:ln>
          </p:spPr>
          <p:txBody>
            <a:bodyPr spcFirstLastPara="1" wrap="square" lIns="684000" tIns="108000" rIns="180000" bIns="108000" anchor="ctr" anchorCtr="0">
              <a:noAutofit/>
            </a:bodyPr>
            <a:lstStyle/>
            <a:p>
              <a:pPr lvl="0" algn="just"/>
              <a:r>
                <a:rPr lang="ru-RU" dirty="0">
                  <a:solidFill>
                    <a:schemeClr val="dk1"/>
                  </a:solidFill>
                </a:rPr>
                <a:t>Заметка к новой версии </a:t>
              </a:r>
              <a:r>
                <a:rPr lang="ru-RU" dirty="0" err="1">
                  <a:solidFill>
                    <a:schemeClr val="dk1"/>
                  </a:solidFill>
                </a:rPr>
                <a:t>Postgresql</a:t>
              </a:r>
              <a:r>
                <a:rPr lang="ru-RU" dirty="0">
                  <a:solidFill>
                    <a:schemeClr val="dk1"/>
                  </a:solidFill>
                </a:rPr>
                <a:t> 13 – </a:t>
              </a:r>
              <a:r>
                <a:rPr lang="ru-RU" dirty="0" err="1">
                  <a:solidFill>
                    <a:schemeClr val="dk1"/>
                  </a:solidFill>
                </a:rPr>
                <a:t>Btree</a:t>
              </a:r>
              <a:r>
                <a:rPr lang="ru-RU" dirty="0">
                  <a:solidFill>
                    <a:schemeClr val="dk1"/>
                  </a:solidFill>
                </a:rPr>
                <a:t> может весить меньше! (и по умолчанию </a:t>
              </a:r>
            </a:p>
            <a:p>
              <a:pPr lvl="0" algn="just"/>
              <a:r>
                <a:rPr lang="ru-RU" dirty="0">
                  <a:solidFill>
                    <a:schemeClr val="dk1"/>
                  </a:solidFill>
                </a:rPr>
                <a:t>он это и делает)</a:t>
              </a:r>
            </a:p>
          </p:txBody>
        </p:sp>
        <p:pic>
          <p:nvPicPr>
            <p:cNvPr id="24" name="Google Shape;373;p43">
              <a:extLst>
                <a:ext uri="{FF2B5EF4-FFF2-40B4-BE49-F238E27FC236}">
                  <a16:creationId xmlns:a16="http://schemas.microsoft.com/office/drawing/2014/main" id="{02CA73C8-55A7-4C39-A698-1CCC5699EE48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004325" y="4831421"/>
              <a:ext cx="485372" cy="48537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3928" y="1471149"/>
            <a:ext cx="7627599" cy="359117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06" name="Google Shape;206;p21" descr="Shape, circl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1" descr="A picture containing shape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8" name="Google Shape;208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09" name="Google Shape;209;p21" descr="Shape, circle&#10;&#10;Description automatically generated"/>
            <p:cNvPicPr preferRelativeResize="0"/>
            <p:nvPr/>
          </p:nvPicPr>
          <p:blipFill rotWithShape="1">
            <a:blip r:embed="rId7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1" descr="Shape, circle&#10;&#10;Description automatically generated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1" descr="A picture containing 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2" name="Google Shape;212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13" name="Google Shape;213;p21" descr="Shape, circle&#10;&#10;Description automatically generated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4" name="Google Shape;214;p21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15" name="Google Shape;215;p2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25;p11">
            <a:extLst>
              <a:ext uri="{FF2B5EF4-FFF2-40B4-BE49-F238E27FC236}">
                <a16:creationId xmlns:a16="http://schemas.microsoft.com/office/drawing/2014/main" id="{79AFBAC9-A7FB-4BEB-9EF9-8BFDF448836C}"/>
              </a:ext>
            </a:extLst>
          </p:cNvPr>
          <p:cNvSpPr/>
          <p:nvPr/>
        </p:nvSpPr>
        <p:spPr>
          <a:xfrm>
            <a:off x="1689101" y="1440925"/>
            <a:ext cx="8889906" cy="3761409"/>
          </a:xfrm>
          <a:prstGeom prst="roundRect">
            <a:avLst>
              <a:gd name="adj" fmla="val 5760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1651000" y="336950"/>
            <a:ext cx="8205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BTREE. ПОИСК ПО РАВЕНСТВУ = 42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225;p11">
            <a:extLst>
              <a:ext uri="{FF2B5EF4-FFF2-40B4-BE49-F238E27FC236}">
                <a16:creationId xmlns:a16="http://schemas.microsoft.com/office/drawing/2014/main" id="{7BC477CB-6B0C-481B-B9D3-23F357679FBB}"/>
              </a:ext>
            </a:extLst>
          </p:cNvPr>
          <p:cNvSpPr/>
          <p:nvPr/>
        </p:nvSpPr>
        <p:spPr>
          <a:xfrm>
            <a:off x="1689101" y="1440925"/>
            <a:ext cx="8889906" cy="3761409"/>
          </a:xfrm>
          <a:prstGeom prst="roundRect">
            <a:avLst>
              <a:gd name="adj" fmla="val 5760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0" name="Google Shape;2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5695" y="1555346"/>
            <a:ext cx="7813543" cy="346661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27" name="Google Shape;227;p22" descr="Shape, circl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22" descr="A picture containing shape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9" name="Google Shape;229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30" name="Google Shape;230;p22" descr="Shape, circle&#10;&#10;Description automatically generated"/>
            <p:cNvPicPr preferRelativeResize="0"/>
            <p:nvPr/>
          </p:nvPicPr>
          <p:blipFill rotWithShape="1">
            <a:blip r:embed="rId7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2" descr="Shape, circle&#10;&#10;Description automatically generated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2" descr="A picture containing 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3" name="Google Shape;233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34" name="Google Shape;234;p22" descr="Shape, circle&#10;&#10;Description automatically generated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5" name="Google Shape;235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36" name="Google Shape;236;p2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/>
          <p:nvPr/>
        </p:nvSpPr>
        <p:spPr>
          <a:xfrm>
            <a:off x="1651000" y="336950"/>
            <a:ext cx="9009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5000"/>
              </a:lnSpc>
              <a:buClr>
                <a:schemeClr val="dk1"/>
              </a:buClr>
              <a:buSzPts val="3500"/>
            </a:pPr>
            <a:r>
              <a:rPr lang="ru-RU" sz="2500" dirty="0">
                <a:solidFill>
                  <a:srgbClr val="030124"/>
                </a:solidFill>
                <a:latin typeface="Arial Black"/>
                <a:sym typeface="Arial Black"/>
              </a:rPr>
              <a:t>BTREE. ПОИСК ПО НЕРАВЕНСТВУ &lt; 33</a:t>
            </a:r>
          </a:p>
          <a:p>
            <a:pPr>
              <a:lnSpc>
                <a:spcPct val="95000"/>
              </a:lnSpc>
              <a:buClr>
                <a:schemeClr val="dk1"/>
              </a:buClr>
              <a:buSzPts val="3500"/>
            </a:pPr>
            <a:endParaRPr lang="ru-RU" sz="2500" dirty="0">
              <a:solidFill>
                <a:srgbClr val="030124"/>
              </a:solidFill>
              <a:latin typeface="Arial Black"/>
              <a:sym typeface="Arial Black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2AF153AA-D3E1-4060-8E16-4316A1B1D816}"/>
              </a:ext>
            </a:extLst>
          </p:cNvPr>
          <p:cNvSpPr/>
          <p:nvPr/>
        </p:nvSpPr>
        <p:spPr>
          <a:xfrm>
            <a:off x="1763395" y="1492538"/>
            <a:ext cx="4113234" cy="3785961"/>
          </a:xfrm>
          <a:prstGeom prst="roundRect">
            <a:avLst>
              <a:gd name="adj" fmla="val 3009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400050" lvl="0" indent="-285750">
              <a:spcBef>
                <a:spcPts val="600"/>
              </a:spcBef>
              <a:buClr>
                <a:srgbClr val="11111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11111"/>
                </a:solidFill>
              </a:rPr>
              <a:t>Довольно быстрый индекс - сложность O(</a:t>
            </a:r>
            <a:r>
              <a:rPr lang="ru-RU" dirty="0" err="1">
                <a:solidFill>
                  <a:srgbClr val="111111"/>
                </a:solidFill>
              </a:rPr>
              <a:t>log</a:t>
            </a:r>
            <a:r>
              <a:rPr lang="ru-RU" dirty="0">
                <a:solidFill>
                  <a:srgbClr val="111111"/>
                </a:solidFill>
              </a:rPr>
              <a:t> n) </a:t>
            </a:r>
            <a:r>
              <a:rPr lang="ru-RU" u="sng" dirty="0">
                <a:solidFill>
                  <a:schemeClr val="hlink"/>
                </a:solidFill>
                <a:hlinkClick r:id="rId4"/>
              </a:rPr>
              <a:t>Вычислительная сложность — Википедия</a:t>
            </a:r>
            <a:r>
              <a:rPr lang="ru-RU" dirty="0">
                <a:solidFill>
                  <a:srgbClr val="111111"/>
                </a:solidFill>
              </a:rPr>
              <a:t> </a:t>
            </a:r>
          </a:p>
          <a:p>
            <a:pPr marL="400050" lvl="0" indent="-285750">
              <a:spcBef>
                <a:spcPts val="600"/>
              </a:spcBef>
              <a:buClr>
                <a:srgbClr val="11111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11111"/>
                </a:solidFill>
              </a:rPr>
              <a:t>Широкий диапазон условий для выборки по условиям</a:t>
            </a:r>
          </a:p>
        </p:txBody>
      </p:sp>
      <p:sp>
        <p:nvSpPr>
          <p:cNvPr id="21" name="Google Shape;282;p2">
            <a:extLst>
              <a:ext uri="{FF2B5EF4-FFF2-40B4-BE49-F238E27FC236}">
                <a16:creationId xmlns:a16="http://schemas.microsoft.com/office/drawing/2014/main" id="{61741C0E-F2E9-47F0-ADD5-1F16B2EEC335}"/>
              </a:ext>
            </a:extLst>
          </p:cNvPr>
          <p:cNvSpPr/>
          <p:nvPr/>
        </p:nvSpPr>
        <p:spPr>
          <a:xfrm>
            <a:off x="6315372" y="1492539"/>
            <a:ext cx="4383660" cy="3785960"/>
          </a:xfrm>
          <a:prstGeom prst="roundRect">
            <a:avLst>
              <a:gd name="adj" fmla="val 300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400050" lvl="0" indent="-285750">
              <a:spcBef>
                <a:spcPts val="600"/>
              </a:spcBef>
              <a:buClr>
                <a:srgbClr val="11111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11111"/>
                </a:solidFill>
              </a:rPr>
              <a:t>Если при очередном добавлении/изменении/удалении значения требуется балансировка - довольно медленно. Именно поэтому изначально плотность заполнения 90%</a:t>
            </a:r>
          </a:p>
          <a:p>
            <a:pPr marL="400050" lvl="0" indent="-285750">
              <a:spcBef>
                <a:spcPts val="600"/>
              </a:spcBef>
              <a:buClr>
                <a:srgbClr val="11111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11111"/>
                </a:solidFill>
              </a:rPr>
              <a:t>Необходимо их обслуживать - будет рассмотрено дальше в курсе</a:t>
            </a:r>
          </a:p>
          <a:p>
            <a:pPr marL="400050" lvl="0" indent="-285750">
              <a:spcBef>
                <a:spcPts val="600"/>
              </a:spcBef>
              <a:buClr>
                <a:srgbClr val="11111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11111"/>
                </a:solidFill>
              </a:rPr>
              <a:t>Работает хорошо только с простыми типами данных (числа, даты, денежные)</a:t>
            </a:r>
          </a:p>
          <a:p>
            <a:pPr marL="400050" lvl="0" indent="-285750">
              <a:spcBef>
                <a:spcPts val="600"/>
              </a:spcBef>
              <a:buClr>
                <a:srgbClr val="11111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11111"/>
                </a:solidFill>
              </a:rPr>
              <a:t>Работает со строками, только если ищем по шаблону с начала строки (%АБВ)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D23822-03DE-4D46-82BF-D8684C5EF410}"/>
              </a:ext>
            </a:extLst>
          </p:cNvPr>
          <p:cNvSpPr txBox="1"/>
          <p:nvPr/>
        </p:nvSpPr>
        <p:spPr>
          <a:xfrm>
            <a:off x="1849779" y="1413992"/>
            <a:ext cx="6335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0042C5"/>
                </a:solidFill>
              </a:rPr>
              <a:t>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385566-1244-4CBF-99B9-8F0FBB19C982}"/>
              </a:ext>
            </a:extLst>
          </p:cNvPr>
          <p:cNvSpPr txBox="1"/>
          <p:nvPr/>
        </p:nvSpPr>
        <p:spPr>
          <a:xfrm>
            <a:off x="6368383" y="1413991"/>
            <a:ext cx="4411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7F6AD2"/>
                </a:solidFill>
              </a:rPr>
              <a:t>-</a:t>
            </a:r>
          </a:p>
        </p:txBody>
      </p:sp>
      <p:sp>
        <p:nvSpPr>
          <p:cNvPr id="246" name="Google Shape;246;p23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7" name="Google Shape;247;p23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48" name="Google Shape;248;p23" descr="Shape, circl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3" descr="A picture containing shape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0" name="Google Shape;250;p23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51" name="Google Shape;251;p23" descr="Shape, circle&#10;&#10;Description automatically generated"/>
            <p:cNvPicPr preferRelativeResize="0"/>
            <p:nvPr/>
          </p:nvPicPr>
          <p:blipFill rotWithShape="1">
            <a:blip r:embed="rId7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23" descr="Shape, circle&#10;&#10;Description automatically generated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23" descr="A picture containing 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4" name="Google Shape;254;p23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55" name="Google Shape;255;p23" descr="Shape, circle&#10;&#10;Description automatically generated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6" name="Google Shape;256;p23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8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57" name="Google Shape;257;p2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ПЛЮСЫ И МИНУСЫ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700EE1A-62CA-4CE6-A225-264A23721D0B}"/>
              </a:ext>
            </a:extLst>
          </p:cNvPr>
          <p:cNvSpPr/>
          <p:nvPr/>
        </p:nvSpPr>
        <p:spPr>
          <a:xfrm>
            <a:off x="1658620" y="1076679"/>
            <a:ext cx="10518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ru-RU" sz="1600" b="1" dirty="0">
                <a:solidFill>
                  <a:schemeClr val="tx1"/>
                </a:solidFill>
              </a:rPr>
              <a:t>Плюсы :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25C340E-80F3-4218-BD08-D8C7C95B3E26}"/>
              </a:ext>
            </a:extLst>
          </p:cNvPr>
          <p:cNvSpPr/>
          <p:nvPr/>
        </p:nvSpPr>
        <p:spPr>
          <a:xfrm>
            <a:off x="6270759" y="1075437"/>
            <a:ext cx="10775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ru-RU" sz="1600" b="1" dirty="0">
                <a:solidFill>
                  <a:schemeClr val="tx1"/>
                </a:solidFill>
              </a:rPr>
              <a:t>Минусы: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24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69" name="Google Shape;269;p24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24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1" name="Google Shape;271;p24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72" name="Google Shape;272;p24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4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24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5" name="Google Shape;275;p24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76" name="Google Shape;276;p24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" name="Google Shape;277;p24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9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78" name="Google Shape;278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СТАНДАРТНЫЕ ВИДЫ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1714332" y="1368604"/>
            <a:ext cx="8984700" cy="1471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111111"/>
                </a:solidFill>
                <a:highlight>
                  <a:srgbClr val="FFFFFF"/>
                </a:highlight>
              </a:rPr>
              <a:t>Простой</a:t>
            </a:r>
            <a:endParaRPr sz="1600" b="1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>
                <a:solidFill>
                  <a:schemeClr val="dk1"/>
                </a:solidFill>
              </a:rPr>
              <a:t>create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r>
              <a:rPr lang="ru-RU" sz="1600" dirty="0" err="1">
                <a:solidFill>
                  <a:schemeClr val="dk1"/>
                </a:solidFill>
              </a:rPr>
              <a:t>index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r>
              <a:rPr lang="ru-RU" sz="1600" dirty="0" err="1">
                <a:solidFill>
                  <a:schemeClr val="dk1"/>
                </a:solidFill>
              </a:rPr>
              <a:t>uk_test_id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r>
              <a:rPr lang="ru-RU" sz="1600" dirty="0" err="1">
                <a:solidFill>
                  <a:schemeClr val="dk1"/>
                </a:solidFill>
              </a:rPr>
              <a:t>on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r>
              <a:rPr lang="ru-RU" sz="1600" dirty="0" err="1">
                <a:solidFill>
                  <a:schemeClr val="dk1"/>
                </a:solidFill>
              </a:rPr>
              <a:t>test</a:t>
            </a:r>
            <a:r>
              <a:rPr lang="ru-RU" sz="1600" dirty="0">
                <a:solidFill>
                  <a:schemeClr val="dk1"/>
                </a:solidFill>
              </a:rPr>
              <a:t>(</a:t>
            </a:r>
            <a:r>
              <a:rPr lang="ru-RU" sz="1600" dirty="0" err="1">
                <a:solidFill>
                  <a:schemeClr val="dk1"/>
                </a:solidFill>
              </a:rPr>
              <a:t>id</a:t>
            </a:r>
            <a:r>
              <a:rPr lang="ru-RU" sz="1600" dirty="0">
                <a:solidFill>
                  <a:schemeClr val="dk1"/>
                </a:solidFill>
              </a:rPr>
              <a:t>);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u="sng" dirty="0">
                <a:solidFill>
                  <a:schemeClr val="hlink"/>
                </a:solidFill>
                <a:hlinkClick r:id="rId10"/>
              </a:rPr>
              <a:t>https://www.db-fiddle.com/f/97z9hNo3ZqFCXUvN9DNAV5/0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111111"/>
              </a:solidFill>
              <a:highlight>
                <a:srgbClr val="FFFFFF"/>
              </a:highlight>
            </a:endParaRPr>
          </a:p>
        </p:txBody>
      </p:sp>
      <p:cxnSp>
        <p:nvCxnSpPr>
          <p:cNvPr id="18" name="Google Shape;323;g142b2dfbfff_0_0">
            <a:extLst>
              <a:ext uri="{FF2B5EF4-FFF2-40B4-BE49-F238E27FC236}">
                <a16:creationId xmlns:a16="http://schemas.microsoft.com/office/drawing/2014/main" id="{895AE621-A89E-4BB6-A526-8A540D077847}"/>
              </a:ext>
            </a:extLst>
          </p:cNvPr>
          <p:cNvCxnSpPr>
            <a:cxnSpLocks/>
          </p:cNvCxnSpPr>
          <p:nvPr/>
        </p:nvCxnSpPr>
        <p:spPr>
          <a:xfrm>
            <a:off x="1774825" y="3060514"/>
            <a:ext cx="8929948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9D41472-8EA0-4164-91BA-F2DD05559A92}"/>
              </a:ext>
            </a:extLst>
          </p:cNvPr>
          <p:cNvSpPr/>
          <p:nvPr/>
        </p:nvSpPr>
        <p:spPr>
          <a:xfrm>
            <a:off x="1714332" y="3396319"/>
            <a:ext cx="849646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sz="1600" b="1" dirty="0">
                <a:solidFill>
                  <a:srgbClr val="111111"/>
                </a:solidFill>
                <a:highlight>
                  <a:srgbClr val="FFFFFF"/>
                </a:highlight>
              </a:rPr>
              <a:t>Уникальный</a:t>
            </a:r>
          </a:p>
          <a:p>
            <a:pPr lvl="0" algn="just"/>
            <a:endParaRPr lang="ru-RU" sz="160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lvl="0"/>
            <a:r>
              <a:rPr lang="ru-RU" sz="1600" dirty="0" err="1">
                <a:solidFill>
                  <a:schemeClr val="dk1"/>
                </a:solidFill>
              </a:rPr>
              <a:t>create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r>
              <a:rPr lang="ru-RU" sz="1600" b="1" dirty="0" err="1">
                <a:solidFill>
                  <a:schemeClr val="dk1"/>
                </a:solidFill>
              </a:rPr>
              <a:t>unique</a:t>
            </a:r>
            <a:r>
              <a:rPr lang="ru-RU" sz="1600" b="1" dirty="0">
                <a:solidFill>
                  <a:schemeClr val="dk1"/>
                </a:solidFill>
              </a:rPr>
              <a:t> </a:t>
            </a:r>
            <a:r>
              <a:rPr lang="ru-RU" sz="1600" dirty="0" err="1">
                <a:solidFill>
                  <a:schemeClr val="dk1"/>
                </a:solidFill>
              </a:rPr>
              <a:t>index</a:t>
            </a:r>
            <a:r>
              <a:rPr lang="ru-RU" sz="1600" dirty="0">
                <a:solidFill>
                  <a:schemeClr val="dk1"/>
                </a:solidFill>
              </a:rPr>
              <a:t> uk_test_col2 </a:t>
            </a:r>
            <a:r>
              <a:rPr lang="ru-RU" sz="1600" dirty="0" err="1">
                <a:solidFill>
                  <a:schemeClr val="dk1"/>
                </a:solidFill>
              </a:rPr>
              <a:t>on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r>
              <a:rPr lang="ru-RU" sz="1600" dirty="0" err="1">
                <a:solidFill>
                  <a:schemeClr val="dk1"/>
                </a:solidFill>
              </a:rPr>
              <a:t>test</a:t>
            </a:r>
            <a:r>
              <a:rPr lang="ru-RU" sz="1600" dirty="0">
                <a:solidFill>
                  <a:schemeClr val="dk1"/>
                </a:solidFill>
              </a:rPr>
              <a:t>(col2);</a:t>
            </a:r>
          </a:p>
          <a:p>
            <a:pPr lvl="0"/>
            <a:endParaRPr lang="ru-RU" sz="1600" dirty="0">
              <a:solidFill>
                <a:schemeClr val="dk1"/>
              </a:solidFill>
            </a:endParaRPr>
          </a:p>
          <a:p>
            <a:pPr lvl="0"/>
            <a:r>
              <a:rPr lang="ru-RU" sz="1600" u="sng" dirty="0">
                <a:solidFill>
                  <a:schemeClr val="hlink"/>
                </a:solidFill>
                <a:hlinkClick r:id="rId11"/>
              </a:rPr>
              <a:t>https://www.db-fiddle.com/f/v98FqExg2Lw7MLeb2PKPhR/0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20" name="Google Shape;372;p43">
            <a:extLst>
              <a:ext uri="{FF2B5EF4-FFF2-40B4-BE49-F238E27FC236}">
                <a16:creationId xmlns:a16="http://schemas.microsoft.com/office/drawing/2014/main" id="{3E4BC816-B713-4A11-8C40-EA8B586D4948}"/>
              </a:ext>
            </a:extLst>
          </p:cNvPr>
          <p:cNvSpPr/>
          <p:nvPr/>
        </p:nvSpPr>
        <p:spPr>
          <a:xfrm>
            <a:off x="1774825" y="5033534"/>
            <a:ext cx="8497200" cy="7179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684000" tIns="108000" rIns="180000" bIns="108000" anchor="ctr" anchorCtr="0">
            <a:noAutofit/>
          </a:bodyPr>
          <a:lstStyle/>
          <a:p>
            <a:pPr lvl="0"/>
            <a:r>
              <a:rPr lang="ru-RU" dirty="0">
                <a:solidFill>
                  <a:schemeClr val="dk1"/>
                </a:solidFill>
              </a:rPr>
              <a:t>Не забываем, что если не добавить описание NOT NULL - возможны аномалии</a:t>
            </a:r>
          </a:p>
          <a:p>
            <a:pPr lvl="0">
              <a:buClr>
                <a:schemeClr val="dk1"/>
              </a:buClr>
            </a:pPr>
            <a:r>
              <a:rPr lang="ru-RU" dirty="0">
                <a:solidFill>
                  <a:schemeClr val="dk1"/>
                </a:solidFill>
              </a:rPr>
              <a:t>NULL != NULL</a:t>
            </a:r>
          </a:p>
        </p:txBody>
      </p:sp>
      <p:pic>
        <p:nvPicPr>
          <p:cNvPr id="21" name="Google Shape;373;p43">
            <a:extLst>
              <a:ext uri="{FF2B5EF4-FFF2-40B4-BE49-F238E27FC236}">
                <a16:creationId xmlns:a16="http://schemas.microsoft.com/office/drawing/2014/main" id="{333D2B6F-A943-4382-9DD8-F86CDCE229FB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97445" y="5133898"/>
            <a:ext cx="485372" cy="48537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5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5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9" name="Google Shape;289;p25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290" name="Google Shape;290;p25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91" name="Google Shape;291;p25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5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5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25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5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25"/>
            <p:cNvSpPr txBox="1"/>
            <p:nvPr/>
          </p:nvSpPr>
          <p:spPr>
            <a:xfrm>
              <a:off x="3260998" y="5605514"/>
              <a:ext cx="16917839" cy="2825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04" name="Google Shape;304;p26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305" name="Google Shape;305;p26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26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7" name="Google Shape;307;p26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308" name="Google Shape;308;p26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26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26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1" name="Google Shape;311;p26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12" name="Google Shape;312;p26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3" name="Google Shape;313;p26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11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14" name="Google Shape;314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531;g142b2dfbfff_0_351">
            <a:extLst>
              <a:ext uri="{FF2B5EF4-FFF2-40B4-BE49-F238E27FC236}">
                <a16:creationId xmlns:a16="http://schemas.microsoft.com/office/drawing/2014/main" id="{81E4F9E8-32B3-4B96-AD04-233C3792B3D4}"/>
              </a:ext>
            </a:extLst>
          </p:cNvPr>
          <p:cNvSpPr/>
          <p:nvPr/>
        </p:nvSpPr>
        <p:spPr>
          <a:xfrm>
            <a:off x="1725839" y="1720676"/>
            <a:ext cx="2714100" cy="1607400"/>
          </a:xfrm>
          <a:prstGeom prst="roundRect">
            <a:avLst>
              <a:gd name="adj" fmla="val 5760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01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Понять, зачем нужны </a:t>
            </a:r>
            <a:r>
              <a:rPr lang="ru-RU" sz="1800" dirty="0" err="1">
                <a:solidFill>
                  <a:schemeClr val="dk1"/>
                </a:solidFill>
              </a:rPr>
              <a:t>btree</a:t>
            </a:r>
            <a:r>
              <a:rPr lang="ru-RU" sz="1800" dirty="0">
                <a:solidFill>
                  <a:schemeClr val="dk1"/>
                </a:solidFill>
              </a:rPr>
              <a:t> индексы</a:t>
            </a:r>
          </a:p>
        </p:txBody>
      </p:sp>
      <p:sp>
        <p:nvSpPr>
          <p:cNvPr id="25" name="Google Shape;532;g142b2dfbfff_0_351">
            <a:extLst>
              <a:ext uri="{FF2B5EF4-FFF2-40B4-BE49-F238E27FC236}">
                <a16:creationId xmlns:a16="http://schemas.microsoft.com/office/drawing/2014/main" id="{0F92420C-702B-47D6-A633-DA699ED4DEF9}"/>
              </a:ext>
            </a:extLst>
          </p:cNvPr>
          <p:cNvSpPr/>
          <p:nvPr/>
        </p:nvSpPr>
        <p:spPr>
          <a:xfrm>
            <a:off x="4761325" y="1720665"/>
            <a:ext cx="3705900" cy="1607400"/>
          </a:xfrm>
          <a:prstGeom prst="roundRect">
            <a:avLst>
              <a:gd name="adj" fmla="val 521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Понять архитектуру </a:t>
            </a:r>
            <a:r>
              <a:rPr lang="en-US" sz="1800" dirty="0" err="1">
                <a:solidFill>
                  <a:schemeClr val="dk1"/>
                </a:solidFill>
              </a:rPr>
              <a:t>btree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ru-RU" sz="1800" dirty="0">
                <a:solidFill>
                  <a:schemeClr val="dk1"/>
                </a:solidFill>
              </a:rPr>
              <a:t>индекса</a:t>
            </a:r>
          </a:p>
        </p:txBody>
      </p:sp>
      <p:sp>
        <p:nvSpPr>
          <p:cNvPr id="26" name="Google Shape;533;g142b2dfbfff_0_351">
            <a:extLst>
              <a:ext uri="{FF2B5EF4-FFF2-40B4-BE49-F238E27FC236}">
                <a16:creationId xmlns:a16="http://schemas.microsoft.com/office/drawing/2014/main" id="{EBEB60CC-F79E-4A7B-B448-73730E203D11}"/>
              </a:ext>
            </a:extLst>
          </p:cNvPr>
          <p:cNvSpPr/>
          <p:nvPr/>
        </p:nvSpPr>
        <p:spPr>
          <a:xfrm>
            <a:off x="5571950" y="3578940"/>
            <a:ext cx="2895000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04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Создали </a:t>
            </a:r>
            <a:r>
              <a:rPr lang="ru-RU" sz="1800" dirty="0" err="1">
                <a:solidFill>
                  <a:schemeClr val="dk1"/>
                </a:solidFill>
              </a:rPr>
              <a:t>btree</a:t>
            </a:r>
            <a:r>
              <a:rPr lang="ru-RU" sz="1800" dirty="0">
                <a:solidFill>
                  <a:schemeClr val="dk1"/>
                </a:solidFill>
              </a:rPr>
              <a:t> </a:t>
            </a: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индекс на таблице</a:t>
            </a:r>
          </a:p>
        </p:txBody>
      </p:sp>
      <p:pic>
        <p:nvPicPr>
          <p:cNvPr id="27" name="Google Shape;534;g142b2dfbfff_0_351">
            <a:extLst>
              <a:ext uri="{FF2B5EF4-FFF2-40B4-BE49-F238E27FC236}">
                <a16:creationId xmlns:a16="http://schemas.microsoft.com/office/drawing/2014/main" id="{AAC9E3AE-95FB-4F09-A8EF-CD78ECECFBB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86591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535;g142b2dfbfff_0_351">
            <a:extLst>
              <a:ext uri="{FF2B5EF4-FFF2-40B4-BE49-F238E27FC236}">
                <a16:creationId xmlns:a16="http://schemas.microsoft.com/office/drawing/2014/main" id="{E4A9BE5B-365D-4310-A1EF-589FC2CC335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94574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536;g142b2dfbfff_0_351">
            <a:extLst>
              <a:ext uri="{FF2B5EF4-FFF2-40B4-BE49-F238E27FC236}">
                <a16:creationId xmlns:a16="http://schemas.microsoft.com/office/drawing/2014/main" id="{43EC32BE-70B1-4391-A3C3-01BE7E7D36D0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94575" y="3744431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537;g142b2dfbfff_0_351">
            <a:extLst>
              <a:ext uri="{FF2B5EF4-FFF2-40B4-BE49-F238E27FC236}">
                <a16:creationId xmlns:a16="http://schemas.microsoft.com/office/drawing/2014/main" id="{559499AD-675D-4923-84B1-DC01CB2E83EA}"/>
              </a:ext>
            </a:extLst>
          </p:cNvPr>
          <p:cNvSpPr/>
          <p:nvPr/>
        </p:nvSpPr>
        <p:spPr>
          <a:xfrm>
            <a:off x="1725848" y="3578940"/>
            <a:ext cx="3540600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3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Узнать их плюсы </a:t>
            </a: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и минусы</a:t>
            </a:r>
          </a:p>
        </p:txBody>
      </p:sp>
      <p:pic>
        <p:nvPicPr>
          <p:cNvPr id="31" name="Google Shape;538;g142b2dfbfff_0_351">
            <a:extLst>
              <a:ext uri="{FF2B5EF4-FFF2-40B4-BE49-F238E27FC236}">
                <a16:creationId xmlns:a16="http://schemas.microsoft.com/office/drawing/2014/main" id="{9085155A-9454-4093-8763-B0A15303BAD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91187" y="3744431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1651000" y="336950"/>
            <a:ext cx="8560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 ДЛЯ САМОПРОВЕРКИ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23" name="Google Shape;323;p27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24" name="Google Shape;324;p2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2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6" name="Google Shape;326;p27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27" name="Google Shape;327;p2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2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2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0" name="Google Shape;330;p2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31" name="Google Shape;331;p2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2" name="Google Shape;332;p27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12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33" name="Google Shape;333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B97B2F-BCF9-4E43-9320-3BC2C724F87E}"/>
              </a:ext>
            </a:extLst>
          </p:cNvPr>
          <p:cNvSpPr txBox="1"/>
          <p:nvPr/>
        </p:nvSpPr>
        <p:spPr>
          <a:xfrm>
            <a:off x="1673860" y="2488557"/>
            <a:ext cx="8334333" cy="2693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SzPts val="1800"/>
            </a:pPr>
            <a:r>
              <a:rPr lang="ru-RU" sz="1600" b="1" dirty="0">
                <a:solidFill>
                  <a:schemeClr val="dk1"/>
                </a:solidFill>
              </a:rPr>
              <a:t>Пошаговый план выполнения: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Взять за основу </a:t>
            </a:r>
            <a:r>
              <a:rPr lang="ru-RU" sz="1600" dirty="0" err="1">
                <a:solidFill>
                  <a:schemeClr val="dk1"/>
                </a:solidFill>
              </a:rPr>
              <a:t>фидл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r>
              <a:rPr lang="ru-RU" sz="1600" u="sng" dirty="0">
                <a:solidFill>
                  <a:schemeClr val="hlink"/>
                </a:solidFill>
                <a:hlinkClick r:id="rId10"/>
              </a:rPr>
              <a:t>https://www.db-fiddle.com/f/97z9hNo3ZqFCXUvN9DNAV5/0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Сгенерировать 100 000 записей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Посмотреть план запроса и убедиться, что индекс используется 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Закомментировать строку создания простого индекса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Посмотреть план запроса и убедиться, что индекс НЕ используется 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Задание закончено</a:t>
            </a:r>
          </a:p>
        </p:txBody>
      </p: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AA93E2B7-961D-4F93-B7EB-01A77F7DC63B}"/>
              </a:ext>
            </a:extLst>
          </p:cNvPr>
          <p:cNvCxnSpPr/>
          <p:nvPr/>
        </p:nvCxnSpPr>
        <p:spPr>
          <a:xfrm>
            <a:off x="1774825" y="230331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30EDF86-9DDF-4277-A22F-7E5838BCBA65}"/>
              </a:ext>
            </a:extLst>
          </p:cNvPr>
          <p:cNvSpPr/>
          <p:nvPr/>
        </p:nvSpPr>
        <p:spPr>
          <a:xfrm>
            <a:off x="1673860" y="1492538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buSzPts val="1800"/>
            </a:pPr>
            <a:r>
              <a:rPr lang="ru-RU" sz="1600" b="1" dirty="0">
                <a:solidFill>
                  <a:schemeClr val="dk1"/>
                </a:solidFill>
              </a:rPr>
              <a:t>Цель задания:</a:t>
            </a:r>
          </a:p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Создать B-</a:t>
            </a:r>
            <a:r>
              <a:rPr lang="ru-RU" sz="1600" dirty="0" err="1">
                <a:solidFill>
                  <a:schemeClr val="dk1"/>
                </a:solidFill>
              </a:rPr>
              <a:t>tree</a:t>
            </a:r>
            <a:r>
              <a:rPr lang="ru-RU" sz="1600" dirty="0">
                <a:solidFill>
                  <a:schemeClr val="dk1"/>
                </a:solidFill>
              </a:rPr>
              <a:t> индекс на своей таблице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41" name="Google Shape;341;p28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8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8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8"/>
          <p:cNvSpPr txBox="1"/>
          <p:nvPr/>
        </p:nvSpPr>
        <p:spPr>
          <a:xfrm>
            <a:off x="1721050" y="2613156"/>
            <a:ext cx="7480200" cy="142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lvl="0">
              <a:lnSpc>
                <a:spcPct val="85000"/>
              </a:lnSpc>
              <a:buClr>
                <a:schemeClr val="lt1"/>
              </a:buClr>
              <a:buSzPts val="5400"/>
            </a:pPr>
            <a:r>
              <a:rPr lang="ru-RU" sz="5400" dirty="0">
                <a:solidFill>
                  <a:srgbClr val="FFFFFF"/>
                </a:solidFill>
                <a:latin typeface="Arial Black"/>
              </a:rPr>
              <a:t>СПАСИБО!</a:t>
            </a:r>
            <a:endParaRPr sz="1800" i="0" u="none" strike="noStrike" cap="none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</a:rPr>
              <a:t>На следующем занятии мы </a:t>
            </a:r>
            <a:r>
              <a:rPr lang="ru-RU" sz="1800" dirty="0">
                <a:solidFill>
                  <a:schemeClr val="lt1"/>
                </a:solidFill>
              </a:rPr>
              <a:t>рассмотрим тему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:</a:t>
            </a:r>
            <a:endParaRPr sz="1800" dirty="0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Составной индекс, по выражениям и частичный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345" name="Google Shape;345;p28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8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8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28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349" name="Google Shape;349;p28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28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351" name="Google Shape;351;p28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8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3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507</Words>
  <Application>Microsoft Office PowerPoint</Application>
  <PresentationFormat>Широкоэкранный</PresentationFormat>
  <Paragraphs>124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Arial Black</vt:lpstr>
      <vt:lpstr>Avenir</vt:lpstr>
      <vt:lpstr>Calibri</vt:lpstr>
      <vt:lpstr>Helvetica Neue</vt:lpstr>
      <vt:lpstr>Open Sans</vt:lpstr>
      <vt:lpstr>Proxima Nova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Бондарь Илья Викторович</cp:lastModifiedBy>
  <cp:revision>12</cp:revision>
  <cp:lastPrinted>2026-01-02T17:02:41Z</cp:lastPrinted>
  <dcterms:modified xsi:type="dcterms:W3CDTF">2026-01-02T17:04:20Z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18250D1A-2FF0-43CE-9A1F-BB7813BCBD17</vt:lpwstr>
  </property>
  <property fmtid="{D5CDD505-2E9C-101B-9397-08002B2CF9AE}" pid="3" name="ArticulatePath">
    <vt:lpwstr>25 B-tree</vt:lpwstr>
  </property>
</Properties>
</file>