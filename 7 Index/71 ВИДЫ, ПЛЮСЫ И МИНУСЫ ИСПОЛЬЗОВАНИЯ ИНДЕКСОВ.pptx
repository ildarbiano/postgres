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8"/>
  </p:notesMasterIdLst>
  <p:sldIdLst>
    <p:sldId id="256" r:id="rId2"/>
    <p:sldId id="272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69" r:id="rId15"/>
    <p:sldId id="276" r:id="rId16"/>
    <p:sldId id="271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096" userDrawn="1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Трошин Алексей Валентинович" initials="ТАВ" lastIdx="1" clrIdx="0">
    <p:extLst>
      <p:ext uri="{19B8F6BF-5375-455C-9EA6-DF929625EA0E}">
        <p15:presenceInfo xmlns:p15="http://schemas.microsoft.com/office/powerpoint/2012/main" userId="S-1-5-21-4282006300-870218872-2599774980-1627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C596"/>
    <a:srgbClr val="0042C5"/>
    <a:srgbClr val="7F6AD2"/>
    <a:srgbClr val="E5E0F6"/>
    <a:srgbClr val="15C7FD"/>
    <a:srgbClr val="444444"/>
    <a:srgbClr val="4472C4"/>
    <a:srgbClr val="CCF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449" autoAdjust="0"/>
  </p:normalViewPr>
  <p:slideViewPr>
    <p:cSldViewPr snapToGrid="0">
      <p:cViewPr varScale="1">
        <p:scale>
          <a:sx n="159" d="100"/>
          <a:sy n="159" d="100"/>
        </p:scale>
        <p:origin x="336" y="132"/>
      </p:cViewPr>
      <p:guideLst>
        <p:guide pos="3863"/>
        <p:guide pos="1096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384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9904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0502478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0502478e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0502478ee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22139e9a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1422139e9a1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1422139e9a1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22139e9a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22139e9a1_0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1422139e9a1_0_2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22139e9a1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22139e9a1_0_2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1422139e9a1_0_2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22139e9a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1422139e9a1_0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g1422139e9a1_0_3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422139e9a1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422139e9a1_0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8" name="Google Shape;268;g1422139e9a1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422139e9a1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422139e9a1_0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9" name="Google Shape;289;g1422139e9a1_0_2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22139e9a1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1422139e9a1_0_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1422139e9a1_0_2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22139e9a1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1422139e9a1_0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g1422139e9a1_0_3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8032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2b3de94b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2b3de94b8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g142b3de94b8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0303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7171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www.postgresql.org/docs/14/sql-createindex.html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947EF35D-2D4B-4F31-BA43-3D92C0227EC4}"/>
              </a:ext>
            </a:extLst>
          </p:cNvPr>
          <p:cNvSpPr txBox="1">
            <a:spLocks/>
          </p:cNvSpPr>
          <p:nvPr/>
        </p:nvSpPr>
        <p:spPr>
          <a:xfrm>
            <a:off x="1622194" y="1832497"/>
            <a:ext cx="6308826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pPr lvl="0">
              <a:buClr>
                <a:srgbClr val="000000"/>
              </a:buClr>
              <a:buSzPts val="2000"/>
            </a:pPr>
            <a:r>
              <a:rPr lang="ru-RU" dirty="0"/>
              <a:t>БЛОК 8. ИНДЕКСЫ</a:t>
            </a:r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4D801347-3DF0-403F-AF2E-B44C7B741E1F}"/>
              </a:ext>
            </a:extLst>
          </p:cNvPr>
          <p:cNvSpPr txBox="1">
            <a:spLocks/>
          </p:cNvSpPr>
          <p:nvPr/>
        </p:nvSpPr>
        <p:spPr>
          <a:xfrm>
            <a:off x="1609724" y="2407277"/>
            <a:ext cx="8358240" cy="282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ВИДЫ, ПЛЮСЫ </a:t>
            </a:r>
          </a:p>
          <a:p>
            <a:r>
              <a:rPr lang="ru-RU" dirty="0"/>
              <a:t>И МИНУСЫ ИСПОЛЬЗОВАНИЯ ИНДЕКСОВ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08558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3E2908BE-17D1-435F-A9D9-9B8760D3D74F}"/>
              </a:ext>
            </a:extLst>
          </p:cNvPr>
          <p:cNvSpPr/>
          <p:nvPr/>
        </p:nvSpPr>
        <p:spPr>
          <a:xfrm>
            <a:off x="1763395" y="1259926"/>
            <a:ext cx="2570700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Узнать,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что такое индексы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1D9DAF90-2041-4AB5-B4B2-22F60F8683B9}"/>
              </a:ext>
            </a:extLst>
          </p:cNvPr>
          <p:cNvSpPr/>
          <p:nvPr/>
        </p:nvSpPr>
        <p:spPr>
          <a:xfrm>
            <a:off x="4584166" y="1259937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задачи индексов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EA717C56-B013-407C-B1E5-505F21672A7C}"/>
              </a:ext>
            </a:extLst>
          </p:cNvPr>
          <p:cNvSpPr/>
          <p:nvPr/>
        </p:nvSpPr>
        <p:spPr>
          <a:xfrm>
            <a:off x="5513610" y="3325187"/>
            <a:ext cx="322885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Узнать основные заблуждения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CF0A66DF-0326-425A-930A-719C34B5C45C}"/>
              </a:ext>
            </a:extLst>
          </p:cNvPr>
          <p:cNvSpPr/>
          <p:nvPr/>
        </p:nvSpPr>
        <p:spPr>
          <a:xfrm>
            <a:off x="1763392" y="3325187"/>
            <a:ext cx="3529500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Определить основные виды индексов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A9ECF996-13C5-47A6-84FC-83FB318D4B99}"/>
              </a:ext>
            </a:extLst>
          </p:cNvPr>
          <p:cNvSpPr/>
          <p:nvPr/>
        </p:nvSpPr>
        <p:spPr>
          <a:xfrm>
            <a:off x="1946275" y="136454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4FF6C23F-A7E0-4ED4-9FB6-9E371B7C0962}"/>
              </a:ext>
            </a:extLst>
          </p:cNvPr>
          <p:cNvSpPr/>
          <p:nvPr/>
        </p:nvSpPr>
        <p:spPr>
          <a:xfrm>
            <a:off x="4767051" y="136454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A72EE0EA-5886-4E3B-B25D-F5055A080831}"/>
              </a:ext>
            </a:extLst>
          </p:cNvPr>
          <p:cNvSpPr/>
          <p:nvPr/>
        </p:nvSpPr>
        <p:spPr>
          <a:xfrm>
            <a:off x="5696499" y="342979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5C7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15C7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2EA88659-58D4-426D-AC12-BEF0C9BCED49}"/>
              </a:ext>
            </a:extLst>
          </p:cNvPr>
          <p:cNvSpPr/>
          <p:nvPr/>
        </p:nvSpPr>
        <p:spPr>
          <a:xfrm>
            <a:off x="1946275" y="3471633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7F6AD2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7F6AD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284;p2">
            <a:extLst>
              <a:ext uri="{FF2B5EF4-FFF2-40B4-BE49-F238E27FC236}">
                <a16:creationId xmlns:a16="http://schemas.microsoft.com/office/drawing/2014/main" id="{A477760E-3F94-4101-B9E7-54E3E75B4947}"/>
              </a:ext>
            </a:extLst>
          </p:cNvPr>
          <p:cNvSpPr/>
          <p:nvPr/>
        </p:nvSpPr>
        <p:spPr>
          <a:xfrm>
            <a:off x="8963185" y="1259926"/>
            <a:ext cx="2190331" cy="3888061"/>
          </a:xfrm>
          <a:prstGeom prst="roundRect">
            <a:avLst>
              <a:gd name="adj" fmla="val 8306"/>
            </a:avLst>
          </a:prstGeom>
          <a:solidFill>
            <a:srgbClr val="4472C4">
              <a:alpha val="31000"/>
            </a:srgb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Познакомиться с </a:t>
            </a:r>
            <a:r>
              <a:rPr lang="en-US" sz="1800" dirty="0">
                <a:solidFill>
                  <a:schemeClr val="dk1"/>
                </a:solidFill>
              </a:rPr>
              <a:t>best practice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9" name="Google Shape;289;p2">
            <a:extLst>
              <a:ext uri="{FF2B5EF4-FFF2-40B4-BE49-F238E27FC236}">
                <a16:creationId xmlns:a16="http://schemas.microsoft.com/office/drawing/2014/main" id="{4DB02695-FCFF-4B2D-BA5C-A29BD5E0ABDA}"/>
              </a:ext>
            </a:extLst>
          </p:cNvPr>
          <p:cNvSpPr/>
          <p:nvPr/>
        </p:nvSpPr>
        <p:spPr>
          <a:xfrm>
            <a:off x="9155483" y="1364544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sym typeface="Arial"/>
              </a:rPr>
              <a:t>5</a:t>
            </a:r>
            <a:endParaRPr sz="1500" b="0" i="0" u="none" strike="noStrike" cap="none" dirty="0">
              <a:solidFill>
                <a:srgbClr val="0042C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039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A35028B7-A9DC-444B-A633-7B167CC02806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индексов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423C07E3-DD39-4DEF-9381-C9E8657A5B75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</a:rPr>
              <a:t>Best practice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65B107DC-A181-4753-A869-56A5E21DF393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EB1ED816-5F47-4DBB-874F-160E696B5F73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15467D9C-AC57-487A-8D70-8F8E3C8A32DB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21136856-DFA0-4828-BDA8-01A072F755F1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Задачи индексов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86F01720-BFA7-4DA4-B3EC-18E30DCC1FBE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3B8EDA49-D2CF-424A-8835-5D823D3B5D98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39A21137-1F74-45E7-958E-EFCB3451A56F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969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77C248D2-95FE-4088-ABC5-366866612F1D}"/>
              </a:ext>
            </a:extLst>
          </p:cNvPr>
          <p:cNvSpPr/>
          <p:nvPr/>
        </p:nvSpPr>
        <p:spPr>
          <a:xfrm>
            <a:off x="1689101" y="1842926"/>
            <a:ext cx="8889906" cy="4063965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ИНДЕКСЫ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52045" y="2018146"/>
            <a:ext cx="5760935" cy="36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687350" y="1219029"/>
            <a:ext cx="8817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/>
              <a:t>Что же такое индекс? </a:t>
            </a:r>
            <a:r>
              <a:rPr lang="ru-RU" sz="1600" dirty="0"/>
              <a:t>Самая простая аналогия - оглавление книги:</a:t>
            </a:r>
            <a:endParaRPr sz="1600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4" name="Google Shape;184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" name="Google Shape;186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1" name="Google Shape;191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Google Shape;192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3" name="Google Shape;193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ИНДЕКСЫ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668037" y="2465674"/>
            <a:ext cx="82779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Мы знаем, на какой странице расположена нужная нам информация и можем сразу туда перейти, нам не нужно перелистывать книгу с начала. </a:t>
            </a:r>
            <a:endParaRPr lang="en-US" sz="1600" dirty="0"/>
          </a:p>
        </p:txBody>
      </p:sp>
      <p:cxnSp>
        <p:nvCxnSpPr>
          <p:cNvPr id="18" name="Google Shape;163;p7">
            <a:extLst>
              <a:ext uri="{FF2B5EF4-FFF2-40B4-BE49-F238E27FC236}">
                <a16:creationId xmlns:a16="http://schemas.microsoft.com/office/drawing/2014/main" id="{CCDE589B-E6BC-4A30-8BBC-49810AC47E38}"/>
              </a:ext>
            </a:extLst>
          </p:cNvPr>
          <p:cNvCxnSpPr/>
          <p:nvPr/>
        </p:nvCxnSpPr>
        <p:spPr>
          <a:xfrm>
            <a:off x="1774825" y="3442735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372;p43">
            <a:extLst>
              <a:ext uri="{FF2B5EF4-FFF2-40B4-BE49-F238E27FC236}">
                <a16:creationId xmlns:a16="http://schemas.microsoft.com/office/drawing/2014/main" id="{18CC665B-8144-456B-BC41-17B3778DBD1E}"/>
              </a:ext>
            </a:extLst>
          </p:cNvPr>
          <p:cNvSpPr/>
          <p:nvPr/>
        </p:nvSpPr>
        <p:spPr>
          <a:xfrm>
            <a:off x="1774825" y="3800347"/>
            <a:ext cx="8497200" cy="717900"/>
          </a:xfrm>
          <a:prstGeom prst="roundRect">
            <a:avLst>
              <a:gd name="adj" fmla="val 16667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684000" tIns="108000" rIns="180000" bIns="108000" anchor="ctr" anchorCtr="0">
            <a:noAutofit/>
          </a:bodyPr>
          <a:lstStyle/>
          <a:p>
            <a:pPr lvl="0" algn="just"/>
            <a:r>
              <a:rPr lang="ru-RU" dirty="0"/>
              <a:t>С индексами тоже самое - всегда знаем, где искать ту или иную информацию.</a:t>
            </a:r>
          </a:p>
        </p:txBody>
      </p:sp>
      <p:pic>
        <p:nvPicPr>
          <p:cNvPr id="21" name="Google Shape;373;p43">
            <a:extLst>
              <a:ext uri="{FF2B5EF4-FFF2-40B4-BE49-F238E27FC236}">
                <a16:creationId xmlns:a16="http://schemas.microsoft.com/office/drawing/2014/main" id="{5F35915E-47B7-4AE4-86FE-DBC9CBEB937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97445" y="3900711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25;p11">
            <a:extLst>
              <a:ext uri="{FF2B5EF4-FFF2-40B4-BE49-F238E27FC236}">
                <a16:creationId xmlns:a16="http://schemas.microsoft.com/office/drawing/2014/main" id="{EC75E5F3-B2AE-4D60-B352-07F23D0B0905}"/>
              </a:ext>
            </a:extLst>
          </p:cNvPr>
          <p:cNvSpPr/>
          <p:nvPr/>
        </p:nvSpPr>
        <p:spPr>
          <a:xfrm>
            <a:off x="1689101" y="1218754"/>
            <a:ext cx="8889906" cy="4063965"/>
          </a:xfrm>
          <a:prstGeom prst="roundRect">
            <a:avLst>
              <a:gd name="adj" fmla="val 5760"/>
            </a:avLst>
          </a:prstGeom>
          <a:solidFill>
            <a:srgbClr val="444444"/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" name="Google Shape;211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2" name="Google Shape;212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" name="Google Shape;213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4" name="Google Shape;214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1675287" y="359177"/>
            <a:ext cx="107526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СОЗДАНИЕ ИНДЕКСА</a:t>
            </a:r>
          </a:p>
        </p:txBody>
      </p:sp>
      <p:sp>
        <p:nvSpPr>
          <p:cNvPr id="219" name="Google Shape;219;p21"/>
          <p:cNvSpPr/>
          <p:nvPr/>
        </p:nvSpPr>
        <p:spPr>
          <a:xfrm>
            <a:off x="1817675" y="1381090"/>
            <a:ext cx="8556649" cy="2425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CREATE</a:t>
            </a: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[ UNIQUE ] 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INDEX</a:t>
            </a: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[ CONCURRENTLY ] [ [ IF NOT EXISTS ] 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имя</a:t>
            </a: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]</a:t>
            </a: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ON </a:t>
            </a:r>
            <a:r>
              <a:rPr lang="ru-RU" sz="160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</a:rPr>
              <a:t>имя_таблицы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[ USING метод ]</a:t>
            </a:r>
            <a:endParaRPr sz="1600" dirty="0">
              <a:solidFill>
                <a:srgbClr val="0CC596"/>
              </a:solidFill>
              <a:latin typeface="Consolas" panose="020B0609020204030204" pitchFamily="49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 (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{</a:t>
            </a: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 err="1">
                <a:solidFill>
                  <a:schemeClr val="bg1"/>
                </a:solidFill>
                <a:latin typeface="Consolas" panose="020B0609020204030204" pitchFamily="49" charset="0"/>
              </a:rPr>
              <a:t>имя_столбца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| ( выражение ) } [ COLLATE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правило_сортировки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] [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класс_операторов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] [ ASC | DESC ] [ NULLS { FIRST | LAST } ] [, ...] </a:t>
            </a:r>
            <a:r>
              <a:rPr lang="ru-RU" sz="160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[ INCLUDE ( имя столбца [,...]) ] для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Btree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и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Gist</a:t>
            </a:r>
            <a:endParaRPr sz="1600" dirty="0">
              <a:solidFill>
                <a:srgbClr val="0CC596"/>
              </a:solidFill>
              <a:latin typeface="Consolas" panose="020B0609020204030204" pitchFamily="49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   [ WITH (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параметр_хранения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= значение [, ... ] ) ]</a:t>
            </a:r>
            <a:endParaRPr sz="1600" dirty="0">
              <a:solidFill>
                <a:srgbClr val="0CC596"/>
              </a:solidFill>
              <a:latin typeface="Consolas" panose="020B0609020204030204" pitchFamily="49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   [ TABLESPACE </a:t>
            </a:r>
            <a:r>
              <a:rPr lang="ru-RU" sz="1600" i="0" u="none" strike="noStrike" cap="none" dirty="0" err="1">
                <a:solidFill>
                  <a:srgbClr val="0CC596"/>
                </a:solidFill>
                <a:latin typeface="Consolas" panose="020B0609020204030204" pitchFamily="49" charset="0"/>
              </a:rPr>
              <a:t>табл_пространство</a:t>
            </a: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]</a:t>
            </a:r>
            <a:endParaRPr sz="1600" dirty="0">
              <a:solidFill>
                <a:srgbClr val="0CC596"/>
              </a:solidFill>
              <a:latin typeface="Consolas" panose="020B0609020204030204" pitchFamily="49" charset="0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rgbClr val="0CC596"/>
                </a:solidFill>
                <a:latin typeface="Consolas" panose="020B0609020204030204" pitchFamily="49" charset="0"/>
              </a:rPr>
              <a:t>    [ WHERE предикат ]</a:t>
            </a:r>
            <a:endParaRPr sz="1600" i="0" u="none" strike="noStrike" cap="none" dirty="0">
              <a:solidFill>
                <a:srgbClr val="0CC596"/>
              </a:solidFill>
              <a:latin typeface="Consolas" panose="020B0609020204030204" pitchFamily="49" charset="0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675287" y="5549976"/>
            <a:ext cx="5947321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0" u="none" strike="noStrike" cap="none" dirty="0">
                <a:solidFill>
                  <a:schemeClr val="dk1"/>
                </a:solidFill>
              </a:rPr>
              <a:t>Методы: 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btree</a:t>
            </a:r>
            <a:r>
              <a:rPr lang="ru-RU" sz="1600" b="1" i="0" u="none" strike="noStrike" cap="none" dirty="0">
                <a:solidFill>
                  <a:srgbClr val="212529"/>
                </a:solidFill>
              </a:rPr>
              <a:t>, 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hash</a:t>
            </a:r>
            <a:r>
              <a:rPr lang="ru-RU" sz="1600" b="1" i="0" u="none" strike="noStrike" cap="none" dirty="0">
                <a:solidFill>
                  <a:srgbClr val="212529"/>
                </a:solidFill>
              </a:rPr>
              <a:t>, 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gist</a:t>
            </a:r>
            <a:r>
              <a:rPr lang="ru-RU" sz="1600" b="1" i="0" u="none" strike="noStrike" cap="none" dirty="0">
                <a:solidFill>
                  <a:srgbClr val="212529"/>
                </a:solidFill>
              </a:rPr>
              <a:t>, 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spgist</a:t>
            </a:r>
            <a:r>
              <a:rPr lang="ru-RU" sz="1600" b="1" i="0" u="none" strike="noStrike" cap="none" dirty="0">
                <a:solidFill>
                  <a:srgbClr val="212529"/>
                </a:solidFill>
              </a:rPr>
              <a:t>, 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gin</a:t>
            </a:r>
            <a:r>
              <a:rPr lang="ru-RU" sz="1600" b="1" i="0" u="none" strike="noStrike" cap="none" dirty="0">
                <a:solidFill>
                  <a:srgbClr val="212529"/>
                </a:solidFill>
              </a:rPr>
              <a:t>, </a:t>
            </a:r>
            <a:r>
              <a:rPr lang="ru-RU" sz="1600" b="1" i="0" u="none" strike="noStrike" cap="none" dirty="0" err="1">
                <a:solidFill>
                  <a:srgbClr val="212529"/>
                </a:solidFill>
              </a:rPr>
              <a:t>brin</a:t>
            </a:r>
            <a:endParaRPr sz="1600" b="1" i="0" u="none" strike="noStrike" cap="none" dirty="0">
              <a:solidFill>
                <a:srgbClr val="212529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https://www.postgresql.org/docs/14/sql-createindex.html</a:t>
            </a:r>
            <a:r>
              <a:rPr lang="ru-RU" sz="1600" dirty="0">
                <a:solidFill>
                  <a:srgbClr val="212529"/>
                </a:solidFill>
              </a:rPr>
              <a:t> </a:t>
            </a:r>
            <a:endParaRPr sz="1600" i="0" u="none" strike="noStrike" cap="none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8" name="Google Shape;228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1" name="Google Shape;231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" name="Google Shape;234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5" name="Google Shape;235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7" name="Google Shape;237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654092" y="359177"/>
            <a:ext cx="351860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ВИДЫ ИНДЕКСОВ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5B29D37-5550-4321-8EA9-F96E069A8870}"/>
              </a:ext>
            </a:extLst>
          </p:cNvPr>
          <p:cNvSpPr/>
          <p:nvPr/>
        </p:nvSpPr>
        <p:spPr>
          <a:xfrm>
            <a:off x="1706434" y="1041601"/>
            <a:ext cx="89983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100"/>
            </a:pPr>
            <a:r>
              <a:rPr lang="ru-RU" sz="1600" b="1" dirty="0" err="1">
                <a:solidFill>
                  <a:schemeClr val="dk1"/>
                </a:solidFill>
              </a:rPr>
              <a:t>Btree</a:t>
            </a:r>
            <a:r>
              <a:rPr lang="ru-RU" sz="1600" b="1" dirty="0">
                <a:solidFill>
                  <a:schemeClr val="dk1"/>
                </a:solidFill>
              </a:rPr>
              <a:t> (</a:t>
            </a:r>
            <a:r>
              <a:rPr lang="ru-RU" sz="1600" b="1" dirty="0" err="1">
                <a:solidFill>
                  <a:schemeClr val="dk1"/>
                </a:solidFill>
              </a:rPr>
              <a:t>btree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</a:rPr>
              <a:t>Сбалансированное дерево (по умолчанию). </a:t>
            </a:r>
          </a:p>
          <a:p>
            <a:pPr lvl="0">
              <a:buClr>
                <a:schemeClr val="dk1"/>
              </a:buClr>
              <a:buSzPts val="1100"/>
            </a:pPr>
            <a:endParaRPr lang="ru-RU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</a:rPr>
              <a:t>Используется в 99% индексов.</a:t>
            </a:r>
          </a:p>
          <a:p>
            <a:pPr lvl="0"/>
            <a:r>
              <a:rPr lang="ru-RU" dirty="0">
                <a:solidFill>
                  <a:schemeClr val="dk1"/>
                </a:solidFill>
              </a:rPr>
              <a:t>Применим для любого типа, который можно отсортировать в чётко определённом линейном порядке. Работает с операторами сравнения &gt;, &lt;, =, &gt;=, &lt;=, BETWEEN и IN и условия пустоты IS NULL и IS NOT NULL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93142C-108C-4658-A06A-B3484F247973}"/>
              </a:ext>
            </a:extLst>
          </p:cNvPr>
          <p:cNvSpPr/>
          <p:nvPr/>
        </p:nvSpPr>
        <p:spPr>
          <a:xfrm>
            <a:off x="1706434" y="3204532"/>
            <a:ext cx="86055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dk1"/>
                </a:solidFill>
              </a:rPr>
              <a:t>Хэш-индекс (</a:t>
            </a:r>
            <a:r>
              <a:rPr lang="ru-RU" sz="1600" b="1" dirty="0" err="1">
                <a:solidFill>
                  <a:schemeClr val="dk1"/>
                </a:solidFill>
              </a:rPr>
              <a:t>hash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Работает только с условием равенства (=). В условиях IS NULL и IS NOT NULL также не используется.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4C155-0CCC-40F9-91DE-9D2DC4860C4F}"/>
              </a:ext>
            </a:extLst>
          </p:cNvPr>
          <p:cNvSpPr txBox="1"/>
          <p:nvPr/>
        </p:nvSpPr>
        <p:spPr>
          <a:xfrm>
            <a:off x="1660538" y="4456174"/>
            <a:ext cx="8898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100"/>
            </a:pPr>
            <a:r>
              <a:rPr lang="ru-RU" sz="1600" b="1" dirty="0" err="1">
                <a:solidFill>
                  <a:schemeClr val="dk1"/>
                </a:solidFill>
              </a:rPr>
              <a:t>GiST</a:t>
            </a:r>
            <a:r>
              <a:rPr lang="ru-RU" sz="1600" b="1" dirty="0">
                <a:solidFill>
                  <a:schemeClr val="dk1"/>
                </a:solidFill>
              </a:rPr>
              <a:t> индекс (</a:t>
            </a:r>
            <a:r>
              <a:rPr lang="ru-RU" sz="1600" b="1" dirty="0" err="1">
                <a:solidFill>
                  <a:schemeClr val="dk1"/>
                </a:solidFill>
              </a:rPr>
              <a:t>Generalized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Search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Tree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Или обобщённое поисковое дерево. Базовый шаблон, на основе которого могут реализовываться произвольные схемы индексации, например, </a:t>
            </a:r>
            <a:r>
              <a:rPr lang="ru-RU" dirty="0" err="1">
                <a:solidFill>
                  <a:schemeClr val="dk1"/>
                </a:solidFill>
              </a:rPr>
              <a:t>Btree</a:t>
            </a:r>
            <a:r>
              <a:rPr lang="ru-RU" dirty="0">
                <a:solidFill>
                  <a:schemeClr val="dk1"/>
                </a:solidFill>
              </a:rPr>
              <a:t>, R-деревья и другие схемы индексации. 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Для построения используют один из нескольких алгоритмов, наиболее подходящих под тип индексируемого поля, поэтому набор операторов зависит от типа поля.</a:t>
            </a:r>
          </a:p>
          <a:p>
            <a:pPr lvl="0">
              <a:buSzPts val="1100"/>
            </a:pPr>
            <a:endParaRPr lang="ru-RU" dirty="0">
              <a:solidFill>
                <a:schemeClr val="dk1"/>
              </a:solidFill>
            </a:endParaRP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Применяется для специфических типов данных: геометрии, сетевые адреса, диапазоны.</a:t>
            </a:r>
          </a:p>
        </p:txBody>
      </p: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EFE17E03-A012-4A1A-9ABF-0D787418A885}"/>
              </a:ext>
            </a:extLst>
          </p:cNvPr>
          <p:cNvCxnSpPr/>
          <p:nvPr/>
        </p:nvCxnSpPr>
        <p:spPr>
          <a:xfrm>
            <a:off x="1774825" y="292880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F58C035A-670F-4C68-8F2C-792590D0F489}"/>
              </a:ext>
            </a:extLst>
          </p:cNvPr>
          <p:cNvCxnSpPr/>
          <p:nvPr/>
        </p:nvCxnSpPr>
        <p:spPr>
          <a:xfrm>
            <a:off x="1774825" y="418359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50" name="Google Shape;250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" name="Google Shape;252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3" name="Google Shape;253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6" name="Google Shape;256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7" name="Google Shape;257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8" name="Google Shape;258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9" name="Google Shape;259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0;p22">
            <a:extLst>
              <a:ext uri="{FF2B5EF4-FFF2-40B4-BE49-F238E27FC236}">
                <a16:creationId xmlns:a16="http://schemas.microsoft.com/office/drawing/2014/main" id="{1CCD3CCB-9865-41BE-8102-689AFF76EE33}"/>
              </a:ext>
            </a:extLst>
          </p:cNvPr>
          <p:cNvSpPr txBox="1"/>
          <p:nvPr/>
        </p:nvSpPr>
        <p:spPr>
          <a:xfrm>
            <a:off x="1654092" y="359177"/>
            <a:ext cx="351860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ВИДЫ ИНДЕКСОВ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691F7F-C7DF-4A15-B198-FD5EE742EC3B}"/>
              </a:ext>
            </a:extLst>
          </p:cNvPr>
          <p:cNvSpPr txBox="1"/>
          <p:nvPr/>
        </p:nvSpPr>
        <p:spPr>
          <a:xfrm>
            <a:off x="1672752" y="1404045"/>
            <a:ext cx="950322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100"/>
            </a:pPr>
            <a:r>
              <a:rPr lang="ru-RU" sz="1600" b="1" dirty="0">
                <a:solidFill>
                  <a:schemeClr val="dk1"/>
                </a:solidFill>
              </a:rPr>
              <a:t>SP-</a:t>
            </a:r>
            <a:r>
              <a:rPr lang="ru-RU" sz="1600" b="1" dirty="0" err="1">
                <a:solidFill>
                  <a:schemeClr val="dk1"/>
                </a:solidFill>
              </a:rPr>
              <a:t>GiST</a:t>
            </a:r>
            <a:r>
              <a:rPr lang="ru-RU" sz="1600" b="1" dirty="0">
                <a:solidFill>
                  <a:schemeClr val="dk1"/>
                </a:solidFill>
              </a:rPr>
              <a:t> индекс (</a:t>
            </a:r>
            <a:r>
              <a:rPr lang="ru-RU" sz="1600" b="1" dirty="0" err="1">
                <a:solidFill>
                  <a:schemeClr val="dk1"/>
                </a:solidFill>
              </a:rPr>
              <a:t>Space-Partitioned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GiST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Это </a:t>
            </a:r>
            <a:r>
              <a:rPr lang="ru-RU" dirty="0" err="1">
                <a:solidFill>
                  <a:schemeClr val="dk1"/>
                </a:solidFill>
              </a:rPr>
              <a:t>GiST</a:t>
            </a:r>
            <a:r>
              <a:rPr lang="ru-RU" dirty="0">
                <a:solidFill>
                  <a:schemeClr val="dk1"/>
                </a:solidFill>
              </a:rPr>
              <a:t> с разбиением пространства.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Метод поддерживает деревья поиска с разбиением, что позволяет работать с различными несбалансированными структурами данных (деревья квадрантов, k-мерные и префиксные деревья).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Как и </a:t>
            </a:r>
            <a:r>
              <a:rPr lang="ru-RU" dirty="0" err="1">
                <a:solidFill>
                  <a:schemeClr val="dk1"/>
                </a:solidFill>
              </a:rPr>
              <a:t>GiST</a:t>
            </a:r>
            <a:r>
              <a:rPr lang="ru-RU" dirty="0">
                <a:solidFill>
                  <a:schemeClr val="dk1"/>
                </a:solidFill>
              </a:rPr>
              <a:t>, SP-</a:t>
            </a:r>
            <a:r>
              <a:rPr lang="ru-RU" dirty="0" err="1">
                <a:solidFill>
                  <a:schemeClr val="dk1"/>
                </a:solidFill>
              </a:rPr>
              <a:t>GiST</a:t>
            </a:r>
            <a:r>
              <a:rPr lang="ru-RU" dirty="0">
                <a:solidFill>
                  <a:schemeClr val="dk1"/>
                </a:solidFill>
              </a:rPr>
              <a:t> позволяет разрабатывать дополнительные типы данных с соответствующими методами доступа.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B58DF9-6A40-41E1-BF06-3750A191F473}"/>
              </a:ext>
            </a:extLst>
          </p:cNvPr>
          <p:cNvSpPr txBox="1"/>
          <p:nvPr/>
        </p:nvSpPr>
        <p:spPr>
          <a:xfrm>
            <a:off x="1672752" y="3374582"/>
            <a:ext cx="90947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100"/>
            </a:pPr>
            <a:r>
              <a:rPr lang="ru-RU" sz="1600" b="1" dirty="0">
                <a:solidFill>
                  <a:schemeClr val="dk1"/>
                </a:solidFill>
              </a:rPr>
              <a:t>GIN индекс (</a:t>
            </a:r>
            <a:r>
              <a:rPr lang="ru-RU" sz="1600" b="1" dirty="0" err="1">
                <a:solidFill>
                  <a:schemeClr val="dk1"/>
                </a:solidFill>
              </a:rPr>
              <a:t>Generalized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Inverted</a:t>
            </a:r>
            <a:r>
              <a:rPr lang="ru-RU" sz="1600" b="1" dirty="0">
                <a:solidFill>
                  <a:schemeClr val="dk1"/>
                </a:solidFill>
              </a:rPr>
              <a:t> </a:t>
            </a:r>
            <a:r>
              <a:rPr lang="ru-RU" sz="1600" b="1" dirty="0" err="1">
                <a:solidFill>
                  <a:schemeClr val="dk1"/>
                </a:solidFill>
              </a:rPr>
              <a:t>Index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Это обобщённый инвертированный индекс.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Применяется к составным типам, работа с которыми осуществляется с помощью ключей: массивы, </a:t>
            </a:r>
            <a:r>
              <a:rPr lang="ru-RU" dirty="0" err="1">
                <a:solidFill>
                  <a:schemeClr val="dk1"/>
                </a:solidFill>
              </a:rPr>
              <a:t>jsonb</a:t>
            </a:r>
            <a:r>
              <a:rPr lang="ru-RU" dirty="0">
                <a:solidFill>
                  <a:schemeClr val="dk1"/>
                </a:solidFill>
              </a:rPr>
              <a:t>.</a:t>
            </a: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Предназначается для случаев, когда индексируемые значения являются составными, а запросы ищут значения элементов в этих составных объектах.</a:t>
            </a:r>
          </a:p>
          <a:p>
            <a:pPr lvl="0">
              <a:buSzPts val="1100"/>
            </a:pPr>
            <a:endParaRPr lang="ru-RU" dirty="0">
              <a:solidFill>
                <a:schemeClr val="dk1"/>
              </a:solidFill>
            </a:endParaRPr>
          </a:p>
          <a:p>
            <a:pPr lvl="0">
              <a:buSzPts val="1100"/>
            </a:pPr>
            <a:r>
              <a:rPr lang="ru-RU" dirty="0">
                <a:solidFill>
                  <a:schemeClr val="dk1"/>
                </a:solidFill>
              </a:rPr>
              <a:t>Самый распространённый вариант использования индексов GIN &amp; </a:t>
            </a:r>
            <a:r>
              <a:rPr lang="ru-RU" dirty="0" err="1">
                <a:solidFill>
                  <a:schemeClr val="dk1"/>
                </a:solidFill>
              </a:rPr>
              <a:t>GiST</a:t>
            </a:r>
            <a:r>
              <a:rPr lang="ru-RU" dirty="0">
                <a:solidFill>
                  <a:schemeClr val="dk1"/>
                </a:solidFill>
              </a:rPr>
              <a:t> - полнотекстовый поиск по аналогии с </a:t>
            </a:r>
            <a:r>
              <a:rPr lang="ru-RU" dirty="0" err="1">
                <a:solidFill>
                  <a:schemeClr val="dk1"/>
                </a:solidFill>
              </a:rPr>
              <a:t>Google</a:t>
            </a:r>
            <a:r>
              <a:rPr lang="ru-RU" dirty="0">
                <a:solidFill>
                  <a:schemeClr val="dk1"/>
                </a:solidFill>
              </a:rPr>
              <a:t>/</a:t>
            </a:r>
            <a:r>
              <a:rPr lang="ru-RU" dirty="0" err="1">
                <a:solidFill>
                  <a:schemeClr val="dk1"/>
                </a:solidFill>
              </a:rPr>
              <a:t>Yandex</a:t>
            </a:r>
            <a:r>
              <a:rPr lang="ru-RU" dirty="0">
                <a:solidFill>
                  <a:schemeClr val="dk1"/>
                </a:solidFill>
              </a:rPr>
              <a:t>.</a:t>
            </a:r>
          </a:p>
        </p:txBody>
      </p:sp>
      <p:cxnSp>
        <p:nvCxnSpPr>
          <p:cNvPr id="22" name="Google Shape;163;p7">
            <a:extLst>
              <a:ext uri="{FF2B5EF4-FFF2-40B4-BE49-F238E27FC236}">
                <a16:creationId xmlns:a16="http://schemas.microsoft.com/office/drawing/2014/main" id="{00E13C94-8E50-4494-89CC-146A47F4D4F2}"/>
              </a:ext>
            </a:extLst>
          </p:cNvPr>
          <p:cNvCxnSpPr/>
          <p:nvPr/>
        </p:nvCxnSpPr>
        <p:spPr>
          <a:xfrm>
            <a:off x="1793485" y="3112017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5;p11">
            <a:extLst>
              <a:ext uri="{FF2B5EF4-FFF2-40B4-BE49-F238E27FC236}">
                <a16:creationId xmlns:a16="http://schemas.microsoft.com/office/drawing/2014/main" id="{ABA75278-0F44-4C40-9F44-D3A3FDB1C1E0}"/>
              </a:ext>
            </a:extLst>
          </p:cNvPr>
          <p:cNvSpPr/>
          <p:nvPr/>
        </p:nvSpPr>
        <p:spPr>
          <a:xfrm>
            <a:off x="1689101" y="1270649"/>
            <a:ext cx="8889906" cy="4063965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24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72" name="Google Shape;272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24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75" name="Google Shape;275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8" name="Google Shape;278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9" name="Google Shape;279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24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81" name="Google Shape;281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681543" y="359177"/>
            <a:ext cx="5863812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ОТЛИЧНАЯ ИДЕЯ!!! ИЛИ НЕТ?</a:t>
            </a:r>
          </a:p>
        </p:txBody>
      </p:sp>
      <p:pic>
        <p:nvPicPr>
          <p:cNvPr id="285" name="Google Shape;285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00188" y="1653816"/>
            <a:ext cx="5991624" cy="32976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09AAC74E-107B-4A7C-BF61-F6B93ACAFDB3}"/>
              </a:ext>
            </a:extLst>
          </p:cNvPr>
          <p:cNvSpPr/>
          <p:nvPr/>
        </p:nvSpPr>
        <p:spPr>
          <a:xfrm>
            <a:off x="1689101" y="1270649"/>
            <a:ext cx="8889906" cy="4063965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93" name="Google Shape;293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5" name="Google Shape;295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6" name="Google Shape;296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" name="Google Shape;299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00" name="Google Shape;300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1" name="Google Shape;301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02" name="Google Shape;302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01099" y="1684917"/>
            <a:ext cx="4862828" cy="323542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84;p24">
            <a:extLst>
              <a:ext uri="{FF2B5EF4-FFF2-40B4-BE49-F238E27FC236}">
                <a16:creationId xmlns:a16="http://schemas.microsoft.com/office/drawing/2014/main" id="{63F01D19-0D1C-4EA1-BD85-BABE57DC123F}"/>
              </a:ext>
            </a:extLst>
          </p:cNvPr>
          <p:cNvSpPr txBox="1"/>
          <p:nvPr/>
        </p:nvSpPr>
        <p:spPr>
          <a:xfrm>
            <a:off x="1681543" y="359177"/>
            <a:ext cx="5863812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ОТЛИЧНАЯ ИДЕЯ!!! ИЛИ НЕТ?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25;p11">
            <a:extLst>
              <a:ext uri="{FF2B5EF4-FFF2-40B4-BE49-F238E27FC236}">
                <a16:creationId xmlns:a16="http://schemas.microsoft.com/office/drawing/2014/main" id="{CFC1883E-FAE7-4E41-9449-EF824C135B8B}"/>
              </a:ext>
            </a:extLst>
          </p:cNvPr>
          <p:cNvSpPr/>
          <p:nvPr/>
        </p:nvSpPr>
        <p:spPr>
          <a:xfrm>
            <a:off x="1689101" y="976604"/>
            <a:ext cx="8889906" cy="4994987"/>
          </a:xfrm>
          <a:prstGeom prst="roundRect">
            <a:avLst>
              <a:gd name="adj" fmla="val 371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14" name="Google Shape;314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17" name="Google Shape;317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0" name="Google Shape;320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21" name="Google Shape;321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2" name="Google Shape;322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11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23" name="Google Shape;323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1662881" y="359177"/>
            <a:ext cx="5048939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35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НЕДОСТАТКИ ИНДЕКСОВ</a:t>
            </a:r>
          </a:p>
        </p:txBody>
      </p:sp>
      <p:sp>
        <p:nvSpPr>
          <p:cNvPr id="327" name="Google Shape;327;p26"/>
          <p:cNvSpPr txBox="1"/>
          <p:nvPr/>
        </p:nvSpPr>
        <p:spPr>
          <a:xfrm>
            <a:off x="0" y="6600825"/>
            <a:ext cx="273000" cy="1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300">
                <a:solidFill>
                  <a:srgbClr val="595959"/>
                </a:solidFill>
              </a:rPr>
              <a:t>11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328" name="Google Shape;328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83348" y="1810671"/>
            <a:ext cx="3915578" cy="2950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03250" y="1141365"/>
            <a:ext cx="3524130" cy="240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98104" y="3734893"/>
            <a:ext cx="3381488" cy="205201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27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38" name="Google Shape;338;p2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2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27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41" name="Google Shape;341;p2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2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4" name="Google Shape;344;p2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45" name="Google Shape;345;p2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27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12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47" name="Google Shape;347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ПЛЮСЫ И МИНУСЫ ИНДЕКСОВ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" name="Google Shape;282;p2">
            <a:extLst>
              <a:ext uri="{FF2B5EF4-FFF2-40B4-BE49-F238E27FC236}">
                <a16:creationId xmlns:a16="http://schemas.microsoft.com/office/drawing/2014/main" id="{5BD1AD66-0E46-41B3-AFCF-195683AEB0BA}"/>
              </a:ext>
            </a:extLst>
          </p:cNvPr>
          <p:cNvSpPr/>
          <p:nvPr/>
        </p:nvSpPr>
        <p:spPr>
          <a:xfrm>
            <a:off x="1763395" y="1492538"/>
            <a:ext cx="4203566" cy="3785961"/>
          </a:xfrm>
          <a:prstGeom prst="roundRect">
            <a:avLst>
              <a:gd name="adj" fmla="val 3009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Ускоряют выборку в операциях SELECT</a:t>
            </a: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При выборке данных только индексного поля, данные из таблицы не выбираются</a:t>
            </a: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Увеличение скорости сортировки             по индексному полю</a:t>
            </a: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Обеспечение уникальности</a:t>
            </a:r>
          </a:p>
        </p:txBody>
      </p:sp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C4C32FE6-8370-4D48-AA10-9DAF51845D6A}"/>
              </a:ext>
            </a:extLst>
          </p:cNvPr>
          <p:cNvSpPr/>
          <p:nvPr/>
        </p:nvSpPr>
        <p:spPr>
          <a:xfrm>
            <a:off x="6315372" y="1492538"/>
            <a:ext cx="4203566" cy="3785961"/>
          </a:xfrm>
          <a:prstGeom prst="roundRect">
            <a:avLst>
              <a:gd name="adj" fmla="val 300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Индексы требуют дополнительного места</a:t>
            </a:r>
          </a:p>
          <a:p>
            <a:pPr marL="285750" lvl="0" indent="-285750">
              <a:spcBef>
                <a:spcPts val="6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/>
              <a:t>Необходимо перестраивать индексы при операциях UPDATE, DELETE, INSERT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При большом количестве индексов оптимизатору сложно выбрать какой использовать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2AAE5-0170-4416-B850-B7B6A64D13BF}"/>
              </a:ext>
            </a:extLst>
          </p:cNvPr>
          <p:cNvSpPr txBox="1"/>
          <p:nvPr/>
        </p:nvSpPr>
        <p:spPr>
          <a:xfrm>
            <a:off x="1849779" y="1413992"/>
            <a:ext cx="633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042C5"/>
                </a:solidFill>
              </a:rPr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C702BB-4B3F-4417-936B-1C4AE4F7ABB0}"/>
              </a:ext>
            </a:extLst>
          </p:cNvPr>
          <p:cNvSpPr txBox="1"/>
          <p:nvPr/>
        </p:nvSpPr>
        <p:spPr>
          <a:xfrm>
            <a:off x="6368383" y="1413991"/>
            <a:ext cx="441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7F6AD2"/>
                </a:solidFill>
              </a:rPr>
              <a:t>-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5045A5-1A49-4EAE-93B2-F619A82DE0C0}"/>
              </a:ext>
            </a:extLst>
          </p:cNvPr>
          <p:cNvSpPr/>
          <p:nvPr/>
        </p:nvSpPr>
        <p:spPr>
          <a:xfrm>
            <a:off x="1672149" y="1076679"/>
            <a:ext cx="2013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</a:rPr>
              <a:t>Плюсы индексов: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A084D65-684A-486D-9769-B03EA736CA53}"/>
              </a:ext>
            </a:extLst>
          </p:cNvPr>
          <p:cNvSpPr/>
          <p:nvPr/>
        </p:nvSpPr>
        <p:spPr>
          <a:xfrm>
            <a:off x="6226975" y="1075437"/>
            <a:ext cx="20970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ru-RU" sz="1600" b="1" dirty="0">
                <a:solidFill>
                  <a:schemeClr val="tx1"/>
                </a:solidFill>
              </a:rPr>
              <a:t>Минусы индексов: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20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" name="Google Shape;358;p2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59" name="Google Shape;359;p2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" name="Google Shape;361;p2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62" name="Google Shape;362;p2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2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5" name="Google Shape;365;p2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66" name="Google Shape;366;p2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2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68" name="Google Shape;368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BEST</a:t>
            </a: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PRACTICE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" name="Google Shape;569;g142b2dfbfff_0_234">
            <a:extLst>
              <a:ext uri="{FF2B5EF4-FFF2-40B4-BE49-F238E27FC236}">
                <a16:creationId xmlns:a16="http://schemas.microsoft.com/office/drawing/2014/main" id="{466C26CE-E64A-44B3-82D0-EAA68AEEB85B}"/>
              </a:ext>
            </a:extLst>
          </p:cNvPr>
          <p:cNvSpPr txBox="1"/>
          <p:nvPr/>
        </p:nvSpPr>
        <p:spPr>
          <a:xfrm>
            <a:off x="1725838" y="137490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570;g142b2dfbfff_0_234">
            <a:extLst>
              <a:ext uri="{FF2B5EF4-FFF2-40B4-BE49-F238E27FC236}">
                <a16:creationId xmlns:a16="http://schemas.microsoft.com/office/drawing/2014/main" id="{D33978A0-F72D-4460-BF74-EBF972E0F458}"/>
              </a:ext>
            </a:extLst>
          </p:cNvPr>
          <p:cNvSpPr txBox="1"/>
          <p:nvPr/>
        </p:nvSpPr>
        <p:spPr>
          <a:xfrm>
            <a:off x="1711049" y="274357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71;g142b2dfbfff_0_234">
            <a:extLst>
              <a:ext uri="{FF2B5EF4-FFF2-40B4-BE49-F238E27FC236}">
                <a16:creationId xmlns:a16="http://schemas.microsoft.com/office/drawing/2014/main" id="{38B9CB3F-BD51-4270-A66D-6D24020EBBE8}"/>
              </a:ext>
            </a:extLst>
          </p:cNvPr>
          <p:cNvSpPr txBox="1"/>
          <p:nvPr/>
        </p:nvSpPr>
        <p:spPr>
          <a:xfrm>
            <a:off x="1729572" y="4405723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41CA8C-1C78-49C9-8485-4C0B56D4AF2B}"/>
              </a:ext>
            </a:extLst>
          </p:cNvPr>
          <p:cNvSpPr/>
          <p:nvPr/>
        </p:nvSpPr>
        <p:spPr>
          <a:xfrm>
            <a:off x="1650999" y="1867501"/>
            <a:ext cx="2420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Выбираем индекс исходя из условий бизнес задачи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763A27-8C3A-4832-AC49-189CD0F478A1}"/>
              </a:ext>
            </a:extLst>
          </p:cNvPr>
          <p:cNvSpPr/>
          <p:nvPr/>
        </p:nvSpPr>
        <p:spPr>
          <a:xfrm>
            <a:off x="1650999" y="3236172"/>
            <a:ext cx="346163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Возможно стоит попробовать разные индексы - результат может отличаться на разных наборах данных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B74DE32-D111-41DE-AAC0-F4D6624FF57D}"/>
              </a:ext>
            </a:extLst>
          </p:cNvPr>
          <p:cNvSpPr/>
          <p:nvPr/>
        </p:nvSpPr>
        <p:spPr>
          <a:xfrm>
            <a:off x="1665100" y="4898323"/>
            <a:ext cx="35593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Не забываем про другие типы индексов, которые рассмотрим на следующем занятии - функциональный </a:t>
            </a:r>
            <a:endParaRPr lang="en-US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и покрывающий - помогут нам</a:t>
            </a:r>
            <a:r>
              <a:rPr lang="en-US" dirty="0">
                <a:solidFill>
                  <a:schemeClr val="dk1"/>
                </a:solidFill>
              </a:rPr>
              <a:t> 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на аналитических запросах</a:t>
            </a:r>
          </a:p>
        </p:txBody>
      </p:sp>
      <p:sp>
        <p:nvSpPr>
          <p:cNvPr id="24" name="Google Shape;569;g142b2dfbfff_0_234">
            <a:extLst>
              <a:ext uri="{FF2B5EF4-FFF2-40B4-BE49-F238E27FC236}">
                <a16:creationId xmlns:a16="http://schemas.microsoft.com/office/drawing/2014/main" id="{F136E9AD-1AFE-4915-9923-F8238A9A446A}"/>
              </a:ext>
            </a:extLst>
          </p:cNvPr>
          <p:cNvSpPr txBox="1"/>
          <p:nvPr/>
        </p:nvSpPr>
        <p:spPr>
          <a:xfrm>
            <a:off x="5946306" y="137490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D1063DD-6B67-44FD-9BD0-FF84FE79F4DC}"/>
              </a:ext>
            </a:extLst>
          </p:cNvPr>
          <p:cNvSpPr/>
          <p:nvPr/>
        </p:nvSpPr>
        <p:spPr>
          <a:xfrm>
            <a:off x="5871467" y="1867501"/>
            <a:ext cx="25860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Не забывать анализировать существующие индексы!!! </a:t>
            </a:r>
          </a:p>
        </p:txBody>
      </p:sp>
      <p:sp>
        <p:nvSpPr>
          <p:cNvPr id="26" name="Google Shape;569;g142b2dfbfff_0_234">
            <a:extLst>
              <a:ext uri="{FF2B5EF4-FFF2-40B4-BE49-F238E27FC236}">
                <a16:creationId xmlns:a16="http://schemas.microsoft.com/office/drawing/2014/main" id="{F6FBFD59-24B0-45F8-9C7A-DE910F90B76F}"/>
              </a:ext>
            </a:extLst>
          </p:cNvPr>
          <p:cNvSpPr txBox="1"/>
          <p:nvPr/>
        </p:nvSpPr>
        <p:spPr>
          <a:xfrm>
            <a:off x="5943245" y="2747361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dirty="0">
                <a:solidFill>
                  <a:srgbClr val="0042C5"/>
                </a:solidFill>
              </a:rPr>
              <a:t>5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8DC5479-5FBB-4D74-864A-023F561B79DF}"/>
              </a:ext>
            </a:extLst>
          </p:cNvPr>
          <p:cNvSpPr/>
          <p:nvPr/>
        </p:nvSpPr>
        <p:spPr>
          <a:xfrm>
            <a:off x="5868406" y="3239961"/>
            <a:ext cx="2395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Удаляем неиспользуемые индексы</a:t>
            </a:r>
          </a:p>
        </p:txBody>
      </p:sp>
      <p:sp>
        <p:nvSpPr>
          <p:cNvPr id="28" name="Google Shape;569;g142b2dfbfff_0_234">
            <a:extLst>
              <a:ext uri="{FF2B5EF4-FFF2-40B4-BE49-F238E27FC236}">
                <a16:creationId xmlns:a16="http://schemas.microsoft.com/office/drawing/2014/main" id="{9BD13BAD-EF80-4453-9845-5B52AFCAA533}"/>
              </a:ext>
            </a:extLst>
          </p:cNvPr>
          <p:cNvSpPr txBox="1"/>
          <p:nvPr/>
        </p:nvSpPr>
        <p:spPr>
          <a:xfrm>
            <a:off x="5858710" y="4467279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3200" b="0" i="0" u="none" strike="noStrike" cap="none" dirty="0">
              <a:solidFill>
                <a:srgbClr val="004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071283A-8CFD-4E05-B7BA-F06C4AF043A4}"/>
              </a:ext>
            </a:extLst>
          </p:cNvPr>
          <p:cNvSpPr/>
          <p:nvPr/>
        </p:nvSpPr>
        <p:spPr>
          <a:xfrm>
            <a:off x="5783871" y="4959879"/>
            <a:ext cx="2199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Добавляем необходимые</a:t>
            </a:r>
          </a:p>
        </p:txBody>
      </p:sp>
      <p:sp>
        <p:nvSpPr>
          <p:cNvPr id="30" name="Google Shape;569;g142b2dfbfff_0_234">
            <a:extLst>
              <a:ext uri="{FF2B5EF4-FFF2-40B4-BE49-F238E27FC236}">
                <a16:creationId xmlns:a16="http://schemas.microsoft.com/office/drawing/2014/main" id="{104FEE92-5A96-4911-83B9-E46383FBB952}"/>
              </a:ext>
            </a:extLst>
          </p:cNvPr>
          <p:cNvSpPr txBox="1"/>
          <p:nvPr/>
        </p:nvSpPr>
        <p:spPr>
          <a:xfrm>
            <a:off x="9134639" y="1374901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42C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200" dirty="0">
                <a:solidFill>
                  <a:srgbClr val="0042C5"/>
                </a:solidFill>
              </a:rPr>
              <a:t>7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313A6FC-507D-42F2-B191-C0E3DD671F47}"/>
              </a:ext>
            </a:extLst>
          </p:cNvPr>
          <p:cNvSpPr/>
          <p:nvPr/>
        </p:nvSpPr>
        <p:spPr>
          <a:xfrm>
            <a:off x="9059800" y="1867501"/>
            <a:ext cx="24738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ru-RU" dirty="0">
                <a:solidFill>
                  <a:schemeClr val="dk1"/>
                </a:solidFill>
              </a:rPr>
              <a:t>Индексы необходимо обслуживать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92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9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9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9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380" name="Google Shape;380;p29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381" name="Google Shape;381;p29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29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29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29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29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29"/>
            <p:cNvSpPr txBox="1"/>
            <p:nvPr/>
          </p:nvSpPr>
          <p:spPr>
            <a:xfrm>
              <a:off x="3171936" y="5742282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1628316" y="343625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94" name="Google Shape;394;p30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395" name="Google Shape;395;p3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3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7" name="Google Shape;397;p30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398" name="Google Shape;398;p3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3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3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1" name="Google Shape;401;p3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402" name="Google Shape;402;p3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3" name="Google Shape;403;p30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404" name="Google Shape;404;p3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BC444D46-8CD5-458A-B7FC-8ADE3BF7A637}"/>
              </a:ext>
            </a:extLst>
          </p:cNvPr>
          <p:cNvSpPr/>
          <p:nvPr/>
        </p:nvSpPr>
        <p:spPr>
          <a:xfrm>
            <a:off x="1725839" y="1720676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задачи индексов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87A46228-7BA8-47C3-89BE-4F05D3128443}"/>
              </a:ext>
            </a:extLst>
          </p:cNvPr>
          <p:cNvSpPr/>
          <p:nvPr/>
        </p:nvSpPr>
        <p:spPr>
          <a:xfrm>
            <a:off x="4761325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основные виды индексов</a:t>
            </a:r>
          </a:p>
        </p:txBody>
      </p:sp>
      <p:sp>
        <p:nvSpPr>
          <p:cNvPr id="18" name="Google Shape;533;g142b2dfbfff_0_351">
            <a:extLst>
              <a:ext uri="{FF2B5EF4-FFF2-40B4-BE49-F238E27FC236}">
                <a16:creationId xmlns:a16="http://schemas.microsoft.com/office/drawing/2014/main" id="{B6E0ED52-D2C9-4F9E-A259-7A5F140026D0}"/>
              </a:ext>
            </a:extLst>
          </p:cNvPr>
          <p:cNvSpPr/>
          <p:nvPr/>
        </p:nvSpPr>
        <p:spPr>
          <a:xfrm>
            <a:off x="5571950" y="3578940"/>
            <a:ext cx="28950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Узнали</a:t>
            </a:r>
            <a:r>
              <a:rPr lang="en-US" sz="1800" dirty="0">
                <a:solidFill>
                  <a:schemeClr val="dk1"/>
                </a:solidFill>
              </a:rPr>
              <a:t> best practice</a:t>
            </a:r>
            <a:endParaRPr lang="ru-RU" sz="1800" dirty="0">
              <a:solidFill>
                <a:schemeClr val="dk1"/>
              </a:solidFill>
            </a:endParaRP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511F2E8C-D61B-467B-9CE6-70AF37AD545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B070D3E8-245D-44FD-A2ED-6A6DEEDE941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36;g142b2dfbfff_0_351">
            <a:extLst>
              <a:ext uri="{FF2B5EF4-FFF2-40B4-BE49-F238E27FC236}">
                <a16:creationId xmlns:a16="http://schemas.microsoft.com/office/drawing/2014/main" id="{80D5924D-9809-4BC3-B474-EBA2E37CDD7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5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CA624033-DD81-4335-97AB-B57437F64522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</a:rPr>
              <a:t>Поняли основные заблуждения</a:t>
            </a: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CE4ED07C-A49F-4B85-95CB-FCFC017EB18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67500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595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2" name="Google Shape;412;p3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1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1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1"/>
          <p:cNvSpPr txBox="1"/>
          <p:nvPr/>
        </p:nvSpPr>
        <p:spPr>
          <a:xfrm>
            <a:off x="1677507" y="2634750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chemeClr val="lt1"/>
                </a:solidFill>
                <a:latin typeface="Arial Black"/>
                <a:sym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B-</a:t>
            </a:r>
            <a:r>
              <a:rPr lang="ru-RU" sz="1800" dirty="0" err="1">
                <a:solidFill>
                  <a:schemeClr val="lt1"/>
                </a:solidFill>
              </a:rPr>
              <a:t>tree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416" name="Google Shape;416;p31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1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31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420" name="Google Shape;420;p31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31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422" name="Google Shape;422;p31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1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718</Words>
  <Application>Microsoft Office PowerPoint</Application>
  <PresentationFormat>Широкоэкранный</PresentationFormat>
  <Paragraphs>148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Avenir</vt:lpstr>
      <vt:lpstr>Calibri</vt:lpstr>
      <vt:lpstr>Consolas</vt:lpstr>
      <vt:lpstr>Helvetica Neue</vt:lpstr>
      <vt:lpstr>Open Sans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14</cp:revision>
  <dcterms:modified xsi:type="dcterms:W3CDTF">2022-08-29T14:45:48Z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D5658D2D-EF78-44C8-B0C2-0B7643E5A248</vt:lpwstr>
  </property>
  <property fmtid="{D5CDD505-2E9C-101B-9397-08002B2CF9AE}" pid="3" name="ArticulatePath">
    <vt:lpwstr>24 Виды, плюсы и минусы использования индексов</vt:lpwstr>
  </property>
</Properties>
</file>