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4"/>
  </p:notesMasterIdLst>
  <p:sldIdLst>
    <p:sldId id="256" r:id="rId2"/>
    <p:sldId id="257" r:id="rId3"/>
    <p:sldId id="26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custDataLst>
    <p:tags r:id="rId1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2436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22d59b049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422d59b049_0_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1422d59b049_0_1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422f8c613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1422f8c613d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1422f8c613d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422d59b049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1422d59b049_0_2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1422d59b049_0_2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422d59b049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1422d59b049_0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g1422d59b049_0_3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422f8c613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1422f8c613d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1422f8c613d_0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3e3b21b46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13e3b21b463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6" name="Google Shape;296;g13e3b21b46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11" Type="http://schemas.openxmlformats.org/officeDocument/2006/relationships/hyperlink" Target="https://www.db-fiddle.com/f/ujFT64yqZJPdD3kKu3ghkB/0" TargetMode="External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hyperlink" Target="https://www.db-fiddle.com/f/iCsikL3HGn7Wcp3FzxEfNf/1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hyperlink" Target="https://www.db-fiddle.com/f/m3MQH8J7XrZMYJEm8zyMnc/1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4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hyperlink" Target="https://www.db-fiddle.com/f/35KvSPW5ZeVs6H4wC8y41L/0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2CEAA0AB-F65F-4B84-8661-348A2B079CD5}"/>
              </a:ext>
            </a:extLst>
          </p:cNvPr>
          <p:cNvSpPr txBox="1">
            <a:spLocks/>
          </p:cNvSpPr>
          <p:nvPr/>
        </p:nvSpPr>
        <p:spPr>
          <a:xfrm>
            <a:off x="1622194" y="2123790"/>
            <a:ext cx="6308826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r>
              <a:rPr lang="ru-RU" dirty="0"/>
              <a:t>БЛОК </a:t>
            </a:r>
            <a:r>
              <a:rPr lang="en-US" dirty="0"/>
              <a:t>8</a:t>
            </a:r>
            <a:r>
              <a:rPr lang="ru-RU" dirty="0"/>
              <a:t>. ИНДЕКСЫ</a:t>
            </a:r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37B17043-7DF3-4B11-A7D2-A4D902F2F973}"/>
              </a:ext>
            </a:extLst>
          </p:cNvPr>
          <p:cNvSpPr txBox="1">
            <a:spLocks/>
          </p:cNvSpPr>
          <p:nvPr/>
        </p:nvSpPr>
        <p:spPr>
          <a:xfrm>
            <a:off x="1609724" y="2698570"/>
            <a:ext cx="8790798" cy="211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>
                <a:solidFill>
                  <a:srgbClr val="FFFFFF"/>
                </a:solidFill>
              </a:rPr>
              <a:t>СОСТАВНОЙ ИНДЕКС, ПО ВЫРАЖЕНИЯМ </a:t>
            </a:r>
          </a:p>
          <a:p>
            <a:r>
              <a:rPr lang="ru-RU" dirty="0">
                <a:solidFill>
                  <a:srgbClr val="FFFFFF"/>
                </a:solidFill>
              </a:rPr>
              <a:t>И ЧАСТИЧНЫЙ</a:t>
            </a:r>
            <a:endParaRPr lang="ru-RU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61148" y="405247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B58088F1-1F4E-489A-A925-3484AC7F9F30}"/>
              </a:ext>
            </a:extLst>
          </p:cNvPr>
          <p:cNvSpPr/>
          <p:nvPr/>
        </p:nvSpPr>
        <p:spPr>
          <a:xfrm>
            <a:off x="1763395" y="1340792"/>
            <a:ext cx="2570700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 err="1">
                <a:solidFill>
                  <a:schemeClr val="dk1"/>
                </a:solidFill>
              </a:rPr>
              <a:t>Понять,зачем</a:t>
            </a:r>
            <a:r>
              <a:rPr lang="ru-RU" sz="1800" dirty="0">
                <a:solidFill>
                  <a:schemeClr val="dk1"/>
                </a:solidFill>
              </a:rPr>
              <a:t> нужны другие индексы</a:t>
            </a:r>
          </a:p>
        </p:txBody>
      </p:sp>
      <p:sp>
        <p:nvSpPr>
          <p:cNvPr id="21" name="Google Shape;283;p2">
            <a:extLst>
              <a:ext uri="{FF2B5EF4-FFF2-40B4-BE49-F238E27FC236}">
                <a16:creationId xmlns:a16="http://schemas.microsoft.com/office/drawing/2014/main" id="{A121766C-70E7-42D7-AEAB-619A7A3A75B0}"/>
              </a:ext>
            </a:extLst>
          </p:cNvPr>
          <p:cNvSpPr/>
          <p:nvPr/>
        </p:nvSpPr>
        <p:spPr>
          <a:xfrm>
            <a:off x="4584166" y="1340803"/>
            <a:ext cx="4158300" cy="1822800"/>
          </a:xfrm>
          <a:prstGeom prst="roundRect">
            <a:avLst>
              <a:gd name="adj" fmla="val 6634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Узнать, как их создать</a:t>
            </a:r>
          </a:p>
        </p:txBody>
      </p:sp>
      <p:sp>
        <p:nvSpPr>
          <p:cNvPr id="23" name="Google Shape;285;p2">
            <a:extLst>
              <a:ext uri="{FF2B5EF4-FFF2-40B4-BE49-F238E27FC236}">
                <a16:creationId xmlns:a16="http://schemas.microsoft.com/office/drawing/2014/main" id="{60BFE4AC-AFA4-444F-BB62-16016A7B00FA}"/>
              </a:ext>
            </a:extLst>
          </p:cNvPr>
          <p:cNvSpPr/>
          <p:nvPr/>
        </p:nvSpPr>
        <p:spPr>
          <a:xfrm>
            <a:off x="1763392" y="3406053"/>
            <a:ext cx="6979074" cy="1822800"/>
          </a:xfrm>
          <a:prstGeom prst="roundRect">
            <a:avLst>
              <a:gd name="adj" fmla="val 551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Научиться создавать функциональный индекс </a:t>
            </a: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на своей таблице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88;p2">
            <a:extLst>
              <a:ext uri="{FF2B5EF4-FFF2-40B4-BE49-F238E27FC236}">
                <a16:creationId xmlns:a16="http://schemas.microsoft.com/office/drawing/2014/main" id="{CC6E81F0-3EDC-45B0-B004-6DF0710477B0}"/>
              </a:ext>
            </a:extLst>
          </p:cNvPr>
          <p:cNvSpPr/>
          <p:nvPr/>
        </p:nvSpPr>
        <p:spPr>
          <a:xfrm>
            <a:off x="1946275" y="1445410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89;p2">
            <a:extLst>
              <a:ext uri="{FF2B5EF4-FFF2-40B4-BE49-F238E27FC236}">
                <a16:creationId xmlns:a16="http://schemas.microsoft.com/office/drawing/2014/main" id="{FD11ED59-1B86-4F54-AE80-C0786F22124A}"/>
              </a:ext>
            </a:extLst>
          </p:cNvPr>
          <p:cNvSpPr/>
          <p:nvPr/>
        </p:nvSpPr>
        <p:spPr>
          <a:xfrm>
            <a:off x="4767051" y="1445410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0CC59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Google Shape;291;p2">
            <a:extLst>
              <a:ext uri="{FF2B5EF4-FFF2-40B4-BE49-F238E27FC236}">
                <a16:creationId xmlns:a16="http://schemas.microsoft.com/office/drawing/2014/main" id="{55AB4BAA-BFE1-43DC-A3BE-CE3F4C574C78}"/>
              </a:ext>
            </a:extLst>
          </p:cNvPr>
          <p:cNvSpPr/>
          <p:nvPr/>
        </p:nvSpPr>
        <p:spPr>
          <a:xfrm>
            <a:off x="1946275" y="3552499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7F6AD2"/>
                </a:solidFill>
                <a:sym typeface="Arial"/>
              </a:rPr>
              <a:t>03</a:t>
            </a:r>
            <a:endParaRPr sz="1500" b="0" i="0" u="none" strike="noStrike" cap="none" dirty="0">
              <a:solidFill>
                <a:srgbClr val="7F6AD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00223" y="4611061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7BAB0E9A-7EDE-4B2E-BFBA-28B4589B88BA}"/>
              </a:ext>
            </a:extLst>
          </p:cNvPr>
          <p:cNvSpPr/>
          <p:nvPr/>
        </p:nvSpPr>
        <p:spPr>
          <a:xfrm>
            <a:off x="2863612" y="3517449"/>
            <a:ext cx="3145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Функциональный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05DEB5C7-387A-4441-B7A9-2A4018120502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2000"/>
            </a:pPr>
            <a:r>
              <a:rPr lang="ru-RU" sz="2000" dirty="0">
                <a:solidFill>
                  <a:schemeClr val="dk1"/>
                </a:solidFill>
              </a:rPr>
              <a:t>Частичный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EFB6F600-64E8-4058-8FAD-0842C7F6A5AF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0A0447A9-E544-48EC-ABED-3205E82CC2E1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B3233B57-E3D1-4765-ABDE-507605640885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6DD75F84-0E74-4B83-9005-B1E301138176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solidFill>
                  <a:schemeClr val="dk1"/>
                </a:solidFill>
              </a:rPr>
              <a:t>Составной 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0B9421B2-063F-49C9-911C-95012F97DE2E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7C3FFED9-EBC7-4F73-871F-697ED8A40361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9B11649D-DFFC-4425-AB3A-11F9A171F652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3365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2" name="Google Shape;162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5" name="Google Shape;165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" name="Google Shape;168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69" name="Google Shape;169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1" name="Google Shape;171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СОСТАВНОЙ ИНДЕКС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C09E47F-5D0F-4795-A7C2-0E55744B2A34}"/>
              </a:ext>
            </a:extLst>
          </p:cNvPr>
          <p:cNvSpPr/>
          <p:nvPr/>
        </p:nvSpPr>
        <p:spPr>
          <a:xfrm>
            <a:off x="1669660" y="943104"/>
            <a:ext cx="860236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b="1" dirty="0">
                <a:solidFill>
                  <a:schemeClr val="dk1"/>
                </a:solidFill>
              </a:rPr>
              <a:t>Состоит из 2 и более полей одной таблицы. </a:t>
            </a:r>
          </a:p>
          <a:p>
            <a:pPr lvl="0"/>
            <a:endParaRPr lang="ru-RU" sz="1600" dirty="0">
              <a:solidFill>
                <a:schemeClr val="dk1"/>
              </a:solidFill>
            </a:endParaRPr>
          </a:p>
          <a:p>
            <a:pPr lvl="0"/>
            <a:r>
              <a:rPr lang="ru-RU" sz="1600" dirty="0">
                <a:solidFill>
                  <a:schemeClr val="dk1"/>
                </a:solidFill>
              </a:rPr>
              <a:t>Основная задача, чтобы после того, как найдены нужные строки, например, по полю 1, не идти в основную таблицу за другими данными по полю 2.</a:t>
            </a:r>
          </a:p>
          <a:p>
            <a:pPr lvl="0"/>
            <a:endParaRPr lang="ru-RU" sz="1600" dirty="0">
              <a:solidFill>
                <a:schemeClr val="dk1"/>
              </a:solidFill>
            </a:endParaRPr>
          </a:p>
          <a:p>
            <a:pPr lvl="0"/>
            <a:r>
              <a:rPr lang="ru-RU" sz="1600" dirty="0">
                <a:solidFill>
                  <a:schemeClr val="dk1"/>
                </a:solidFill>
              </a:rPr>
              <a:t>Сначала строится </a:t>
            </a:r>
            <a:r>
              <a:rPr lang="ru-RU" sz="1600" dirty="0" err="1">
                <a:solidFill>
                  <a:schemeClr val="dk1"/>
                </a:solidFill>
              </a:rPr>
              <a:t>btree</a:t>
            </a:r>
            <a:r>
              <a:rPr lang="ru-RU" sz="1600" dirty="0">
                <a:solidFill>
                  <a:schemeClr val="dk1"/>
                </a:solidFill>
              </a:rPr>
              <a:t> по первому полю, потом внутри маленькое </a:t>
            </a:r>
            <a:r>
              <a:rPr lang="ru-RU" sz="1600" dirty="0" err="1">
                <a:solidFill>
                  <a:schemeClr val="dk1"/>
                </a:solidFill>
              </a:rPr>
              <a:t>btree</a:t>
            </a:r>
            <a:r>
              <a:rPr lang="ru-RU" sz="1600" dirty="0">
                <a:solidFill>
                  <a:schemeClr val="dk1"/>
                </a:solidFill>
              </a:rPr>
              <a:t> по второму полю.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AB913FB3-367F-4241-83CF-E48DE9E8107D}"/>
              </a:ext>
            </a:extLst>
          </p:cNvPr>
          <p:cNvGrpSpPr/>
          <p:nvPr/>
        </p:nvGrpSpPr>
        <p:grpSpPr>
          <a:xfrm>
            <a:off x="1774825" y="4081511"/>
            <a:ext cx="8497200" cy="717900"/>
            <a:chOff x="3881705" y="4731057"/>
            <a:chExt cx="8497200" cy="717900"/>
          </a:xfrm>
        </p:grpSpPr>
        <p:sp>
          <p:nvSpPr>
            <p:cNvPr id="21" name="Google Shape;372;p43">
              <a:extLst>
                <a:ext uri="{FF2B5EF4-FFF2-40B4-BE49-F238E27FC236}">
                  <a16:creationId xmlns:a16="http://schemas.microsoft.com/office/drawing/2014/main" id="{049CDB1C-E191-4928-B6BE-D1A3942B6DF5}"/>
                </a:ext>
              </a:extLst>
            </p:cNvPr>
            <p:cNvSpPr/>
            <p:nvPr/>
          </p:nvSpPr>
          <p:spPr>
            <a:xfrm>
              <a:off x="3881705" y="4731057"/>
              <a:ext cx="8497200" cy="717900"/>
            </a:xfrm>
            <a:prstGeom prst="roundRect">
              <a:avLst>
                <a:gd name="adj" fmla="val 16667"/>
              </a:avLst>
            </a:prstGeom>
            <a:solidFill>
              <a:srgbClr val="E5E0F6"/>
            </a:solidFill>
            <a:ln>
              <a:noFill/>
            </a:ln>
          </p:spPr>
          <p:txBody>
            <a:bodyPr spcFirstLastPara="1" wrap="square" lIns="684000" tIns="108000" rIns="180000" bIns="108000" anchor="ctr" anchorCtr="0">
              <a:noAutofit/>
            </a:bodyPr>
            <a:lstStyle/>
            <a:p>
              <a:pPr lvl="0"/>
              <a:r>
                <a:rPr lang="ru-RU" dirty="0">
                  <a:solidFill>
                    <a:schemeClr val="dk1"/>
                  </a:solidFill>
                </a:rPr>
                <a:t>При поиске только по 2 полю индекс использован не будет!!!</a:t>
              </a:r>
            </a:p>
          </p:txBody>
        </p:sp>
        <p:pic>
          <p:nvPicPr>
            <p:cNvPr id="22" name="Google Shape;373;p43">
              <a:extLst>
                <a:ext uri="{FF2B5EF4-FFF2-40B4-BE49-F238E27FC236}">
                  <a16:creationId xmlns:a16="http://schemas.microsoft.com/office/drawing/2014/main" id="{70BBF922-FB3C-4CEF-AC27-02D8CDEF0627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004325" y="4831421"/>
              <a:ext cx="485372" cy="4853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73A2E48-5DEF-4A02-B5CC-EF1F689FF820}"/>
              </a:ext>
            </a:extLst>
          </p:cNvPr>
          <p:cNvSpPr txBox="1"/>
          <p:nvPr/>
        </p:nvSpPr>
        <p:spPr>
          <a:xfrm>
            <a:off x="1669659" y="5220782"/>
            <a:ext cx="86023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600" b="1" dirty="0">
                <a:solidFill>
                  <a:schemeClr val="dk1"/>
                </a:solidFill>
              </a:rPr>
              <a:t>create index uk_test_id_col2 on test(id, col2);</a:t>
            </a:r>
          </a:p>
          <a:p>
            <a:pPr lvl="0"/>
            <a:r>
              <a:rPr lang="en-US" sz="1600" u="sng" dirty="0">
                <a:solidFill>
                  <a:schemeClr val="hlink"/>
                </a:solidFill>
                <a:hlinkClick r:id="rId11"/>
              </a:rPr>
              <a:t>https://www.db-fiddle.com/f/ujFT64yqZJPdD3kKu3ghkB/0</a:t>
            </a:r>
            <a:r>
              <a:rPr lang="en-US" sz="1600" dirty="0">
                <a:solidFill>
                  <a:schemeClr val="dk1"/>
                </a:solidFill>
              </a:rPr>
              <a:t> </a:t>
            </a:r>
          </a:p>
          <a:p>
            <a:pPr lvl="0"/>
            <a:endParaRPr lang="en-US" sz="1600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</a:pPr>
            <a:r>
              <a:rPr lang="ru-RU" sz="1600" dirty="0">
                <a:solidFill>
                  <a:schemeClr val="dk1"/>
                </a:solidFill>
              </a:rPr>
              <a:t>Есть разновидность - покрывающий индекс</a:t>
            </a:r>
          </a:p>
        </p:txBody>
      </p:sp>
      <p:cxnSp>
        <p:nvCxnSpPr>
          <p:cNvPr id="24" name="Google Shape;163;p7">
            <a:extLst>
              <a:ext uri="{FF2B5EF4-FFF2-40B4-BE49-F238E27FC236}">
                <a16:creationId xmlns:a16="http://schemas.microsoft.com/office/drawing/2014/main" id="{3128A05D-BA60-4AFD-A1F4-76B34107AF62}"/>
              </a:ext>
            </a:extLst>
          </p:cNvPr>
          <p:cNvCxnSpPr>
            <a:cxnSpLocks/>
          </p:cNvCxnSpPr>
          <p:nvPr/>
        </p:nvCxnSpPr>
        <p:spPr>
          <a:xfrm>
            <a:off x="1774825" y="5010096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D8BB33B-8130-45D8-B9A5-F6E813BC7455}"/>
              </a:ext>
            </a:extLst>
          </p:cNvPr>
          <p:cNvSpPr/>
          <p:nvPr/>
        </p:nvSpPr>
        <p:spPr>
          <a:xfrm>
            <a:off x="1669660" y="2844837"/>
            <a:ext cx="860236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b="1" dirty="0">
                <a:solidFill>
                  <a:schemeClr val="dk1"/>
                </a:solidFill>
              </a:rPr>
              <a:t>Из этого следует, что индекс будет использоваться только при:</a:t>
            </a:r>
          </a:p>
          <a:p>
            <a:pPr lvl="0"/>
            <a:endParaRPr lang="ru-RU" sz="1600" b="1" dirty="0">
              <a:solidFill>
                <a:schemeClr val="dk1"/>
              </a:solidFill>
            </a:endParaRPr>
          </a:p>
          <a:p>
            <a:pPr marL="387350" lvl="0" indent="-285750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поиске по 1 полю</a:t>
            </a:r>
          </a:p>
          <a:p>
            <a:pPr marL="387350" lvl="0" indent="-285750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поиске по 1 и 2 полю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3" name="Google Shape;183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86" name="Google Shape;186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9" name="Google Shape;189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90" name="Google Shape;190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1" name="Google Shape;191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2" name="Google Shape;192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ПОКРЫВАЮЩИЙ ИНДЕКС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9C44DC-A30A-4FE5-8D1B-86BB8FBD0ADD}"/>
              </a:ext>
            </a:extLst>
          </p:cNvPr>
          <p:cNvSpPr txBox="1"/>
          <p:nvPr/>
        </p:nvSpPr>
        <p:spPr>
          <a:xfrm>
            <a:off x="1716097" y="2473309"/>
            <a:ext cx="87598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600" dirty="0">
                <a:solidFill>
                  <a:schemeClr val="dk1"/>
                </a:solidFill>
              </a:rPr>
              <a:t>Основное отличие от составного - индекс строится только по 1 полю, остальные данные просто лежат в листьях.</a:t>
            </a:r>
          </a:p>
          <a:p>
            <a:pPr lvl="0"/>
            <a:endParaRPr lang="ru-RU" sz="1600" dirty="0">
              <a:solidFill>
                <a:schemeClr val="dk1"/>
              </a:solidFill>
            </a:endParaRPr>
          </a:p>
          <a:p>
            <a:pPr lvl="0"/>
            <a:r>
              <a:rPr lang="ru-RU" sz="1600" dirty="0">
                <a:solidFill>
                  <a:schemeClr val="dk1"/>
                </a:solidFill>
              </a:rPr>
              <a:t>Соответственно строится быстрее и меньше размер, но поиск и по включенным полям будет без индекса.</a:t>
            </a:r>
          </a:p>
          <a:p>
            <a:pPr lvl="0"/>
            <a:endParaRPr lang="ru-RU" sz="1600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ru-RU" sz="1600" b="1" dirty="0">
                <a:solidFill>
                  <a:schemeClr val="dk1"/>
                </a:solidFill>
              </a:rPr>
              <a:t>CREATE UNIQUE INDEX </a:t>
            </a:r>
            <a:r>
              <a:rPr lang="ru-RU" sz="1600" b="1" dirty="0" err="1">
                <a:solidFill>
                  <a:schemeClr val="dk1"/>
                </a:solidFill>
              </a:rPr>
              <a:t>title_idx</a:t>
            </a:r>
            <a:r>
              <a:rPr lang="ru-RU" sz="1600" b="1" dirty="0">
                <a:solidFill>
                  <a:schemeClr val="dk1"/>
                </a:solidFill>
              </a:rPr>
              <a:t> ON </a:t>
            </a:r>
            <a:r>
              <a:rPr lang="ru-RU" sz="1600" b="1" dirty="0" err="1">
                <a:solidFill>
                  <a:schemeClr val="dk1"/>
                </a:solidFill>
              </a:rPr>
              <a:t>films</a:t>
            </a:r>
            <a:r>
              <a:rPr lang="ru-RU" sz="1600" b="1" dirty="0">
                <a:solidFill>
                  <a:schemeClr val="dk1"/>
                </a:solidFill>
              </a:rPr>
              <a:t> (</a:t>
            </a:r>
            <a:r>
              <a:rPr lang="ru-RU" sz="1600" b="1" dirty="0" err="1">
                <a:solidFill>
                  <a:schemeClr val="dk1"/>
                </a:solidFill>
              </a:rPr>
              <a:t>title</a:t>
            </a:r>
            <a:r>
              <a:rPr lang="ru-RU" sz="1600" b="1" dirty="0">
                <a:solidFill>
                  <a:schemeClr val="dk1"/>
                </a:solidFill>
              </a:rPr>
              <a:t>) INCLUDE (</a:t>
            </a:r>
            <a:r>
              <a:rPr lang="ru-RU" sz="1600" b="1" dirty="0" err="1">
                <a:solidFill>
                  <a:schemeClr val="dk1"/>
                </a:solidFill>
              </a:rPr>
              <a:t>director</a:t>
            </a:r>
            <a:r>
              <a:rPr lang="ru-RU" sz="1600" b="1" dirty="0">
                <a:solidFill>
                  <a:schemeClr val="dk1"/>
                </a:solidFill>
              </a:rPr>
              <a:t>, </a:t>
            </a:r>
            <a:r>
              <a:rPr lang="ru-RU" sz="1600" b="1" dirty="0" err="1">
                <a:solidFill>
                  <a:schemeClr val="dk1"/>
                </a:solidFill>
              </a:rPr>
              <a:t>rating</a:t>
            </a:r>
            <a:r>
              <a:rPr lang="ru-RU" sz="1600" b="1" dirty="0">
                <a:solidFill>
                  <a:schemeClr val="dk1"/>
                </a:solidFill>
              </a:rPr>
              <a:t>);</a:t>
            </a:r>
          </a:p>
        </p:txBody>
      </p: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3F7B46AB-2C61-4DA6-98DE-3DC10F6112D8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A52E879C-9BE9-4C7C-B2F1-9B277BF5CB6A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04" name="Google Shape;204;p21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1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6" name="Google Shape;206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07" name="Google Shape;207;p21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1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21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0" name="Google Shape;210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11" name="Google Shape;211;p21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2" name="Google Shape;212;p21"/>
              <p:cNvSpPr txBox="1"/>
              <p:nvPr/>
            </p:nvSpPr>
            <p:spPr>
              <a:xfrm>
                <a:off x="21231326" y="12448499"/>
                <a:ext cx="1511701" cy="976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</a:p>
            </p:txBody>
          </p:sp>
        </p:grpSp>
      </p:grpSp>
      <p:pic>
        <p:nvPicPr>
          <p:cNvPr id="213" name="Google Shape;213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ФУНКЦИОНАЛЬНЫЙ ИНДЕКС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5B2E29-2F8F-438F-8E03-D73AFDE1683B}"/>
              </a:ext>
            </a:extLst>
          </p:cNvPr>
          <p:cNvSpPr/>
          <p:nvPr/>
        </p:nvSpPr>
        <p:spPr>
          <a:xfrm>
            <a:off x="1735199" y="2151727"/>
            <a:ext cx="896957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sz="1600" dirty="0">
                <a:solidFill>
                  <a:srgbClr val="111111"/>
                </a:solidFill>
                <a:highlight>
                  <a:srgbClr val="FFFFFF"/>
                </a:highlight>
              </a:rPr>
              <a:t>Индекс строится не на поле, а на функцию от поля или нескольких полей и именно это значение и хранится в индексе.</a:t>
            </a:r>
          </a:p>
          <a:p>
            <a:pPr lvl="0" algn="just"/>
            <a:endParaRPr lang="ru-RU" sz="160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lvl="0" algn="just"/>
            <a:r>
              <a:rPr lang="ru-RU" sz="1600" dirty="0">
                <a:solidFill>
                  <a:srgbClr val="111111"/>
                </a:solidFill>
                <a:highlight>
                  <a:srgbClr val="FFFFFF"/>
                </a:highlight>
              </a:rPr>
              <a:t>Соответственно, использоваться такой индекс будет только тогда, когда при поиске будет использована соответствующая функция</a:t>
            </a:r>
          </a:p>
          <a:p>
            <a:pPr lvl="0" algn="just"/>
            <a:endParaRPr lang="ru-RU" sz="160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lvl="0"/>
            <a:r>
              <a:rPr lang="ru-RU" sz="1600" b="1" dirty="0">
                <a:solidFill>
                  <a:schemeClr val="dk1"/>
                </a:solidFill>
              </a:rPr>
              <a:t>CREATE INDEX UK_TEST_NAME ON TEST(LOWER(NAME));</a:t>
            </a:r>
          </a:p>
          <a:p>
            <a:pPr lvl="0"/>
            <a:endParaRPr lang="ru-RU" sz="1600" dirty="0">
              <a:solidFill>
                <a:schemeClr val="dk1"/>
              </a:solidFill>
            </a:endParaRPr>
          </a:p>
          <a:p>
            <a:pPr lvl="0"/>
            <a:r>
              <a:rPr lang="ru-RU" sz="1600" u="sng" dirty="0">
                <a:solidFill>
                  <a:schemeClr val="hlink"/>
                </a:solidFill>
                <a:hlinkClick r:id="rId10"/>
              </a:rPr>
              <a:t>https://www.db-fiddle.com/f/iCsikL3HGn7Wcp3FzxEfNf/1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</a:p>
          <a:p>
            <a:pPr lvl="0">
              <a:buClr>
                <a:schemeClr val="dk1"/>
              </a:buClr>
            </a:pPr>
            <a:endParaRPr lang="ru-RU" sz="1600" dirty="0">
              <a:solidFill>
                <a:schemeClr val="dk1"/>
              </a:solidFill>
            </a:endParaRPr>
          </a:p>
        </p:txBody>
      </p: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41B6839F-6252-43FE-9BC9-103429D72E40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26DE0309-ADC8-4832-B23C-8C788505486F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25" name="Google Shape;225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7" name="Google Shape;227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28" name="Google Shape;228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1" name="Google Shape;231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32" name="Google Shape;232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3" name="Google Shape;233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34" name="Google Shape;234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ЧАСТИЧНЫЙ ИНДЕКС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3EF5B4-6FBB-43F6-AEDB-D7B8270EB6CF}"/>
              </a:ext>
            </a:extLst>
          </p:cNvPr>
          <p:cNvSpPr txBox="1"/>
          <p:nvPr/>
        </p:nvSpPr>
        <p:spPr>
          <a:xfrm>
            <a:off x="1715334" y="2448140"/>
            <a:ext cx="80894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</a:pPr>
            <a:r>
              <a:rPr lang="ru-RU" sz="1600" dirty="0">
                <a:solidFill>
                  <a:schemeClr val="dk1"/>
                </a:solidFill>
              </a:rPr>
              <a:t>Индекс создается на небольшую часть таблицы по какому-либо условию.</a:t>
            </a:r>
          </a:p>
          <a:p>
            <a:pPr lvl="0">
              <a:buClr>
                <a:schemeClr val="dk1"/>
              </a:buClr>
            </a:pPr>
            <a:r>
              <a:rPr lang="ru-RU" sz="1600" dirty="0">
                <a:solidFill>
                  <a:schemeClr val="dk1"/>
                </a:solidFill>
              </a:rPr>
              <a:t>Например, есть поставщики, ID до 100 крупные с постоянными заказами, после 100 одноразовые - зачем нам по ним индекс.</a:t>
            </a:r>
          </a:p>
          <a:p>
            <a:pPr lvl="0">
              <a:buClr>
                <a:schemeClr val="dk1"/>
              </a:buClr>
            </a:pPr>
            <a:endParaRPr lang="ru-RU" sz="1600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</a:pPr>
            <a:r>
              <a:rPr lang="ru-RU" sz="1600" b="1" dirty="0">
                <a:solidFill>
                  <a:schemeClr val="dk1"/>
                </a:solidFill>
              </a:rPr>
              <a:t>CREATE INDEX UK_TEST_ID ON TEST(ID) WHERE ID &lt; 100;</a:t>
            </a:r>
          </a:p>
          <a:p>
            <a:pPr lvl="0">
              <a:buClr>
                <a:schemeClr val="dk1"/>
              </a:buClr>
            </a:pPr>
            <a:endParaRPr lang="ru-RU" sz="1600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</a:pPr>
            <a:r>
              <a:rPr lang="ru-RU" sz="1600" u="sng" dirty="0">
                <a:solidFill>
                  <a:schemeClr val="hlink"/>
                </a:solidFill>
                <a:hlinkClick r:id="rId10"/>
              </a:rPr>
              <a:t>https://www.db-fiddle.com/f/m3MQH8J7XrZMYJEm8zyMnc/1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</a:p>
        </p:txBody>
      </p: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CB629657-CD93-4AF2-9262-8566EB1C745B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F805F27D-443C-4941-8D90-5633170C9B4A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23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46" name="Google Shape;246;p23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3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" name="Google Shape;248;p23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49" name="Google Shape;249;p23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23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3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2" name="Google Shape;252;p23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53" name="Google Shape;253;p23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4" name="Google Shape;254;p23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8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55" name="Google Shape;255;p2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" name="Google Shape;130;p17">
            <a:extLst>
              <a:ext uri="{FF2B5EF4-FFF2-40B4-BE49-F238E27FC236}">
                <a16:creationId xmlns:a16="http://schemas.microsoft.com/office/drawing/2014/main" id="{A43C6FFE-F820-4EEC-8C45-BD0C67058FD4}"/>
              </a:ext>
            </a:extLst>
          </p:cNvPr>
          <p:cNvSpPr txBox="1"/>
          <p:nvPr/>
        </p:nvSpPr>
        <p:spPr>
          <a:xfrm>
            <a:off x="1774825" y="2249100"/>
            <a:ext cx="3448698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ru-RU" sz="1800" dirty="0">
                <a:solidFill>
                  <a:schemeClr val="dk1"/>
                </a:solidFill>
              </a:rPr>
              <a:t>Таким образом, мы рассмотрели различные варианты индексов.</a:t>
            </a:r>
          </a:p>
          <a:p>
            <a:pPr lvl="0">
              <a:buClr>
                <a:schemeClr val="dk1"/>
              </a:buClr>
            </a:pPr>
            <a:endParaRPr lang="ru-RU" sz="1800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</a:pPr>
            <a:r>
              <a:rPr lang="ru-RU" sz="1800" dirty="0">
                <a:solidFill>
                  <a:schemeClr val="dk1"/>
                </a:solidFill>
              </a:rPr>
              <a:t>Какой именно выбрать в том или ином случае зависит на 99% от предметной области </a:t>
            </a:r>
          </a:p>
          <a:p>
            <a:pPr lvl="0">
              <a:buClr>
                <a:schemeClr val="dk1"/>
              </a:buClr>
            </a:pPr>
            <a:r>
              <a:rPr lang="ru-RU" sz="1800" dirty="0">
                <a:solidFill>
                  <a:schemeClr val="dk1"/>
                </a:solidFill>
              </a:rPr>
              <a:t>и что конкретно мы хотим от индекса.</a:t>
            </a:r>
          </a:p>
        </p:txBody>
      </p:sp>
      <p:sp>
        <p:nvSpPr>
          <p:cNvPr id="21" name="Google Shape;91;p2">
            <a:extLst>
              <a:ext uri="{FF2B5EF4-FFF2-40B4-BE49-F238E27FC236}">
                <a16:creationId xmlns:a16="http://schemas.microsoft.com/office/drawing/2014/main" id="{C85D3F51-4CC1-410C-9B92-79F795E18739}"/>
              </a:ext>
            </a:extLst>
          </p:cNvPr>
          <p:cNvSpPr/>
          <p:nvPr/>
        </p:nvSpPr>
        <p:spPr>
          <a:xfrm>
            <a:off x="5355400" y="1338994"/>
            <a:ext cx="5089298" cy="4313202"/>
          </a:xfrm>
          <a:prstGeom prst="roundRect">
            <a:avLst>
              <a:gd name="adj" fmla="val 3341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4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24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267" name="Google Shape;267;p24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68" name="Google Shape;268;p24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24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24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24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24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" name="Google Shape;273;p24"/>
            <p:cNvSpPr txBox="1"/>
            <p:nvPr/>
          </p:nvSpPr>
          <p:spPr>
            <a:xfrm>
              <a:off x="3260998" y="5632856"/>
              <a:ext cx="16917839" cy="2825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81" name="Google Shape;281;p25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282" name="Google Shape;282;p25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5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4" name="Google Shape;284;p25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285" name="Google Shape;285;p25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25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25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8" name="Google Shape;288;p25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89" name="Google Shape;289;p25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0" name="Google Shape;290;p25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10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91" name="Google Shape;291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31;g142b2dfbfff_0_351">
            <a:extLst>
              <a:ext uri="{FF2B5EF4-FFF2-40B4-BE49-F238E27FC236}">
                <a16:creationId xmlns:a16="http://schemas.microsoft.com/office/drawing/2014/main" id="{02F20F45-9E8C-43BC-BA86-23B50B88D86B}"/>
              </a:ext>
            </a:extLst>
          </p:cNvPr>
          <p:cNvSpPr/>
          <p:nvPr/>
        </p:nvSpPr>
        <p:spPr>
          <a:xfrm>
            <a:off x="1774825" y="2625300"/>
            <a:ext cx="3705900" cy="1607400"/>
          </a:xfrm>
          <a:prstGeom prst="roundRect">
            <a:avLst>
              <a:gd name="adj" fmla="val 5760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01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 err="1">
                <a:solidFill>
                  <a:schemeClr val="dk1"/>
                </a:solidFill>
              </a:rPr>
              <a:t>Понять,зачем</a:t>
            </a:r>
            <a:r>
              <a:rPr lang="ru-RU" sz="1800" dirty="0">
                <a:solidFill>
                  <a:schemeClr val="dk1"/>
                </a:solidFill>
              </a:rPr>
              <a:t> нужны другие индексы</a:t>
            </a:r>
          </a:p>
        </p:txBody>
      </p:sp>
      <p:sp>
        <p:nvSpPr>
          <p:cNvPr id="17" name="Google Shape;532;g142b2dfbfff_0_351">
            <a:extLst>
              <a:ext uri="{FF2B5EF4-FFF2-40B4-BE49-F238E27FC236}">
                <a16:creationId xmlns:a16="http://schemas.microsoft.com/office/drawing/2014/main" id="{75704A6D-2F60-4EF8-AF94-5373E05AEA83}"/>
              </a:ext>
            </a:extLst>
          </p:cNvPr>
          <p:cNvSpPr/>
          <p:nvPr/>
        </p:nvSpPr>
        <p:spPr>
          <a:xfrm>
            <a:off x="5776909" y="2625300"/>
            <a:ext cx="3705900" cy="1607400"/>
          </a:xfrm>
          <a:prstGeom prst="roundRect">
            <a:avLst>
              <a:gd name="adj" fmla="val 521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Узнать, как их создать</a:t>
            </a:r>
          </a:p>
        </p:txBody>
      </p:sp>
      <p:pic>
        <p:nvPicPr>
          <p:cNvPr id="19" name="Google Shape;534;g142b2dfbfff_0_351">
            <a:extLst>
              <a:ext uri="{FF2B5EF4-FFF2-40B4-BE49-F238E27FC236}">
                <a16:creationId xmlns:a16="http://schemas.microsoft.com/office/drawing/2014/main" id="{764B962F-85BF-4753-A5A8-579F0993DB4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08073" y="2790780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535;g142b2dfbfff_0_351">
            <a:extLst>
              <a:ext uri="{FF2B5EF4-FFF2-40B4-BE49-F238E27FC236}">
                <a16:creationId xmlns:a16="http://schemas.microsoft.com/office/drawing/2014/main" id="{316B8F97-A37E-49AE-A7FC-480F99B3C0B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10158" y="2790791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1651000" y="336950"/>
            <a:ext cx="8560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 ДЛЯ САМОПРОВЕРКИ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00" name="Google Shape;300;p26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01" name="Google Shape;301;p26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26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3" name="Google Shape;303;p26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04" name="Google Shape;304;p26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26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26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26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08" name="Google Shape;308;p26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9" name="Google Shape;309;p26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11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10" name="Google Shape;310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6"/>
          <p:cNvSpPr/>
          <p:nvPr/>
        </p:nvSpPr>
        <p:spPr>
          <a:xfrm>
            <a:off x="1671109" y="1669978"/>
            <a:ext cx="10236600" cy="67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1" dirty="0">
                <a:solidFill>
                  <a:schemeClr val="dk1"/>
                </a:solidFill>
              </a:rPr>
              <a:t>Цель задания: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Создать функциональный индекс на своей таблице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ru-RU" sz="1600" dirty="0">
              <a:solidFill>
                <a:schemeClr val="dk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A4A602-9457-4C95-BF14-7A1079C7E139}"/>
              </a:ext>
            </a:extLst>
          </p:cNvPr>
          <p:cNvSpPr txBox="1"/>
          <p:nvPr/>
        </p:nvSpPr>
        <p:spPr>
          <a:xfrm>
            <a:off x="1671109" y="2634041"/>
            <a:ext cx="8520281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SzPts val="1800"/>
            </a:pPr>
            <a:r>
              <a:rPr lang="ru-RU" sz="1600" b="1" dirty="0">
                <a:solidFill>
                  <a:schemeClr val="dk1"/>
                </a:solidFill>
              </a:rPr>
              <a:t>Пошаговый план выполнения: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Взять за основу </a:t>
            </a:r>
            <a:r>
              <a:rPr lang="ru-RU" sz="1600" dirty="0" err="1">
                <a:solidFill>
                  <a:schemeClr val="dk1"/>
                </a:solidFill>
              </a:rPr>
              <a:t>фидл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r>
              <a:rPr lang="ru-RU" sz="1600" u="sng" dirty="0">
                <a:solidFill>
                  <a:schemeClr val="hlink"/>
                </a:solidFill>
                <a:hlinkClick r:id="rId10"/>
              </a:rPr>
              <a:t>https://www.db-fiddle.com/f/35KvSPW5ZeVs6H4wC8y41L/0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Сгенерировать 100 000 записей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Посчитать сколько получилось по итогу записей со значением поля </a:t>
            </a:r>
            <a:r>
              <a:rPr lang="ru-RU" sz="1600" dirty="0" err="1">
                <a:solidFill>
                  <a:schemeClr val="dk1"/>
                </a:solidFill>
              </a:rPr>
              <a:t>is_okay</a:t>
            </a:r>
            <a:r>
              <a:rPr lang="ru-RU" sz="1600" dirty="0">
                <a:solidFill>
                  <a:schemeClr val="dk1"/>
                </a:solidFill>
              </a:rPr>
              <a:t>= ‘</a:t>
            </a:r>
            <a:r>
              <a:rPr lang="ru-RU" sz="1600" dirty="0" err="1">
                <a:solidFill>
                  <a:schemeClr val="dk1"/>
                </a:solidFill>
              </a:rPr>
              <a:t>Yes</a:t>
            </a:r>
            <a:r>
              <a:rPr lang="ru-RU" sz="1600" dirty="0">
                <a:solidFill>
                  <a:schemeClr val="dk1"/>
                </a:solidFill>
              </a:rPr>
              <a:t>’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Если не получилось, эталонное решение закомментировано в </a:t>
            </a:r>
            <a:r>
              <a:rPr lang="ru-RU" sz="1600" dirty="0" err="1">
                <a:solidFill>
                  <a:schemeClr val="dk1"/>
                </a:solidFill>
              </a:rPr>
              <a:t>фидле</a:t>
            </a:r>
            <a:endParaRPr lang="ru-RU" sz="1600" dirty="0">
              <a:solidFill>
                <a:schemeClr val="dk1"/>
              </a:solidFill>
            </a:endParaRP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Задание закончено</a:t>
            </a:r>
          </a:p>
        </p:txBody>
      </p: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0C4457BE-9430-4216-A6CB-5904B02E7878}"/>
              </a:ext>
            </a:extLst>
          </p:cNvPr>
          <p:cNvCxnSpPr/>
          <p:nvPr/>
        </p:nvCxnSpPr>
        <p:spPr>
          <a:xfrm>
            <a:off x="1774825" y="244873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18" name="Google Shape;318;p27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7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7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7"/>
          <p:cNvSpPr txBox="1"/>
          <p:nvPr/>
        </p:nvSpPr>
        <p:spPr>
          <a:xfrm>
            <a:off x="1721050" y="2613156"/>
            <a:ext cx="7480200" cy="142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lvl="0">
              <a:lnSpc>
                <a:spcPct val="85000"/>
              </a:lnSpc>
              <a:buClr>
                <a:schemeClr val="lt1"/>
              </a:buClr>
              <a:buSzPts val="5400"/>
            </a:pPr>
            <a:r>
              <a:rPr lang="ru-RU" sz="5400" dirty="0">
                <a:solidFill>
                  <a:srgbClr val="FFFFFF"/>
                </a:solidFill>
                <a:latin typeface="Arial Black"/>
              </a:rPr>
              <a:t>СПАСИБО!</a:t>
            </a:r>
            <a:endParaRPr sz="1800" i="0" u="none" strike="noStrike" cap="none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</a:rPr>
              <a:t>На следующем занятии мы </a:t>
            </a:r>
            <a:r>
              <a:rPr lang="ru-RU" sz="1800" dirty="0">
                <a:solidFill>
                  <a:schemeClr val="lt1"/>
                </a:solidFill>
              </a:rPr>
              <a:t>рассмотрим тему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:</a:t>
            </a:r>
            <a:endParaRPr sz="18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Полнотекстовый поиск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322" name="Google Shape;322;p27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7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7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5" name="Google Shape;325;p27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326" name="Google Shape;326;p27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" name="Google Shape;327;p27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328" name="Google Shape;328;p27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7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507</Words>
  <Application>Microsoft Office PowerPoint</Application>
  <PresentationFormat>Широкоэкранный</PresentationFormat>
  <Paragraphs>110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Helvetica Neue</vt:lpstr>
      <vt:lpstr>Open Sans</vt:lpstr>
      <vt:lpstr>Proxima Nova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Бондарь Илья Викторович</cp:lastModifiedBy>
  <cp:revision>7</cp:revision>
  <cp:lastPrinted>2026-01-03T08:40:14Z</cp:lastPrinted>
  <dcterms:modified xsi:type="dcterms:W3CDTF">2026-01-03T09:04:27Z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AB0361FA-AC84-430A-B738-1683A0DFE46B</vt:lpwstr>
  </property>
  <property fmtid="{D5CDD505-2E9C-101B-9397-08002B2CF9AE}" pid="3" name="ArticulatePath">
    <vt:lpwstr>26 Составной индекс, по выражениям и частичный</vt:lpwstr>
  </property>
</Properties>
</file>