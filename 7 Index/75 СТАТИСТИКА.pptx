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7"/>
  </p:notesMasterIdLst>
  <p:sldIdLst>
    <p:sldId id="256" r:id="rId2"/>
    <p:sldId id="257" r:id="rId3"/>
    <p:sldId id="271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Arial Black" panose="020B0A04020102020204" pitchFamily="3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Helvetica Neue" panose="020B0604020202020204" charset="0"/>
      <p:regular r:id="rId24"/>
      <p:bold r:id="rId25"/>
      <p:italic r:id="rId26"/>
      <p:boldItalic r:id="rId27"/>
    </p:embeddedFont>
    <p:embeddedFont>
      <p:font typeface="Open Sans" panose="020B0604020202020204" charset="0"/>
      <p:regular r:id="rId28"/>
      <p:bold r:id="rId29"/>
      <p:italic r:id="rId30"/>
      <p:boldItalic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</p:embeddedFontLst>
  <p:custDataLst>
    <p:tags r:id="rId3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E88"/>
    <a:srgbClr val="0CC596"/>
    <a:srgbClr val="004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27" autoAdjust="0"/>
  </p:normalViewPr>
  <p:slideViewPr>
    <p:cSldViewPr snapToGrid="0">
      <p:cViewPr varScale="1">
        <p:scale>
          <a:sx n="58" d="100"/>
          <a:sy n="58" d="100"/>
        </p:scale>
        <p:origin x="84" y="127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heme" Target="theme/theme1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221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2d59b04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2d59b049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2d59b049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2d59b04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2d59b049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2d59b049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8999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2b382b33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142b382b33c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142b382b33c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2b382b33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2b382b33c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142b382b33c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3d08c69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143d08c69b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143d08c69b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2b382b33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42b382b33c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g142b382b33c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42b62076a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142b62076ab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142b62076ab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42b62076a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42b62076ab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g142b62076ab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8" name="Google Shape;37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7320805A-971E-4484-BAD0-E56C6C7EC89F}"/>
              </a:ext>
            </a:extLst>
          </p:cNvPr>
          <p:cNvSpPr txBox="1">
            <a:spLocks/>
          </p:cNvSpPr>
          <p:nvPr/>
        </p:nvSpPr>
        <p:spPr>
          <a:xfrm>
            <a:off x="1622194" y="2923360"/>
            <a:ext cx="6308826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r>
              <a:rPr lang="ru-RU" dirty="0"/>
              <a:t>БЛОК </a:t>
            </a:r>
            <a:r>
              <a:rPr lang="en-US" dirty="0"/>
              <a:t>8</a:t>
            </a:r>
            <a:r>
              <a:rPr lang="ru-RU" dirty="0"/>
              <a:t>. ИНДЕКСЫ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AABEF70C-6EFD-43B4-A927-BFB592BA6F04}"/>
              </a:ext>
            </a:extLst>
          </p:cNvPr>
          <p:cNvSpPr txBox="1">
            <a:spLocks/>
          </p:cNvSpPr>
          <p:nvPr/>
        </p:nvSpPr>
        <p:spPr>
          <a:xfrm>
            <a:off x="1609724" y="3498140"/>
            <a:ext cx="8358240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/>
              <a:t>СТАТИСТИКА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400240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99DB37A3-B0D8-49BA-9017-A2F1BBE0A2D3}"/>
              </a:ext>
            </a:extLst>
          </p:cNvPr>
          <p:cNvSpPr/>
          <p:nvPr/>
        </p:nvSpPr>
        <p:spPr>
          <a:xfrm>
            <a:off x="1661151" y="1434098"/>
            <a:ext cx="3299336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 задачи статистики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9FAB48EF-399B-4B58-8065-86A965C39C25}"/>
              </a:ext>
            </a:extLst>
          </p:cNvPr>
          <p:cNvSpPr/>
          <p:nvPr/>
        </p:nvSpPr>
        <p:spPr>
          <a:xfrm>
            <a:off x="5190647" y="1434109"/>
            <a:ext cx="3827907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как использовать статистику в </a:t>
            </a:r>
            <a:r>
              <a:rPr lang="ru-RU" sz="1800" dirty="0" err="1">
                <a:solidFill>
                  <a:schemeClr val="dk1"/>
                </a:solidFill>
              </a:rPr>
              <a:t>Постгресе</a:t>
            </a: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47338136-3E80-4F20-BEB3-822AC4E743F4}"/>
              </a:ext>
            </a:extLst>
          </p:cNvPr>
          <p:cNvSpPr/>
          <p:nvPr/>
        </p:nvSpPr>
        <p:spPr>
          <a:xfrm>
            <a:off x="1661148" y="3499359"/>
            <a:ext cx="7357406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Научиться просматривать статистику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00E70E62-7382-4DB2-8041-2A0BA686ED9E}"/>
              </a:ext>
            </a:extLst>
          </p:cNvPr>
          <p:cNvSpPr/>
          <p:nvPr/>
        </p:nvSpPr>
        <p:spPr>
          <a:xfrm>
            <a:off x="1844031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B3D1431C-9DC2-417D-8B6D-8E4AD23A325A}"/>
              </a:ext>
            </a:extLst>
          </p:cNvPr>
          <p:cNvSpPr/>
          <p:nvPr/>
        </p:nvSpPr>
        <p:spPr>
          <a:xfrm>
            <a:off x="5373533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290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0C2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C86371EB-7F52-4108-A650-DFF384C1FD5A}"/>
              </a:ext>
            </a:extLst>
          </p:cNvPr>
          <p:cNvSpPr/>
          <p:nvPr/>
        </p:nvSpPr>
        <p:spPr>
          <a:xfrm>
            <a:off x="1844031" y="3645805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26DD3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826D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D53168A2-C8C1-46B0-BED1-382AD2159ECA}"/>
              </a:ext>
            </a:extLst>
          </p:cNvPr>
          <p:cNvSpPr/>
          <p:nvPr/>
        </p:nvSpPr>
        <p:spPr>
          <a:xfrm>
            <a:off x="2863612" y="3363561"/>
            <a:ext cx="3145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Использование статистики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AC430C2A-2C99-48C6-81D2-F74DC4B67C42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F00AE1AB-192A-4890-9F17-98B823F1CA0B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11942110-428C-4AA1-80B6-673E52389378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0ACD7BF3-7F88-44AF-AA5E-CF253A367C92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C2301C37-CB3F-454E-8491-6E2A75CB11CD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Статистика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C6A6072F-B1A6-4843-AA89-9AA22434B99C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EB3E3F44-95F4-40D4-9845-596E6A36783E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79EAC0DF-8CBD-43E0-AA8F-12CCB8C45FDD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125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ДЛЯ ЧЕГО ИСПОЛЬЗУЕТСЯ СТАТИСТИКА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E5137-ED6C-431C-B083-F6EA322FD0C7}"/>
              </a:ext>
            </a:extLst>
          </p:cNvPr>
          <p:cNvSpPr txBox="1"/>
          <p:nvPr/>
        </p:nvSpPr>
        <p:spPr>
          <a:xfrm>
            <a:off x="1704392" y="1424243"/>
            <a:ext cx="413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ru-RU" sz="1600" b="1" dirty="0"/>
              <a:t>Начать урок я хотел бы с вопросов: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48A4152-B9D9-4843-AA26-F8ED87FE172A}"/>
              </a:ext>
            </a:extLst>
          </p:cNvPr>
          <p:cNvSpPr/>
          <p:nvPr/>
        </p:nvSpPr>
        <p:spPr>
          <a:xfrm>
            <a:off x="6438221" y="2238543"/>
            <a:ext cx="4753295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sz="1600" dirty="0"/>
              <a:t>Сколько выделять памяти для результата запроса, ведь в одном случае может вернуться 2 записи, а при другом условии 200 000? 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sz="1600" dirty="0"/>
              <a:t>Если выделить </a:t>
            </a:r>
            <a:r>
              <a:rPr lang="ru-RU" sz="1600" b="1" dirty="0"/>
              <a:t>мало памяти</a:t>
            </a:r>
            <a:r>
              <a:rPr lang="ru-RU" sz="1600" dirty="0"/>
              <a:t>, результат не поместится и будет создана временная таблица на диске, а это медленно. 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sz="1600" dirty="0"/>
              <a:t>Если выделить </a:t>
            </a:r>
            <a:r>
              <a:rPr lang="ru-RU" sz="1600" b="1" dirty="0"/>
              <a:t>много памяти</a:t>
            </a:r>
            <a:r>
              <a:rPr lang="ru-RU" sz="1600" dirty="0"/>
              <a:t> - на небольшой результат бесполезно расходуется память...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CE55E0-DCD7-4AC7-AD5C-BA9ADC22A75A}"/>
              </a:ext>
            </a:extLst>
          </p:cNvPr>
          <p:cNvSpPr/>
          <p:nvPr/>
        </p:nvSpPr>
        <p:spPr>
          <a:xfrm>
            <a:off x="1651000" y="2223154"/>
            <a:ext cx="621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12" lvl="0">
              <a:buClr>
                <a:schemeClr val="accent5"/>
              </a:buClr>
              <a:buSzPts val="1800"/>
            </a:pPr>
            <a:r>
              <a:rPr lang="ru-RU" sz="3000" dirty="0">
                <a:solidFill>
                  <a:srgbClr val="0042C5"/>
                </a:solidFill>
              </a:rPr>
              <a:t>01</a:t>
            </a:r>
            <a:endParaRPr lang="en-US" sz="3000" dirty="0">
              <a:solidFill>
                <a:srgbClr val="0042C5"/>
              </a:solidFill>
              <a:latin typeface="Helvetica Neue"/>
              <a:sym typeface="Helvetica Neue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C302FA-AD53-4791-B90A-47E49397EB93}"/>
              </a:ext>
            </a:extLst>
          </p:cNvPr>
          <p:cNvSpPr/>
          <p:nvPr/>
        </p:nvSpPr>
        <p:spPr>
          <a:xfrm>
            <a:off x="2272965" y="2238543"/>
            <a:ext cx="31413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sz="1600" dirty="0"/>
              <a:t>Как планировщик определяет что использовать: индекс или последовательное сканирование?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0811748-DC69-47C7-B9A5-026C12299952}"/>
              </a:ext>
            </a:extLst>
          </p:cNvPr>
          <p:cNvSpPr/>
          <p:nvPr/>
        </p:nvSpPr>
        <p:spPr>
          <a:xfrm>
            <a:off x="5867187" y="2223154"/>
            <a:ext cx="621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12" lvl="0">
              <a:buClr>
                <a:schemeClr val="accent5"/>
              </a:buClr>
              <a:buSzPts val="1800"/>
            </a:pPr>
            <a:r>
              <a:rPr lang="ru-RU" sz="3000" dirty="0">
                <a:solidFill>
                  <a:srgbClr val="0042C5"/>
                </a:solidFill>
              </a:rPr>
              <a:t>02</a:t>
            </a:r>
            <a:endParaRPr lang="en-US" sz="3000" dirty="0">
              <a:solidFill>
                <a:srgbClr val="0042C5"/>
              </a:solidFill>
              <a:latin typeface="Helvetica Neue"/>
              <a:sym typeface="Helvetica Neue"/>
            </a:endParaRPr>
          </a:p>
        </p:txBody>
      </p: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49376A07-F69F-4D1E-8C20-A47908877C48}"/>
              </a:ext>
            </a:extLst>
          </p:cNvPr>
          <p:cNvCxnSpPr/>
          <p:nvPr/>
        </p:nvCxnSpPr>
        <p:spPr>
          <a:xfrm>
            <a:off x="1774825" y="196285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ДЛЯ ЧЕГО ИСПОЛЬЗУЕТСЯ СТАТИСТИКА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E5137-ED6C-431C-B083-F6EA322FD0C7}"/>
              </a:ext>
            </a:extLst>
          </p:cNvPr>
          <p:cNvSpPr txBox="1"/>
          <p:nvPr/>
        </p:nvSpPr>
        <p:spPr>
          <a:xfrm>
            <a:off x="1704392" y="1424243"/>
            <a:ext cx="413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ru-RU" sz="1600" b="1" dirty="0"/>
              <a:t>Начать урок я хотел бы с вопросов: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48A4152-B9D9-4843-AA26-F8ED87FE172A}"/>
              </a:ext>
            </a:extLst>
          </p:cNvPr>
          <p:cNvSpPr/>
          <p:nvPr/>
        </p:nvSpPr>
        <p:spPr>
          <a:xfrm>
            <a:off x="6438221" y="2238543"/>
            <a:ext cx="4753295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sz="1600" dirty="0"/>
              <a:t>Сколько выделять памяти для результата запроса, ведь в одном случае может вернуться 2 записи, а при другом условии 200 000? 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sz="1600" dirty="0"/>
              <a:t>Если выделить </a:t>
            </a:r>
            <a:r>
              <a:rPr lang="ru-RU" sz="1600" b="1" dirty="0"/>
              <a:t>мало памяти</a:t>
            </a:r>
            <a:r>
              <a:rPr lang="ru-RU" sz="1600" dirty="0"/>
              <a:t>, результат не поместится и будет создана временная таблица на диске, а это медленно. 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sz="1600" dirty="0"/>
              <a:t>Если выделить </a:t>
            </a:r>
            <a:r>
              <a:rPr lang="ru-RU" sz="1600" b="1" dirty="0"/>
              <a:t>много памяти</a:t>
            </a:r>
            <a:r>
              <a:rPr lang="ru-RU" sz="1600" dirty="0"/>
              <a:t> - на небольшой результат бесполезно расходуется память...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CE55E0-DCD7-4AC7-AD5C-BA9ADC22A75A}"/>
              </a:ext>
            </a:extLst>
          </p:cNvPr>
          <p:cNvSpPr/>
          <p:nvPr/>
        </p:nvSpPr>
        <p:spPr>
          <a:xfrm>
            <a:off x="1651000" y="2223154"/>
            <a:ext cx="621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12" lvl="0">
              <a:buClr>
                <a:schemeClr val="accent5"/>
              </a:buClr>
              <a:buSzPts val="1800"/>
            </a:pPr>
            <a:r>
              <a:rPr lang="ru-RU" sz="3000" dirty="0">
                <a:solidFill>
                  <a:srgbClr val="0042C5"/>
                </a:solidFill>
              </a:rPr>
              <a:t>01</a:t>
            </a:r>
            <a:endParaRPr lang="en-US" sz="3000" dirty="0">
              <a:solidFill>
                <a:srgbClr val="0042C5"/>
              </a:solidFill>
              <a:latin typeface="Helvetica Neue"/>
              <a:sym typeface="Helvetica Neue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C302FA-AD53-4791-B90A-47E49397EB93}"/>
              </a:ext>
            </a:extLst>
          </p:cNvPr>
          <p:cNvSpPr/>
          <p:nvPr/>
        </p:nvSpPr>
        <p:spPr>
          <a:xfrm>
            <a:off x="2272965" y="2238543"/>
            <a:ext cx="31413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sz="1600" dirty="0"/>
              <a:t>Как планировщик определяет что использовать: индекс или последовательное сканирование?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0811748-DC69-47C7-B9A5-026C12299952}"/>
              </a:ext>
            </a:extLst>
          </p:cNvPr>
          <p:cNvSpPr/>
          <p:nvPr/>
        </p:nvSpPr>
        <p:spPr>
          <a:xfrm>
            <a:off x="5867187" y="2223154"/>
            <a:ext cx="621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12" lvl="0">
              <a:buClr>
                <a:schemeClr val="accent5"/>
              </a:buClr>
              <a:buSzPts val="1800"/>
            </a:pPr>
            <a:r>
              <a:rPr lang="ru-RU" sz="3000" dirty="0">
                <a:solidFill>
                  <a:srgbClr val="0042C5"/>
                </a:solidFill>
              </a:rPr>
              <a:t>02</a:t>
            </a:r>
            <a:endParaRPr lang="en-US" sz="3000" dirty="0">
              <a:solidFill>
                <a:srgbClr val="0042C5"/>
              </a:solidFill>
              <a:latin typeface="Helvetica Neue"/>
              <a:sym typeface="Helvetica Neue"/>
            </a:endParaRPr>
          </a:p>
        </p:txBody>
      </p: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49376A07-F69F-4D1E-8C20-A47908877C48}"/>
              </a:ext>
            </a:extLst>
          </p:cNvPr>
          <p:cNvCxnSpPr/>
          <p:nvPr/>
        </p:nvCxnSpPr>
        <p:spPr>
          <a:xfrm>
            <a:off x="1774825" y="196285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007259-8723-417B-A406-C46386A86FE1}"/>
              </a:ext>
            </a:extLst>
          </p:cNvPr>
          <p:cNvSpPr/>
          <p:nvPr/>
        </p:nvSpPr>
        <p:spPr>
          <a:xfrm>
            <a:off x="1685732" y="4969820"/>
            <a:ext cx="870968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</a:pPr>
            <a:r>
              <a:rPr lang="ru-RU" b="1" dirty="0">
                <a:solidFill>
                  <a:srgbClr val="00BE88"/>
                </a:solidFill>
              </a:rPr>
              <a:t>Ответ - для этого всего используется статистика по данным в таблицах</a:t>
            </a:r>
          </a:p>
          <a:p>
            <a:pPr lvl="0">
              <a:buClr>
                <a:schemeClr val="dk1"/>
              </a:buClr>
            </a:pPr>
            <a:endParaRPr lang="ru-RU" b="1" dirty="0">
              <a:solidFill>
                <a:srgbClr val="38761D"/>
              </a:solidFill>
            </a:endParaRPr>
          </a:p>
          <a:p>
            <a:pPr lvl="0">
              <a:buClr>
                <a:schemeClr val="dk1"/>
              </a:buClr>
            </a:pPr>
            <a:r>
              <a:rPr lang="ru-RU" b="1" dirty="0">
                <a:solidFill>
                  <a:schemeClr val="dk1"/>
                </a:solidFill>
              </a:rPr>
              <a:t>Статистика содержит границы распределения данных в таблице, т.е., например, знает сколько городов у нас начинаются с букв А по В </a:t>
            </a:r>
            <a:r>
              <a:rPr lang="ru-RU" b="1" dirty="0" err="1">
                <a:solidFill>
                  <a:schemeClr val="dk1"/>
                </a:solidFill>
              </a:rPr>
              <a:t>в</a:t>
            </a:r>
            <a:r>
              <a:rPr lang="ru-RU" b="1" dirty="0">
                <a:solidFill>
                  <a:schemeClr val="dk1"/>
                </a:solidFill>
              </a:rPr>
              <a:t> поле город. И, следовательно, планировщик уже будет знать сколько выделять памяти</a:t>
            </a:r>
          </a:p>
        </p:txBody>
      </p: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7250780F-3280-4265-B068-2DECD7DE7F1B}"/>
              </a:ext>
            </a:extLst>
          </p:cNvPr>
          <p:cNvCxnSpPr/>
          <p:nvPr/>
        </p:nvCxnSpPr>
        <p:spPr>
          <a:xfrm>
            <a:off x="1774825" y="4743374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84999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4" name="Google Shape;204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7" name="Google Shape;207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0" name="Google Shape;210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1" name="Google Shape;211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" name="Google Shape;212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3" name="Google Shape;213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НАКЛАДНЫЕ РАСХОДЫ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5FCF2D-20DD-4218-92FF-9E65B61FFA79}"/>
              </a:ext>
            </a:extLst>
          </p:cNvPr>
          <p:cNvSpPr txBox="1"/>
          <p:nvPr/>
        </p:nvSpPr>
        <p:spPr>
          <a:xfrm>
            <a:off x="1709981" y="2816606"/>
            <a:ext cx="853245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600" b="1" dirty="0">
                <a:solidFill>
                  <a:schemeClr val="dk1"/>
                </a:solidFill>
              </a:rPr>
              <a:t>Список параметров </a:t>
            </a:r>
            <a:r>
              <a:rPr lang="ru-RU" sz="1600" b="1" dirty="0" err="1">
                <a:solidFill>
                  <a:schemeClr val="dk1"/>
                </a:solidFill>
              </a:rPr>
              <a:t>Постгреса</a:t>
            </a:r>
            <a:r>
              <a:rPr lang="ru-RU" sz="1600" b="1" dirty="0">
                <a:solidFill>
                  <a:schemeClr val="dk1"/>
                </a:solidFill>
              </a:rPr>
              <a:t>: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dk1"/>
                </a:solidFill>
              </a:rPr>
              <a:t>track_activities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dirty="0">
                <a:solidFill>
                  <a:schemeClr val="dk1"/>
                </a:solidFill>
              </a:rPr>
              <a:t>включает мониторинг текущих команд, выполняемых любым серверным процессом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dk1"/>
                </a:solidFill>
              </a:rPr>
              <a:t>track_counts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dirty="0">
                <a:solidFill>
                  <a:schemeClr val="dk1"/>
                </a:solidFill>
              </a:rPr>
              <a:t>определяет необходимость сбора статистики по обращениям к таблицам и индексам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dk1"/>
                </a:solidFill>
              </a:rPr>
              <a:t>track_functions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dirty="0">
                <a:solidFill>
                  <a:schemeClr val="dk1"/>
                </a:solidFill>
              </a:rPr>
              <a:t>включает отслеживание использования пользовательских функций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dk1"/>
                </a:solidFill>
              </a:rPr>
              <a:t>track_io_timing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dirty="0">
                <a:solidFill>
                  <a:schemeClr val="dk1"/>
                </a:solidFill>
              </a:rPr>
              <a:t>включает мониторинг времени чтения и записи блоков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C00A2-AA8B-4F62-82FB-C83BD8FD9F16}"/>
              </a:ext>
            </a:extLst>
          </p:cNvPr>
          <p:cNvSpPr txBox="1"/>
          <p:nvPr/>
        </p:nvSpPr>
        <p:spPr>
          <a:xfrm>
            <a:off x="1709981" y="1492538"/>
            <a:ext cx="9313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600" dirty="0">
                <a:solidFill>
                  <a:schemeClr val="dk1"/>
                </a:solidFill>
              </a:rPr>
              <a:t>Поскольку сбор статистики несколько увеличивает накладные расходы (тратим больше ресурсов) при выполнении запроса, есть возможность настроить СУБД так, чтобы выполнять или не выполнять сбор статистической информации.</a:t>
            </a:r>
          </a:p>
        </p:txBody>
      </p: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D248AE4D-6D83-4632-9BAA-D2C6ADE2F86C}"/>
              </a:ext>
            </a:extLst>
          </p:cNvPr>
          <p:cNvCxnSpPr/>
          <p:nvPr/>
        </p:nvCxnSpPr>
        <p:spPr>
          <a:xfrm>
            <a:off x="1774825" y="2570070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5" name="Google Shape;225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" name="Google Shape;227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28" name="Google Shape;228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1" name="Google Shape;231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2" name="Google Shape;232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34" name="Google Shape;234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ОСНОВНЫЕ ТАБЛИЦЫ СТАТИСТИКИ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06E454-EAC0-4F62-BF04-24F5F425F684}"/>
              </a:ext>
            </a:extLst>
          </p:cNvPr>
          <p:cNvSpPr txBox="1"/>
          <p:nvPr/>
        </p:nvSpPr>
        <p:spPr>
          <a:xfrm>
            <a:off x="1698171" y="2411064"/>
            <a:ext cx="3850734" cy="1800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600" b="1" dirty="0" err="1">
                <a:solidFill>
                  <a:schemeClr val="dk1"/>
                </a:solidFill>
              </a:rPr>
              <a:t>pg_stat_database</a:t>
            </a:r>
            <a:endParaRPr lang="en-US" sz="1600" b="1" dirty="0">
              <a:solidFill>
                <a:schemeClr val="dk1"/>
              </a:solidFill>
            </a:endParaRPr>
          </a:p>
          <a:p>
            <a:pPr marL="3429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600" b="1" dirty="0" err="1">
                <a:solidFill>
                  <a:srgbClr val="030124"/>
                </a:solidFill>
              </a:rPr>
              <a:t>pg_stat_activity</a:t>
            </a:r>
            <a:endParaRPr lang="en-US" sz="1600" b="1" dirty="0">
              <a:solidFill>
                <a:srgbClr val="030124"/>
              </a:solidFill>
            </a:endParaRPr>
          </a:p>
          <a:p>
            <a:pPr marL="3429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600" b="1" dirty="0" err="1">
                <a:solidFill>
                  <a:srgbClr val="030124"/>
                </a:solidFill>
              </a:rPr>
              <a:t>pg_stat_user_tables</a:t>
            </a:r>
            <a:endParaRPr lang="en-US" sz="1600" b="1" dirty="0">
              <a:solidFill>
                <a:srgbClr val="030124"/>
              </a:solidFill>
            </a:endParaRPr>
          </a:p>
          <a:p>
            <a:pPr marL="3429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600" b="1" dirty="0" err="1">
                <a:solidFill>
                  <a:srgbClr val="030124"/>
                </a:solidFill>
              </a:rPr>
              <a:t>pg_stat_user_indexes</a:t>
            </a:r>
            <a:endParaRPr lang="en-US" sz="1600" b="1" dirty="0">
              <a:solidFill>
                <a:srgbClr val="030124"/>
              </a:solidFill>
            </a:endParaRPr>
          </a:p>
          <a:p>
            <a:pPr lvl="0">
              <a:buClr>
                <a:schemeClr val="dk1"/>
              </a:buClr>
              <a:buSzPts val="3200"/>
            </a:pPr>
            <a:endParaRPr lang="en-US" sz="1600" dirty="0">
              <a:solidFill>
                <a:srgbClr val="030124"/>
              </a:solidFill>
            </a:endParaRPr>
          </a:p>
          <a:p>
            <a:pPr lvl="0">
              <a:buClr>
                <a:schemeClr val="dk1"/>
              </a:buClr>
              <a:buSzPts val="3200"/>
            </a:pPr>
            <a:r>
              <a:rPr lang="ru-RU" sz="1600" dirty="0">
                <a:solidFill>
                  <a:srgbClr val="030124"/>
                </a:solidFill>
              </a:rPr>
              <a:t>Давайте разберем их более подробно</a:t>
            </a: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638BC4EF-9BDF-4C17-93CE-6E2B6D1C242C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C74A974D-2AC1-49AA-A0EF-3C8670B32CDA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46" name="Google Shape;246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49" name="Google Shape;249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2" name="Google Shape;252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3" name="Google Shape;253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4" name="Google Shape;254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5" name="Google Shape;255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PG_STAT_DATABASE</a:t>
            </a: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E69815-9BB2-4872-820A-D8AE6AED7460}"/>
              </a:ext>
            </a:extLst>
          </p:cNvPr>
          <p:cNvSpPr txBox="1"/>
          <p:nvPr/>
        </p:nvSpPr>
        <p:spPr>
          <a:xfrm>
            <a:off x="1651000" y="2844224"/>
            <a:ext cx="7730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ru-RU" sz="1600" dirty="0">
                <a:solidFill>
                  <a:schemeClr val="dk1"/>
                </a:solidFill>
              </a:rPr>
              <a:t>Отсюда можем получить следующую информацию, которую мы анализируем для оптимизации наших запросов:</a:t>
            </a:r>
          </a:p>
          <a:p>
            <a:pPr lvl="0">
              <a:buClr>
                <a:schemeClr val="dk1"/>
              </a:buClr>
              <a:buSzPts val="1100"/>
            </a:pPr>
            <a:endParaRPr lang="ru-RU" sz="1600" dirty="0">
              <a:solidFill>
                <a:schemeClr val="dk1"/>
              </a:solidFill>
            </a:endParaRPr>
          </a:p>
          <a:p>
            <a:pPr marL="285750" lvl="0" indent="-285750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Как много информации получаем из кэша</a:t>
            </a:r>
          </a:p>
          <a:p>
            <a:pPr marL="285750" lvl="0" indent="-285750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Как часто бывают проблемы с транзакциями</a:t>
            </a: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F7929FD5-255D-454E-89C2-10273A1538F8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5D6CD579-2E9F-496D-93C1-D6D35C7E3DC2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F2859D-26F4-4005-A937-E418F623612D}"/>
              </a:ext>
            </a:extLst>
          </p:cNvPr>
          <p:cNvSpPr/>
          <p:nvPr/>
        </p:nvSpPr>
        <p:spPr>
          <a:xfrm>
            <a:off x="1651000" y="2115010"/>
            <a:ext cx="621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12" lvl="0">
              <a:buClr>
                <a:schemeClr val="accent5"/>
              </a:buClr>
              <a:buSzPts val="1800"/>
            </a:pPr>
            <a:r>
              <a:rPr lang="ru-RU" sz="3000" dirty="0">
                <a:solidFill>
                  <a:srgbClr val="0042C5"/>
                </a:solidFill>
              </a:rPr>
              <a:t>01</a:t>
            </a:r>
            <a:endParaRPr lang="en-US" sz="3000" dirty="0">
              <a:solidFill>
                <a:srgbClr val="0042C5"/>
              </a:solidFill>
              <a:latin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67" name="Google Shape;267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70" name="Google Shape;270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3" name="Google Shape;273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74" name="Google Shape;274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" name="Google Shape;275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76" name="Google Shape;276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PG_STAT_ACTIVITY</a:t>
            </a: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F2E042AB-477B-48B6-BF0F-3703DB14579F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13E87B20-2211-4A5C-99D1-22DF91093077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4E406D7-C4D5-4215-9D9F-84A847672747}"/>
              </a:ext>
            </a:extLst>
          </p:cNvPr>
          <p:cNvSpPr/>
          <p:nvPr/>
        </p:nvSpPr>
        <p:spPr>
          <a:xfrm>
            <a:off x="1651000" y="2115010"/>
            <a:ext cx="621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12" lvl="0">
              <a:buClr>
                <a:schemeClr val="accent5"/>
              </a:buClr>
              <a:buSzPts val="1800"/>
            </a:pPr>
            <a:r>
              <a:rPr lang="ru-RU" sz="3000" dirty="0">
                <a:solidFill>
                  <a:srgbClr val="0042C5"/>
                </a:solidFill>
              </a:rPr>
              <a:t>02</a:t>
            </a:r>
            <a:endParaRPr lang="en-US" sz="3000" dirty="0">
              <a:solidFill>
                <a:srgbClr val="0042C5"/>
              </a:solidFill>
              <a:latin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0BF3B4-306E-4957-9D01-9D80C1C5E46F}"/>
              </a:ext>
            </a:extLst>
          </p:cNvPr>
          <p:cNvSpPr txBox="1"/>
          <p:nvPr/>
        </p:nvSpPr>
        <p:spPr>
          <a:xfrm>
            <a:off x="1701104" y="2819277"/>
            <a:ext cx="7787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600" dirty="0">
                <a:solidFill>
                  <a:schemeClr val="dk1"/>
                </a:solidFill>
              </a:rPr>
              <a:t>Содержит в себе по одной строке на каждый процесс сервера.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F47D6E25-3D76-41B3-8E02-13A59E2AA401}"/>
              </a:ext>
            </a:extLst>
          </p:cNvPr>
          <p:cNvGrpSpPr/>
          <p:nvPr/>
        </p:nvGrpSpPr>
        <p:grpSpPr>
          <a:xfrm>
            <a:off x="1774825" y="3375030"/>
            <a:ext cx="8497200" cy="717900"/>
            <a:chOff x="3881705" y="4731057"/>
            <a:chExt cx="8497200" cy="717900"/>
          </a:xfrm>
        </p:grpSpPr>
        <p:sp>
          <p:nvSpPr>
            <p:cNvPr id="23" name="Google Shape;372;p43">
              <a:extLst>
                <a:ext uri="{FF2B5EF4-FFF2-40B4-BE49-F238E27FC236}">
                  <a16:creationId xmlns:a16="http://schemas.microsoft.com/office/drawing/2014/main" id="{4289FA9F-550B-47B1-9C0E-8364CAFB2870}"/>
                </a:ext>
              </a:extLst>
            </p:cNvPr>
            <p:cNvSpPr/>
            <p:nvPr/>
          </p:nvSpPr>
          <p:spPr>
            <a:xfrm>
              <a:off x="3881705" y="4731057"/>
              <a:ext cx="8497200" cy="717900"/>
            </a:xfrm>
            <a:prstGeom prst="roundRect">
              <a:avLst>
                <a:gd name="adj" fmla="val 16667"/>
              </a:avLst>
            </a:prstGeom>
            <a:solidFill>
              <a:srgbClr val="E5E0F6"/>
            </a:solidFill>
            <a:ln>
              <a:noFill/>
            </a:ln>
          </p:spPr>
          <p:txBody>
            <a:bodyPr spcFirstLastPara="1" wrap="square" lIns="684000" tIns="108000" rIns="180000" bIns="108000" anchor="ctr" anchorCtr="0">
              <a:noAutofit/>
            </a:bodyPr>
            <a:lstStyle/>
            <a:p>
              <a:pPr lvl="0"/>
              <a:r>
                <a:rPr lang="ru-RU" dirty="0">
                  <a:solidFill>
                    <a:schemeClr val="dk1"/>
                  </a:solidFill>
                </a:rPr>
                <a:t>Напомню, что любое подключение к серверу порождает </a:t>
              </a:r>
              <a:r>
                <a:rPr lang="ru-RU" dirty="0" err="1">
                  <a:solidFill>
                    <a:schemeClr val="dk1"/>
                  </a:solidFill>
                </a:rPr>
                <a:t>форк</a:t>
              </a:r>
              <a:r>
                <a:rPr lang="ru-RU" dirty="0">
                  <a:solidFill>
                    <a:schemeClr val="dk1"/>
                  </a:solidFill>
                </a:rPr>
                <a:t> основного процесса и также отображается в этом представлении.</a:t>
              </a:r>
            </a:p>
          </p:txBody>
        </p:sp>
        <p:pic>
          <p:nvPicPr>
            <p:cNvPr id="24" name="Google Shape;373;p43">
              <a:extLst>
                <a:ext uri="{FF2B5EF4-FFF2-40B4-BE49-F238E27FC236}">
                  <a16:creationId xmlns:a16="http://schemas.microsoft.com/office/drawing/2014/main" id="{EB8707EC-3174-4FC8-A1E4-5852B05196F8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004325" y="4831421"/>
              <a:ext cx="485372" cy="4853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25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88" name="Google Shape;288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" name="Google Shape;290;p25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1" name="Google Shape;291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4" name="Google Shape;294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95" name="Google Shape;295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6" name="Google Shape;296;p25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97" name="Google Shape;297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PG_STAT_USER_TABLES</a:t>
            </a: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8E9E9AC2-C334-4AA5-ABA7-D100BFEAFF1E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DBBFCFEE-2500-4F02-B3A3-919008799862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D12F083-72CF-4C25-B925-88CA5B80C014}"/>
              </a:ext>
            </a:extLst>
          </p:cNvPr>
          <p:cNvSpPr/>
          <p:nvPr/>
        </p:nvSpPr>
        <p:spPr>
          <a:xfrm>
            <a:off x="1651000" y="2115010"/>
            <a:ext cx="621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12" lvl="0">
              <a:buClr>
                <a:schemeClr val="accent5"/>
              </a:buClr>
              <a:buSzPts val="1800"/>
            </a:pPr>
            <a:r>
              <a:rPr lang="ru-RU" sz="3000" dirty="0">
                <a:solidFill>
                  <a:srgbClr val="0042C5"/>
                </a:solidFill>
              </a:rPr>
              <a:t>03</a:t>
            </a:r>
            <a:endParaRPr lang="en-US" sz="3000" dirty="0">
              <a:solidFill>
                <a:srgbClr val="0042C5"/>
              </a:solidFill>
              <a:latin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C4D590-70C2-42C1-AE2E-27C01BEAFADB}"/>
              </a:ext>
            </a:extLst>
          </p:cNvPr>
          <p:cNvSpPr txBox="1"/>
          <p:nvPr/>
        </p:nvSpPr>
        <p:spPr>
          <a:xfrm>
            <a:off x="1697277" y="3045492"/>
            <a:ext cx="6795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dk1"/>
                </a:solidFill>
              </a:rPr>
              <a:t>Здесь собрана статистика, что вообще у нас происходит с таблицей. Сколько строк, мёртвых строк и т.д.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26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09" name="Google Shape;309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" name="Google Shape;311;p26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12" name="Google Shape;312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5" name="Google Shape;315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16" name="Google Shape;316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7" name="Google Shape;317;p26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18" name="Google Shape;318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PG_STAT_USER_INDEXES</a:t>
            </a: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3BC02B69-7364-49A5-9856-348A1B1320D8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7A4C097A-8159-4EF6-9134-906207830F3C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08C7693-C4B8-4DAA-8125-0420B5830D59}"/>
              </a:ext>
            </a:extLst>
          </p:cNvPr>
          <p:cNvSpPr/>
          <p:nvPr/>
        </p:nvSpPr>
        <p:spPr>
          <a:xfrm>
            <a:off x="1651000" y="2115010"/>
            <a:ext cx="621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12" lvl="0">
              <a:buClr>
                <a:schemeClr val="accent5"/>
              </a:buClr>
              <a:buSzPts val="1800"/>
            </a:pPr>
            <a:r>
              <a:rPr lang="ru-RU" sz="3000" dirty="0">
                <a:solidFill>
                  <a:srgbClr val="0042C5"/>
                </a:solidFill>
              </a:rPr>
              <a:t>04</a:t>
            </a:r>
            <a:endParaRPr lang="en-US" sz="3000" dirty="0">
              <a:solidFill>
                <a:srgbClr val="0042C5"/>
              </a:solidFill>
              <a:latin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DE571F-F6DD-43E7-9A3C-27009262A24B}"/>
              </a:ext>
            </a:extLst>
          </p:cNvPr>
          <p:cNvSpPr txBox="1"/>
          <p:nvPr/>
        </p:nvSpPr>
        <p:spPr>
          <a:xfrm>
            <a:off x="1697277" y="3259723"/>
            <a:ext cx="5779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dk1"/>
                </a:solidFill>
              </a:rPr>
              <a:t>Здесь собирается статистика по используемым индексам.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7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27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330" name="Google Shape;330;p27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31" name="Google Shape;331;p27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27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27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27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27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27"/>
            <p:cNvSpPr txBox="1"/>
            <p:nvPr/>
          </p:nvSpPr>
          <p:spPr>
            <a:xfrm>
              <a:off x="3260998" y="5605514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0" i="0" u="none" strike="noStrike" cap="none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sz="3600" b="1" i="0" u="none" strike="noStrike" cap="none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44" name="Google Shape;344;p28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45" name="Google Shape;345;p2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2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7" name="Google Shape;347;p28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48" name="Google Shape;348;p2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2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2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1" name="Google Shape;351;p2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52" name="Google Shape;352;p2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3" name="Google Shape;353;p28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54" name="Google Shape;354;p2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B358DE46-EA1B-434A-8545-AF218C621B87}"/>
              </a:ext>
            </a:extLst>
          </p:cNvPr>
          <p:cNvSpPr/>
          <p:nvPr/>
        </p:nvSpPr>
        <p:spPr>
          <a:xfrm>
            <a:off x="1725839" y="1706788"/>
            <a:ext cx="271410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Поняли задачи статистики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B83C0386-B191-4301-920B-3D0803479AAF}"/>
              </a:ext>
            </a:extLst>
          </p:cNvPr>
          <p:cNvSpPr/>
          <p:nvPr/>
        </p:nvSpPr>
        <p:spPr>
          <a:xfrm>
            <a:off x="4761325" y="1706777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Узнали как использовать статистику в </a:t>
            </a:r>
            <a:r>
              <a:rPr lang="ru-RU" sz="1800" dirty="0" err="1">
                <a:solidFill>
                  <a:schemeClr val="dk1"/>
                </a:solidFill>
              </a:rPr>
              <a:t>Постгресе</a:t>
            </a:r>
            <a:endParaRPr lang="ru-RU" sz="1800" dirty="0">
              <a:solidFill>
                <a:schemeClr val="dk1"/>
              </a:solidFill>
            </a:endParaRPr>
          </a:p>
        </p:txBody>
      </p:sp>
      <p:pic>
        <p:nvPicPr>
          <p:cNvPr id="18" name="Google Shape;534;g142b2dfbfff_0_351">
            <a:extLst>
              <a:ext uri="{FF2B5EF4-FFF2-40B4-BE49-F238E27FC236}">
                <a16:creationId xmlns:a16="http://schemas.microsoft.com/office/drawing/2014/main" id="{C8E53AAB-6135-445D-985C-7E339FBB8BB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86591" y="1872268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35;g142b2dfbfff_0_351">
            <a:extLst>
              <a:ext uri="{FF2B5EF4-FFF2-40B4-BE49-F238E27FC236}">
                <a16:creationId xmlns:a16="http://schemas.microsoft.com/office/drawing/2014/main" id="{E157179B-BE04-4730-BED9-2B1E083C3D4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4" y="1872268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537;g142b2dfbfff_0_351">
            <a:extLst>
              <a:ext uri="{FF2B5EF4-FFF2-40B4-BE49-F238E27FC236}">
                <a16:creationId xmlns:a16="http://schemas.microsoft.com/office/drawing/2014/main" id="{A57F78DE-3809-481F-80C8-2048F6FD724D}"/>
              </a:ext>
            </a:extLst>
          </p:cNvPr>
          <p:cNvSpPr/>
          <p:nvPr/>
        </p:nvSpPr>
        <p:spPr>
          <a:xfrm>
            <a:off x="1725847" y="3565052"/>
            <a:ext cx="6741377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Научились просматривать статистику</a:t>
            </a:r>
          </a:p>
        </p:txBody>
      </p:sp>
      <p:pic>
        <p:nvPicPr>
          <p:cNvPr id="21" name="Google Shape;538;g142b2dfbfff_0_351">
            <a:extLst>
              <a:ext uri="{FF2B5EF4-FFF2-40B4-BE49-F238E27FC236}">
                <a16:creationId xmlns:a16="http://schemas.microsoft.com/office/drawing/2014/main" id="{3B9738CC-105B-4CC0-94BC-BD486FE697C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3" y="3730543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0" i="0" u="none" strike="noStrike" cap="none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sz="3600" b="1" i="0" u="none" strike="noStrike" cap="none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63" name="Google Shape;363;p2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64" name="Google Shape;364;p2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2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6" name="Google Shape;366;p2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67" name="Google Shape;367;p2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2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2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0" name="Google Shape;370;p2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71" name="Google Shape;371;p2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2" name="Google Shape;372;p2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73" name="Google Shape;373;p2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9"/>
          <p:cNvSpPr/>
          <p:nvPr/>
        </p:nvSpPr>
        <p:spPr>
          <a:xfrm>
            <a:off x="1651000" y="1304275"/>
            <a:ext cx="5454830" cy="76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Посмотреть статистику по вновь созданной таблице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5D86A-6496-4473-9296-C1E12B61C6B5}"/>
              </a:ext>
            </a:extLst>
          </p:cNvPr>
          <p:cNvSpPr txBox="1"/>
          <p:nvPr/>
        </p:nvSpPr>
        <p:spPr>
          <a:xfrm>
            <a:off x="1651000" y="2257580"/>
            <a:ext cx="8952281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таблицу из 100 000 строк 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Сделать несколько запросов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Проанализировать таблицу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Посмотреть статистику по таблице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Выполните задание самостоятельно. Свое решение вы можете сравнить с эталонным (приложено к уроку)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38E27317-4524-4D0D-BEC4-08897980E1C2}"/>
              </a:ext>
            </a:extLst>
          </p:cNvPr>
          <p:cNvCxnSpPr/>
          <p:nvPr/>
        </p:nvCxnSpPr>
        <p:spPr>
          <a:xfrm>
            <a:off x="1774825" y="206910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0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1" name="Google Shape;381;p30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0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0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0"/>
          <p:cNvSpPr txBox="1"/>
          <p:nvPr/>
        </p:nvSpPr>
        <p:spPr>
          <a:xfrm>
            <a:off x="1721050" y="2613156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chemeClr val="lt1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Обслуживание индексов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85" name="Google Shape;385;p30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0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0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30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89" name="Google Shape;389;p30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" name="Google Shape;390;p30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91" name="Google Shape;391;p30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0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585</Words>
  <Application>Microsoft Office PowerPoint</Application>
  <PresentationFormat>Широкоэкранный</PresentationFormat>
  <Paragraphs>129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Helvetica Neue</vt:lpstr>
      <vt:lpstr>Arial Black</vt:lpstr>
      <vt:lpstr>Proxima Nova</vt:lpstr>
      <vt:lpstr>Arial</vt:lpstr>
      <vt:lpstr>Open Sans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Кузьмичев Даниил Михайлович</cp:lastModifiedBy>
  <cp:revision>6</cp:revision>
  <dcterms:modified xsi:type="dcterms:W3CDTF">2022-09-15T09:56:34Z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A800A925-E2E4-454A-81C1-6CA58ECB3AC1</vt:lpwstr>
  </property>
  <property fmtid="{D5CDD505-2E9C-101B-9397-08002B2CF9AE}" pid="3" name="ArticulatePath">
    <vt:lpwstr>28 Статистика</vt:lpwstr>
  </property>
</Properties>
</file>