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6" r:id="rId1"/>
    <p:sldMasterId id="2147483717" r:id="rId2"/>
    <p:sldMasterId id="2147483718" r:id="rId3"/>
    <p:sldMasterId id="2147483719" r:id="rId4"/>
    <p:sldMasterId id="2147483720" r:id="rId5"/>
    <p:sldMasterId id="2147483721" r:id="rId6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embeddedFontLst>
    <p:embeddedFont>
      <p:font typeface="Arial Black" panose="020B0A04020102020204" pitchFamily="34" charset="0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43c8e14265_0_103:notes"/>
          <p:cNvSpPr txBox="1">
            <a:spLocks noGrp="1"/>
          </p:cNvSpPr>
          <p:nvPr>
            <p:ph type="body" idx="1"/>
          </p:nvPr>
        </p:nvSpPr>
        <p:spPr>
          <a:xfrm>
            <a:off x="216991" y="7823199"/>
            <a:ext cx="1735800" cy="6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g143c8e1426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790950" y="2032000"/>
            <a:ext cx="9752013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43c8e14265_0_29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0" name="Google Shape;530;g143c8e14265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43c8e14265_0_49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g143c8e14265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43c8e14265_0_89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143c8e14265_0_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43c8e14265_0_99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g143c8e14265_0_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43c8e14265_0_103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g143c8e14265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43c8e14265_0_108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143c8e14265_0_1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43d997abca_0_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143d997ab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43d997abca_1_4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143d997abca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43d997abca_1_19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g143d997abca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43c8e14265_0_6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g143c8e14265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43d997abca_1_38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g143d997abca_1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1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0" name="Google Shape;190;p2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03" name="Google Shape;203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0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4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8" name="Google Shape;288;p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2" name="Google Shape;302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8" name="Google Shape;328;p4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4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1" name="Google Shape;341;p48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2" name="Google Shape;342;p48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9" name="Google Shape;359;p5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0" name="Google Shape;360;p5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52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5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5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54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5" name="Google Shape;375;p5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5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5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5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55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9" name="Google Shape;389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6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6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3" name="Google Shape;403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6" name="Google Shape;406;p5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7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1" name="Google Shape;411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5" name="Google Shape;415;p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58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58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5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1" name="Google Shape;421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9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4" name="Google Shape;424;p59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7" name="Google Shape;427;p60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8" name="Google Shape;428;p60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29" name="Google Shape;429;p60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2" name="Google Shape;432;p61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6" name="Google Shape;446;p6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447" name="Google Shape;447;p6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64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5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6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66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2" name="Google Shape;462;p6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6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6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7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4" name="Google Shape;474;p6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67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6" name="Google Shape;476;p6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6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6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6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8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8" name="Google Shape;488;p68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68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0" name="Google Shape;490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1" name="Google Shape;491;p6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6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6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96" name="Google Shape;49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9" name="Google Shape;499;p6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7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7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4" name="Google Shape;50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7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1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1" name="Google Shape;511;p71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2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4" name="Google Shape;514;p72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16" name="Google Shape;516;p72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3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19" name="Google Shape;519;p73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4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0" name="Google Shape;350;p5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2" name="Google Shape;352;p51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1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1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1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1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437" name="Google Shape;437;p6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9" name="Google Shape;439;p63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3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3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3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3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5"/>
          <p:cNvSpPr txBox="1">
            <a:spLocks noGrp="1"/>
          </p:cNvSpPr>
          <p:nvPr>
            <p:ph type="body" idx="1"/>
          </p:nvPr>
        </p:nvSpPr>
        <p:spPr>
          <a:xfrm>
            <a:off x="1633468" y="2788358"/>
            <a:ext cx="622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527" name="Google Shape;527;p75"/>
          <p:cNvSpPr txBox="1">
            <a:spLocks noGrp="1"/>
          </p:cNvSpPr>
          <p:nvPr>
            <p:ph type="title"/>
          </p:nvPr>
        </p:nvSpPr>
        <p:spPr>
          <a:xfrm>
            <a:off x="1620999" y="3363138"/>
            <a:ext cx="7520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ЖУРНАЛЫ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6"/>
          <p:cNvSpPr/>
          <p:nvPr/>
        </p:nvSpPr>
        <p:spPr>
          <a:xfrm>
            <a:off x="1725850" y="1840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Узнать, что такое журналы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76"/>
          <p:cNvSpPr/>
          <p:nvPr/>
        </p:nvSpPr>
        <p:spPr>
          <a:xfrm>
            <a:off x="1725850" y="3667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Понять принцип и устройство их работы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4" name="Google Shape;534;p7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535" name="Google Shape;535;p7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536" name="Google Shape;536;p76"/>
          <p:cNvSpPr/>
          <p:nvPr/>
        </p:nvSpPr>
        <p:spPr>
          <a:xfrm>
            <a:off x="1908732" y="19447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76"/>
          <p:cNvSpPr/>
          <p:nvPr/>
        </p:nvSpPr>
        <p:spPr>
          <a:xfrm>
            <a:off x="1908735" y="3772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543" name="Google Shape;543;p7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544" name="Google Shape;544;p77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77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77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47" name="Google Shape;547;p77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77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9" name="Google Shape;549;p77"/>
          <p:cNvSpPr txBox="1"/>
          <p:nvPr/>
        </p:nvSpPr>
        <p:spPr>
          <a:xfrm>
            <a:off x="2860569" y="1670664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Журналы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7"/>
          <p:cNvSpPr txBox="1"/>
          <p:nvPr/>
        </p:nvSpPr>
        <p:spPr>
          <a:xfrm>
            <a:off x="2860577" y="3438400"/>
            <a:ext cx="295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Принцип работы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7"/>
          <p:cNvSpPr txBox="1"/>
          <p:nvPr/>
        </p:nvSpPr>
        <p:spPr>
          <a:xfrm>
            <a:off x="2860569" y="5221443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7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ЖУРНАЛЫ - WRITE AHEAD LOG - WAL</a:t>
            </a:r>
            <a:endParaRPr dirty="0"/>
          </a:p>
        </p:txBody>
      </p:sp>
      <p:sp>
        <p:nvSpPr>
          <p:cNvPr id="558" name="Google Shape;558;p7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559" name="Google Shape;559;p78"/>
          <p:cNvSpPr/>
          <p:nvPr/>
        </p:nvSpPr>
        <p:spPr>
          <a:xfrm>
            <a:off x="1725850" y="1362750"/>
            <a:ext cx="7962600" cy="1077000"/>
          </a:xfrm>
          <a:prstGeom prst="roundRect">
            <a:avLst>
              <a:gd name="adj" fmla="val 1045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возможность восстановления согласованности данных после сбоя</a:t>
            </a:r>
            <a:endParaRPr sz="1600"/>
          </a:p>
        </p:txBody>
      </p:sp>
      <p:sp>
        <p:nvSpPr>
          <p:cNvPr id="560" name="Google Shape;560;p78"/>
          <p:cNvSpPr/>
          <p:nvPr/>
        </p:nvSpPr>
        <p:spPr>
          <a:xfrm>
            <a:off x="1882900" y="1485775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1B4EFC"/>
                </a:solidFill>
              </a:rPr>
              <a:t>ОСНОВНАЯ ЗАДАЧА</a:t>
            </a:r>
            <a:endParaRPr sz="1800"/>
          </a:p>
        </p:txBody>
      </p:sp>
      <p:sp>
        <p:nvSpPr>
          <p:cNvPr id="561" name="Google Shape;561;p78"/>
          <p:cNvSpPr txBox="1"/>
          <p:nvPr/>
        </p:nvSpPr>
        <p:spPr>
          <a:xfrm>
            <a:off x="1748302" y="3423900"/>
            <a:ext cx="40608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marR="0" lvl="0" indent="-222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при изменении данных действие также записывается в журнал. Журнальная запись попадает на диск раньше измененных данных</a:t>
            </a:r>
            <a:endParaRPr sz="1800">
              <a:solidFill>
                <a:schemeClr val="dk1"/>
              </a:solidFill>
            </a:endParaRPr>
          </a:p>
          <a:p>
            <a:pPr marL="222250" marR="0" lvl="0" indent="-222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восстановление после сбоя — повторное выполнение потерянных операций с помощью журнальных записей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2" name="Google Shape;562;p78"/>
          <p:cNvSpPr txBox="1"/>
          <p:nvPr/>
        </p:nvSpPr>
        <p:spPr>
          <a:xfrm>
            <a:off x="1748288" y="2784961"/>
            <a:ext cx="323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/>
              <a:t>Механизм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63" name="Google Shape;563;p78"/>
          <p:cNvCxnSpPr/>
          <p:nvPr/>
        </p:nvCxnSpPr>
        <p:spPr>
          <a:xfrm rot="10800000" flipH="1">
            <a:off x="1748288" y="3237352"/>
            <a:ext cx="3959100" cy="111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4" name="Google Shape;564;p78"/>
          <p:cNvSpPr txBox="1"/>
          <p:nvPr/>
        </p:nvSpPr>
        <p:spPr>
          <a:xfrm>
            <a:off x="6243352" y="3423900"/>
            <a:ext cx="40608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marR="0" lvl="0" indent="-222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изменение любых страниц в буферном кэше</a:t>
            </a:r>
            <a:endParaRPr sz="1800">
              <a:solidFill>
                <a:schemeClr val="dk1"/>
              </a:solidFill>
            </a:endParaRPr>
          </a:p>
          <a:p>
            <a:pPr marL="222250" marR="0" lvl="0" indent="-222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фиксация и отмена транзакций - буферы XACT</a:t>
            </a:r>
            <a:endParaRPr sz="1800">
              <a:solidFill>
                <a:schemeClr val="dk1"/>
              </a:solidFill>
            </a:endParaRPr>
          </a:p>
          <a:p>
            <a:pPr marL="222250" marR="0" lvl="0" indent="-222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НЕ ПОПАДАЮТ - временные и нежурналируемые таблицы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5" name="Google Shape;565;p78"/>
          <p:cNvSpPr txBox="1"/>
          <p:nvPr/>
        </p:nvSpPr>
        <p:spPr>
          <a:xfrm>
            <a:off x="6243338" y="2784961"/>
            <a:ext cx="323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/>
              <a:t>Что туда попадает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66" name="Google Shape;566;p78"/>
          <p:cNvCxnSpPr/>
          <p:nvPr/>
        </p:nvCxnSpPr>
        <p:spPr>
          <a:xfrm rot="10800000" flipH="1">
            <a:off x="6243338" y="3237352"/>
            <a:ext cx="3959100" cy="111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ЖУРНАЛЫ. УСТРОЙСТВО</a:t>
            </a:r>
            <a:endParaRPr/>
          </a:p>
        </p:txBody>
      </p:sp>
      <p:sp>
        <p:nvSpPr>
          <p:cNvPr id="572" name="Google Shape;572;p7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573" name="Google Shape;573;p79"/>
          <p:cNvSpPr/>
          <p:nvPr/>
        </p:nvSpPr>
        <p:spPr>
          <a:xfrm>
            <a:off x="1738859" y="1855312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79"/>
          <p:cNvSpPr/>
          <p:nvPr/>
        </p:nvSpPr>
        <p:spPr>
          <a:xfrm>
            <a:off x="1840839" y="1855312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79"/>
          <p:cNvSpPr/>
          <p:nvPr/>
        </p:nvSpPr>
        <p:spPr>
          <a:xfrm>
            <a:off x="3083145" y="1855312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9"/>
          <p:cNvSpPr/>
          <p:nvPr/>
        </p:nvSpPr>
        <p:spPr>
          <a:xfrm>
            <a:off x="3185125" y="1855312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9"/>
          <p:cNvSpPr/>
          <p:nvPr/>
        </p:nvSpPr>
        <p:spPr>
          <a:xfrm>
            <a:off x="4427432" y="1855312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79"/>
          <p:cNvSpPr/>
          <p:nvPr/>
        </p:nvSpPr>
        <p:spPr>
          <a:xfrm>
            <a:off x="4529412" y="1855312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79"/>
          <p:cNvSpPr/>
          <p:nvPr/>
        </p:nvSpPr>
        <p:spPr>
          <a:xfrm>
            <a:off x="5771718" y="1855312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79"/>
          <p:cNvSpPr/>
          <p:nvPr/>
        </p:nvSpPr>
        <p:spPr>
          <a:xfrm>
            <a:off x="5873699" y="1855312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79"/>
          <p:cNvSpPr/>
          <p:nvPr/>
        </p:nvSpPr>
        <p:spPr>
          <a:xfrm rot="5400000">
            <a:off x="7289440" y="1925396"/>
            <a:ext cx="803295" cy="633887"/>
          </a:xfrm>
          <a:prstGeom prst="flowChartPunchedTap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79"/>
          <p:cNvSpPr/>
          <p:nvPr/>
        </p:nvSpPr>
        <p:spPr>
          <a:xfrm>
            <a:off x="8387915" y="1833395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79"/>
          <p:cNvSpPr/>
          <p:nvPr/>
        </p:nvSpPr>
        <p:spPr>
          <a:xfrm>
            <a:off x="8489895" y="1833395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79"/>
          <p:cNvSpPr/>
          <p:nvPr/>
        </p:nvSpPr>
        <p:spPr>
          <a:xfrm>
            <a:off x="9732277" y="1833395"/>
            <a:ext cx="1020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79"/>
          <p:cNvSpPr/>
          <p:nvPr/>
        </p:nvSpPr>
        <p:spPr>
          <a:xfrm>
            <a:off x="9834257" y="1833395"/>
            <a:ext cx="1242300" cy="8178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6" name="Google Shape;586;p79"/>
          <p:cNvCxnSpPr/>
          <p:nvPr/>
        </p:nvCxnSpPr>
        <p:spPr>
          <a:xfrm flipH="1">
            <a:off x="1725850" y="2541751"/>
            <a:ext cx="12900" cy="91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7" name="Google Shape;587;p79"/>
          <p:cNvCxnSpPr/>
          <p:nvPr/>
        </p:nvCxnSpPr>
        <p:spPr>
          <a:xfrm rot="10800000" flipH="1">
            <a:off x="1725851" y="3420451"/>
            <a:ext cx="9295800" cy="4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8" name="Google Shape;588;p79"/>
          <p:cNvSpPr txBox="1"/>
          <p:nvPr/>
        </p:nvSpPr>
        <p:spPr>
          <a:xfrm>
            <a:off x="4116974" y="3149251"/>
            <a:ext cx="62601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Номер записи - 64 бита LSN (</a:t>
            </a:r>
            <a:r>
              <a:rPr lang="en-US" sz="1600" dirty="0"/>
              <a:t>L</a:t>
            </a:r>
            <a:r>
              <a:rPr lang="ru-RU" sz="1600" dirty="0" err="1"/>
              <a:t>ong</a:t>
            </a:r>
            <a:r>
              <a:rPr lang="ru-RU" sz="1600" dirty="0"/>
              <a:t> </a:t>
            </a:r>
            <a:r>
              <a:rPr lang="en-US" sz="1600" dirty="0"/>
              <a:t>S</a:t>
            </a:r>
            <a:r>
              <a:rPr lang="ru-RU" sz="1600" dirty="0" err="1"/>
              <a:t>equence</a:t>
            </a:r>
            <a:r>
              <a:rPr lang="ru-RU" sz="1600" dirty="0"/>
              <a:t> </a:t>
            </a:r>
            <a:r>
              <a:rPr lang="en-US" sz="1600" dirty="0"/>
              <a:t>N</a:t>
            </a:r>
            <a:r>
              <a:rPr lang="ru-RU" sz="1600" dirty="0" err="1"/>
              <a:t>umber</a:t>
            </a:r>
            <a:r>
              <a:rPr lang="ru-RU" sz="1600" dirty="0"/>
              <a:t>) </a:t>
            </a:r>
            <a:r>
              <a:rPr lang="ru-RU" sz="1600" dirty="0" err="1">
                <a:solidFill>
                  <a:srgbClr val="FF0000"/>
                </a:solidFill>
              </a:rPr>
              <a:t>pg_lsn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589" name="Google Shape;589;p79"/>
          <p:cNvSpPr txBox="1"/>
          <p:nvPr/>
        </p:nvSpPr>
        <p:spPr>
          <a:xfrm>
            <a:off x="2002788" y="2056135"/>
            <a:ext cx="10197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данные</a:t>
            </a:r>
            <a:endParaRPr sz="1600"/>
          </a:p>
        </p:txBody>
      </p:sp>
      <p:sp>
        <p:nvSpPr>
          <p:cNvPr id="590" name="Google Shape;590;p79"/>
          <p:cNvSpPr/>
          <p:nvPr/>
        </p:nvSpPr>
        <p:spPr>
          <a:xfrm>
            <a:off x="1779869" y="1446367"/>
            <a:ext cx="1405234" cy="408980"/>
          </a:xfrm>
          <a:custGeom>
            <a:avLst/>
            <a:gdLst/>
            <a:ahLst/>
            <a:cxnLst/>
            <a:rect l="l" t="t" r="r" b="b"/>
            <a:pathLst>
              <a:path w="58242" h="24086" extrusionOk="0">
                <a:moveTo>
                  <a:pt x="58242" y="24086"/>
                </a:moveTo>
                <a:cubicBezTo>
                  <a:pt x="56204" y="20397"/>
                  <a:pt x="54456" y="5352"/>
                  <a:pt x="46011" y="1954"/>
                </a:cubicBezTo>
                <a:cubicBezTo>
                  <a:pt x="37566" y="-1443"/>
                  <a:pt x="15240" y="110"/>
                  <a:pt x="7571" y="3701"/>
                </a:cubicBezTo>
                <a:cubicBezTo>
                  <a:pt x="-97" y="7293"/>
                  <a:pt x="1262" y="20203"/>
                  <a:pt x="0" y="2350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591" name="Google Shape;591;p79"/>
          <p:cNvSpPr/>
          <p:nvPr/>
        </p:nvSpPr>
        <p:spPr>
          <a:xfrm>
            <a:off x="3103683" y="1446367"/>
            <a:ext cx="1405234" cy="408980"/>
          </a:xfrm>
          <a:custGeom>
            <a:avLst/>
            <a:gdLst/>
            <a:ahLst/>
            <a:cxnLst/>
            <a:rect l="l" t="t" r="r" b="b"/>
            <a:pathLst>
              <a:path w="58242" h="24086" extrusionOk="0">
                <a:moveTo>
                  <a:pt x="58242" y="24086"/>
                </a:moveTo>
                <a:cubicBezTo>
                  <a:pt x="56204" y="20397"/>
                  <a:pt x="54456" y="5352"/>
                  <a:pt x="46011" y="1954"/>
                </a:cubicBezTo>
                <a:cubicBezTo>
                  <a:pt x="37566" y="-1443"/>
                  <a:pt x="15240" y="110"/>
                  <a:pt x="7571" y="3701"/>
                </a:cubicBezTo>
                <a:cubicBezTo>
                  <a:pt x="-97" y="7293"/>
                  <a:pt x="1262" y="20203"/>
                  <a:pt x="0" y="2350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592" name="Google Shape;592;p79"/>
          <p:cNvSpPr/>
          <p:nvPr/>
        </p:nvSpPr>
        <p:spPr>
          <a:xfrm>
            <a:off x="4447969" y="1424425"/>
            <a:ext cx="1405234" cy="408980"/>
          </a:xfrm>
          <a:custGeom>
            <a:avLst/>
            <a:gdLst/>
            <a:ahLst/>
            <a:cxnLst/>
            <a:rect l="l" t="t" r="r" b="b"/>
            <a:pathLst>
              <a:path w="58242" h="24086" extrusionOk="0">
                <a:moveTo>
                  <a:pt x="58242" y="24086"/>
                </a:moveTo>
                <a:cubicBezTo>
                  <a:pt x="56204" y="20397"/>
                  <a:pt x="54456" y="5352"/>
                  <a:pt x="46011" y="1954"/>
                </a:cubicBezTo>
                <a:cubicBezTo>
                  <a:pt x="37566" y="-1443"/>
                  <a:pt x="15240" y="110"/>
                  <a:pt x="7571" y="3701"/>
                </a:cubicBezTo>
                <a:cubicBezTo>
                  <a:pt x="-97" y="7293"/>
                  <a:pt x="1262" y="20203"/>
                  <a:pt x="0" y="2350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593" name="Google Shape;593;p79"/>
          <p:cNvSpPr/>
          <p:nvPr/>
        </p:nvSpPr>
        <p:spPr>
          <a:xfrm>
            <a:off x="2166151" y="3753950"/>
            <a:ext cx="3293199" cy="1452270"/>
          </a:xfrm>
          <a:prstGeom prst="wedgeEllipseCallout">
            <a:avLst>
              <a:gd name="adj1" fmla="val -61619"/>
              <a:gd name="adj2" fmla="val -139063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Контрольная сумма,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Номер транзакции,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Длина блока,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Ссылка на предыдущий, Менеджер ресурсов</a:t>
            </a:r>
            <a:endParaRPr dirty="0"/>
          </a:p>
        </p:txBody>
      </p:sp>
      <p:sp>
        <p:nvSpPr>
          <p:cNvPr id="594" name="Google Shape;594;p79"/>
          <p:cNvSpPr txBox="1"/>
          <p:nvPr/>
        </p:nvSpPr>
        <p:spPr>
          <a:xfrm>
            <a:off x="6686143" y="3578682"/>
            <a:ext cx="4095000" cy="987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0000"/>
                </a:solidFill>
              </a:rPr>
              <a:t>файлы по 16Мб </a:t>
            </a:r>
            <a:r>
              <a:rPr lang="ru-RU" sz="1600" dirty="0"/>
              <a:t>($PGDATA/</a:t>
            </a:r>
            <a:r>
              <a:rPr lang="ru-RU" sz="1600" dirty="0" err="1"/>
              <a:t>pg_wal</a:t>
            </a:r>
            <a:r>
              <a:rPr lang="ru-RU" sz="1600" dirty="0"/>
              <a:t>),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также использует кольцевой буфер в памяти (1/32 </a:t>
            </a:r>
            <a:r>
              <a:rPr lang="ru-RU" sz="1600" dirty="0" err="1">
                <a:solidFill>
                  <a:srgbClr val="FF0000"/>
                </a:solidFill>
              </a:rPr>
              <a:t>shared_buffers</a:t>
            </a:r>
            <a:r>
              <a:rPr lang="ru-RU" sz="1600" dirty="0"/>
              <a:t>)</a:t>
            </a:r>
            <a:endParaRPr sz="1600" dirty="0"/>
          </a:p>
        </p:txBody>
      </p:sp>
      <p:sp>
        <p:nvSpPr>
          <p:cNvPr id="595" name="Google Shape;595;p79"/>
          <p:cNvSpPr/>
          <p:nvPr/>
        </p:nvSpPr>
        <p:spPr>
          <a:xfrm>
            <a:off x="1725849" y="5323850"/>
            <a:ext cx="8342700" cy="52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6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$/usr/lib/postgresql/14/bin/pg_waldump -r list - список менеджеров</a:t>
            </a: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0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77490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dirty="0"/>
              <a:t>ЖУРНАЛЫ. МЕХАНИЗМ УПРЕЖДАЮЩЕЙ ЗАПИСИ. </a:t>
            </a:r>
            <a:r>
              <a:rPr lang="ru-RU" sz="1800" dirty="0"/>
              <a:t>Фиксация в </a:t>
            </a:r>
            <a:r>
              <a:rPr lang="en-US" sz="1800" dirty="0"/>
              <a:t>“WAL buffers” </a:t>
            </a:r>
            <a:r>
              <a:rPr lang="ru-RU" sz="1800" dirty="0"/>
              <a:t>перед фиксацией в «</a:t>
            </a:r>
            <a:r>
              <a:rPr lang="en-US" sz="1800" dirty="0" err="1"/>
              <a:t>shared_buffers</a:t>
            </a:r>
            <a:r>
              <a:rPr lang="ru-RU" sz="1800" dirty="0"/>
              <a:t>».</a:t>
            </a:r>
            <a:endParaRPr sz="1800" dirty="0"/>
          </a:p>
        </p:txBody>
      </p:sp>
      <p:sp>
        <p:nvSpPr>
          <p:cNvPr id="601" name="Google Shape;601;p8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602" name="Google Shape;602;p80"/>
          <p:cNvSpPr/>
          <p:nvPr/>
        </p:nvSpPr>
        <p:spPr>
          <a:xfrm>
            <a:off x="7291732" y="1854082"/>
            <a:ext cx="3146843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80"/>
          <p:cNvSpPr/>
          <p:nvPr/>
        </p:nvSpPr>
        <p:spPr>
          <a:xfrm>
            <a:off x="7291732" y="2561010"/>
            <a:ext cx="3146843" cy="592428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LSN-знает место в файле, куда записывать данные </a:t>
            </a:r>
            <a:endParaRPr dirty="0"/>
          </a:p>
        </p:txBody>
      </p:sp>
      <p:sp>
        <p:nvSpPr>
          <p:cNvPr id="604" name="Google Shape;604;p80"/>
          <p:cNvSpPr/>
          <p:nvPr/>
        </p:nvSpPr>
        <p:spPr>
          <a:xfrm>
            <a:off x="7291732" y="3267938"/>
            <a:ext cx="3146843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80"/>
          <p:cNvSpPr/>
          <p:nvPr/>
        </p:nvSpPr>
        <p:spPr>
          <a:xfrm>
            <a:off x="7291732" y="3974866"/>
            <a:ext cx="3146843" cy="592428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80"/>
          <p:cNvSpPr/>
          <p:nvPr/>
        </p:nvSpPr>
        <p:spPr>
          <a:xfrm>
            <a:off x="7291732" y="4681794"/>
            <a:ext cx="3146843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"/>
          <p:cNvSpPr/>
          <p:nvPr/>
        </p:nvSpPr>
        <p:spPr>
          <a:xfrm>
            <a:off x="7291732" y="5388722"/>
            <a:ext cx="3146843" cy="592428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80"/>
          <p:cNvSpPr/>
          <p:nvPr/>
        </p:nvSpPr>
        <p:spPr>
          <a:xfrm>
            <a:off x="1725850" y="4878533"/>
            <a:ext cx="2548582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80"/>
          <p:cNvSpPr/>
          <p:nvPr/>
        </p:nvSpPr>
        <p:spPr>
          <a:xfrm>
            <a:off x="1725850" y="4240651"/>
            <a:ext cx="2548582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80"/>
          <p:cNvSpPr/>
          <p:nvPr/>
        </p:nvSpPr>
        <p:spPr>
          <a:xfrm>
            <a:off x="1704499" y="2279539"/>
            <a:ext cx="2548582" cy="59242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80"/>
          <p:cNvSpPr/>
          <p:nvPr/>
        </p:nvSpPr>
        <p:spPr>
          <a:xfrm>
            <a:off x="4273596" y="2280307"/>
            <a:ext cx="213300" cy="5925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80"/>
          <p:cNvSpPr/>
          <p:nvPr/>
        </p:nvSpPr>
        <p:spPr>
          <a:xfrm>
            <a:off x="4057772" y="3625660"/>
            <a:ext cx="2694538" cy="445551"/>
          </a:xfrm>
          <a:prstGeom prst="wedgeRoundRectCallout">
            <a:avLst>
              <a:gd name="adj1" fmla="val -17581"/>
              <a:gd name="adj2" fmla="val -103944"/>
              <a:gd name="adj3" fmla="val 0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/>
              <a:t>pg_current_wal_insert_lsn</a:t>
            </a:r>
            <a:r>
              <a:rPr lang="ru-RU" sz="1600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Запись данных</a:t>
            </a:r>
            <a:endParaRPr sz="1600" dirty="0"/>
          </a:p>
        </p:txBody>
      </p:sp>
      <p:sp>
        <p:nvSpPr>
          <p:cNvPr id="614" name="Google Shape;614;p80"/>
          <p:cNvSpPr/>
          <p:nvPr/>
        </p:nvSpPr>
        <p:spPr>
          <a:xfrm>
            <a:off x="4495774" y="2285501"/>
            <a:ext cx="890100" cy="59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80"/>
          <p:cNvSpPr txBox="1"/>
          <p:nvPr/>
        </p:nvSpPr>
        <p:spPr>
          <a:xfrm>
            <a:off x="1659599" y="1966095"/>
            <a:ext cx="354749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WAL BUFFERS-буферный журнал.</a:t>
            </a:r>
            <a:endParaRPr sz="1800" dirty="0"/>
          </a:p>
        </p:txBody>
      </p:sp>
      <p:sp>
        <p:nvSpPr>
          <p:cNvPr id="616" name="Google Shape;616;p80"/>
          <p:cNvSpPr txBox="1"/>
          <p:nvPr/>
        </p:nvSpPr>
        <p:spPr>
          <a:xfrm>
            <a:off x="7291738" y="1556484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SHARED BUFFERS</a:t>
            </a: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9C4101A2-7AA8-4E6C-B100-2CFEB870ACC3}"/>
              </a:ext>
            </a:extLst>
          </p:cNvPr>
          <p:cNvCxnSpPr>
            <a:cxnSpLocks/>
            <a:stCxn id="603" idx="1"/>
            <a:endCxn id="611" idx="2"/>
          </p:cNvCxnSpPr>
          <p:nvPr/>
        </p:nvCxnSpPr>
        <p:spPr>
          <a:xfrm rot="10800000" flipV="1">
            <a:off x="4380246" y="2857223"/>
            <a:ext cx="2911486" cy="15583"/>
          </a:xfrm>
          <a:prstGeom prst="bentConnector4">
            <a:avLst>
              <a:gd name="adj1" fmla="val 48168"/>
              <a:gd name="adj2" fmla="val 33678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644;p81">
            <a:extLst>
              <a:ext uri="{FF2B5EF4-FFF2-40B4-BE49-F238E27FC236}">
                <a16:creationId xmlns:a16="http://schemas.microsoft.com/office/drawing/2014/main" id="{1669C6F7-F424-430D-9C7F-D8E9B3F6F2C2}"/>
              </a:ext>
            </a:extLst>
          </p:cNvPr>
          <p:cNvSpPr txBox="1"/>
          <p:nvPr/>
        </p:nvSpPr>
        <p:spPr>
          <a:xfrm>
            <a:off x="1725838" y="5528471"/>
            <a:ext cx="3237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XACT</a:t>
            </a:r>
            <a:r>
              <a:rPr lang="en-US" sz="1600" dirty="0">
                <a:solidFill>
                  <a:schemeClr val="dk1"/>
                </a:solidFill>
              </a:rPr>
              <a:t>-</a:t>
            </a:r>
            <a:r>
              <a:rPr lang="ru-RU" sz="1600" dirty="0">
                <a:solidFill>
                  <a:schemeClr val="dk1"/>
                </a:solidFill>
              </a:rPr>
              <a:t> структура, которая содержит информацию о статусах транзакций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1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7749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ЖУРНАЛЫ. МЕХАНИЗМ УПРЕЖДАЮЩЕЙ ЗАПИСИ. </a:t>
            </a:r>
            <a:r>
              <a:rPr lang="ru-RU" sz="1800" dirty="0"/>
              <a:t>Пока транзакция идёт</a:t>
            </a:r>
            <a:endParaRPr sz="1800" dirty="0"/>
          </a:p>
        </p:txBody>
      </p:sp>
      <p:sp>
        <p:nvSpPr>
          <p:cNvPr id="623" name="Google Shape;623;p8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624" name="Google Shape;624;p81"/>
          <p:cNvSpPr/>
          <p:nvPr/>
        </p:nvSpPr>
        <p:spPr>
          <a:xfrm>
            <a:off x="7185100" y="1931588"/>
            <a:ext cx="3146850" cy="59687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81"/>
          <p:cNvSpPr/>
          <p:nvPr/>
        </p:nvSpPr>
        <p:spPr>
          <a:xfrm>
            <a:off x="7185100" y="3290764"/>
            <a:ext cx="3146850" cy="59687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81"/>
          <p:cNvSpPr/>
          <p:nvPr/>
        </p:nvSpPr>
        <p:spPr>
          <a:xfrm>
            <a:off x="7185100" y="3972576"/>
            <a:ext cx="3146850" cy="596875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81"/>
          <p:cNvSpPr/>
          <p:nvPr/>
        </p:nvSpPr>
        <p:spPr>
          <a:xfrm>
            <a:off x="7185100" y="4654388"/>
            <a:ext cx="3146850" cy="59687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81"/>
          <p:cNvSpPr/>
          <p:nvPr/>
        </p:nvSpPr>
        <p:spPr>
          <a:xfrm>
            <a:off x="7185100" y="5336200"/>
            <a:ext cx="3146850" cy="596875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81"/>
          <p:cNvSpPr/>
          <p:nvPr/>
        </p:nvSpPr>
        <p:spPr>
          <a:xfrm>
            <a:off x="1725850" y="4809785"/>
            <a:ext cx="3094875" cy="59687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81"/>
          <p:cNvSpPr/>
          <p:nvPr/>
        </p:nvSpPr>
        <p:spPr>
          <a:xfrm>
            <a:off x="1725850" y="4100080"/>
            <a:ext cx="3094875" cy="596875"/>
          </a:xfrm>
          <a:prstGeom prst="flowChartInternalStorage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LSN</a:t>
            </a:r>
            <a:endParaRPr/>
          </a:p>
        </p:txBody>
      </p:sp>
      <p:sp>
        <p:nvSpPr>
          <p:cNvPr id="631" name="Google Shape;631;p81"/>
          <p:cNvSpPr/>
          <p:nvPr/>
        </p:nvSpPr>
        <p:spPr>
          <a:xfrm>
            <a:off x="1725858" y="1931603"/>
            <a:ext cx="1207036" cy="596873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81"/>
          <p:cNvSpPr/>
          <p:nvPr/>
        </p:nvSpPr>
        <p:spPr>
          <a:xfrm>
            <a:off x="3093835" y="1931603"/>
            <a:ext cx="1207036" cy="596873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81"/>
          <p:cNvSpPr/>
          <p:nvPr/>
        </p:nvSpPr>
        <p:spPr>
          <a:xfrm rot="249209">
            <a:off x="2606432" y="1586680"/>
            <a:ext cx="4565205" cy="510002"/>
          </a:xfrm>
          <a:custGeom>
            <a:avLst/>
            <a:gdLst/>
            <a:ahLst/>
            <a:cxnLst/>
            <a:rect l="l" t="t" r="r" b="b"/>
            <a:pathLst>
              <a:path w="193363" h="23612" extrusionOk="0">
                <a:moveTo>
                  <a:pt x="193363" y="9634"/>
                </a:moveTo>
                <a:cubicBezTo>
                  <a:pt x="183947" y="8178"/>
                  <a:pt x="159292" y="1966"/>
                  <a:pt x="136869" y="898"/>
                </a:cubicBezTo>
                <a:cubicBezTo>
                  <a:pt x="114446" y="-170"/>
                  <a:pt x="81636" y="-559"/>
                  <a:pt x="58824" y="3227"/>
                </a:cubicBezTo>
                <a:cubicBezTo>
                  <a:pt x="36013" y="7013"/>
                  <a:pt x="9804" y="20215"/>
                  <a:pt x="0" y="2361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34" name="Google Shape;634;p81"/>
          <p:cNvSpPr/>
          <p:nvPr/>
        </p:nvSpPr>
        <p:spPr>
          <a:xfrm>
            <a:off x="2491758" y="1931624"/>
            <a:ext cx="215400" cy="5967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81"/>
          <p:cNvSpPr/>
          <p:nvPr/>
        </p:nvSpPr>
        <p:spPr>
          <a:xfrm>
            <a:off x="2868098" y="2528323"/>
            <a:ext cx="866453" cy="1570181"/>
          </a:xfrm>
          <a:custGeom>
            <a:avLst/>
            <a:gdLst/>
            <a:ahLst/>
            <a:cxnLst/>
            <a:rect l="l" t="t" r="r" b="b"/>
            <a:pathLst>
              <a:path w="92751" h="105418" extrusionOk="0">
                <a:moveTo>
                  <a:pt x="0" y="105418"/>
                </a:moveTo>
                <a:cubicBezTo>
                  <a:pt x="13299" y="100467"/>
                  <a:pt x="64358" y="87557"/>
                  <a:pt x="79792" y="75714"/>
                </a:cubicBezTo>
                <a:cubicBezTo>
                  <a:pt x="95226" y="63871"/>
                  <a:pt x="92023" y="46981"/>
                  <a:pt x="92605" y="34362"/>
                </a:cubicBezTo>
                <a:cubicBezTo>
                  <a:pt x="93188" y="21743"/>
                  <a:pt x="84840" y="5727"/>
                  <a:pt x="83287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36" name="Google Shape;636;p81"/>
          <p:cNvSpPr/>
          <p:nvPr/>
        </p:nvSpPr>
        <p:spPr>
          <a:xfrm>
            <a:off x="3324805" y="1931624"/>
            <a:ext cx="215400" cy="5967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81"/>
          <p:cNvSpPr/>
          <p:nvPr/>
        </p:nvSpPr>
        <p:spPr>
          <a:xfrm>
            <a:off x="2714275" y="1931625"/>
            <a:ext cx="215400" cy="596700"/>
          </a:xfrm>
          <a:prstGeom prst="rect">
            <a:avLst/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81"/>
          <p:cNvSpPr/>
          <p:nvPr/>
        </p:nvSpPr>
        <p:spPr>
          <a:xfrm>
            <a:off x="3093823" y="1931625"/>
            <a:ext cx="231000" cy="5967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81"/>
          <p:cNvSpPr/>
          <p:nvPr/>
        </p:nvSpPr>
        <p:spPr>
          <a:xfrm>
            <a:off x="4072220" y="3002914"/>
            <a:ext cx="2582378" cy="654686"/>
          </a:xfrm>
          <a:prstGeom prst="wedgeRoundRectCallout">
            <a:avLst>
              <a:gd name="adj1" fmla="val -63091"/>
              <a:gd name="adj2" fmla="val 10476"/>
              <a:gd name="adj3" fmla="val 0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 err="1">
                <a:solidFill>
                  <a:schemeClr val="dk1"/>
                </a:solidFill>
              </a:rPr>
              <a:t>pg_current_wal_insert_lsn</a:t>
            </a:r>
            <a:r>
              <a:rPr lang="ru-RU" dirty="0">
                <a:solidFill>
                  <a:schemeClr val="dk1"/>
                </a:solidFill>
              </a:rPr>
              <a:t>()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dk1"/>
                </a:solidFill>
              </a:rPr>
              <a:t>Запись изменений транзакций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0" name="Google Shape;640;p81"/>
          <p:cNvSpPr/>
          <p:nvPr/>
        </p:nvSpPr>
        <p:spPr>
          <a:xfrm>
            <a:off x="3540200" y="1937400"/>
            <a:ext cx="1145700" cy="59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81"/>
          <p:cNvSpPr/>
          <p:nvPr/>
        </p:nvSpPr>
        <p:spPr>
          <a:xfrm>
            <a:off x="7185107" y="2613399"/>
            <a:ext cx="3146843" cy="592428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LSN</a:t>
            </a:r>
            <a:endParaRPr/>
          </a:p>
        </p:txBody>
      </p:sp>
      <p:sp>
        <p:nvSpPr>
          <p:cNvPr id="643" name="Google Shape;643;p81"/>
          <p:cNvSpPr txBox="1"/>
          <p:nvPr/>
        </p:nvSpPr>
        <p:spPr>
          <a:xfrm>
            <a:off x="7185088" y="1623572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SHARED BUFFERS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44" name="Google Shape;644;p81"/>
          <p:cNvSpPr txBox="1"/>
          <p:nvPr/>
        </p:nvSpPr>
        <p:spPr>
          <a:xfrm>
            <a:off x="1725838" y="5528471"/>
            <a:ext cx="3237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XACT</a:t>
            </a:r>
            <a:r>
              <a:rPr lang="en-US" sz="1600" dirty="0">
                <a:solidFill>
                  <a:schemeClr val="dk1"/>
                </a:solidFill>
              </a:rPr>
              <a:t>-</a:t>
            </a:r>
            <a:r>
              <a:rPr lang="ru-RU" sz="1600" dirty="0">
                <a:solidFill>
                  <a:schemeClr val="dk1"/>
                </a:solidFill>
              </a:rPr>
              <a:t> структура, которая содержит информацию о статусах транзакций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5" name="Google Shape;615;p80">
            <a:extLst>
              <a:ext uri="{FF2B5EF4-FFF2-40B4-BE49-F238E27FC236}">
                <a16:creationId xmlns:a16="http://schemas.microsoft.com/office/drawing/2014/main" id="{0ADE6BFC-0938-4210-A066-7C6F8BBCD512}"/>
              </a:ext>
            </a:extLst>
          </p:cNvPr>
          <p:cNvSpPr txBox="1"/>
          <p:nvPr/>
        </p:nvSpPr>
        <p:spPr>
          <a:xfrm>
            <a:off x="1691951" y="2650135"/>
            <a:ext cx="15662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WAL BUFFERS-буферный журнал.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2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377500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WAL. МЕХАНИЗМ УПРЕЖДАЮЩЕЙ ЗАПИСИ,</a:t>
            </a:r>
            <a:br>
              <a:rPr lang="ru-RU" dirty="0"/>
            </a:br>
            <a:r>
              <a:rPr lang="ru-RU" sz="1800" dirty="0"/>
              <a:t>когда транзакция завершится </a:t>
            </a:r>
            <a:r>
              <a:rPr lang="en-US" sz="1800" dirty="0"/>
              <a:t>“commit”</a:t>
            </a:r>
            <a:endParaRPr sz="1800" dirty="0"/>
          </a:p>
        </p:txBody>
      </p:sp>
      <p:sp>
        <p:nvSpPr>
          <p:cNvPr id="650" name="Google Shape;650;p8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651" name="Google Shape;651;p82"/>
          <p:cNvSpPr/>
          <p:nvPr/>
        </p:nvSpPr>
        <p:spPr>
          <a:xfrm>
            <a:off x="7107175" y="1940950"/>
            <a:ext cx="3357800" cy="58750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82"/>
          <p:cNvSpPr/>
          <p:nvPr/>
        </p:nvSpPr>
        <p:spPr>
          <a:xfrm>
            <a:off x="7107175" y="2616810"/>
            <a:ext cx="3357800" cy="587500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LSN</a:t>
            </a:r>
            <a:endParaRPr/>
          </a:p>
        </p:txBody>
      </p:sp>
      <p:sp>
        <p:nvSpPr>
          <p:cNvPr id="653" name="Google Shape;653;p82"/>
          <p:cNvSpPr/>
          <p:nvPr/>
        </p:nvSpPr>
        <p:spPr>
          <a:xfrm>
            <a:off x="7107175" y="3292670"/>
            <a:ext cx="3357800" cy="58747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82"/>
          <p:cNvSpPr/>
          <p:nvPr/>
        </p:nvSpPr>
        <p:spPr>
          <a:xfrm>
            <a:off x="7107175" y="3968505"/>
            <a:ext cx="3357800" cy="587475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82"/>
          <p:cNvSpPr/>
          <p:nvPr/>
        </p:nvSpPr>
        <p:spPr>
          <a:xfrm>
            <a:off x="7107175" y="4644340"/>
            <a:ext cx="3357800" cy="58750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82"/>
          <p:cNvSpPr/>
          <p:nvPr/>
        </p:nvSpPr>
        <p:spPr>
          <a:xfrm>
            <a:off x="7107175" y="5320200"/>
            <a:ext cx="3357800" cy="587500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82"/>
          <p:cNvSpPr/>
          <p:nvPr/>
        </p:nvSpPr>
        <p:spPr>
          <a:xfrm>
            <a:off x="1725850" y="5320200"/>
            <a:ext cx="3248625" cy="58750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82"/>
          <p:cNvSpPr/>
          <p:nvPr/>
        </p:nvSpPr>
        <p:spPr>
          <a:xfrm>
            <a:off x="1725850" y="4529175"/>
            <a:ext cx="3248625" cy="587500"/>
          </a:xfrm>
          <a:prstGeom prst="flowChartInternalStorage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LSN</a:t>
            </a:r>
            <a:endParaRPr/>
          </a:p>
        </p:txBody>
      </p:sp>
      <p:sp>
        <p:nvSpPr>
          <p:cNvPr id="659" name="Google Shape;659;p82"/>
          <p:cNvSpPr/>
          <p:nvPr/>
        </p:nvSpPr>
        <p:spPr>
          <a:xfrm>
            <a:off x="1737275" y="1887484"/>
            <a:ext cx="1200489" cy="587489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82"/>
          <p:cNvSpPr/>
          <p:nvPr/>
        </p:nvSpPr>
        <p:spPr>
          <a:xfrm>
            <a:off x="3166441" y="1887484"/>
            <a:ext cx="1200489" cy="587489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82"/>
          <p:cNvSpPr/>
          <p:nvPr/>
        </p:nvSpPr>
        <p:spPr>
          <a:xfrm>
            <a:off x="2567629" y="1887504"/>
            <a:ext cx="214800" cy="5877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82"/>
          <p:cNvSpPr/>
          <p:nvPr/>
        </p:nvSpPr>
        <p:spPr>
          <a:xfrm>
            <a:off x="1931625" y="2474950"/>
            <a:ext cx="1820702" cy="2054333"/>
          </a:xfrm>
          <a:custGeom>
            <a:avLst/>
            <a:gdLst/>
            <a:ahLst/>
            <a:cxnLst/>
            <a:rect l="l" t="t" r="r" b="b"/>
            <a:pathLst>
              <a:path w="92751" h="105418" extrusionOk="0">
                <a:moveTo>
                  <a:pt x="0" y="105418"/>
                </a:moveTo>
                <a:cubicBezTo>
                  <a:pt x="13299" y="100467"/>
                  <a:pt x="64358" y="87557"/>
                  <a:pt x="79792" y="75714"/>
                </a:cubicBezTo>
                <a:cubicBezTo>
                  <a:pt x="95226" y="63871"/>
                  <a:pt x="92023" y="46981"/>
                  <a:pt x="92605" y="34362"/>
                </a:cubicBezTo>
                <a:cubicBezTo>
                  <a:pt x="93188" y="21743"/>
                  <a:pt x="84840" y="5727"/>
                  <a:pt x="83287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63" name="Google Shape;663;p82"/>
          <p:cNvSpPr/>
          <p:nvPr/>
        </p:nvSpPr>
        <p:spPr>
          <a:xfrm>
            <a:off x="3396158" y="1887504"/>
            <a:ext cx="214800" cy="5877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82"/>
          <p:cNvSpPr/>
          <p:nvPr/>
        </p:nvSpPr>
        <p:spPr>
          <a:xfrm>
            <a:off x="2773428" y="1887500"/>
            <a:ext cx="287700" cy="587700"/>
          </a:xfrm>
          <a:prstGeom prst="rect">
            <a:avLst/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82"/>
          <p:cNvSpPr/>
          <p:nvPr/>
        </p:nvSpPr>
        <p:spPr>
          <a:xfrm>
            <a:off x="3166441" y="1887504"/>
            <a:ext cx="214800" cy="5877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82"/>
          <p:cNvSpPr/>
          <p:nvPr/>
        </p:nvSpPr>
        <p:spPr>
          <a:xfrm>
            <a:off x="3982974" y="3428999"/>
            <a:ext cx="2450444" cy="522233"/>
          </a:xfrm>
          <a:prstGeom prst="wedgeRoundRectCallout">
            <a:avLst>
              <a:gd name="adj1" fmla="val -50044"/>
              <a:gd name="adj2" fmla="val -231612"/>
              <a:gd name="adj3" fmla="val 0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chemeClr val="dk1"/>
                </a:solidFill>
              </a:rPr>
              <a:t>pg_current_wal_insert_lsn</a:t>
            </a:r>
            <a:r>
              <a:rPr lang="ru-RU" dirty="0">
                <a:solidFill>
                  <a:schemeClr val="dk1"/>
                </a:solidFill>
              </a:rPr>
              <a:t>()</a:t>
            </a:r>
            <a:endParaRPr dirty="0"/>
          </a:p>
        </p:txBody>
      </p:sp>
      <p:sp>
        <p:nvSpPr>
          <p:cNvPr id="667" name="Google Shape;667;p82"/>
          <p:cNvSpPr/>
          <p:nvPr/>
        </p:nvSpPr>
        <p:spPr>
          <a:xfrm>
            <a:off x="1100831" y="2795855"/>
            <a:ext cx="2445719" cy="587700"/>
          </a:xfrm>
          <a:prstGeom prst="wedgeRoundRectCallout">
            <a:avLst>
              <a:gd name="adj1" fmla="val -4681"/>
              <a:gd name="adj2" fmla="val -105799"/>
              <a:gd name="adj3" fmla="val 0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rgbClr val="00B050"/>
                </a:solidFill>
              </a:rPr>
              <a:t>pg_current_wal_lsn</a:t>
            </a:r>
            <a:r>
              <a:rPr lang="ru-RU" dirty="0">
                <a:solidFill>
                  <a:srgbClr val="00B050"/>
                </a:solidFill>
              </a:rPr>
              <a:t>()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669" name="Google Shape;669;p82"/>
          <p:cNvSpPr/>
          <p:nvPr/>
        </p:nvSpPr>
        <p:spPr>
          <a:xfrm>
            <a:off x="5322639" y="2211451"/>
            <a:ext cx="964156" cy="675852"/>
          </a:xfrm>
          <a:prstGeom prst="flowChartMulti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WAL</a:t>
            </a:r>
            <a:r>
              <a:rPr lang="en-US" dirty="0"/>
              <a:t> file</a:t>
            </a:r>
            <a:endParaRPr dirty="0"/>
          </a:p>
        </p:txBody>
      </p:sp>
      <p:sp>
        <p:nvSpPr>
          <p:cNvPr id="670" name="Google Shape;670;p82"/>
          <p:cNvSpPr/>
          <p:nvPr/>
        </p:nvSpPr>
        <p:spPr>
          <a:xfrm>
            <a:off x="3610524" y="1898592"/>
            <a:ext cx="744900" cy="5670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82"/>
          <p:cNvSpPr txBox="1"/>
          <p:nvPr/>
        </p:nvSpPr>
        <p:spPr>
          <a:xfrm>
            <a:off x="1725850" y="4169899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XACT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74" name="Google Shape;674;p82"/>
          <p:cNvSpPr txBox="1"/>
          <p:nvPr/>
        </p:nvSpPr>
        <p:spPr>
          <a:xfrm>
            <a:off x="1442178" y="1632446"/>
            <a:ext cx="1475099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WAL BUFFERS</a:t>
            </a:r>
            <a:endParaRPr sz="1800" dirty="0"/>
          </a:p>
        </p:txBody>
      </p:sp>
      <p:sp>
        <p:nvSpPr>
          <p:cNvPr id="675" name="Google Shape;675;p82"/>
          <p:cNvSpPr txBox="1"/>
          <p:nvPr/>
        </p:nvSpPr>
        <p:spPr>
          <a:xfrm>
            <a:off x="7107175" y="1632446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SHARED BUFFERS</a:t>
            </a: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3" name="Соединитель: уступ 2">
            <a:extLst>
              <a:ext uri="{FF2B5EF4-FFF2-40B4-BE49-F238E27FC236}">
                <a16:creationId xmlns:a16="http://schemas.microsoft.com/office/drawing/2014/main" id="{58A4D147-B03F-45B7-BCE5-6958593011A1}"/>
              </a:ext>
            </a:extLst>
          </p:cNvPr>
          <p:cNvCxnSpPr>
            <a:cxnSpLocks/>
            <a:stCxn id="664" idx="2"/>
          </p:cNvCxnSpPr>
          <p:nvPr/>
        </p:nvCxnSpPr>
        <p:spPr>
          <a:xfrm rot="16200000" flipH="1">
            <a:off x="4013508" y="1378969"/>
            <a:ext cx="212900" cy="24053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EACC7639-256D-4267-892B-171F1F5A9BB5}"/>
              </a:ext>
            </a:extLst>
          </p:cNvPr>
          <p:cNvCxnSpPr>
            <a:endCxn id="664" idx="0"/>
          </p:cNvCxnSpPr>
          <p:nvPr/>
        </p:nvCxnSpPr>
        <p:spPr>
          <a:xfrm rot="10800000">
            <a:off x="2917279" y="1887500"/>
            <a:ext cx="4189897" cy="196640"/>
          </a:xfrm>
          <a:prstGeom prst="bentConnector4">
            <a:avLst>
              <a:gd name="adj1" fmla="val 48283"/>
              <a:gd name="adj2" fmla="val 2162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7E76BE86-4935-4F56-8C1B-F0433C78ABAD}"/>
              </a:ext>
            </a:extLst>
          </p:cNvPr>
          <p:cNvCxnSpPr>
            <a:stCxn id="670" idx="3"/>
            <a:endCxn id="669" idx="1"/>
          </p:cNvCxnSpPr>
          <p:nvPr/>
        </p:nvCxnSpPr>
        <p:spPr>
          <a:xfrm>
            <a:off x="4355424" y="2182092"/>
            <a:ext cx="967215" cy="3672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3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3775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ЖУРНАЛЫ. МЕХАНИЗМ УПРЕЖДАЮЩЕЙ ЗАПИСИ</a:t>
            </a:r>
            <a:r>
              <a:rPr lang="en-US" dirty="0"/>
              <a:t>. </a:t>
            </a:r>
            <a:r>
              <a:rPr lang="ru-RU" sz="1800" dirty="0"/>
              <a:t>После записи </a:t>
            </a:r>
            <a:r>
              <a:rPr lang="en-US" sz="1800" dirty="0"/>
              <a:t>WAL file</a:t>
            </a:r>
            <a:r>
              <a:rPr lang="ru-RU" sz="1800" dirty="0"/>
              <a:t>, данные и транзакции записываются в ДБ</a:t>
            </a:r>
            <a:endParaRPr sz="1800" dirty="0"/>
          </a:p>
        </p:txBody>
      </p:sp>
      <p:sp>
        <p:nvSpPr>
          <p:cNvPr id="681" name="Google Shape;681;p8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682" name="Google Shape;682;p83"/>
          <p:cNvSpPr/>
          <p:nvPr/>
        </p:nvSpPr>
        <p:spPr>
          <a:xfrm>
            <a:off x="7107175" y="1870813"/>
            <a:ext cx="3315075" cy="60202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83"/>
          <p:cNvSpPr/>
          <p:nvPr/>
        </p:nvSpPr>
        <p:spPr>
          <a:xfrm>
            <a:off x="7107175" y="2574350"/>
            <a:ext cx="3315075" cy="602050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LSN</a:t>
            </a:r>
            <a:endParaRPr/>
          </a:p>
        </p:txBody>
      </p:sp>
      <p:sp>
        <p:nvSpPr>
          <p:cNvPr id="684" name="Google Shape;684;p83"/>
          <p:cNvSpPr/>
          <p:nvPr/>
        </p:nvSpPr>
        <p:spPr>
          <a:xfrm>
            <a:off x="7107175" y="3277913"/>
            <a:ext cx="3315075" cy="60205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83"/>
          <p:cNvSpPr/>
          <p:nvPr/>
        </p:nvSpPr>
        <p:spPr>
          <a:xfrm>
            <a:off x="7107175" y="3981475"/>
            <a:ext cx="3315075" cy="602050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83"/>
          <p:cNvSpPr/>
          <p:nvPr/>
        </p:nvSpPr>
        <p:spPr>
          <a:xfrm>
            <a:off x="7107175" y="4685038"/>
            <a:ext cx="3315075" cy="60205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83"/>
          <p:cNvSpPr/>
          <p:nvPr/>
        </p:nvSpPr>
        <p:spPr>
          <a:xfrm>
            <a:off x="7107175" y="5388600"/>
            <a:ext cx="3315075" cy="602050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83"/>
          <p:cNvSpPr/>
          <p:nvPr/>
        </p:nvSpPr>
        <p:spPr>
          <a:xfrm>
            <a:off x="1725850" y="5388600"/>
            <a:ext cx="3011175" cy="60205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83"/>
          <p:cNvSpPr/>
          <p:nvPr/>
        </p:nvSpPr>
        <p:spPr>
          <a:xfrm>
            <a:off x="1725850" y="4577975"/>
            <a:ext cx="3011175" cy="602050"/>
          </a:xfrm>
          <a:prstGeom prst="flowChartInternalStorage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LSN</a:t>
            </a:r>
            <a:endParaRPr/>
          </a:p>
        </p:txBody>
      </p:sp>
      <p:sp>
        <p:nvSpPr>
          <p:cNvPr id="690" name="Google Shape;690;p83"/>
          <p:cNvSpPr/>
          <p:nvPr/>
        </p:nvSpPr>
        <p:spPr>
          <a:xfrm>
            <a:off x="1725838" y="1870810"/>
            <a:ext cx="1189605" cy="60204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83"/>
          <p:cNvSpPr/>
          <p:nvPr/>
        </p:nvSpPr>
        <p:spPr>
          <a:xfrm>
            <a:off x="3142059" y="1870810"/>
            <a:ext cx="1189605" cy="60204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83"/>
          <p:cNvSpPr/>
          <p:nvPr/>
        </p:nvSpPr>
        <p:spPr>
          <a:xfrm>
            <a:off x="5191459" y="1416554"/>
            <a:ext cx="1085053" cy="1046440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WAL </a:t>
            </a:r>
            <a:r>
              <a:rPr lang="en-US" dirty="0"/>
              <a:t>file </a:t>
            </a:r>
            <a:r>
              <a:rPr lang="ru-RU" dirty="0"/>
              <a:t>записан</a:t>
            </a:r>
            <a:endParaRPr dirty="0"/>
          </a:p>
        </p:txBody>
      </p:sp>
      <p:sp>
        <p:nvSpPr>
          <p:cNvPr id="693" name="Google Shape;693;p83"/>
          <p:cNvSpPr/>
          <p:nvPr/>
        </p:nvSpPr>
        <p:spPr>
          <a:xfrm>
            <a:off x="3582116" y="1882194"/>
            <a:ext cx="738000" cy="58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83"/>
          <p:cNvSpPr/>
          <p:nvPr/>
        </p:nvSpPr>
        <p:spPr>
          <a:xfrm>
            <a:off x="4737025" y="4671090"/>
            <a:ext cx="400551" cy="41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83"/>
          <p:cNvSpPr/>
          <p:nvPr/>
        </p:nvSpPr>
        <p:spPr>
          <a:xfrm>
            <a:off x="6525087" y="2593163"/>
            <a:ext cx="582088" cy="5523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83"/>
          <p:cNvSpPr/>
          <p:nvPr/>
        </p:nvSpPr>
        <p:spPr>
          <a:xfrm>
            <a:off x="5137576" y="2593162"/>
            <a:ext cx="1387511" cy="2693925"/>
          </a:xfrm>
          <a:prstGeom prst="can">
            <a:avLst>
              <a:gd name="adj" fmla="val 25000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     БД</a:t>
            </a:r>
            <a:endParaRPr dirty="0"/>
          </a:p>
        </p:txBody>
      </p:sp>
      <p:sp>
        <p:nvSpPr>
          <p:cNvPr id="698" name="Google Shape;698;p83"/>
          <p:cNvSpPr txBox="1"/>
          <p:nvPr/>
        </p:nvSpPr>
        <p:spPr>
          <a:xfrm>
            <a:off x="7107175" y="1541284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SHARED BUFFERS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99" name="Google Shape;699;p83"/>
          <p:cNvSpPr txBox="1"/>
          <p:nvPr/>
        </p:nvSpPr>
        <p:spPr>
          <a:xfrm>
            <a:off x="1725850" y="2548126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WAL BUFFERS</a:t>
            </a:r>
            <a:endParaRPr sz="1800" dirty="0"/>
          </a:p>
        </p:txBody>
      </p:sp>
      <p:sp>
        <p:nvSpPr>
          <p:cNvPr id="700" name="Google Shape;700;p83"/>
          <p:cNvSpPr txBox="1"/>
          <p:nvPr/>
        </p:nvSpPr>
        <p:spPr>
          <a:xfrm>
            <a:off x="1725850" y="4169899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XACT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4"/>
          <p:cNvSpPr txBox="1">
            <a:spLocks noGrp="1"/>
          </p:cNvSpPr>
          <p:nvPr>
            <p:ph type="body" idx="1"/>
          </p:nvPr>
        </p:nvSpPr>
        <p:spPr>
          <a:xfrm>
            <a:off x="1725849" y="1507425"/>
            <a:ext cx="729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800" dirty="0">
                <a:solidFill>
                  <a:schemeClr val="dk2"/>
                </a:solidFill>
              </a:rPr>
              <a:t>При старте сервера после сбоя</a:t>
            </a:r>
            <a:r>
              <a:rPr lang="ru-RU" sz="1800" b="1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(состояние кластера в </a:t>
            </a:r>
            <a:r>
              <a:rPr lang="ru-RU" sz="1800" dirty="0" err="1">
                <a:solidFill>
                  <a:schemeClr val="dk1"/>
                </a:solidFill>
              </a:rPr>
              <a:t>pg_control</a:t>
            </a:r>
            <a:r>
              <a:rPr lang="ru-RU" sz="1800" dirty="0">
                <a:solidFill>
                  <a:schemeClr val="dk1"/>
                </a:solidFill>
              </a:rPr>
              <a:t> отличается от «</a:t>
            </a:r>
            <a:r>
              <a:rPr lang="ru-RU" sz="1800" dirty="0" err="1">
                <a:solidFill>
                  <a:schemeClr val="dk1"/>
                </a:solidFill>
              </a:rPr>
              <a:t>shut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down</a:t>
            </a:r>
            <a:r>
              <a:rPr lang="ru-RU" sz="1800" dirty="0">
                <a:solidFill>
                  <a:schemeClr val="dk1"/>
                </a:solidFill>
              </a:rPr>
              <a:t>»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можно посмотреть в контрольных данных кластера, при старте):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706" name="Google Shape;706;p8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 dirty="0"/>
              <a:t>ЖУРНАЛЫ. </a:t>
            </a:r>
            <a:br>
              <a:rPr lang="ru-RU" dirty="0"/>
            </a:br>
            <a:r>
              <a:rPr lang="ru-RU" sz="1800" dirty="0"/>
              <a:t>ВОССТАНОВЛЕНИЕ согласованности</a:t>
            </a:r>
            <a:endParaRPr sz="1800" dirty="0"/>
          </a:p>
        </p:txBody>
      </p:sp>
      <p:sp>
        <p:nvSpPr>
          <p:cNvPr id="707" name="Google Shape;707;p8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708" name="Google Shape;708;p84"/>
          <p:cNvSpPr txBox="1"/>
          <p:nvPr/>
        </p:nvSpPr>
        <p:spPr>
          <a:xfrm>
            <a:off x="2470200" y="2901176"/>
            <a:ext cx="43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Д</a:t>
            </a:r>
            <a:r>
              <a:rPr lang="ru-RU" sz="1800" dirty="0">
                <a:solidFill>
                  <a:schemeClr val="dk1"/>
                </a:solidFill>
              </a:rPr>
              <a:t>ля каждой журнальной записи: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84"/>
          <p:cNvSpPr/>
          <p:nvPr/>
        </p:nvSpPr>
        <p:spPr>
          <a:xfrm>
            <a:off x="1725851" y="2793476"/>
            <a:ext cx="484500" cy="4926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84"/>
          <p:cNvSpPr txBox="1"/>
          <p:nvPr/>
        </p:nvSpPr>
        <p:spPr>
          <a:xfrm>
            <a:off x="2470200" y="4519578"/>
            <a:ext cx="748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Перезаписать нежурналируемые таблицы init-файлами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84"/>
          <p:cNvSpPr/>
          <p:nvPr/>
        </p:nvSpPr>
        <p:spPr>
          <a:xfrm>
            <a:off x="1725851" y="4411878"/>
            <a:ext cx="484500" cy="4926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391"/>
              </a:buClr>
              <a:buSzPts val="3200"/>
              <a:buFont typeface="Arial"/>
              <a:buNone/>
            </a:pPr>
            <a:r>
              <a:rPr lang="ru-RU" sz="2400" b="0" i="0" u="none" strike="noStrike" cap="none">
                <a:solidFill>
                  <a:srgbClr val="00C39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84"/>
          <p:cNvSpPr txBox="1"/>
          <p:nvPr/>
        </p:nvSpPr>
        <p:spPr>
          <a:xfrm>
            <a:off x="2356943" y="3286076"/>
            <a:ext cx="63827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определить страницу, к которой относится эта запись;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применить запись, если ее LSN больше, чем LSN страницы.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718" name="Google Shape;718;p8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719" name="Google Shape;719;p85"/>
          <p:cNvSpPr/>
          <p:nvPr/>
        </p:nvSpPr>
        <p:spPr>
          <a:xfrm>
            <a:off x="1725850" y="2025625"/>
            <a:ext cx="7644900" cy="12162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Узнали, что такое журналы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85"/>
          <p:cNvSpPr/>
          <p:nvPr/>
        </p:nvSpPr>
        <p:spPr>
          <a:xfrm>
            <a:off x="1725850" y="3491975"/>
            <a:ext cx="7644900" cy="13404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Поняли принцип и устройство их работы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1" name="Google Shape;721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7066" y="21798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7066" y="360106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728" name="Google Shape;728;p86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/>
              <a:t>На следующем занятии мы рассмотрим тему:</a:t>
            </a:r>
            <a:endParaRPr/>
          </a:p>
          <a:p>
            <a:pPr marL="457200" lvl="0" indent="-3302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ru-RU"/>
              <a:t>Блокировки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444</Words>
  <Application>Microsoft Office PowerPoint</Application>
  <PresentationFormat>Широкоэкранный</PresentationFormat>
  <Paragraphs>94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12</vt:i4>
      </vt:variant>
    </vt:vector>
  </HeadingPairs>
  <TitlesOfParts>
    <vt:vector size="24" baseType="lpstr">
      <vt:lpstr>Arial</vt:lpstr>
      <vt:lpstr>Calibri</vt:lpstr>
      <vt:lpstr>Arial Black</vt:lpstr>
      <vt:lpstr>Consolas</vt:lpstr>
      <vt:lpstr>Courier New</vt:lpstr>
      <vt:lpstr>Helvetica Neue</vt:lpstr>
      <vt:lpstr>Тема Office</vt:lpstr>
      <vt:lpstr>Template_StepUP</vt:lpstr>
      <vt:lpstr>Template_StepUP</vt:lpstr>
      <vt:lpstr>Template_StepUP</vt:lpstr>
      <vt:lpstr>Template_StepUP</vt:lpstr>
      <vt:lpstr>Template_StepUP</vt:lpstr>
      <vt:lpstr>ЖУРНАЛЫ</vt:lpstr>
      <vt:lpstr>ЦЕЛЬ УРОКА</vt:lpstr>
      <vt:lpstr>СОДЕРЖАНИЕ УРОКА</vt:lpstr>
      <vt:lpstr>ЖУРНАЛЫ - WRITE AHEAD LOG - WAL</vt:lpstr>
      <vt:lpstr>ЖУРНАЛЫ. УСТРОЙСТВО</vt:lpstr>
      <vt:lpstr>ЖУРНАЛЫ. МЕХАНИЗМ УПРЕЖДАЮЩЕЙ ЗАПИСИ. Фиксация в “WAL buffers” перед фиксацией в «shared_buffers».</vt:lpstr>
      <vt:lpstr>ЖУРНАЛЫ. МЕХАНИЗМ УПРЕЖДАЮЩЕЙ ЗАПИСИ. Пока транзакция идёт</vt:lpstr>
      <vt:lpstr>WAL. МЕХАНИЗМ УПРЕЖДАЮЩЕЙ ЗАПИСИ, когда транзакция завершится “commit”</vt:lpstr>
      <vt:lpstr>ЖУРНАЛЫ. МЕХАНИЗМ УПРЕЖДАЮЩЕЙ ЗАПИСИ. После записи WAL file, данные и транзакции записываются в ДБ</vt:lpstr>
      <vt:lpstr>ЖУРНАЛЫ.  ВОССТАНОВЛЕНИЕ согласованности</vt:lpstr>
      <vt:lpstr>ИТОГИ ЗАНЯТИЯ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ЖУРНАЛЫ</dc:title>
  <cp:lastModifiedBy>Бондарь Илья Викторович</cp:lastModifiedBy>
  <cp:revision>9</cp:revision>
  <dcterms:modified xsi:type="dcterms:W3CDTF">2025-12-25T12:49:06Z</dcterms:modified>
</cp:coreProperties>
</file>