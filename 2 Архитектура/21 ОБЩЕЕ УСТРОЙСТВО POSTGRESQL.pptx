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74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Arial Black" panose="020B0A04020102020204" pitchFamily="3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Helvetica Neue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xtQZQ8jVVoI/B3Al4IoP1Xb+1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customschemas.google.com/relationships/presentationmetadata" Target="meta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2403bfdb4_0_59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g142403bfdb4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2403bfdb4_0_10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142403bfdb4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42403bfdb4_0_30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142403bfdb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2403bfdb4_0_41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142403bfdb4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2403bfdb4_0_44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142403bfdb4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2403bfdb4_0_139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142403bfdb4_0_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42403bfdb4_0_107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142403bfdb4_0_10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42403bfdb4_0_112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142403bfdb4_0_1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42403bfdb4_0_117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142403bfdb4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42403bfdb4_0_123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g142403bfdb4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42403bfdb4_0_149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142403bfdb4_0_1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42403bfdb4_0_150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142403bfdb4_0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42403bfdb4_0_151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142403bfdb4_0_1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42403bfdb4_0_154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142403bfdb4_0_1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42403bfdb4_0_97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142403bfdb4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42403bfdb4_0_77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142403bfdb4_0_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2403bfdb4_0_99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g142403bfdb4_0_99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g142403bfdb4_0_99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142403bfdb4_0_99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142403bfdb4_0_99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142403bfdb4_0_99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142403bfdb4_0_99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42403bfdb4_0_99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142403bfdb4_0_99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g142403bfdb4_0_99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2403bfdb4_0_100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g142403bfdb4_0_100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142403bfdb4_0_100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2403bfdb4_0_100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142403bfdb4_0_1008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g142403bfdb4_0_100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142403bfdb4_0_100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142403bfdb4_0_100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142403bfdb4_0_100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142403bfdb4_0_100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142403bfdb4_0_100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142403bfdb4_0_100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142403bfdb4_0_100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42403bfdb4_0_100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42403bfdb4_0_100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2403bfdb4_0_102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g142403bfdb4_0_102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142403bfdb4_0_102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g142403bfdb4_0_102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142403bfdb4_0_102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42403bfdb4_0_102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42403bfdb4_0_102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142403bfdb4_0_102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42403bfdb4_0_102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142403bfdb4_0_102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142403bfdb4_0_102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142403bfdb4_0_102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142403bfdb4_0_102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2403bfdb4_0_103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g142403bfdb4_0_103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142403bfdb4_0_103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g142403bfdb4_0_103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3" name="Google Shape;143;g142403bfdb4_0_103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142403bfdb4_0_104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142403bfdb4_0_104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142403bfdb4_0_1041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8" name="Google Shape;148;g142403bfdb4_0_10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142403bfdb4_0_104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142403bfdb4_0_104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1" name="Google Shape;151;g142403bfdb4_0_104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142403bfdb4_0_104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142403bfdb4_0_104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42403bfdb4_0_104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6" name="Google Shape;156;g142403bfdb4_0_10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142403bfdb4_0_104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142403bfdb4_0_104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g142403bfdb4_0_104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g142403bfdb4_0_104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2403bfdb4_0_1058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g142403bfdb4_0_1058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2403bfdb4_0_1061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g142403bfdb4_0_1061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g142403bfdb4_0_1061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g142403bfdb4_0_1061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42403bfdb4_0_1066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g142403bfdb4_0_1066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2403bfdb4_0_1069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2403bfdb4_0_1415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g142403bfdb4_0_141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g142403bfdb4_0_141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142403bfdb4_0_141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42403bfdb4_0_141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142403bfdb4_0_141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42403bfdb4_0_141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42403bfdb4_0_141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142403bfdb4_0_141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142403bfdb4_0_1415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2403bfdb4_0_142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g142403bfdb4_0_142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142403bfdb4_0_142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2403bfdb4_0_14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g142403bfdb4_0_143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1" name="Google Shape;201;g142403bfdb4_0_14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142403bfdb4_0_14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42403bfdb4_0_14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142403bfdb4_0_14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142403bfdb4_0_14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142403bfdb4_0_143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142403bfdb4_0_14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142403bfdb4_0_14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142403bfdb4_0_14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142403bfdb4_0_14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2403bfdb4_0_144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g142403bfdb4_0_14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g142403bfdb4_0_144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g142403bfdb4_0_14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2403bfdb4_0_14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142403bfdb4_0_14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142403bfdb4_0_14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142403bfdb4_0_14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142403bfdb4_0_144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142403bfdb4_0_14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142403bfdb4_0_14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42403bfdb4_0_14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142403bfdb4_0_14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142403bfdb4_0_1457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142403bfdb4_0_145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142403bfdb4_0_145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9" name="Google Shape;229;g142403bfdb4_0_14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142403bfdb4_0_145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g142403bfdb4_0_14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g142403bfdb4_0_145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142403bfdb4_0_146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142403bfdb4_0_146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142403bfdb4_0_146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g142403bfdb4_0_14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142403bfdb4_0_146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g142403bfdb4_0_146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g142403bfdb4_0_146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g142403bfdb4_0_146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42403bfdb4_0_147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g142403bfdb4_0_147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g142403bfdb4_0_147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g142403bfdb4_0_147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g142403bfdb4_0_147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2403bfdb4_0_148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g142403bfdb4_0_148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42403bfdb4_0_148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g142403bfdb4_0_148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g142403bfdb4_0_148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g142403bfdb4_0_148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2403bfdb4_0_1488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g142403bfdb4_0_1488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2403bfdb4_0_1491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2403bfdb4_0_98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g142403bfdb4_0_98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42403bfdb4_0_98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g142403bfdb4_0_984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142403bfdb4_0_984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142403bfdb4_0_984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142403bfdb4_0_984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42403bfdb4_0_984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2403bfdb4_0_140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g142403bfdb4_0_140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142403bfdb4_0_140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g142403bfdb4_0_1406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142403bfdb4_0_1406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142403bfdb4_0_1406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42403bfdb4_0_1406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142403bfdb4_0_1406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14/rule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geckich.blogspot.com/2013/12/linux-out-of-memory-killer-oom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2403bfdb4_0_592"/>
          <p:cNvSpPr txBox="1">
            <a:spLocks noGrp="1"/>
          </p:cNvSpPr>
          <p:nvPr>
            <p:ph type="body" idx="1"/>
          </p:nvPr>
        </p:nvSpPr>
        <p:spPr>
          <a:xfrm>
            <a:off x="1609726" y="2531625"/>
            <a:ext cx="620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3. АРХИТЕКТУРА</a:t>
            </a:r>
            <a:endParaRPr/>
          </a:p>
        </p:txBody>
      </p:sp>
      <p:sp>
        <p:nvSpPr>
          <p:cNvPr id="266" name="Google Shape;266;g142403bfdb4_0_592"/>
          <p:cNvSpPr txBox="1">
            <a:spLocks noGrp="1"/>
          </p:cNvSpPr>
          <p:nvPr>
            <p:ph type="title"/>
          </p:nvPr>
        </p:nvSpPr>
        <p:spPr>
          <a:xfrm>
            <a:off x="1609725" y="3118900"/>
            <a:ext cx="87021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ОБЩЕЕ УСТРОЙСТВО POSTGRESQL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42403bfdb4_0_104"/>
          <p:cNvSpPr/>
          <p:nvPr/>
        </p:nvSpPr>
        <p:spPr>
          <a:xfrm>
            <a:off x="1719850" y="1614500"/>
            <a:ext cx="3316500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Понять принципы архитектуры Постгреса</a:t>
            </a:r>
            <a:endParaRPr sz="1600"/>
          </a:p>
        </p:txBody>
      </p:sp>
      <p:sp>
        <p:nvSpPr>
          <p:cNvPr id="272" name="Google Shape;272;g142403bfdb4_0_104"/>
          <p:cNvSpPr/>
          <p:nvPr/>
        </p:nvSpPr>
        <p:spPr>
          <a:xfrm>
            <a:off x="5299375" y="1614500"/>
            <a:ext cx="3428700" cy="18228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Узнать, что такое буферный кеш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g142403bfdb4_0_104"/>
          <p:cNvSpPr/>
          <p:nvPr/>
        </p:nvSpPr>
        <p:spPr>
          <a:xfrm>
            <a:off x="5036350" y="3679750"/>
            <a:ext cx="3691800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Разобраться, как организовано подключение новых пользователей к Постгресу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4" name="Google Shape;274;g142403bfdb4_0_104"/>
          <p:cNvSpPr/>
          <p:nvPr/>
        </p:nvSpPr>
        <p:spPr>
          <a:xfrm>
            <a:off x="1719850" y="3679750"/>
            <a:ext cx="3030900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Понять зачем нужен буферный кеш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75" name="Google Shape;275;g142403bfdb4_0_10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276" name="Google Shape;276;g142403bfdb4_0_10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277" name="Google Shape;277;g142403bfdb4_0_104"/>
          <p:cNvSpPr/>
          <p:nvPr/>
        </p:nvSpPr>
        <p:spPr>
          <a:xfrm>
            <a:off x="1902732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g142403bfdb4_0_104"/>
          <p:cNvSpPr/>
          <p:nvPr/>
        </p:nvSpPr>
        <p:spPr>
          <a:xfrm>
            <a:off x="5500985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g142403bfdb4_0_104"/>
          <p:cNvSpPr/>
          <p:nvPr/>
        </p:nvSpPr>
        <p:spPr>
          <a:xfrm>
            <a:off x="5255937" y="38262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2"/>
                </a:solidFill>
              </a:rPr>
              <a:t>4</a:t>
            </a:r>
            <a:endParaRPr sz="1500" b="0" i="0" u="none" strike="noStrike" cap="none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g142403bfdb4_0_104"/>
          <p:cNvSpPr/>
          <p:nvPr/>
        </p:nvSpPr>
        <p:spPr>
          <a:xfrm>
            <a:off x="1902732" y="382619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6"/>
                </a:solidFill>
              </a:rPr>
              <a:t>3</a:t>
            </a:r>
            <a:endParaRPr sz="1500" b="0" i="0" u="none" strike="noStrike" cap="none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42403bfdb4_0_30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286" name="Google Shape;286;g142403bfdb4_0_30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287" name="Google Shape;287;g142403bfdb4_0_309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g142403bfdb4_0_309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g142403bfdb4_0_309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0" name="Google Shape;290;g142403bfdb4_0_309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" name="Google Shape;291;g142403bfdb4_0_309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2" name="Google Shape;292;g142403bfdb4_0_309"/>
          <p:cNvSpPr txBox="1"/>
          <p:nvPr/>
        </p:nvSpPr>
        <p:spPr>
          <a:xfrm>
            <a:off x="2860569" y="1685981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Архитектура Постгреса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142403bfdb4_0_309"/>
          <p:cNvSpPr txBox="1"/>
          <p:nvPr/>
        </p:nvSpPr>
        <p:spPr>
          <a:xfrm>
            <a:off x="2860569" y="3315325"/>
            <a:ext cx="228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Подключение пользователей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g142403bfdb4_0_309"/>
          <p:cNvSpPr txBox="1"/>
          <p:nvPr/>
        </p:nvSpPr>
        <p:spPr>
          <a:xfrm>
            <a:off x="2860569" y="5221568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Буферный кеш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g142403bfdb4_0_309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2403bfdb4_0_413"/>
          <p:cNvSpPr txBox="1">
            <a:spLocks noGrp="1"/>
          </p:cNvSpPr>
          <p:nvPr>
            <p:ph type="title"/>
          </p:nvPr>
        </p:nvSpPr>
        <p:spPr>
          <a:xfrm>
            <a:off x="1774825" y="327875"/>
            <a:ext cx="8007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СЕРВЕРНЫЕ ПРОЦЕССЫ</a:t>
            </a:r>
            <a:endParaRPr/>
          </a:p>
        </p:txBody>
      </p:sp>
      <p:sp>
        <p:nvSpPr>
          <p:cNvPr id="301" name="Google Shape;301;g142403bfdb4_0_413"/>
          <p:cNvSpPr/>
          <p:nvPr/>
        </p:nvSpPr>
        <p:spPr>
          <a:xfrm>
            <a:off x="1774825" y="1328375"/>
            <a:ext cx="7644900" cy="5200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142403bfdb4_0_41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303" name="Google Shape;303;g142403bfdb4_0_413"/>
          <p:cNvSpPr/>
          <p:nvPr/>
        </p:nvSpPr>
        <p:spPr>
          <a:xfrm>
            <a:off x="1987700" y="2210350"/>
            <a:ext cx="17850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postgres(server)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g142403bfdb4_0_413"/>
          <p:cNvCxnSpPr>
            <a:stCxn id="303" idx="3"/>
          </p:cNvCxnSpPr>
          <p:nvPr/>
        </p:nvCxnSpPr>
        <p:spPr>
          <a:xfrm rot="10800000" flipH="1">
            <a:off x="3772700" y="2499100"/>
            <a:ext cx="3269400" cy="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5" name="Google Shape;305;g142403bfdb4_0_413"/>
          <p:cNvSpPr/>
          <p:nvPr/>
        </p:nvSpPr>
        <p:spPr>
          <a:xfrm>
            <a:off x="6869000" y="22064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postgres(bgwriter)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142403bfdb4_0_413"/>
          <p:cNvSpPr txBox="1"/>
          <p:nvPr/>
        </p:nvSpPr>
        <p:spPr>
          <a:xfrm>
            <a:off x="3173775" y="1389200"/>
            <a:ext cx="4470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latin typeface="Arial Black"/>
                <a:ea typeface="Arial Black"/>
                <a:cs typeface="Arial Black"/>
                <a:sym typeface="Arial Black"/>
              </a:rPr>
              <a:t>POSTGRESQL SERVER</a:t>
            </a:r>
            <a:endParaRPr sz="16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7" name="Google Shape;307;g142403bfdb4_0_413"/>
          <p:cNvSpPr txBox="1"/>
          <p:nvPr/>
        </p:nvSpPr>
        <p:spPr>
          <a:xfrm>
            <a:off x="5606900" y="2119100"/>
            <a:ext cx="12621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i="0" u="none" strike="noStrike" cap="none">
                <a:solidFill>
                  <a:srgbClr val="000000"/>
                </a:solidFill>
              </a:rPr>
              <a:t>fork()</a:t>
            </a:r>
            <a:endParaRPr sz="16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08" name="Google Shape;308;g142403bfdb4_0_413"/>
          <p:cNvSpPr/>
          <p:nvPr/>
        </p:nvSpPr>
        <p:spPr>
          <a:xfrm>
            <a:off x="6869000" y="27995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postgres(cheсkpointer)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g142403bfdb4_0_413"/>
          <p:cNvCxnSpPr>
            <a:stCxn id="307" idx="2"/>
            <a:endCxn id="308" idx="1"/>
          </p:cNvCxnSpPr>
          <p:nvPr/>
        </p:nvCxnSpPr>
        <p:spPr>
          <a:xfrm rot="-5400000" flipH="1">
            <a:off x="6262700" y="2489750"/>
            <a:ext cx="581700" cy="6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0" name="Google Shape;310;g142403bfdb4_0_413"/>
          <p:cNvSpPr/>
          <p:nvPr/>
        </p:nvSpPr>
        <p:spPr>
          <a:xfrm>
            <a:off x="6869150" y="33889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postgres(autovacuum)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142403bfdb4_0_413"/>
          <p:cNvCxnSpPr>
            <a:stCxn id="307" idx="2"/>
            <a:endCxn id="310" idx="1"/>
          </p:cNvCxnSpPr>
          <p:nvPr/>
        </p:nvCxnSpPr>
        <p:spPr>
          <a:xfrm rot="-5400000" flipH="1">
            <a:off x="5968100" y="2784350"/>
            <a:ext cx="1170900" cy="6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2" name="Google Shape;312;g142403bfdb4_0_413"/>
          <p:cNvSpPr/>
          <p:nvPr/>
        </p:nvSpPr>
        <p:spPr>
          <a:xfrm>
            <a:off x="6869150" y="39782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postgres(WAL writer)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g142403bfdb4_0_413"/>
          <p:cNvCxnSpPr>
            <a:stCxn id="307" idx="2"/>
            <a:endCxn id="312" idx="1"/>
          </p:cNvCxnSpPr>
          <p:nvPr/>
        </p:nvCxnSpPr>
        <p:spPr>
          <a:xfrm rot="-5400000" flipH="1">
            <a:off x="5673350" y="3079100"/>
            <a:ext cx="1760400" cy="6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4" name="Google Shape;314;g142403bfdb4_0_413"/>
          <p:cNvSpPr/>
          <p:nvPr/>
        </p:nvSpPr>
        <p:spPr>
          <a:xfrm>
            <a:off x="6869150" y="45676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postgres(statistics)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g142403bfdb4_0_413"/>
          <p:cNvCxnSpPr>
            <a:stCxn id="307" idx="2"/>
            <a:endCxn id="314" idx="1"/>
          </p:cNvCxnSpPr>
          <p:nvPr/>
        </p:nvCxnSpPr>
        <p:spPr>
          <a:xfrm rot="-5400000" flipH="1">
            <a:off x="5378750" y="3373700"/>
            <a:ext cx="2349600" cy="6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6" name="Google Shape;316;g142403bfdb4_0_413"/>
          <p:cNvSpPr/>
          <p:nvPr/>
        </p:nvSpPr>
        <p:spPr>
          <a:xfrm>
            <a:off x="6869150" y="51492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postgres(log writer)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g142403bfdb4_0_413"/>
          <p:cNvCxnSpPr>
            <a:stCxn id="307" idx="2"/>
            <a:endCxn id="316" idx="1"/>
          </p:cNvCxnSpPr>
          <p:nvPr/>
        </p:nvCxnSpPr>
        <p:spPr>
          <a:xfrm rot="-5400000" flipH="1">
            <a:off x="5087900" y="3664550"/>
            <a:ext cx="2931300" cy="6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8" name="Google Shape;318;g142403bfdb4_0_413"/>
          <p:cNvSpPr/>
          <p:nvPr/>
        </p:nvSpPr>
        <p:spPr>
          <a:xfrm>
            <a:off x="6869150" y="5746050"/>
            <a:ext cx="23652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postgres(archiver)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g142403bfdb4_0_413"/>
          <p:cNvCxnSpPr>
            <a:stCxn id="307" idx="2"/>
            <a:endCxn id="318" idx="1"/>
          </p:cNvCxnSpPr>
          <p:nvPr/>
        </p:nvCxnSpPr>
        <p:spPr>
          <a:xfrm rot="-5400000" flipH="1">
            <a:off x="4789550" y="3962900"/>
            <a:ext cx="3528000" cy="6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2403bfdb4_0_447"/>
          <p:cNvSpPr txBox="1">
            <a:spLocks noGrp="1"/>
          </p:cNvSpPr>
          <p:nvPr>
            <p:ph type="title"/>
          </p:nvPr>
        </p:nvSpPr>
        <p:spPr>
          <a:xfrm>
            <a:off x="1774825" y="327875"/>
            <a:ext cx="8007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СЕРВЕРНЫЕ ПРОЦЕССЫ</a:t>
            </a:r>
            <a:endParaRPr/>
          </a:p>
        </p:txBody>
      </p:sp>
      <p:sp>
        <p:nvSpPr>
          <p:cNvPr id="325" name="Google Shape;325;g142403bfdb4_0_447"/>
          <p:cNvSpPr/>
          <p:nvPr/>
        </p:nvSpPr>
        <p:spPr>
          <a:xfrm>
            <a:off x="1774825" y="1246075"/>
            <a:ext cx="7644900" cy="5200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142403bfdb4_0_4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327" name="Google Shape;327;g142403bfdb4_0_447"/>
          <p:cNvSpPr txBox="1"/>
          <p:nvPr/>
        </p:nvSpPr>
        <p:spPr>
          <a:xfrm>
            <a:off x="3173775" y="1389200"/>
            <a:ext cx="4470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latin typeface="Arial Black"/>
                <a:ea typeface="Arial Black"/>
                <a:cs typeface="Arial Black"/>
                <a:sym typeface="Arial Black"/>
              </a:rPr>
              <a:t>POSTGRESQL SERVER</a:t>
            </a:r>
            <a:endParaRPr sz="16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8" name="Google Shape;328;g142403bfdb4_0_447"/>
          <p:cNvSpPr/>
          <p:nvPr/>
        </p:nvSpPr>
        <p:spPr>
          <a:xfrm>
            <a:off x="2084500" y="2000525"/>
            <a:ext cx="16119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142403bfdb4_0_447"/>
          <p:cNvSpPr/>
          <p:nvPr/>
        </p:nvSpPr>
        <p:spPr>
          <a:xfrm>
            <a:off x="6965800" y="19966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postgres(bgwriter)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142403bfdb4_0_447"/>
          <p:cNvSpPr/>
          <p:nvPr/>
        </p:nvSpPr>
        <p:spPr>
          <a:xfrm>
            <a:off x="6965800" y="25897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postgres(cheсkpointer)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g142403bfdb4_0_447"/>
          <p:cNvCxnSpPr>
            <a:stCxn id="332" idx="3"/>
            <a:endCxn id="330" idx="1"/>
          </p:cNvCxnSpPr>
          <p:nvPr/>
        </p:nvCxnSpPr>
        <p:spPr>
          <a:xfrm rot="10800000" flipH="1">
            <a:off x="5886068" y="2886386"/>
            <a:ext cx="1079700" cy="7488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3" name="Google Shape;333;g142403bfdb4_0_447"/>
          <p:cNvSpPr/>
          <p:nvPr/>
        </p:nvSpPr>
        <p:spPr>
          <a:xfrm>
            <a:off x="6965950" y="31791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postgres(autovacuum)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g142403bfdb4_0_447"/>
          <p:cNvCxnSpPr>
            <a:stCxn id="332" idx="3"/>
            <a:endCxn id="333" idx="1"/>
          </p:cNvCxnSpPr>
          <p:nvPr/>
        </p:nvCxnSpPr>
        <p:spPr>
          <a:xfrm rot="10800000" flipH="1">
            <a:off x="5886068" y="3475586"/>
            <a:ext cx="1080000" cy="159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5" name="Google Shape;335;g142403bfdb4_0_447"/>
          <p:cNvSpPr/>
          <p:nvPr/>
        </p:nvSpPr>
        <p:spPr>
          <a:xfrm>
            <a:off x="6965950" y="37684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postgres(WAL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g142403bfdb4_0_447"/>
          <p:cNvCxnSpPr>
            <a:stCxn id="332" idx="3"/>
            <a:endCxn id="335" idx="1"/>
          </p:cNvCxnSpPr>
          <p:nvPr/>
        </p:nvCxnSpPr>
        <p:spPr>
          <a:xfrm>
            <a:off x="5886068" y="3635186"/>
            <a:ext cx="1080000" cy="4299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7" name="Google Shape;337;g142403bfdb4_0_447"/>
          <p:cNvSpPr/>
          <p:nvPr/>
        </p:nvSpPr>
        <p:spPr>
          <a:xfrm>
            <a:off x="6965950" y="43578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postgres(statistics)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g142403bfdb4_0_447"/>
          <p:cNvCxnSpPr>
            <a:stCxn id="332" idx="3"/>
            <a:endCxn id="337" idx="1"/>
          </p:cNvCxnSpPr>
          <p:nvPr/>
        </p:nvCxnSpPr>
        <p:spPr>
          <a:xfrm>
            <a:off x="5886068" y="3635186"/>
            <a:ext cx="1080000" cy="10191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9" name="Google Shape;339;g142403bfdb4_0_447"/>
          <p:cNvSpPr/>
          <p:nvPr/>
        </p:nvSpPr>
        <p:spPr>
          <a:xfrm>
            <a:off x="6965950" y="49394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postgres(log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g142403bfdb4_0_447"/>
          <p:cNvCxnSpPr>
            <a:stCxn id="332" idx="3"/>
            <a:endCxn id="339" idx="1"/>
          </p:cNvCxnSpPr>
          <p:nvPr/>
        </p:nvCxnSpPr>
        <p:spPr>
          <a:xfrm>
            <a:off x="5886068" y="3635186"/>
            <a:ext cx="1080000" cy="1600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1" name="Google Shape;341;g142403bfdb4_0_447"/>
          <p:cNvSpPr/>
          <p:nvPr/>
        </p:nvSpPr>
        <p:spPr>
          <a:xfrm>
            <a:off x="6965950" y="553622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postgres(archiver)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142403bfdb4_0_447"/>
          <p:cNvCxnSpPr>
            <a:stCxn id="332" idx="3"/>
            <a:endCxn id="341" idx="1"/>
          </p:cNvCxnSpPr>
          <p:nvPr/>
        </p:nvCxnSpPr>
        <p:spPr>
          <a:xfrm>
            <a:off x="5886068" y="3635186"/>
            <a:ext cx="1080000" cy="2197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2" name="Google Shape;332;g142403bfdb4_0_447"/>
          <p:cNvSpPr/>
          <p:nvPr/>
        </p:nvSpPr>
        <p:spPr>
          <a:xfrm>
            <a:off x="3772400" y="2836850"/>
            <a:ext cx="2113668" cy="1596672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g142403bfdb4_0_447"/>
          <p:cNvCxnSpPr>
            <a:stCxn id="332" idx="3"/>
            <a:endCxn id="329" idx="1"/>
          </p:cNvCxnSpPr>
          <p:nvPr/>
        </p:nvCxnSpPr>
        <p:spPr>
          <a:xfrm rot="10800000" flipH="1">
            <a:off x="5886068" y="2293286"/>
            <a:ext cx="1079700" cy="13419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4" name="Google Shape;344;g142403bfdb4_0_447"/>
          <p:cNvCxnSpPr>
            <a:stCxn id="328" idx="3"/>
            <a:endCxn id="332" idx="0"/>
          </p:cNvCxnSpPr>
          <p:nvPr/>
        </p:nvCxnSpPr>
        <p:spPr>
          <a:xfrm>
            <a:off x="3696400" y="2297075"/>
            <a:ext cx="1278300" cy="539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5" name="Google Shape;345;g142403bfdb4_0_447"/>
          <p:cNvSpPr/>
          <p:nvPr/>
        </p:nvSpPr>
        <p:spPr>
          <a:xfrm>
            <a:off x="3848425" y="5235975"/>
            <a:ext cx="2144100" cy="836550"/>
          </a:xfrm>
          <a:prstGeom prst="flowChartMagneticDisk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g142403bfdb4_0_447"/>
          <p:cNvCxnSpPr/>
          <p:nvPr/>
        </p:nvCxnSpPr>
        <p:spPr>
          <a:xfrm rot="10800000" flipH="1">
            <a:off x="4920475" y="4418419"/>
            <a:ext cx="7500" cy="68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2403bfdb4_0_139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СЕРВЕРНЫЕ ПРОЦЕССЫ И ПАМЯТЬ</a:t>
            </a:r>
            <a:endParaRPr/>
          </a:p>
        </p:txBody>
      </p:sp>
      <p:sp>
        <p:nvSpPr>
          <p:cNvPr id="352" name="Google Shape;352;g142403bfdb4_0_139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8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353" name="Google Shape;353;g142403bfdb4_0_1397"/>
          <p:cNvSpPr txBox="1"/>
          <p:nvPr/>
        </p:nvSpPr>
        <p:spPr>
          <a:xfrm>
            <a:off x="1725850" y="2280825"/>
            <a:ext cx="81597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запускаются postgres’ом при старте сервиса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выделенная роль у каждого процесса: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logger </a:t>
            </a:r>
            <a:r>
              <a:rPr lang="ru-RU" sz="1600">
                <a:solidFill>
                  <a:schemeClr val="dk1"/>
                </a:solidFill>
              </a:rPr>
              <a:t>(запись сообщений в лог файл)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checkpointer </a:t>
            </a:r>
            <a:r>
              <a:rPr lang="ru-RU" sz="1600">
                <a:solidFill>
                  <a:schemeClr val="dk1"/>
                </a:solidFill>
              </a:rPr>
              <a:t>(запись грязных страниц из buffer cache на диск при наступлении checkpoint)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bgwriter </a:t>
            </a:r>
            <a:r>
              <a:rPr lang="ru-RU" sz="1600">
                <a:solidFill>
                  <a:schemeClr val="dk1"/>
                </a:solidFill>
              </a:rPr>
              <a:t>(проактивная запись грязных страниц из buffer cache на диск)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walwriter </a:t>
            </a:r>
            <a:r>
              <a:rPr lang="ru-RU" sz="1600">
                <a:solidFill>
                  <a:schemeClr val="dk1"/>
                </a:solidFill>
              </a:rPr>
              <a:t>(запись wal buffer в wal file)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autovacuum </a:t>
            </a:r>
            <a:r>
              <a:rPr lang="ru-RU" sz="1600">
                <a:solidFill>
                  <a:schemeClr val="dk1"/>
                </a:solidFill>
              </a:rPr>
              <a:t>(периодический запуск autovacuum)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archiver </a:t>
            </a:r>
            <a:r>
              <a:rPr lang="ru-RU" sz="1600">
                <a:solidFill>
                  <a:schemeClr val="dk1"/>
                </a:solidFill>
              </a:rPr>
              <a:t>(архивация и репликация WAL)</a:t>
            </a:r>
            <a:endParaRPr sz="1600"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-RU" sz="1600">
                <a:solidFill>
                  <a:schemeClr val="dk2"/>
                </a:solidFill>
              </a:rPr>
              <a:t>statscollector </a:t>
            </a:r>
            <a:r>
              <a:rPr lang="ru-RU" sz="1600">
                <a:solidFill>
                  <a:schemeClr val="dk1"/>
                </a:solidFill>
              </a:rPr>
              <a:t>(сбор статистики использования по сессиям и таблицам)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54" name="Google Shape;354;g142403bfdb4_0_1397"/>
          <p:cNvSpPr txBox="1"/>
          <p:nvPr/>
        </p:nvSpPr>
        <p:spPr>
          <a:xfrm>
            <a:off x="1725838" y="1641886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>
                <a:solidFill>
                  <a:schemeClr val="dk2"/>
                </a:solidFill>
              </a:rPr>
              <a:t>background processes</a:t>
            </a:r>
            <a:endParaRPr sz="1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55" name="Google Shape;355;g142403bfdb4_0_1397"/>
          <p:cNvCxnSpPr/>
          <p:nvPr/>
        </p:nvCxnSpPr>
        <p:spPr>
          <a:xfrm rot="10800000" flipH="1">
            <a:off x="1725838" y="2097577"/>
            <a:ext cx="7224600" cy="78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42403bfdb4_0_1077"/>
          <p:cNvSpPr txBox="1">
            <a:spLocks noGrp="1"/>
          </p:cNvSpPr>
          <p:nvPr>
            <p:ph type="title"/>
          </p:nvPr>
        </p:nvSpPr>
        <p:spPr>
          <a:xfrm>
            <a:off x="1774825" y="327875"/>
            <a:ext cx="8007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ПОДКЛЮЧЕНИЕ ПОЛЬЗОВАТЕЛЕЙ</a:t>
            </a:r>
            <a:endParaRPr/>
          </a:p>
        </p:txBody>
      </p:sp>
      <p:sp>
        <p:nvSpPr>
          <p:cNvPr id="361" name="Google Shape;361;g142403bfdb4_0_1077"/>
          <p:cNvSpPr/>
          <p:nvPr/>
        </p:nvSpPr>
        <p:spPr>
          <a:xfrm>
            <a:off x="3173775" y="1172925"/>
            <a:ext cx="7350300" cy="527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142403bfdb4_0_107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363" name="Google Shape;363;g142403bfdb4_0_1077"/>
          <p:cNvSpPr txBox="1"/>
          <p:nvPr/>
        </p:nvSpPr>
        <p:spPr>
          <a:xfrm>
            <a:off x="3173775" y="1389200"/>
            <a:ext cx="4470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latin typeface="Arial Black"/>
                <a:ea typeface="Arial Black"/>
                <a:cs typeface="Arial Black"/>
                <a:sym typeface="Arial Black"/>
              </a:rPr>
              <a:t>POSTGRESQL SERVER</a:t>
            </a:r>
            <a:endParaRPr sz="16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4" name="Google Shape;364;g142403bfdb4_0_1077"/>
          <p:cNvSpPr/>
          <p:nvPr/>
        </p:nvSpPr>
        <p:spPr>
          <a:xfrm>
            <a:off x="3376675" y="1923575"/>
            <a:ext cx="16119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142403bfdb4_0_1077"/>
          <p:cNvSpPr/>
          <p:nvPr/>
        </p:nvSpPr>
        <p:spPr>
          <a:xfrm>
            <a:off x="8257975" y="19196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postgres(bgwriter)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142403bfdb4_0_1077"/>
          <p:cNvSpPr/>
          <p:nvPr/>
        </p:nvSpPr>
        <p:spPr>
          <a:xfrm>
            <a:off x="8257975" y="25127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postgres(cheсkpointer)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g142403bfdb4_0_1077"/>
          <p:cNvCxnSpPr>
            <a:stCxn id="368" idx="3"/>
            <a:endCxn id="366" idx="1"/>
          </p:cNvCxnSpPr>
          <p:nvPr/>
        </p:nvCxnSpPr>
        <p:spPr>
          <a:xfrm rot="10800000" flipH="1">
            <a:off x="7178243" y="2809436"/>
            <a:ext cx="1079700" cy="7488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9" name="Google Shape;369;g142403bfdb4_0_1077"/>
          <p:cNvSpPr/>
          <p:nvPr/>
        </p:nvSpPr>
        <p:spPr>
          <a:xfrm>
            <a:off x="8258125" y="31021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postgres(autovacuum)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g142403bfdb4_0_1077"/>
          <p:cNvCxnSpPr>
            <a:stCxn id="368" idx="3"/>
            <a:endCxn id="369" idx="1"/>
          </p:cNvCxnSpPr>
          <p:nvPr/>
        </p:nvCxnSpPr>
        <p:spPr>
          <a:xfrm rot="10800000" flipH="1">
            <a:off x="7178243" y="3398636"/>
            <a:ext cx="1080000" cy="159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1" name="Google Shape;371;g142403bfdb4_0_1077"/>
          <p:cNvSpPr/>
          <p:nvPr/>
        </p:nvSpPr>
        <p:spPr>
          <a:xfrm>
            <a:off x="8258125" y="3691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postgres(WAL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g142403bfdb4_0_1077"/>
          <p:cNvCxnSpPr>
            <a:stCxn id="368" idx="3"/>
            <a:endCxn id="371" idx="1"/>
          </p:cNvCxnSpPr>
          <p:nvPr/>
        </p:nvCxnSpPr>
        <p:spPr>
          <a:xfrm>
            <a:off x="7178243" y="3558236"/>
            <a:ext cx="1080000" cy="4299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3" name="Google Shape;373;g142403bfdb4_0_1077"/>
          <p:cNvSpPr/>
          <p:nvPr/>
        </p:nvSpPr>
        <p:spPr>
          <a:xfrm>
            <a:off x="8258125" y="42808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postgres(statistics)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g142403bfdb4_0_1077"/>
          <p:cNvCxnSpPr>
            <a:stCxn id="368" idx="3"/>
            <a:endCxn id="373" idx="1"/>
          </p:cNvCxnSpPr>
          <p:nvPr/>
        </p:nvCxnSpPr>
        <p:spPr>
          <a:xfrm>
            <a:off x="7178243" y="3558236"/>
            <a:ext cx="1080000" cy="10191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5" name="Google Shape;375;g142403bfdb4_0_1077"/>
          <p:cNvSpPr/>
          <p:nvPr/>
        </p:nvSpPr>
        <p:spPr>
          <a:xfrm>
            <a:off x="8258125" y="4862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postgres(log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g142403bfdb4_0_1077"/>
          <p:cNvCxnSpPr>
            <a:stCxn id="368" idx="3"/>
            <a:endCxn id="375" idx="1"/>
          </p:cNvCxnSpPr>
          <p:nvPr/>
        </p:nvCxnSpPr>
        <p:spPr>
          <a:xfrm>
            <a:off x="7178243" y="3558236"/>
            <a:ext cx="1080000" cy="1600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7" name="Google Shape;377;g142403bfdb4_0_1077"/>
          <p:cNvSpPr/>
          <p:nvPr/>
        </p:nvSpPr>
        <p:spPr>
          <a:xfrm>
            <a:off x="8258125" y="54592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postgres(archiver)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g142403bfdb4_0_1077"/>
          <p:cNvCxnSpPr>
            <a:stCxn id="368" idx="3"/>
            <a:endCxn id="377" idx="1"/>
          </p:cNvCxnSpPr>
          <p:nvPr/>
        </p:nvCxnSpPr>
        <p:spPr>
          <a:xfrm>
            <a:off x="7178243" y="3558236"/>
            <a:ext cx="1080000" cy="2197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8" name="Google Shape;368;g142403bfdb4_0_1077"/>
          <p:cNvSpPr/>
          <p:nvPr/>
        </p:nvSpPr>
        <p:spPr>
          <a:xfrm>
            <a:off x="5064575" y="2759900"/>
            <a:ext cx="2113668" cy="1596672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g142403bfdb4_0_1077"/>
          <p:cNvCxnSpPr>
            <a:stCxn id="368" idx="3"/>
            <a:endCxn id="365" idx="1"/>
          </p:cNvCxnSpPr>
          <p:nvPr/>
        </p:nvCxnSpPr>
        <p:spPr>
          <a:xfrm rot="10800000" flipH="1">
            <a:off x="7178243" y="2216336"/>
            <a:ext cx="1079700" cy="13419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0" name="Google Shape;380;g142403bfdb4_0_1077"/>
          <p:cNvCxnSpPr>
            <a:stCxn id="364" idx="3"/>
            <a:endCxn id="368" idx="0"/>
          </p:cNvCxnSpPr>
          <p:nvPr/>
        </p:nvCxnSpPr>
        <p:spPr>
          <a:xfrm>
            <a:off x="4988575" y="2220125"/>
            <a:ext cx="1278300" cy="539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1" name="Google Shape;381;g142403bfdb4_0_1077"/>
          <p:cNvSpPr/>
          <p:nvPr/>
        </p:nvSpPr>
        <p:spPr>
          <a:xfrm>
            <a:off x="5140600" y="5159025"/>
            <a:ext cx="2144100" cy="836550"/>
          </a:xfrm>
          <a:prstGeom prst="flowChartMagneticDisk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g142403bfdb4_0_1077"/>
          <p:cNvCxnSpPr/>
          <p:nvPr/>
        </p:nvCxnSpPr>
        <p:spPr>
          <a:xfrm rot="10800000" flipH="1">
            <a:off x="6212650" y="4341469"/>
            <a:ext cx="7500" cy="68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3" name="Google Shape;383;g142403bfdb4_0_1077"/>
          <p:cNvSpPr/>
          <p:nvPr/>
        </p:nvSpPr>
        <p:spPr>
          <a:xfrm>
            <a:off x="548325" y="4539025"/>
            <a:ext cx="1414200" cy="13419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g142403bfdb4_0_1077"/>
          <p:cNvCxnSpPr>
            <a:stCxn id="383" idx="6"/>
            <a:endCxn id="364" idx="1"/>
          </p:cNvCxnSpPr>
          <p:nvPr/>
        </p:nvCxnSpPr>
        <p:spPr>
          <a:xfrm rot="10800000" flipH="1">
            <a:off x="1962525" y="2220175"/>
            <a:ext cx="1414200" cy="29898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5" name="Google Shape;385;g142403bfdb4_0_1077"/>
          <p:cNvSpPr txBox="1"/>
          <p:nvPr/>
        </p:nvSpPr>
        <p:spPr>
          <a:xfrm>
            <a:off x="2815175" y="3500125"/>
            <a:ext cx="2730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42403bfdb4_0_1125"/>
          <p:cNvSpPr txBox="1">
            <a:spLocks noGrp="1"/>
          </p:cNvSpPr>
          <p:nvPr>
            <p:ph type="title"/>
          </p:nvPr>
        </p:nvSpPr>
        <p:spPr>
          <a:xfrm>
            <a:off x="1774825" y="327875"/>
            <a:ext cx="8007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ПОДКЛЮЧЕНИЕ ПОЛЬЗОВАТЕЛЕЙ</a:t>
            </a:r>
            <a:endParaRPr/>
          </a:p>
        </p:txBody>
      </p:sp>
      <p:sp>
        <p:nvSpPr>
          <p:cNvPr id="391" name="Google Shape;391;g142403bfdb4_0_1125"/>
          <p:cNvSpPr/>
          <p:nvPr/>
        </p:nvSpPr>
        <p:spPr>
          <a:xfrm>
            <a:off x="3117275" y="1172925"/>
            <a:ext cx="7406700" cy="527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142403bfdb4_0_112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393" name="Google Shape;393;g142403bfdb4_0_1125"/>
          <p:cNvSpPr txBox="1"/>
          <p:nvPr/>
        </p:nvSpPr>
        <p:spPr>
          <a:xfrm>
            <a:off x="3173775" y="1389200"/>
            <a:ext cx="4470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latin typeface="Arial Black"/>
                <a:ea typeface="Arial Black"/>
                <a:cs typeface="Arial Black"/>
                <a:sym typeface="Arial Black"/>
              </a:rPr>
              <a:t>POSTGRESQL SERVER</a:t>
            </a:r>
            <a:endParaRPr sz="16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4" name="Google Shape;394;g142403bfdb4_0_1125"/>
          <p:cNvSpPr/>
          <p:nvPr/>
        </p:nvSpPr>
        <p:spPr>
          <a:xfrm>
            <a:off x="3376675" y="1923575"/>
            <a:ext cx="16119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142403bfdb4_0_1125"/>
          <p:cNvSpPr/>
          <p:nvPr/>
        </p:nvSpPr>
        <p:spPr>
          <a:xfrm>
            <a:off x="8257975" y="19196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postgres(bgwriter)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142403bfdb4_0_1125"/>
          <p:cNvSpPr/>
          <p:nvPr/>
        </p:nvSpPr>
        <p:spPr>
          <a:xfrm>
            <a:off x="8257975" y="25127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postgres(cheсkpointer)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g142403bfdb4_0_1125"/>
          <p:cNvCxnSpPr>
            <a:stCxn id="398" idx="3"/>
            <a:endCxn id="396" idx="1"/>
          </p:cNvCxnSpPr>
          <p:nvPr/>
        </p:nvCxnSpPr>
        <p:spPr>
          <a:xfrm rot="10800000" flipH="1">
            <a:off x="7178243" y="2809436"/>
            <a:ext cx="1079700" cy="7488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9" name="Google Shape;399;g142403bfdb4_0_1125"/>
          <p:cNvSpPr/>
          <p:nvPr/>
        </p:nvSpPr>
        <p:spPr>
          <a:xfrm>
            <a:off x="8258125" y="31021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postgres(autovacuum)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g142403bfdb4_0_1125"/>
          <p:cNvCxnSpPr>
            <a:stCxn id="398" idx="3"/>
            <a:endCxn id="399" idx="1"/>
          </p:cNvCxnSpPr>
          <p:nvPr/>
        </p:nvCxnSpPr>
        <p:spPr>
          <a:xfrm rot="10800000" flipH="1">
            <a:off x="7178243" y="3398636"/>
            <a:ext cx="1080000" cy="159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1" name="Google Shape;401;g142403bfdb4_0_1125"/>
          <p:cNvSpPr/>
          <p:nvPr/>
        </p:nvSpPr>
        <p:spPr>
          <a:xfrm>
            <a:off x="8258125" y="3691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postgres(WAL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g142403bfdb4_0_1125"/>
          <p:cNvCxnSpPr>
            <a:stCxn id="398" idx="3"/>
            <a:endCxn id="401" idx="1"/>
          </p:cNvCxnSpPr>
          <p:nvPr/>
        </p:nvCxnSpPr>
        <p:spPr>
          <a:xfrm>
            <a:off x="7178243" y="3558236"/>
            <a:ext cx="1080000" cy="4299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3" name="Google Shape;403;g142403bfdb4_0_1125"/>
          <p:cNvSpPr/>
          <p:nvPr/>
        </p:nvSpPr>
        <p:spPr>
          <a:xfrm>
            <a:off x="8258125" y="42808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postgres(statistics)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g142403bfdb4_0_1125"/>
          <p:cNvCxnSpPr>
            <a:stCxn id="398" idx="3"/>
            <a:endCxn id="403" idx="1"/>
          </p:cNvCxnSpPr>
          <p:nvPr/>
        </p:nvCxnSpPr>
        <p:spPr>
          <a:xfrm>
            <a:off x="7178243" y="3558236"/>
            <a:ext cx="1080000" cy="10191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5" name="Google Shape;405;g142403bfdb4_0_1125"/>
          <p:cNvSpPr/>
          <p:nvPr/>
        </p:nvSpPr>
        <p:spPr>
          <a:xfrm>
            <a:off x="8258125" y="4862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postgres(log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g142403bfdb4_0_1125"/>
          <p:cNvCxnSpPr>
            <a:stCxn id="398" idx="3"/>
            <a:endCxn id="405" idx="1"/>
          </p:cNvCxnSpPr>
          <p:nvPr/>
        </p:nvCxnSpPr>
        <p:spPr>
          <a:xfrm>
            <a:off x="7178243" y="3558236"/>
            <a:ext cx="1080000" cy="1600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7" name="Google Shape;407;g142403bfdb4_0_1125"/>
          <p:cNvSpPr/>
          <p:nvPr/>
        </p:nvSpPr>
        <p:spPr>
          <a:xfrm>
            <a:off x="8258125" y="54592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postgres(archiver)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g142403bfdb4_0_1125"/>
          <p:cNvCxnSpPr>
            <a:stCxn id="398" idx="3"/>
            <a:endCxn id="407" idx="1"/>
          </p:cNvCxnSpPr>
          <p:nvPr/>
        </p:nvCxnSpPr>
        <p:spPr>
          <a:xfrm>
            <a:off x="7178243" y="3558236"/>
            <a:ext cx="1080000" cy="2197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8" name="Google Shape;398;g142403bfdb4_0_1125"/>
          <p:cNvSpPr/>
          <p:nvPr/>
        </p:nvSpPr>
        <p:spPr>
          <a:xfrm>
            <a:off x="5064575" y="2759900"/>
            <a:ext cx="2113668" cy="1596672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g142403bfdb4_0_1125"/>
          <p:cNvCxnSpPr>
            <a:stCxn id="398" idx="3"/>
            <a:endCxn id="395" idx="1"/>
          </p:cNvCxnSpPr>
          <p:nvPr/>
        </p:nvCxnSpPr>
        <p:spPr>
          <a:xfrm rot="10800000" flipH="1">
            <a:off x="7178243" y="2216336"/>
            <a:ext cx="1079700" cy="13419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0" name="Google Shape;410;g142403bfdb4_0_1125"/>
          <p:cNvCxnSpPr>
            <a:stCxn id="394" idx="3"/>
            <a:endCxn id="398" idx="0"/>
          </p:cNvCxnSpPr>
          <p:nvPr/>
        </p:nvCxnSpPr>
        <p:spPr>
          <a:xfrm>
            <a:off x="4988575" y="2220125"/>
            <a:ext cx="1278300" cy="539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1" name="Google Shape;411;g142403bfdb4_0_1125"/>
          <p:cNvSpPr/>
          <p:nvPr/>
        </p:nvSpPr>
        <p:spPr>
          <a:xfrm>
            <a:off x="5140600" y="5159025"/>
            <a:ext cx="2144100" cy="836550"/>
          </a:xfrm>
          <a:prstGeom prst="flowChartMagneticDisk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g142403bfdb4_0_1125"/>
          <p:cNvCxnSpPr/>
          <p:nvPr/>
        </p:nvCxnSpPr>
        <p:spPr>
          <a:xfrm rot="10800000" flipH="1">
            <a:off x="6212650" y="4341469"/>
            <a:ext cx="7500" cy="68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3" name="Google Shape;413;g142403bfdb4_0_1125"/>
          <p:cNvSpPr/>
          <p:nvPr/>
        </p:nvSpPr>
        <p:spPr>
          <a:xfrm>
            <a:off x="548325" y="4539025"/>
            <a:ext cx="1414200" cy="13419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142403bfdb4_0_1125"/>
          <p:cNvSpPr/>
          <p:nvPr/>
        </p:nvSpPr>
        <p:spPr>
          <a:xfrm>
            <a:off x="3196037" y="4649475"/>
            <a:ext cx="1859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postgres(backend)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g142403bfdb4_0_1125"/>
          <p:cNvCxnSpPr>
            <a:stCxn id="394" idx="2"/>
            <a:endCxn id="414" idx="0"/>
          </p:cNvCxnSpPr>
          <p:nvPr/>
        </p:nvCxnSpPr>
        <p:spPr>
          <a:xfrm flipH="1">
            <a:off x="4125625" y="2516675"/>
            <a:ext cx="57000" cy="213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6" name="Google Shape;416;g142403bfdb4_0_1125"/>
          <p:cNvSpPr txBox="1"/>
          <p:nvPr/>
        </p:nvSpPr>
        <p:spPr>
          <a:xfrm>
            <a:off x="3353850" y="3124750"/>
            <a:ext cx="775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fork()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417" name="Google Shape;417;g142403bfdb4_0_1125"/>
          <p:cNvCxnSpPr>
            <a:stCxn id="414" idx="1"/>
          </p:cNvCxnSpPr>
          <p:nvPr/>
        </p:nvCxnSpPr>
        <p:spPr>
          <a:xfrm flipH="1">
            <a:off x="2000537" y="4946025"/>
            <a:ext cx="1195500" cy="5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8" name="Google Shape;418;g142403bfdb4_0_1125"/>
          <p:cNvCxnSpPr>
            <a:endCxn id="398" idx="1"/>
          </p:cNvCxnSpPr>
          <p:nvPr/>
        </p:nvCxnSpPr>
        <p:spPr>
          <a:xfrm rot="10800000" flipH="1">
            <a:off x="4691975" y="3558236"/>
            <a:ext cx="372600" cy="113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42403bfdb4_0_1179"/>
          <p:cNvSpPr txBox="1">
            <a:spLocks noGrp="1"/>
          </p:cNvSpPr>
          <p:nvPr>
            <p:ph type="title"/>
          </p:nvPr>
        </p:nvSpPr>
        <p:spPr>
          <a:xfrm>
            <a:off x="1774825" y="327875"/>
            <a:ext cx="8007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ПОДКЛЮЧЕНИЕ ПОЛЬЗОВАТЕЛЕЙ</a:t>
            </a:r>
            <a:endParaRPr/>
          </a:p>
        </p:txBody>
      </p:sp>
      <p:sp>
        <p:nvSpPr>
          <p:cNvPr id="424" name="Google Shape;424;g142403bfdb4_0_1179"/>
          <p:cNvSpPr/>
          <p:nvPr/>
        </p:nvSpPr>
        <p:spPr>
          <a:xfrm>
            <a:off x="3117275" y="1172925"/>
            <a:ext cx="7406700" cy="527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142403bfdb4_0_117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426" name="Google Shape;426;g142403bfdb4_0_1179"/>
          <p:cNvSpPr txBox="1"/>
          <p:nvPr/>
        </p:nvSpPr>
        <p:spPr>
          <a:xfrm>
            <a:off x="3173775" y="1389200"/>
            <a:ext cx="4470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latin typeface="Arial Black"/>
                <a:ea typeface="Arial Black"/>
                <a:cs typeface="Arial Black"/>
                <a:sym typeface="Arial Black"/>
              </a:rPr>
              <a:t>POSTGRESQL SERVER</a:t>
            </a:r>
            <a:endParaRPr sz="16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7" name="Google Shape;427;g142403bfdb4_0_1179"/>
          <p:cNvSpPr/>
          <p:nvPr/>
        </p:nvSpPr>
        <p:spPr>
          <a:xfrm>
            <a:off x="3376675" y="1923575"/>
            <a:ext cx="16119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142403bfdb4_0_1179"/>
          <p:cNvSpPr/>
          <p:nvPr/>
        </p:nvSpPr>
        <p:spPr>
          <a:xfrm>
            <a:off x="8257975" y="19196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postgres(bgwriter)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142403bfdb4_0_1179"/>
          <p:cNvSpPr/>
          <p:nvPr/>
        </p:nvSpPr>
        <p:spPr>
          <a:xfrm>
            <a:off x="8257975" y="25127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postgres(cheсkpointer)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g142403bfdb4_0_1179"/>
          <p:cNvCxnSpPr>
            <a:stCxn id="431" idx="3"/>
            <a:endCxn id="429" idx="1"/>
          </p:cNvCxnSpPr>
          <p:nvPr/>
        </p:nvCxnSpPr>
        <p:spPr>
          <a:xfrm rot="10800000" flipH="1">
            <a:off x="7178243" y="2809436"/>
            <a:ext cx="1079700" cy="7488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2" name="Google Shape;432;g142403bfdb4_0_1179"/>
          <p:cNvSpPr/>
          <p:nvPr/>
        </p:nvSpPr>
        <p:spPr>
          <a:xfrm>
            <a:off x="8258125" y="31021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postgres(autovacuum)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g142403bfdb4_0_1179"/>
          <p:cNvCxnSpPr>
            <a:stCxn id="431" idx="3"/>
            <a:endCxn id="432" idx="1"/>
          </p:cNvCxnSpPr>
          <p:nvPr/>
        </p:nvCxnSpPr>
        <p:spPr>
          <a:xfrm rot="10800000" flipH="1">
            <a:off x="7178243" y="3398636"/>
            <a:ext cx="1080000" cy="159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4" name="Google Shape;434;g142403bfdb4_0_1179"/>
          <p:cNvSpPr/>
          <p:nvPr/>
        </p:nvSpPr>
        <p:spPr>
          <a:xfrm>
            <a:off x="8258125" y="3691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postgres(WAL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g142403bfdb4_0_1179"/>
          <p:cNvCxnSpPr>
            <a:stCxn id="431" idx="3"/>
            <a:endCxn id="434" idx="1"/>
          </p:cNvCxnSpPr>
          <p:nvPr/>
        </p:nvCxnSpPr>
        <p:spPr>
          <a:xfrm>
            <a:off x="7178243" y="3558236"/>
            <a:ext cx="1080000" cy="4299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6" name="Google Shape;436;g142403bfdb4_0_1179"/>
          <p:cNvSpPr/>
          <p:nvPr/>
        </p:nvSpPr>
        <p:spPr>
          <a:xfrm>
            <a:off x="8258125" y="42808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postgres(statistics)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g142403bfdb4_0_1179"/>
          <p:cNvCxnSpPr>
            <a:stCxn id="431" idx="3"/>
            <a:endCxn id="436" idx="1"/>
          </p:cNvCxnSpPr>
          <p:nvPr/>
        </p:nvCxnSpPr>
        <p:spPr>
          <a:xfrm>
            <a:off x="7178243" y="3558236"/>
            <a:ext cx="1080000" cy="10191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8" name="Google Shape;438;g142403bfdb4_0_1179"/>
          <p:cNvSpPr/>
          <p:nvPr/>
        </p:nvSpPr>
        <p:spPr>
          <a:xfrm>
            <a:off x="8258125" y="4862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postgres(log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g142403bfdb4_0_1179"/>
          <p:cNvCxnSpPr>
            <a:stCxn id="431" idx="3"/>
            <a:endCxn id="438" idx="1"/>
          </p:cNvCxnSpPr>
          <p:nvPr/>
        </p:nvCxnSpPr>
        <p:spPr>
          <a:xfrm>
            <a:off x="7178243" y="3558236"/>
            <a:ext cx="1080000" cy="1600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0" name="Google Shape;440;g142403bfdb4_0_1179"/>
          <p:cNvSpPr/>
          <p:nvPr/>
        </p:nvSpPr>
        <p:spPr>
          <a:xfrm>
            <a:off x="8258125" y="54592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postgres(archiver)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g142403bfdb4_0_1179"/>
          <p:cNvCxnSpPr>
            <a:stCxn id="431" idx="3"/>
            <a:endCxn id="440" idx="1"/>
          </p:cNvCxnSpPr>
          <p:nvPr/>
        </p:nvCxnSpPr>
        <p:spPr>
          <a:xfrm>
            <a:off x="7178243" y="3558236"/>
            <a:ext cx="1080000" cy="2197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1" name="Google Shape;431;g142403bfdb4_0_1179"/>
          <p:cNvSpPr/>
          <p:nvPr/>
        </p:nvSpPr>
        <p:spPr>
          <a:xfrm>
            <a:off x="5064575" y="2759900"/>
            <a:ext cx="2113668" cy="1596672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g142403bfdb4_0_1179"/>
          <p:cNvCxnSpPr>
            <a:stCxn id="431" idx="3"/>
            <a:endCxn id="428" idx="1"/>
          </p:cNvCxnSpPr>
          <p:nvPr/>
        </p:nvCxnSpPr>
        <p:spPr>
          <a:xfrm rot="10800000" flipH="1">
            <a:off x="7178243" y="2216336"/>
            <a:ext cx="1079700" cy="13419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3" name="Google Shape;443;g142403bfdb4_0_1179"/>
          <p:cNvCxnSpPr>
            <a:stCxn id="427" idx="3"/>
            <a:endCxn id="431" idx="0"/>
          </p:cNvCxnSpPr>
          <p:nvPr/>
        </p:nvCxnSpPr>
        <p:spPr>
          <a:xfrm>
            <a:off x="4988575" y="2220125"/>
            <a:ext cx="1278300" cy="539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4" name="Google Shape;444;g142403bfdb4_0_1179"/>
          <p:cNvSpPr/>
          <p:nvPr/>
        </p:nvSpPr>
        <p:spPr>
          <a:xfrm>
            <a:off x="5140600" y="5159025"/>
            <a:ext cx="2144100" cy="836550"/>
          </a:xfrm>
          <a:prstGeom prst="flowChartMagneticDisk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g142403bfdb4_0_1179"/>
          <p:cNvCxnSpPr/>
          <p:nvPr/>
        </p:nvCxnSpPr>
        <p:spPr>
          <a:xfrm rot="10800000" flipH="1">
            <a:off x="6212650" y="4341469"/>
            <a:ext cx="7500" cy="68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6" name="Google Shape;446;g142403bfdb4_0_1179"/>
          <p:cNvSpPr/>
          <p:nvPr/>
        </p:nvSpPr>
        <p:spPr>
          <a:xfrm>
            <a:off x="548325" y="4539025"/>
            <a:ext cx="1414200" cy="13419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142403bfdb4_0_1179"/>
          <p:cNvSpPr/>
          <p:nvPr/>
        </p:nvSpPr>
        <p:spPr>
          <a:xfrm>
            <a:off x="3196037" y="4649475"/>
            <a:ext cx="1859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postgres(backend)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g142403bfdb4_0_1179"/>
          <p:cNvCxnSpPr>
            <a:stCxn id="427" idx="2"/>
            <a:endCxn id="447" idx="0"/>
          </p:cNvCxnSpPr>
          <p:nvPr/>
        </p:nvCxnSpPr>
        <p:spPr>
          <a:xfrm flipH="1">
            <a:off x="4125625" y="2516675"/>
            <a:ext cx="57000" cy="213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9" name="Google Shape;449;g142403bfdb4_0_1179"/>
          <p:cNvSpPr txBox="1"/>
          <p:nvPr/>
        </p:nvSpPr>
        <p:spPr>
          <a:xfrm>
            <a:off x="3353850" y="3124750"/>
            <a:ext cx="775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g142403bfdb4_0_1179"/>
          <p:cNvCxnSpPr>
            <a:stCxn id="447" idx="1"/>
          </p:cNvCxnSpPr>
          <p:nvPr/>
        </p:nvCxnSpPr>
        <p:spPr>
          <a:xfrm flipH="1">
            <a:off x="2000537" y="4946025"/>
            <a:ext cx="1195500" cy="5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51" name="Google Shape;451;g142403bfdb4_0_1179"/>
          <p:cNvCxnSpPr>
            <a:endCxn id="431" idx="1"/>
          </p:cNvCxnSpPr>
          <p:nvPr/>
        </p:nvCxnSpPr>
        <p:spPr>
          <a:xfrm rot="10800000" flipH="1">
            <a:off x="4691975" y="3558236"/>
            <a:ext cx="372600" cy="113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52" name="Google Shape;452;g142403bfdb4_0_1179"/>
          <p:cNvSpPr/>
          <p:nvPr/>
        </p:nvSpPr>
        <p:spPr>
          <a:xfrm>
            <a:off x="548325" y="2766750"/>
            <a:ext cx="1414200" cy="13419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g142403bfdb4_0_1179"/>
          <p:cNvCxnSpPr>
            <a:stCxn id="452" idx="6"/>
          </p:cNvCxnSpPr>
          <p:nvPr/>
        </p:nvCxnSpPr>
        <p:spPr>
          <a:xfrm rot="10800000" flipH="1">
            <a:off x="1962525" y="2259000"/>
            <a:ext cx="1414200" cy="117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4" name="Google Shape;454;g142403bfdb4_0_1179"/>
          <p:cNvSpPr txBox="1"/>
          <p:nvPr/>
        </p:nvSpPr>
        <p:spPr>
          <a:xfrm>
            <a:off x="2205800" y="2388300"/>
            <a:ext cx="4410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42403bfdb4_0_1239"/>
          <p:cNvSpPr txBox="1">
            <a:spLocks noGrp="1"/>
          </p:cNvSpPr>
          <p:nvPr>
            <p:ph type="title"/>
          </p:nvPr>
        </p:nvSpPr>
        <p:spPr>
          <a:xfrm>
            <a:off x="1774825" y="327875"/>
            <a:ext cx="8007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ПОДКЛЮЧЕНИЕ ПОЛЬЗОВАТЕЛЕЙ</a:t>
            </a:r>
            <a:endParaRPr/>
          </a:p>
        </p:txBody>
      </p:sp>
      <p:sp>
        <p:nvSpPr>
          <p:cNvPr id="460" name="Google Shape;460;g142403bfdb4_0_1239"/>
          <p:cNvSpPr/>
          <p:nvPr/>
        </p:nvSpPr>
        <p:spPr>
          <a:xfrm>
            <a:off x="3117275" y="1172925"/>
            <a:ext cx="7406700" cy="527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142403bfdb4_0_123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462" name="Google Shape;462;g142403bfdb4_0_1239"/>
          <p:cNvSpPr txBox="1"/>
          <p:nvPr/>
        </p:nvSpPr>
        <p:spPr>
          <a:xfrm>
            <a:off x="3173775" y="1389200"/>
            <a:ext cx="4470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latin typeface="Arial Black"/>
                <a:ea typeface="Arial Black"/>
                <a:cs typeface="Arial Black"/>
                <a:sym typeface="Arial Black"/>
              </a:rPr>
              <a:t>POSTGRESQL SERVER</a:t>
            </a:r>
            <a:endParaRPr sz="16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3" name="Google Shape;463;g142403bfdb4_0_1239"/>
          <p:cNvSpPr/>
          <p:nvPr/>
        </p:nvSpPr>
        <p:spPr>
          <a:xfrm>
            <a:off x="3376675" y="1923575"/>
            <a:ext cx="16119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142403bfdb4_0_1239"/>
          <p:cNvSpPr/>
          <p:nvPr/>
        </p:nvSpPr>
        <p:spPr>
          <a:xfrm>
            <a:off x="8257975" y="19196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postgres(bgwriter)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142403bfdb4_0_1239"/>
          <p:cNvSpPr/>
          <p:nvPr/>
        </p:nvSpPr>
        <p:spPr>
          <a:xfrm>
            <a:off x="8257975" y="25127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postgres(cheсkpointer)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g142403bfdb4_0_1239"/>
          <p:cNvCxnSpPr>
            <a:stCxn id="467" idx="3"/>
            <a:endCxn id="465" idx="1"/>
          </p:cNvCxnSpPr>
          <p:nvPr/>
        </p:nvCxnSpPr>
        <p:spPr>
          <a:xfrm rot="10800000" flipH="1">
            <a:off x="7178243" y="2809436"/>
            <a:ext cx="1079700" cy="7488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8" name="Google Shape;468;g142403bfdb4_0_1239"/>
          <p:cNvSpPr/>
          <p:nvPr/>
        </p:nvSpPr>
        <p:spPr>
          <a:xfrm>
            <a:off x="8258125" y="31021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postgres(autovacuum)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g142403bfdb4_0_1239"/>
          <p:cNvCxnSpPr>
            <a:stCxn id="467" idx="3"/>
            <a:endCxn id="468" idx="1"/>
          </p:cNvCxnSpPr>
          <p:nvPr/>
        </p:nvCxnSpPr>
        <p:spPr>
          <a:xfrm rot="10800000" flipH="1">
            <a:off x="7178243" y="3398636"/>
            <a:ext cx="1080000" cy="159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70" name="Google Shape;470;g142403bfdb4_0_1239"/>
          <p:cNvSpPr/>
          <p:nvPr/>
        </p:nvSpPr>
        <p:spPr>
          <a:xfrm>
            <a:off x="8258125" y="3691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postgres(WAL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g142403bfdb4_0_1239"/>
          <p:cNvCxnSpPr>
            <a:stCxn id="467" idx="3"/>
            <a:endCxn id="470" idx="1"/>
          </p:cNvCxnSpPr>
          <p:nvPr/>
        </p:nvCxnSpPr>
        <p:spPr>
          <a:xfrm>
            <a:off x="7178243" y="3558236"/>
            <a:ext cx="1080000" cy="4299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72" name="Google Shape;472;g142403bfdb4_0_1239"/>
          <p:cNvSpPr/>
          <p:nvPr/>
        </p:nvSpPr>
        <p:spPr>
          <a:xfrm>
            <a:off x="8258125" y="42808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postgres(statistics)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g142403bfdb4_0_1239"/>
          <p:cNvCxnSpPr>
            <a:stCxn id="467" idx="3"/>
            <a:endCxn id="472" idx="1"/>
          </p:cNvCxnSpPr>
          <p:nvPr/>
        </p:nvCxnSpPr>
        <p:spPr>
          <a:xfrm>
            <a:off x="7178243" y="3558236"/>
            <a:ext cx="1080000" cy="10191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74" name="Google Shape;474;g142403bfdb4_0_1239"/>
          <p:cNvSpPr/>
          <p:nvPr/>
        </p:nvSpPr>
        <p:spPr>
          <a:xfrm>
            <a:off x="8258125" y="48624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postgres(log writer)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g142403bfdb4_0_1239"/>
          <p:cNvCxnSpPr>
            <a:stCxn id="467" idx="3"/>
            <a:endCxn id="474" idx="1"/>
          </p:cNvCxnSpPr>
          <p:nvPr/>
        </p:nvCxnSpPr>
        <p:spPr>
          <a:xfrm>
            <a:off x="7178243" y="3558236"/>
            <a:ext cx="1080000" cy="1600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76" name="Google Shape;476;g142403bfdb4_0_1239"/>
          <p:cNvSpPr/>
          <p:nvPr/>
        </p:nvSpPr>
        <p:spPr>
          <a:xfrm>
            <a:off x="8258125" y="5459275"/>
            <a:ext cx="2144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postgres(archiver)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g142403bfdb4_0_1239"/>
          <p:cNvCxnSpPr>
            <a:stCxn id="467" idx="3"/>
            <a:endCxn id="476" idx="1"/>
          </p:cNvCxnSpPr>
          <p:nvPr/>
        </p:nvCxnSpPr>
        <p:spPr>
          <a:xfrm>
            <a:off x="7178243" y="3558236"/>
            <a:ext cx="1080000" cy="2197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7" name="Google Shape;467;g142403bfdb4_0_1239"/>
          <p:cNvSpPr/>
          <p:nvPr/>
        </p:nvSpPr>
        <p:spPr>
          <a:xfrm>
            <a:off x="5064575" y="2759900"/>
            <a:ext cx="2113668" cy="1596672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g142403bfdb4_0_1239"/>
          <p:cNvCxnSpPr>
            <a:stCxn id="467" idx="3"/>
            <a:endCxn id="464" idx="1"/>
          </p:cNvCxnSpPr>
          <p:nvPr/>
        </p:nvCxnSpPr>
        <p:spPr>
          <a:xfrm rot="10800000" flipH="1">
            <a:off x="7178243" y="2216336"/>
            <a:ext cx="1079700" cy="13419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9" name="Google Shape;479;g142403bfdb4_0_1239"/>
          <p:cNvCxnSpPr>
            <a:stCxn id="463" idx="3"/>
            <a:endCxn id="467" idx="0"/>
          </p:cNvCxnSpPr>
          <p:nvPr/>
        </p:nvCxnSpPr>
        <p:spPr>
          <a:xfrm>
            <a:off x="4988575" y="2220125"/>
            <a:ext cx="1278300" cy="539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0" name="Google Shape;480;g142403bfdb4_0_1239"/>
          <p:cNvSpPr/>
          <p:nvPr/>
        </p:nvSpPr>
        <p:spPr>
          <a:xfrm>
            <a:off x="5140600" y="5159025"/>
            <a:ext cx="2144100" cy="836550"/>
          </a:xfrm>
          <a:prstGeom prst="flowChartMagneticDisk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g142403bfdb4_0_1239"/>
          <p:cNvCxnSpPr/>
          <p:nvPr/>
        </p:nvCxnSpPr>
        <p:spPr>
          <a:xfrm rot="10800000" flipH="1">
            <a:off x="6212650" y="4341469"/>
            <a:ext cx="7500" cy="68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2" name="Google Shape;482;g142403bfdb4_0_1239"/>
          <p:cNvSpPr/>
          <p:nvPr/>
        </p:nvSpPr>
        <p:spPr>
          <a:xfrm>
            <a:off x="548325" y="4539025"/>
            <a:ext cx="1414200" cy="13419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142403bfdb4_0_1239"/>
          <p:cNvSpPr/>
          <p:nvPr/>
        </p:nvSpPr>
        <p:spPr>
          <a:xfrm>
            <a:off x="3196037" y="4649475"/>
            <a:ext cx="1859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postgres(backend)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g142403bfdb4_0_1239"/>
          <p:cNvCxnSpPr>
            <a:stCxn id="483" idx="1"/>
          </p:cNvCxnSpPr>
          <p:nvPr/>
        </p:nvCxnSpPr>
        <p:spPr>
          <a:xfrm flipH="1">
            <a:off x="2000537" y="4946025"/>
            <a:ext cx="1195500" cy="5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5" name="Google Shape;485;g142403bfdb4_0_1239"/>
          <p:cNvCxnSpPr>
            <a:endCxn id="467" idx="1"/>
          </p:cNvCxnSpPr>
          <p:nvPr/>
        </p:nvCxnSpPr>
        <p:spPr>
          <a:xfrm rot="10800000" flipH="1">
            <a:off x="4691975" y="3558236"/>
            <a:ext cx="372600" cy="113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6" name="Google Shape;486;g142403bfdb4_0_1239"/>
          <p:cNvSpPr/>
          <p:nvPr/>
        </p:nvSpPr>
        <p:spPr>
          <a:xfrm>
            <a:off x="548325" y="2766750"/>
            <a:ext cx="1414200" cy="13419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g142403bfdb4_0_1239"/>
          <p:cNvCxnSpPr>
            <a:stCxn id="486" idx="6"/>
            <a:endCxn id="488" idx="1"/>
          </p:cNvCxnSpPr>
          <p:nvPr/>
        </p:nvCxnSpPr>
        <p:spPr>
          <a:xfrm>
            <a:off x="1962525" y="3437700"/>
            <a:ext cx="931200" cy="14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8" name="Google Shape;488;g142403bfdb4_0_1239"/>
          <p:cNvSpPr/>
          <p:nvPr/>
        </p:nvSpPr>
        <p:spPr>
          <a:xfrm>
            <a:off x="2893837" y="3286525"/>
            <a:ext cx="1859100" cy="5931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postgres(backend)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g142403bfdb4_0_1239"/>
          <p:cNvCxnSpPr>
            <a:stCxn id="488" idx="3"/>
            <a:endCxn id="467" idx="1"/>
          </p:cNvCxnSpPr>
          <p:nvPr/>
        </p:nvCxnSpPr>
        <p:spPr>
          <a:xfrm rot="10800000" flipH="1">
            <a:off x="4752937" y="3558175"/>
            <a:ext cx="311700" cy="2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42403bfdb4_0_149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АРХИТЕКТУРА POSTGRESQL. ПОДКЛЮЧЕНИЕ ПОЛЬЗОВАТЕЛЕЙ</a:t>
            </a:r>
            <a:endParaRPr/>
          </a:p>
        </p:txBody>
      </p:sp>
      <p:sp>
        <p:nvSpPr>
          <p:cNvPr id="495" name="Google Shape;495;g142403bfdb4_0_1496"/>
          <p:cNvSpPr txBox="1"/>
          <p:nvPr/>
        </p:nvSpPr>
        <p:spPr>
          <a:xfrm>
            <a:off x="1774825" y="2901875"/>
            <a:ext cx="8159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запускается postmaster’ом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обслуживает сессию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работает пока сессия активна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максимальное количество определяется параметром max_connections (по умолчанию 100)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96" name="Google Shape;496;g142403bfdb4_0_1496"/>
          <p:cNvSpPr txBox="1"/>
          <p:nvPr/>
        </p:nvSpPr>
        <p:spPr>
          <a:xfrm>
            <a:off x="1774813" y="2262936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>
                <a:solidFill>
                  <a:schemeClr val="dk2"/>
                </a:solidFill>
              </a:rPr>
              <a:t>background processes</a:t>
            </a:r>
            <a:endParaRPr sz="1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7" name="Google Shape;497;g142403bfdb4_0_1496"/>
          <p:cNvCxnSpPr/>
          <p:nvPr/>
        </p:nvCxnSpPr>
        <p:spPr>
          <a:xfrm rot="10800000" flipH="1">
            <a:off x="1774813" y="2718627"/>
            <a:ext cx="7224600" cy="78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8" name="Google Shape;498;g142403bfdb4_0_1496"/>
          <p:cNvSpPr txBox="1">
            <a:spLocks noGrp="1"/>
          </p:cNvSpPr>
          <p:nvPr>
            <p:ph type="sldNum" idx="12"/>
          </p:nvPr>
        </p:nvSpPr>
        <p:spPr>
          <a:xfrm>
            <a:off x="250615" y="6446575"/>
            <a:ext cx="29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42403bfdb4_0_150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ПАМЯТЬ СЕССИИ. БУФЕРНЫЙ КЕШ</a:t>
            </a:r>
            <a:endParaRPr/>
          </a:p>
        </p:txBody>
      </p:sp>
      <p:sp>
        <p:nvSpPr>
          <p:cNvPr id="504" name="Google Shape;504;g142403bfdb4_0_1506"/>
          <p:cNvSpPr txBox="1"/>
          <p:nvPr/>
        </p:nvSpPr>
        <p:spPr>
          <a:xfrm>
            <a:off x="1725850" y="1103250"/>
            <a:ext cx="3660900" cy="4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принадлежит backend процессу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2"/>
                </a:solidFill>
              </a:rPr>
              <a:t>work_mem (4 MB)</a:t>
            </a:r>
            <a:br>
              <a:rPr lang="ru-RU" sz="1600">
                <a:solidFill>
                  <a:schemeClr val="dk1"/>
                </a:solidFill>
              </a:rPr>
            </a:br>
            <a:r>
              <a:rPr lang="ru-RU" sz="1600">
                <a:solidFill>
                  <a:schemeClr val="dk1"/>
                </a:solidFill>
              </a:rPr>
              <a:t>эта память используется на этапе выполнения запроса для сортировок строк, например ORDER BY и DISTINCT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2"/>
                </a:solidFill>
              </a:rPr>
              <a:t>maintenance_work_mem (64MB)</a:t>
            </a:r>
            <a:br>
              <a:rPr lang="ru-RU" sz="1600">
                <a:solidFill>
                  <a:schemeClr val="dk1"/>
                </a:solidFill>
              </a:rPr>
            </a:br>
            <a:r>
              <a:rPr lang="ru-RU" sz="1600">
                <a:solidFill>
                  <a:schemeClr val="dk1"/>
                </a:solidFill>
              </a:rPr>
              <a:t>используется служебными операциями типа VACUUM и REINDEX выделяется только при использовании команд обслуживания в сессии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2"/>
                </a:solidFill>
              </a:rPr>
              <a:t>temp_buffers (8 MB)</a:t>
            </a:r>
            <a:br>
              <a:rPr lang="ru-RU" sz="1600">
                <a:solidFill>
                  <a:schemeClr val="dk1"/>
                </a:solidFill>
              </a:rPr>
            </a:br>
            <a:r>
              <a:rPr lang="ru-RU" sz="1600">
                <a:solidFill>
                  <a:schemeClr val="dk1"/>
                </a:solidFill>
              </a:rPr>
              <a:t>используется на этапе выполнения для хранения временных таблиц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05" name="Google Shape;505;g142403bfdb4_0_1506"/>
          <p:cNvSpPr txBox="1">
            <a:spLocks noGrp="1"/>
          </p:cNvSpPr>
          <p:nvPr>
            <p:ph type="sldNum" idx="12"/>
          </p:nvPr>
        </p:nvSpPr>
        <p:spPr>
          <a:xfrm>
            <a:off x="250615" y="6446575"/>
            <a:ext cx="29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pic>
        <p:nvPicPr>
          <p:cNvPr id="506" name="Google Shape;506;g142403bfdb4_0_15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4100" y="1292174"/>
            <a:ext cx="4642975" cy="46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42403bfdb4_0_15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ЧТО ПРОИСХОДИТ ВНУТРИ СЕССИИ</a:t>
            </a:r>
            <a:endParaRPr/>
          </a:p>
        </p:txBody>
      </p:sp>
      <p:sp>
        <p:nvSpPr>
          <p:cNvPr id="512" name="Google Shape;512;g142403bfdb4_0_1517"/>
          <p:cNvSpPr txBox="1"/>
          <p:nvPr/>
        </p:nvSpPr>
        <p:spPr>
          <a:xfrm>
            <a:off x="1725850" y="1631375"/>
            <a:ext cx="5062200" cy="38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выполняет запрос: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Parser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Analyser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Rewriter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Planner</a:t>
            </a:r>
            <a:endParaRPr sz="1600">
              <a:solidFill>
                <a:schemeClr val="dk1"/>
              </a:solidFill>
            </a:endParaRPr>
          </a:p>
          <a:p>
            <a:pPr marL="222250" marR="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ru-RU" sz="1600">
                <a:solidFill>
                  <a:schemeClr val="dk1"/>
                </a:solidFill>
              </a:rPr>
              <a:t>Executor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u="sng">
                <a:solidFill>
                  <a:schemeClr val="hlink"/>
                </a:solidFill>
                <a:hlinkClick r:id="rId3"/>
              </a:rPr>
              <a:t>https://www.postgresql.org/docs/14/rules.html</a:t>
            </a:r>
            <a:r>
              <a:rPr lang="ru-RU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13" name="Google Shape;513;g142403bfdb4_0_1517"/>
          <p:cNvSpPr txBox="1">
            <a:spLocks noGrp="1"/>
          </p:cNvSpPr>
          <p:nvPr>
            <p:ph type="sldNum" idx="12"/>
          </p:nvPr>
        </p:nvSpPr>
        <p:spPr>
          <a:xfrm>
            <a:off x="250615" y="6446575"/>
            <a:ext cx="29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514" name="Google Shape;514;g142403bfdb4_0_1517"/>
          <p:cNvSpPr/>
          <p:nvPr/>
        </p:nvSpPr>
        <p:spPr>
          <a:xfrm>
            <a:off x="5495278" y="2804900"/>
            <a:ext cx="1292700" cy="1115700"/>
          </a:xfrm>
          <a:prstGeom prst="smileyFace">
            <a:avLst>
              <a:gd name="adj" fmla="val 4653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142403bfdb4_0_1517"/>
          <p:cNvSpPr txBox="1"/>
          <p:nvPr/>
        </p:nvSpPr>
        <p:spPr>
          <a:xfrm>
            <a:off x="6349828" y="3871200"/>
            <a:ext cx="81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клиент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16" name="Google Shape;516;g142403bfdb4_0_1517"/>
          <p:cNvSpPr/>
          <p:nvPr/>
        </p:nvSpPr>
        <p:spPr>
          <a:xfrm>
            <a:off x="7642503" y="1765475"/>
            <a:ext cx="3088800" cy="3578700"/>
          </a:xfrm>
          <a:prstGeom prst="roundRect">
            <a:avLst>
              <a:gd name="adj" fmla="val 16667"/>
            </a:avLst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142403bfdb4_0_1517"/>
          <p:cNvSpPr txBox="1"/>
          <p:nvPr/>
        </p:nvSpPr>
        <p:spPr>
          <a:xfrm>
            <a:off x="7955453" y="1819900"/>
            <a:ext cx="243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Backend process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518" name="Google Shape;518;g142403bfdb4_0_1517"/>
          <p:cNvCxnSpPr>
            <a:stCxn id="514" idx="0"/>
            <a:endCxn id="516" idx="0"/>
          </p:cNvCxnSpPr>
          <p:nvPr/>
        </p:nvCxnSpPr>
        <p:spPr>
          <a:xfrm rot="-5400000">
            <a:off x="7144528" y="762500"/>
            <a:ext cx="1039500" cy="3045300"/>
          </a:xfrm>
          <a:prstGeom prst="curvedConnector3">
            <a:avLst>
              <a:gd name="adj1" fmla="val 1229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9" name="Google Shape;519;g142403bfdb4_0_1517"/>
          <p:cNvSpPr txBox="1"/>
          <p:nvPr/>
        </p:nvSpPr>
        <p:spPr>
          <a:xfrm>
            <a:off x="6118528" y="1041600"/>
            <a:ext cx="28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отправляет запрос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20" name="Google Shape;520;g142403bfdb4_0_1517"/>
          <p:cNvSpPr/>
          <p:nvPr/>
        </p:nvSpPr>
        <p:spPr>
          <a:xfrm>
            <a:off x="7982678" y="2228125"/>
            <a:ext cx="2354100" cy="4002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Parser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142403bfdb4_0_1517"/>
          <p:cNvSpPr/>
          <p:nvPr/>
        </p:nvSpPr>
        <p:spPr>
          <a:xfrm>
            <a:off x="7982639" y="2848446"/>
            <a:ext cx="2354100" cy="4002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Analyzer/Algebrizer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2" name="Google Shape;522;g142403bfdb4_0_1517"/>
          <p:cNvCxnSpPr>
            <a:stCxn id="520" idx="2"/>
            <a:endCxn id="521" idx="0"/>
          </p:cNvCxnSpPr>
          <p:nvPr/>
        </p:nvCxnSpPr>
        <p:spPr>
          <a:xfrm>
            <a:off x="9159728" y="2628325"/>
            <a:ext cx="0" cy="22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3" name="Google Shape;523;g142403bfdb4_0_1517"/>
          <p:cNvSpPr/>
          <p:nvPr/>
        </p:nvSpPr>
        <p:spPr>
          <a:xfrm>
            <a:off x="8009864" y="3476946"/>
            <a:ext cx="2354100" cy="4002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Rewriter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g142403bfdb4_0_1517"/>
          <p:cNvCxnSpPr>
            <a:endCxn id="523" idx="0"/>
          </p:cNvCxnSpPr>
          <p:nvPr/>
        </p:nvCxnSpPr>
        <p:spPr>
          <a:xfrm>
            <a:off x="9186914" y="3256746"/>
            <a:ext cx="0" cy="22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5" name="Google Shape;525;g142403bfdb4_0_1517"/>
          <p:cNvSpPr/>
          <p:nvPr/>
        </p:nvSpPr>
        <p:spPr>
          <a:xfrm>
            <a:off x="8009864" y="4097196"/>
            <a:ext cx="2354100" cy="4002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g142403bfdb4_0_1517"/>
          <p:cNvCxnSpPr>
            <a:endCxn id="525" idx="0"/>
          </p:cNvCxnSpPr>
          <p:nvPr/>
        </p:nvCxnSpPr>
        <p:spPr>
          <a:xfrm>
            <a:off x="9186914" y="3876996"/>
            <a:ext cx="0" cy="22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7" name="Google Shape;527;g142403bfdb4_0_1517"/>
          <p:cNvSpPr/>
          <p:nvPr/>
        </p:nvSpPr>
        <p:spPr>
          <a:xfrm>
            <a:off x="8009864" y="4717446"/>
            <a:ext cx="2354100" cy="4002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Executor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g142403bfdb4_0_1517"/>
          <p:cNvCxnSpPr>
            <a:endCxn id="527" idx="0"/>
          </p:cNvCxnSpPr>
          <p:nvPr/>
        </p:nvCxnSpPr>
        <p:spPr>
          <a:xfrm>
            <a:off x="9186914" y="4497246"/>
            <a:ext cx="0" cy="22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9" name="Google Shape;529;g142403bfdb4_0_1517"/>
          <p:cNvSpPr txBox="1"/>
          <p:nvPr/>
        </p:nvSpPr>
        <p:spPr>
          <a:xfrm>
            <a:off x="9316178" y="2508925"/>
            <a:ext cx="14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parse tree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30" name="Google Shape;530;g142403bfdb4_0_1517"/>
          <p:cNvSpPr txBox="1"/>
          <p:nvPr/>
        </p:nvSpPr>
        <p:spPr>
          <a:xfrm>
            <a:off x="9316178" y="3162650"/>
            <a:ext cx="14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query tree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31" name="Google Shape;531;g142403bfdb4_0_1517"/>
          <p:cNvSpPr txBox="1"/>
          <p:nvPr/>
        </p:nvSpPr>
        <p:spPr>
          <a:xfrm>
            <a:off x="9384328" y="4444975"/>
            <a:ext cx="14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plan tree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532" name="Google Shape;532;g142403bfdb4_0_1517"/>
          <p:cNvCxnSpPr>
            <a:stCxn id="516" idx="2"/>
            <a:endCxn id="514" idx="4"/>
          </p:cNvCxnSpPr>
          <p:nvPr/>
        </p:nvCxnSpPr>
        <p:spPr>
          <a:xfrm rot="5400000" flipH="1">
            <a:off x="6952503" y="3109775"/>
            <a:ext cx="1423500" cy="3045300"/>
          </a:xfrm>
          <a:prstGeom prst="curvedConnector3">
            <a:avLst>
              <a:gd name="adj1" fmla="val -1672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33" name="Google Shape;533;g142403bfdb4_0_1517"/>
          <p:cNvSpPr txBox="1"/>
          <p:nvPr/>
        </p:nvSpPr>
        <p:spPr>
          <a:xfrm>
            <a:off x="5495278" y="5337700"/>
            <a:ext cx="28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i="0" u="none" strike="noStrike" cap="none">
                <a:solidFill>
                  <a:srgbClr val="000000"/>
                </a:solidFill>
              </a:rPr>
              <a:t>получает ответ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42403bfdb4_0_154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ЧТО НЕ ТАК С НАСТРОЙКАМИ?</a:t>
            </a:r>
            <a:endParaRPr/>
          </a:p>
        </p:txBody>
      </p:sp>
      <p:sp>
        <p:nvSpPr>
          <p:cNvPr id="539" name="Google Shape;539;g142403bfdb4_0_1546"/>
          <p:cNvSpPr txBox="1">
            <a:spLocks noGrp="1"/>
          </p:cNvSpPr>
          <p:nvPr>
            <p:ph type="sldNum" idx="12"/>
          </p:nvPr>
        </p:nvSpPr>
        <p:spPr>
          <a:xfrm>
            <a:off x="250615" y="6446575"/>
            <a:ext cx="29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540" name="Google Shape;540;g142403bfdb4_0_1546"/>
          <p:cNvSpPr txBox="1"/>
          <p:nvPr/>
        </p:nvSpPr>
        <p:spPr>
          <a:xfrm>
            <a:off x="1654263" y="2266550"/>
            <a:ext cx="8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Памяти у инстанса 4 Gb (периодически приходил OOM killer)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1" name="Google Shape;541;g142403bfdb4_0_1546"/>
          <p:cNvSpPr txBox="1"/>
          <p:nvPr/>
        </p:nvSpPr>
        <p:spPr>
          <a:xfrm>
            <a:off x="1713363" y="4837950"/>
            <a:ext cx="8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linux-out-of-memory-killer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2" name="Google Shape;542;g142403bfdb4_0_1546"/>
          <p:cNvSpPr/>
          <p:nvPr/>
        </p:nvSpPr>
        <p:spPr>
          <a:xfrm>
            <a:off x="1654275" y="2769875"/>
            <a:ext cx="7738200" cy="12933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max_connections = 1000                         # (change requires restart)</a:t>
            </a: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shared_buffers = 6GB                           # min 128kB</a:t>
            </a: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work_mem = 16MB                                # min 64kB</a:t>
            </a: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maintenance_work_mem = 256MB                   # min 1MB</a:t>
            </a: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endParaRPr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42403bfdb4_0_97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548" name="Google Shape;548;g142403bfdb4_0_97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549" name="Google Shape;549;g142403bfdb4_0_973"/>
          <p:cNvSpPr/>
          <p:nvPr/>
        </p:nvSpPr>
        <p:spPr>
          <a:xfrm>
            <a:off x="1703464" y="2031636"/>
            <a:ext cx="2714100" cy="16074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Поняли принципы архитектуры Постгреса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142403bfdb4_0_973"/>
          <p:cNvSpPr/>
          <p:nvPr/>
        </p:nvSpPr>
        <p:spPr>
          <a:xfrm>
            <a:off x="4738960" y="2031635"/>
            <a:ext cx="2714100" cy="16074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Узнали, что такое буферный кеш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g142403bfdb4_0_973"/>
          <p:cNvSpPr/>
          <p:nvPr/>
        </p:nvSpPr>
        <p:spPr>
          <a:xfrm>
            <a:off x="7774431" y="2031636"/>
            <a:ext cx="2714100" cy="1607400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Поняли зачем нужен буферный кеш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2" name="Google Shape;552;g142403bfdb4_0_9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216" y="21971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142403bfdb4_0_9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174" y="21971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142403bfdb4_0_9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8125" y="2197116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142403bfdb4_0_973"/>
          <p:cNvSpPr/>
          <p:nvPr/>
        </p:nvSpPr>
        <p:spPr>
          <a:xfrm>
            <a:off x="1703473" y="4001750"/>
            <a:ext cx="3540600" cy="1607400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>
                <a:solidFill>
                  <a:schemeClr val="accent5"/>
                </a:solidFill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Поняли как организовано подключение новых пользователей к Постгресу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6" name="Google Shape;556;g142403bfdb4_0_9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5125" y="416724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42403bfdb4_0_77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562" name="Google Shape;562;g142403bfdb4_0_778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На следующем занятии мы рассмотрим тему:</a:t>
            </a:r>
            <a:endParaRPr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/>
              <a:t>Изоляция и многоверсионность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Широкоэкранный</PresentationFormat>
  <Paragraphs>175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 Black</vt:lpstr>
      <vt:lpstr>Consolas</vt:lpstr>
      <vt:lpstr>Helvetica Neue</vt:lpstr>
      <vt:lpstr>Courier New</vt:lpstr>
      <vt:lpstr>Arial</vt:lpstr>
      <vt:lpstr>Calibri</vt:lpstr>
      <vt:lpstr>Тема Office</vt:lpstr>
      <vt:lpstr>Template_StepUP</vt:lpstr>
      <vt:lpstr>Template_StepUP</vt:lpstr>
      <vt:lpstr>ОБЩЕЕ УСТРОЙСТВО POSTGRESQL</vt:lpstr>
      <vt:lpstr>ЦЕЛЬ УРОКА</vt:lpstr>
      <vt:lpstr>СОДЕРЖАНИЕ УРОКА</vt:lpstr>
      <vt:lpstr>АРХИТЕКТУРА POSTGRESQL. СЕРВЕРНЫЕ ПРОЦЕССЫ</vt:lpstr>
      <vt:lpstr>АРХИТЕКТУРА POSTGRESQL. СЕРВЕРНЫЕ ПРОЦЕССЫ</vt:lpstr>
      <vt:lpstr>СЕРВЕРНЫЕ ПРОЦЕССЫ И ПАМЯТЬ</vt:lpstr>
      <vt:lpstr>АРХИТЕКТУРА POSTGRESQL. ПОДКЛЮЧЕНИЕ ПОЛЬЗОВАТЕЛЕЙ</vt:lpstr>
      <vt:lpstr>АРХИТЕКТУРА POSTGRESQL. ПОДКЛЮЧЕНИЕ ПОЛЬЗОВАТЕЛЕЙ</vt:lpstr>
      <vt:lpstr>АРХИТЕКТУРА POSTGRESQL. ПОДКЛЮЧЕНИЕ ПОЛЬЗОВАТЕЛЕЙ</vt:lpstr>
      <vt:lpstr>АРХИТЕКТУРА POSTGRESQL. ПОДКЛЮЧЕНИЕ ПОЛЬЗОВАТЕЛЕЙ</vt:lpstr>
      <vt:lpstr>АРХИТЕКТУРА POSTGRESQL. ПОДКЛЮЧЕНИЕ ПОЛЬЗОВАТЕЛЕЙ</vt:lpstr>
      <vt:lpstr>ПАМЯТЬ СЕССИИ. БУФЕРНЫЙ КЕШ</vt:lpstr>
      <vt:lpstr>ЧТО ПРОИСХОДИТ ВНУТРИ СЕССИИ</vt:lpstr>
      <vt:lpstr>ЧТО НЕ ТАК С НАСТРОЙКАМИ?</vt:lpstr>
      <vt:lpstr>ИТОГИ ЗАНЯТИЯ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ОБЩЕЕ УСТРОЙСТВО POSTGRESQL</dc:title>
  <dc:creator>Трошин Алексей Валентинович</dc:creator>
  <cp:lastModifiedBy>Кузьмичев Даниил Михайлович</cp:lastModifiedBy>
  <cp:revision>1</cp:revision>
  <dcterms:created xsi:type="dcterms:W3CDTF">2022-02-28T08:51:36Z</dcterms:created>
  <dcterms:modified xsi:type="dcterms:W3CDTF">2022-09-15T09:46:08Z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A3CABEB6-9801-44A9-9F71-DC183518BDEA</vt:lpwstr>
  </property>
  <property fmtid="{D5CDD505-2E9C-101B-9397-08002B2CF9AE}" pid="3" name="ArticulatePath">
    <vt:lpwstr>Spark_</vt:lpwstr>
  </property>
</Properties>
</file>