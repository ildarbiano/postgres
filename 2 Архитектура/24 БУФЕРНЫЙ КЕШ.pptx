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</p:sldMasterIdLst>
  <p:notesMasterIdLst>
    <p:notesMasterId r:id="rId2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embeddedFontLst>
    <p:embeddedFont>
      <p:font typeface="Arial Black" panose="020B0A04020102020204" pitchFamily="34" charset="0"/>
      <p:regular r:id="rId30"/>
      <p:bold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Helvetica Neue" panose="020B0604020202020204" charset="0"/>
      <p:regular r:id="rId40"/>
      <p:bold r:id="rId41"/>
      <p:italic r:id="rId42"/>
      <p:boldItalic r:id="rId43"/>
    </p:embeddedFont>
    <p:embeddedFont>
      <p:font typeface="Helvetica Neue Light" panose="020B0604020202020204" charset="0"/>
      <p:regular r:id="rId44"/>
      <p:bold r:id="rId45"/>
      <p:italic r:id="rId46"/>
      <p:boldItalic r:id="rId47"/>
    </p:embeddedFont>
    <p:embeddedFont>
      <p:font typeface="Proxima Nova" panose="020B060402020202020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hTVu0r24qz2q04dP3fqdM1iTBe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10.fntdata"/><Relationship Id="rId21" Type="http://schemas.openxmlformats.org/officeDocument/2006/relationships/slide" Target="slides/slide15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font" Target="fonts/font21.fntdata"/><Relationship Id="rId55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customschemas.google.com/relationships/presentationmetadata" Target="meta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font" Target="fonts/font19.fntdata"/><Relationship Id="rId56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font" Target="fonts/font22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4.xml"/><Relationship Id="rId41" Type="http://schemas.openxmlformats.org/officeDocument/2006/relationships/font" Target="fonts/font12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font" Target="fonts/font7.fntdata"/><Relationship Id="rId49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:notes"/>
          <p:cNvSpPr txBox="1">
            <a:spLocks noGrp="1"/>
          </p:cNvSpPr>
          <p:nvPr>
            <p:ph type="body" idx="1"/>
          </p:nvPr>
        </p:nvSpPr>
        <p:spPr>
          <a:xfrm>
            <a:off x="216991" y="7823199"/>
            <a:ext cx="1735800" cy="6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2" name="Google Shape;4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790950" y="2032000"/>
            <a:ext cx="9752013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8" name="Google Shape;4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3" name="Google Shape;4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43c78d15b9_0_12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g143c78d15b9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43c78d15b9_0_329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g143c78d15b9_0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43c78d15b9_0_43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g143c78d15b9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1" name="Google Shape;5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43c78d15b9_0_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9" name="Google Shape;569;g143c78d15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143c78d15b9_0_4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7" name="Google Shape;587;g143c78d15b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43c78d15b9_0_7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3" name="Google Shape;603;g143c78d15b9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43c78d15b9_0_45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3" name="Google Shape;623;g143c78d15b9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143c78d15b9_0_482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2" name="Google Shape;642;g143c78d15b9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143c78d15b9_0_51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4" name="Google Shape;664;g143c78d15b9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143c78d15b9_0_53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6" name="Google Shape;686;g143c78d15b9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143c78d15b9_0_57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0" name="Google Shape;710;g143c78d15b9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43c78d15b9_0_94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g143c78d15b9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143c78d15b9_0_114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g143c78d15b9_0_1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8" name="Google Shape;74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43c78d15b9_1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0" name="Google Shape;760;g143c78d15b9_1_2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43c78d15b9_0_731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g143c78d15b9_0_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143e20b9d91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7" name="Google Shape;807;g143e20b9d91_0_2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1" name="Google Shape;21;p2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21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3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6" name="Google Shape;36;p4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4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3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4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4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4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0" name="Google Shape;50;p44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4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4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4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44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4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44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4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4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4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5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4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5" name="Google Shape;65;p45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46"/>
          <p:cNvPicPr preferRelativeResize="0"/>
          <p:nvPr/>
        </p:nvPicPr>
        <p:blipFill rotWithShape="1">
          <a:blip r:embed="rId2">
            <a:alphaModFix/>
          </a:blip>
          <a:srcRect r="35291" b="427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6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6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0" name="Google Shape;70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3" name="Google Shape;73;p46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47"/>
          <p:cNvPicPr preferRelativeResize="0"/>
          <p:nvPr/>
        </p:nvPicPr>
        <p:blipFill rotWithShape="1">
          <a:blip r:embed="rId2">
            <a:alphaModFix/>
          </a:blip>
          <a:srcRect r="35291" b="427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7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7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8" name="Google Shape;7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7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7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4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2" name="Google Shape;82;p47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8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48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9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49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9" name="Google Shape;89;p49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90" name="Google Shape;90;p49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0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50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1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2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52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2" name="Google Shape;112;p52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2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2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2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52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2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52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2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2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2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3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5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25" name="Google Shape;125;p5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3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4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54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54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7" name="Google Shape;137;p54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4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4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4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54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4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54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4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4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4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5"/>
          <p:cNvPicPr preferRelativeResize="0"/>
          <p:nvPr/>
        </p:nvPicPr>
        <p:blipFill rotWithShape="1">
          <a:blip r:embed="rId2">
            <a:alphaModFix/>
          </a:blip>
          <a:srcRect r="35291" b="427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5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5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1" name="Google Shape;151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5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4" name="Google Shape;154;p55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56"/>
          <p:cNvPicPr preferRelativeResize="0"/>
          <p:nvPr/>
        </p:nvPicPr>
        <p:blipFill rotWithShape="1">
          <a:blip r:embed="rId2">
            <a:alphaModFix/>
          </a:blip>
          <a:srcRect r="35291" b="427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6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6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9" name="Google Shape;159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6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56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5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3" name="Google Shape;163;p56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7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57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57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" name="Google Shape;168;p5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9" name="Google Shape;169;p57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8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" name="Google Shape;172;p58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9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" name="Google Shape;175;p59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76" name="Google Shape;176;p59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77" name="Google Shape;177;p59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0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80" name="Google Shape;180;p60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1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" name="Google Shape;194;p2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2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" name="Google Shape;198;p72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99" name="Google Shape;199;p72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2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2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2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2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2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2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72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73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0" name="Google Shape;210;p7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7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7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3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7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4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" name="Google Shape;222;p74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74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24" name="Google Shape;224;p74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74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4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4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74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4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74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4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4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4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75"/>
          <p:cNvPicPr preferRelativeResize="0"/>
          <p:nvPr/>
        </p:nvPicPr>
        <p:blipFill rotWithShape="1">
          <a:blip r:embed="rId2">
            <a:alphaModFix/>
          </a:blip>
          <a:srcRect r="35291" b="427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5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5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8" name="Google Shape;238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7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7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1" name="Google Shape;241;p75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76"/>
          <p:cNvPicPr preferRelativeResize="0"/>
          <p:nvPr/>
        </p:nvPicPr>
        <p:blipFill rotWithShape="1">
          <a:blip r:embed="rId2">
            <a:alphaModFix/>
          </a:blip>
          <a:srcRect r="35291" b="427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76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6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46" name="Google Shape;246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76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76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" name="Google Shape;249;p7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0" name="Google Shape;250;p76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7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" name="Google Shape;253;p77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77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" name="Google Shape;255;p7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6" name="Google Shape;256;p77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8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" name="Google Shape;259;p78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9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" name="Google Shape;262;p79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3" name="Google Shape;263;p79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64" name="Google Shape;264;p79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0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67" name="Google Shape;267;p80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1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43c78d15b9_0_766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g143c78d15b9_0_76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82" name="Google Shape;282;g143c78d15b9_0_76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143c78d15b9_0_76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143c78d15b9_0_76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143c78d15b9_0_76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143c78d15b9_0_76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143c78d15b9_0_76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143c78d15b9_0_76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g143c78d15b9_0_766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43c78d15b9_0_777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g143c78d15b9_0_77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g143c78d15b9_0_77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43c78d15b9_0_78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g143c78d15b9_0_781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97" name="Google Shape;297;g143c78d15b9_0_78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143c78d15b9_0_78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143c78d15b9_0_78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143c78d15b9_0_78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g143c78d15b9_0_78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143c78d15b9_0_781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g143c78d15b9_0_78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143c78d15b9_0_78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143c78d15b9_0_78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143c78d15b9_0_78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43c78d15b9_0_794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9" name="Google Shape;309;g143c78d15b9_0_794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g143c78d15b9_0_794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11" name="Google Shape;311;g143c78d15b9_0_794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143c78d15b9_0_794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143c78d15b9_0_794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143c78d15b9_0_794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g143c78d15b9_0_794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143c78d15b9_0_794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g143c78d15b9_0_794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143c78d15b9_0_794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143c78d15b9_0_794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143c78d15b9_0_794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43c78d15b9_0_808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g143c78d15b9_0_808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g143c78d15b9_0_808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5" name="Google Shape;325;g143c78d15b9_0_80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6" name="Google Shape;326;g143c78d15b9_0_808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g143c78d15b9_0_814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143c78d15b9_0_814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143c78d15b9_0_814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31" name="Google Shape;331;g143c78d15b9_0_8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143c78d15b9_0_81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g143c78d15b9_0_81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4" name="Google Shape;334;g143c78d15b9_0_81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g143c78d15b9_0_822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143c78d15b9_0_822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143c78d15b9_0_822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39" name="Google Shape;339;g143c78d15b9_0_8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143c78d15b9_0_822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g143c78d15b9_0_822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2" name="Google Shape;342;g143c78d15b9_0_82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3" name="Google Shape;343;g143c78d15b9_0_82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43c78d15b9_0_831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6" name="Google Shape;346;g143c78d15b9_0_831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43c78d15b9_0_834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9" name="Google Shape;349;g143c78d15b9_0_834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0" name="Google Shape;350;g143c78d15b9_0_834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51" name="Google Shape;351;g143c78d15b9_0_834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43c78d15b9_0_839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54" name="Google Shape;354;g143c78d15b9_0_839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3c78d15b9_0_842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43e20b9d91_0_106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g143e20b9d91_0_10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69" name="Google Shape;369;g143e20b9d91_0_10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143e20b9d91_0_10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143e20b9d91_0_10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143e20b9d91_0_10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143e20b9d91_0_10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143e20b9d91_0_10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143e20b9d91_0_10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g143e20b9d91_0_106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43e20b9d91_0_117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9" name="Google Shape;379;g143e20b9d91_0_11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g143e20b9d91_0_11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43e20b9d91_0_12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g143e20b9d91_0_121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84" name="Google Shape;384;g143e20b9d91_0_12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143e20b9d91_0_12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143e20b9d91_0_12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143e20b9d91_0_12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g143e20b9d91_0_12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143e20b9d91_0_121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g143e20b9d91_0_12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143e20b9d91_0_12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143e20b9d91_0_12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143e20b9d91_0_12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43e20b9d91_0_134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g143e20b9d91_0_134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g143e20b9d91_0_134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98" name="Google Shape;398;g143e20b9d91_0_134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143e20b9d91_0_134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143e20b9d91_0_134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143e20b9d91_0_134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g143e20b9d91_0_134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143e20b9d91_0_134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g143e20b9d91_0_134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143e20b9d91_0_134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143e20b9d91_0_134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143e20b9d91_0_134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g143e20b9d91_0_148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143e20b9d91_0_148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143e20b9d91_0_148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2" name="Google Shape;412;g143e20b9d91_0_1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143e20b9d91_0_14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g143e20b9d91_0_14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5" name="Google Shape;415;g143e20b9d91_0_148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g143e20b9d91_0_156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g143e20b9d91_0_156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143e20b9d91_0_156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20" name="Google Shape;420;g143e20b9d91_0_1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143e20b9d91_0_156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g143e20b9d91_0_156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g143e20b9d91_0_15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4" name="Google Shape;424;g143e20b9d91_0_156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43e20b9d91_0_165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7" name="Google Shape;427;g143e20b9d91_0_165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g143e20b9d91_0_165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9" name="Google Shape;429;g143e20b9d91_0_16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30" name="Google Shape;430;g143e20b9d91_0_165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43e20b9d91_0_171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3" name="Google Shape;433;g143e20b9d91_0_171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43e20b9d91_0_174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6" name="Google Shape;436;g143e20b9d91_0_174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7" name="Google Shape;437;g143e20b9d91_0_174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38" name="Google Shape;438;g143e20b9d91_0_174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43e20b9d91_0_179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41" name="Google Shape;441;g143e20b9d91_0_179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43e20b9d91_0_182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43e20b9d91_0_248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1" name="Google Shape;11;p2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" name="Google Shape;13;p20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0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0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0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0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98" name="Google Shape;98;p2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0" name="Google Shape;100;p22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2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2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2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2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85" name="Google Shape;185;p2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7" name="Google Shape;187;p28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43c78d15b9_0_75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272" name="Google Shape;272;g143c78d15b9_0_75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143c78d15b9_0_75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4" name="Google Shape;274;g143c78d15b9_0_757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143c78d15b9_0_757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143c78d15b9_0_757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143c78d15b9_0_757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143c78d15b9_0_757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43e20b9d91_0_9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359" name="Google Shape;359;g143e20b9d91_0_9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143e20b9d91_0_9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1" name="Google Shape;361;g143e20b9d91_0_97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143e20b9d91_0_97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143e20b9d91_0_97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143e20b9d91_0_97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143e20b9d91_0_97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43e20b9d91_0_244"/>
          <p:cNvSpPr txBox="1">
            <a:spLocks noGrp="1"/>
          </p:cNvSpPr>
          <p:nvPr>
            <p:ph type="title"/>
          </p:nvPr>
        </p:nvSpPr>
        <p:spPr>
          <a:xfrm>
            <a:off x="1826683" y="979211"/>
            <a:ext cx="9753600" cy="12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46" name="Google Shape;446;g143e20b9d91_0_244"/>
          <p:cNvSpPr txBox="1">
            <a:spLocks noGrp="1"/>
          </p:cNvSpPr>
          <p:nvPr>
            <p:ph type="body" idx="1"/>
          </p:nvPr>
        </p:nvSpPr>
        <p:spPr>
          <a:xfrm>
            <a:off x="6805083" y="2229126"/>
            <a:ext cx="4775400" cy="4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47" name="Google Shape;447;g143e20b9d91_0_244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"/>
          <p:cNvSpPr txBox="1">
            <a:spLocks noGrp="1"/>
          </p:cNvSpPr>
          <p:nvPr>
            <p:ph type="body" idx="1"/>
          </p:nvPr>
        </p:nvSpPr>
        <p:spPr>
          <a:xfrm>
            <a:off x="1633468" y="2788358"/>
            <a:ext cx="622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БЛОК 3. АРХИТЕКТУРА</a:t>
            </a:r>
            <a:endParaRPr/>
          </a:p>
        </p:txBody>
      </p:sp>
      <p:sp>
        <p:nvSpPr>
          <p:cNvPr id="455" name="Google Shape;455;p1"/>
          <p:cNvSpPr txBox="1">
            <a:spLocks noGrp="1"/>
          </p:cNvSpPr>
          <p:nvPr>
            <p:ph type="title"/>
          </p:nvPr>
        </p:nvSpPr>
        <p:spPr>
          <a:xfrm>
            <a:off x="1620999" y="3363138"/>
            <a:ext cx="75207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/>
              <a:t>БУФЕРНЫЙ КЕШ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"/>
          <p:cNvSpPr/>
          <p:nvPr/>
        </p:nvSpPr>
        <p:spPr>
          <a:xfrm>
            <a:off x="1725850" y="1840100"/>
            <a:ext cx="6942900" cy="14757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Узнать подробное устройство буферного кеша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"/>
          <p:cNvSpPr/>
          <p:nvPr/>
        </p:nvSpPr>
        <p:spPr>
          <a:xfrm>
            <a:off x="1725850" y="3667400"/>
            <a:ext cx="6942900" cy="1475700"/>
          </a:xfrm>
          <a:prstGeom prst="roundRect">
            <a:avLst>
              <a:gd name="adj" fmla="val 6634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Понять принцип его работы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2" name="Google Shape;462;p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463" name="Google Shape;463;p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464" name="Google Shape;464;p2"/>
          <p:cNvSpPr/>
          <p:nvPr/>
        </p:nvSpPr>
        <p:spPr>
          <a:xfrm>
            <a:off x="1908732" y="19447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5" name="Google Shape;465;p2"/>
          <p:cNvSpPr/>
          <p:nvPr/>
        </p:nvSpPr>
        <p:spPr>
          <a:xfrm>
            <a:off x="1908735" y="37720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471" name="Google Shape;471;p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472" name="Google Shape;472;p3"/>
          <p:cNvSpPr/>
          <p:nvPr/>
        </p:nvSpPr>
        <p:spPr>
          <a:xfrm>
            <a:off x="1719852" y="1361364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3" name="Google Shape;473;p3"/>
          <p:cNvSpPr/>
          <p:nvPr/>
        </p:nvSpPr>
        <p:spPr>
          <a:xfrm>
            <a:off x="1719852" y="3129109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4" name="Google Shape;474;p3"/>
          <p:cNvSpPr/>
          <p:nvPr/>
        </p:nvSpPr>
        <p:spPr>
          <a:xfrm>
            <a:off x="1719852" y="4896852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75" name="Google Shape;475;p3"/>
          <p:cNvCxnSpPr/>
          <p:nvPr/>
        </p:nvCxnSpPr>
        <p:spPr>
          <a:xfrm rot="10800000">
            <a:off x="2183068" y="2395849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6" name="Google Shape;476;p3"/>
          <p:cNvCxnSpPr/>
          <p:nvPr/>
        </p:nvCxnSpPr>
        <p:spPr>
          <a:xfrm rot="10800000">
            <a:off x="2183068" y="4163594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7" name="Google Shape;477;p3"/>
          <p:cNvSpPr txBox="1"/>
          <p:nvPr/>
        </p:nvSpPr>
        <p:spPr>
          <a:xfrm>
            <a:off x="2860569" y="1670664"/>
            <a:ext cx="257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Буферный кеш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"/>
          <p:cNvSpPr txBox="1"/>
          <p:nvPr/>
        </p:nvSpPr>
        <p:spPr>
          <a:xfrm>
            <a:off x="2860577" y="3438400"/>
            <a:ext cx="295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Утилита pg_prewarm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"/>
          <p:cNvSpPr txBox="1"/>
          <p:nvPr/>
        </p:nvSpPr>
        <p:spPr>
          <a:xfrm>
            <a:off x="2860569" y="5221443"/>
            <a:ext cx="257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"/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БУФЕРНЫЙ КЕШ</a:t>
            </a:r>
            <a:endParaRPr/>
          </a:p>
        </p:txBody>
      </p:sp>
      <p:sp>
        <p:nvSpPr>
          <p:cNvPr id="486" name="Google Shape;486;p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487" name="Google Shape;487;p4"/>
          <p:cNvSpPr/>
          <p:nvPr/>
        </p:nvSpPr>
        <p:spPr>
          <a:xfrm>
            <a:off x="1725850" y="1285463"/>
            <a:ext cx="7982400" cy="2751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"/>
          <p:cNvSpPr/>
          <p:nvPr/>
        </p:nvSpPr>
        <p:spPr>
          <a:xfrm>
            <a:off x="1740659" y="4329243"/>
            <a:ext cx="7982400" cy="1536600"/>
          </a:xfrm>
          <a:prstGeom prst="roundRect">
            <a:avLst>
              <a:gd name="adj" fmla="val 16667"/>
            </a:avLst>
          </a:prstGeom>
          <a:solidFill>
            <a:srgbClr val="00C391">
              <a:alpha val="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"/>
          <p:cNvSpPr/>
          <p:nvPr/>
        </p:nvSpPr>
        <p:spPr>
          <a:xfrm>
            <a:off x="5137931" y="5120046"/>
            <a:ext cx="1451100" cy="636300"/>
          </a:xfrm>
          <a:prstGeom prst="can">
            <a:avLst>
              <a:gd name="adj" fmla="val 25000"/>
            </a:avLst>
          </a:prstGeom>
          <a:solidFill>
            <a:srgbClr val="CC0000">
              <a:alpha val="19215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БД</a:t>
            </a:r>
            <a:endParaRPr sz="24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90" name="Google Shape;490;p4"/>
          <p:cNvSpPr/>
          <p:nvPr/>
        </p:nvSpPr>
        <p:spPr>
          <a:xfrm>
            <a:off x="3679180" y="4463549"/>
            <a:ext cx="4368900" cy="443100"/>
          </a:xfrm>
          <a:prstGeom prst="roundRect">
            <a:avLst>
              <a:gd name="adj" fmla="val 16667"/>
            </a:avLst>
          </a:prstGeom>
          <a:solidFill>
            <a:srgbClr val="FFE599">
              <a:alpha val="32941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кэш ОС</a:t>
            </a:r>
            <a:endParaRPr sz="24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91" name="Google Shape;491;p4"/>
          <p:cNvSpPr/>
          <p:nvPr/>
        </p:nvSpPr>
        <p:spPr>
          <a:xfrm>
            <a:off x="2140514" y="2867046"/>
            <a:ext cx="7049400" cy="1002600"/>
          </a:xfrm>
          <a:prstGeom prst="roundRect">
            <a:avLst>
              <a:gd name="adj" fmla="val 16667"/>
            </a:avLst>
          </a:prstGeom>
          <a:solidFill>
            <a:srgbClr val="00C391">
              <a:alpha val="19215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"/>
          <p:cNvSpPr txBox="1"/>
          <p:nvPr/>
        </p:nvSpPr>
        <p:spPr>
          <a:xfrm>
            <a:off x="2821748" y="2881966"/>
            <a:ext cx="55386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Shared_memory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разделённая память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"/>
          <p:cNvSpPr txBox="1"/>
          <p:nvPr/>
        </p:nvSpPr>
        <p:spPr>
          <a:xfrm>
            <a:off x="2210540" y="3242966"/>
            <a:ext cx="1541135" cy="524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Буферный кэш </a:t>
            </a:r>
          </a:p>
          <a:p>
            <a:pPr lvl="0">
              <a:buSzPts val="1400"/>
            </a:pPr>
            <a:r>
              <a:rPr lang="en-US" dirty="0" err="1"/>
              <a:t>shared_buffers</a:t>
            </a: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"/>
          <p:cNvSpPr/>
          <p:nvPr/>
        </p:nvSpPr>
        <p:spPr>
          <a:xfrm>
            <a:off x="3680696" y="3295177"/>
            <a:ext cx="429496" cy="522258"/>
          </a:xfrm>
          <a:prstGeom prst="flowChartInternalStora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"/>
          <p:cNvSpPr/>
          <p:nvPr/>
        </p:nvSpPr>
        <p:spPr>
          <a:xfrm>
            <a:off x="4229063" y="3295177"/>
            <a:ext cx="429496" cy="522258"/>
          </a:xfrm>
          <a:prstGeom prst="flowChartInternalStora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"/>
          <p:cNvSpPr/>
          <p:nvPr/>
        </p:nvSpPr>
        <p:spPr>
          <a:xfrm>
            <a:off x="4777429" y="3295177"/>
            <a:ext cx="429496" cy="522258"/>
          </a:xfrm>
          <a:prstGeom prst="flowChartInternalStora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"/>
          <p:cNvSpPr/>
          <p:nvPr/>
        </p:nvSpPr>
        <p:spPr>
          <a:xfrm>
            <a:off x="5325796" y="3295177"/>
            <a:ext cx="429496" cy="522258"/>
          </a:xfrm>
          <a:prstGeom prst="flowChartInternalStora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"/>
          <p:cNvSpPr/>
          <p:nvPr/>
        </p:nvSpPr>
        <p:spPr>
          <a:xfrm>
            <a:off x="5874163" y="3295177"/>
            <a:ext cx="429496" cy="522258"/>
          </a:xfrm>
          <a:prstGeom prst="flowChartInternalStora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"/>
          <p:cNvSpPr/>
          <p:nvPr/>
        </p:nvSpPr>
        <p:spPr>
          <a:xfrm>
            <a:off x="6422529" y="3295177"/>
            <a:ext cx="429496" cy="522258"/>
          </a:xfrm>
          <a:prstGeom prst="flowChartInternalStora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"/>
          <p:cNvSpPr/>
          <p:nvPr/>
        </p:nvSpPr>
        <p:spPr>
          <a:xfrm>
            <a:off x="6970896" y="3295177"/>
            <a:ext cx="429496" cy="522258"/>
          </a:xfrm>
          <a:prstGeom prst="flowChartInternalStora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"/>
          <p:cNvSpPr/>
          <p:nvPr/>
        </p:nvSpPr>
        <p:spPr>
          <a:xfrm>
            <a:off x="7519263" y="3295177"/>
            <a:ext cx="429496" cy="522258"/>
          </a:xfrm>
          <a:prstGeom prst="flowChartInternalStora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"/>
          <p:cNvSpPr/>
          <p:nvPr/>
        </p:nvSpPr>
        <p:spPr>
          <a:xfrm>
            <a:off x="8067629" y="3295177"/>
            <a:ext cx="429496" cy="522258"/>
          </a:xfrm>
          <a:prstGeom prst="flowChartInternalStora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"/>
          <p:cNvSpPr/>
          <p:nvPr/>
        </p:nvSpPr>
        <p:spPr>
          <a:xfrm>
            <a:off x="8615996" y="3295177"/>
            <a:ext cx="429496" cy="522258"/>
          </a:xfrm>
          <a:prstGeom prst="flowChartInternalStora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"/>
          <p:cNvSpPr/>
          <p:nvPr/>
        </p:nvSpPr>
        <p:spPr>
          <a:xfrm>
            <a:off x="4391571" y="1419768"/>
            <a:ext cx="2579100" cy="443100"/>
          </a:xfrm>
          <a:prstGeom prst="roundRect">
            <a:avLst>
              <a:gd name="adj" fmla="val 16667"/>
            </a:avLst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"/>
          <p:cNvSpPr/>
          <p:nvPr/>
        </p:nvSpPr>
        <p:spPr>
          <a:xfrm>
            <a:off x="2555574" y="2046712"/>
            <a:ext cx="2102976" cy="636444"/>
          </a:xfrm>
          <a:prstGeom prst="flowChartMultidocument">
            <a:avLst/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"/>
          <p:cNvSpPr/>
          <p:nvPr/>
        </p:nvSpPr>
        <p:spPr>
          <a:xfrm>
            <a:off x="6682518" y="2054172"/>
            <a:ext cx="2102976" cy="636444"/>
          </a:xfrm>
          <a:prstGeom prst="flowChartMultidocument">
            <a:avLst/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фоновые процессы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" name="Google Shape;507;p4"/>
          <p:cNvCxnSpPr>
            <a:stCxn id="504" idx="1"/>
            <a:endCxn id="505" idx="0"/>
          </p:cNvCxnSpPr>
          <p:nvPr/>
        </p:nvCxnSpPr>
        <p:spPr>
          <a:xfrm flipH="1">
            <a:off x="3751671" y="1641318"/>
            <a:ext cx="639900" cy="40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8" name="Google Shape;508;p4"/>
          <p:cNvCxnSpPr>
            <a:stCxn id="504" idx="3"/>
            <a:endCxn id="506" idx="0"/>
          </p:cNvCxnSpPr>
          <p:nvPr/>
        </p:nvCxnSpPr>
        <p:spPr>
          <a:xfrm>
            <a:off x="6970671" y="1641318"/>
            <a:ext cx="908100" cy="41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9" name="Google Shape;509;p4"/>
          <p:cNvCxnSpPr>
            <a:stCxn id="505" idx="2"/>
          </p:cNvCxnSpPr>
          <p:nvPr/>
        </p:nvCxnSpPr>
        <p:spPr>
          <a:xfrm>
            <a:off x="3460827" y="2659054"/>
            <a:ext cx="353100" cy="22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10" name="Google Shape;510;p4"/>
          <p:cNvCxnSpPr/>
          <p:nvPr/>
        </p:nvCxnSpPr>
        <p:spPr>
          <a:xfrm>
            <a:off x="4125001" y="2598479"/>
            <a:ext cx="370200" cy="23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11" name="Google Shape;511;p4"/>
          <p:cNvCxnSpPr>
            <a:stCxn id="506" idx="2"/>
          </p:cNvCxnSpPr>
          <p:nvPr/>
        </p:nvCxnSpPr>
        <p:spPr>
          <a:xfrm flipH="1">
            <a:off x="7294371" y="2666514"/>
            <a:ext cx="293400" cy="17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12" name="Google Shape;512;p4"/>
          <p:cNvCxnSpPr>
            <a:stCxn id="506" idx="2"/>
          </p:cNvCxnSpPr>
          <p:nvPr/>
        </p:nvCxnSpPr>
        <p:spPr>
          <a:xfrm>
            <a:off x="7587771" y="2666514"/>
            <a:ext cx="417300" cy="15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3" name="Google Shape;513;p4"/>
          <p:cNvCxnSpPr/>
          <p:nvPr/>
        </p:nvCxnSpPr>
        <p:spPr>
          <a:xfrm flipH="1">
            <a:off x="4436010" y="3817434"/>
            <a:ext cx="7800" cy="51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14" name="Google Shape;514;p4"/>
          <p:cNvCxnSpPr>
            <a:stCxn id="501" idx="2"/>
          </p:cNvCxnSpPr>
          <p:nvPr/>
        </p:nvCxnSpPr>
        <p:spPr>
          <a:xfrm flipH="1">
            <a:off x="7732511" y="3817435"/>
            <a:ext cx="1500" cy="47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triangle" w="med" len="med"/>
          </a:ln>
        </p:spPr>
      </p:cxnSp>
      <p:sp>
        <p:nvSpPr>
          <p:cNvPr id="515" name="Google Shape;515;p4"/>
          <p:cNvSpPr txBox="1"/>
          <p:nvPr/>
        </p:nvSpPr>
        <p:spPr>
          <a:xfrm>
            <a:off x="9723050" y="2440825"/>
            <a:ext cx="2311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PostgreSQL</a:t>
            </a:r>
            <a:endParaRPr sz="2400" b="0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6" name="Google Shape;516;p4"/>
          <p:cNvSpPr txBox="1"/>
          <p:nvPr/>
        </p:nvSpPr>
        <p:spPr>
          <a:xfrm>
            <a:off x="9723050" y="4820500"/>
            <a:ext cx="1003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OC</a:t>
            </a:r>
            <a:endParaRPr sz="2400" b="0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43c78d15b9_0_120"/>
          <p:cNvSpPr txBox="1">
            <a:spLocks noGrp="1"/>
          </p:cNvSpPr>
          <p:nvPr>
            <p:ph type="body" idx="1"/>
          </p:nvPr>
        </p:nvSpPr>
        <p:spPr>
          <a:xfrm>
            <a:off x="1725838" y="1004181"/>
            <a:ext cx="8936244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800" b="1" dirty="0">
                <a:solidFill>
                  <a:schemeClr val="dk1"/>
                </a:solidFill>
              </a:rPr>
              <a:t>Ускоряем работу всей системы</a:t>
            </a:r>
            <a:r>
              <a:rPr lang="en-US" sz="1800" b="1" dirty="0">
                <a:solidFill>
                  <a:schemeClr val="dk1"/>
                </a:solidFill>
              </a:rPr>
              <a:t>.</a:t>
            </a:r>
          </a:p>
          <a:p>
            <a:pPr marL="0" lvl="0" indent="0"/>
            <a:r>
              <a:rPr lang="ru-RU" dirty="0"/>
              <a:t>любой </a:t>
            </a:r>
            <a:r>
              <a:rPr lang="ru-RU" dirty="0" err="1"/>
              <a:t>кеш</a:t>
            </a:r>
            <a:r>
              <a:rPr lang="ru-RU" dirty="0"/>
              <a:t> нужен для того, чтобы сглаживать разницу в производительности двух типов памяти, одна из которых относительно быстрая, но ее на всех не хватает, а другая — относительно медленная, но имеющаяся в достатке. Вот и буферный </a:t>
            </a:r>
            <a:r>
              <a:rPr lang="ru-RU" dirty="0" err="1"/>
              <a:t>кеш</a:t>
            </a:r>
            <a:r>
              <a:rPr lang="ru-RU" dirty="0"/>
              <a:t> сглаживает разницу между временем доступа к оперативной памяти (наносекунды) и к дисковой (миллисекунды).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522" name="Google Shape;522;g143c78d15b9_0_12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БУФЕРНЫЙ КЕШ. ЗАДАЧА</a:t>
            </a:r>
            <a:endParaRPr/>
          </a:p>
        </p:txBody>
      </p:sp>
      <p:sp>
        <p:nvSpPr>
          <p:cNvPr id="523" name="Google Shape;523;g143c78d15b9_0_120"/>
          <p:cNvSpPr txBox="1"/>
          <p:nvPr/>
        </p:nvSpPr>
        <p:spPr>
          <a:xfrm>
            <a:off x="1725838" y="3644431"/>
            <a:ext cx="2451900" cy="159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2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dirty="0"/>
              <a:t>RAM, </a:t>
            </a:r>
            <a:r>
              <a:rPr lang="ru-RU" sz="1800" dirty="0"/>
              <a:t>Оперативная память очень быстра, но ее мало</a:t>
            </a:r>
            <a:r>
              <a:rPr lang="en-US" sz="1800" dirty="0"/>
              <a:t>.</a:t>
            </a:r>
          </a:p>
          <a:p>
            <a:pPr marL="11112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Для </a:t>
            </a:r>
            <a:r>
              <a:rPr lang="ru-RU" sz="1800" dirty="0"/>
              <a:t>часто-читаемых данных.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143c78d15b9_0_120"/>
          <p:cNvSpPr txBox="1"/>
          <p:nvPr/>
        </p:nvSpPr>
        <p:spPr>
          <a:xfrm>
            <a:off x="5100250" y="3644438"/>
            <a:ext cx="3997500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2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dirty="0"/>
              <a:t>HDD</a:t>
            </a:r>
            <a:r>
              <a:rPr lang="ru-RU" sz="1800" dirty="0"/>
              <a:t> огромный, но медленный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143c78d15b9_0_120"/>
          <p:cNvSpPr/>
          <p:nvPr/>
        </p:nvSpPr>
        <p:spPr>
          <a:xfrm>
            <a:off x="1725849" y="2875366"/>
            <a:ext cx="484500" cy="4926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6ED3"/>
              </a:buClr>
              <a:buSzPts val="2400"/>
              <a:buFont typeface="Arial"/>
              <a:buNone/>
            </a:pPr>
            <a:r>
              <a:rPr lang="ru-RU" sz="2400" b="0" i="0" u="none" strike="noStrike" cap="none">
                <a:solidFill>
                  <a:srgbClr val="1B4E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6" name="Google Shape;526;g143c78d15b9_0_120"/>
          <p:cNvSpPr/>
          <p:nvPr/>
        </p:nvSpPr>
        <p:spPr>
          <a:xfrm>
            <a:off x="5100249" y="2875386"/>
            <a:ext cx="484500" cy="492600"/>
          </a:xfrm>
          <a:prstGeom prst="ellipse">
            <a:avLst/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391"/>
              </a:buClr>
              <a:buSzPts val="3200"/>
              <a:buFont typeface="Arial"/>
              <a:buNone/>
            </a:pPr>
            <a:r>
              <a:rPr lang="ru-RU" sz="2400" b="0" i="0" u="none" strike="noStrike" cap="none">
                <a:solidFill>
                  <a:srgbClr val="00C39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43c78d15b9_0_32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БУФЕРНЫЙ КЕШ. СОСТАВ</a:t>
            </a:r>
            <a:endParaRPr/>
          </a:p>
        </p:txBody>
      </p:sp>
      <p:sp>
        <p:nvSpPr>
          <p:cNvPr id="532" name="Google Shape;532;g143c78d15b9_0_32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533" name="Google Shape;533;g143c78d15b9_0_329"/>
          <p:cNvSpPr txBox="1">
            <a:spLocks noGrp="1"/>
          </p:cNvSpPr>
          <p:nvPr>
            <p:ph type="body" idx="1"/>
          </p:nvPr>
        </p:nvSpPr>
        <p:spPr>
          <a:xfrm>
            <a:off x="2811125" y="2833263"/>
            <a:ext cx="62916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-RU" sz="1800" dirty="0">
                <a:solidFill>
                  <a:schemeClr val="dk1"/>
                </a:solidFill>
              </a:rPr>
              <a:t>расположение страницы на диске (файл и номер страницы в нем),</a:t>
            </a:r>
            <a:endParaRPr sz="1800" dirty="0">
              <a:solidFill>
                <a:schemeClr val="dk1"/>
              </a:solidFill>
            </a:endParaRPr>
          </a:p>
          <a:p>
            <a:pPr lvl="0" indent="-342900">
              <a:buClr>
                <a:schemeClr val="dk2"/>
              </a:buClr>
              <a:buSzPts val="1800"/>
              <a:buChar char="●"/>
            </a:pPr>
            <a:r>
              <a:rPr lang="ru-RU" sz="1800" dirty="0">
                <a:solidFill>
                  <a:schemeClr val="dk1"/>
                </a:solidFill>
              </a:rPr>
              <a:t>число обращений к буферу </a:t>
            </a:r>
            <a:r>
              <a:rPr lang="ru-RU" sz="1800" dirty="0" err="1">
                <a:solidFill>
                  <a:schemeClr val="dk1"/>
                </a:solidFill>
              </a:rPr>
              <a:t>usage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  <a:r>
              <a:rPr lang="ru-RU" sz="1800" dirty="0" err="1">
                <a:solidFill>
                  <a:schemeClr val="dk1"/>
                </a:solidFill>
              </a:rPr>
              <a:t>count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ru-RU" sz="1800" dirty="0">
                <a:solidFill>
                  <a:schemeClr val="dk1"/>
                </a:solidFill>
              </a:rPr>
              <a:t>(счетчик увеличивается каждый раз, когда процесс читает или изменяет буфер, максимально значение 5</a:t>
            </a:r>
            <a:r>
              <a:rPr lang="en-US" sz="1800" dirty="0">
                <a:solidFill>
                  <a:schemeClr val="dk1"/>
                </a:solidFill>
              </a:rPr>
              <a:t> (0-4)</a:t>
            </a:r>
            <a:r>
              <a:rPr lang="ru-RU" sz="1800" dirty="0">
                <a:solidFill>
                  <a:schemeClr val="dk1"/>
                </a:solidFill>
              </a:rPr>
              <a:t>),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-RU" sz="1800" dirty="0">
                <a:solidFill>
                  <a:schemeClr val="dk1"/>
                </a:solidFill>
              </a:rPr>
              <a:t>признак того, что данные на странице изменились и рано или поздно должны быть записаны на диск (грязный буфер).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534" name="Google Shape;534;g143c78d15b9_0_329"/>
          <p:cNvSpPr txBox="1"/>
          <p:nvPr/>
        </p:nvSpPr>
        <p:spPr>
          <a:xfrm>
            <a:off x="1613024" y="1819613"/>
            <a:ext cx="7644899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</a:rPr>
              <a:t>Каждый буфер состоит из одной Страницы данных </a:t>
            </a:r>
            <a:r>
              <a:rPr lang="en-US" sz="1800" dirty="0">
                <a:solidFill>
                  <a:schemeClr val="dk1"/>
                </a:solidFill>
              </a:rPr>
              <a:t>+</a:t>
            </a:r>
            <a:r>
              <a:rPr lang="ru-RU" sz="1800" dirty="0">
                <a:solidFill>
                  <a:schemeClr val="dk1"/>
                </a:solidFill>
              </a:rPr>
              <a:t> Заголовка. </a:t>
            </a:r>
            <a:r>
              <a:rPr lang="en-US" sz="1800" dirty="0">
                <a:solidFill>
                  <a:schemeClr val="dk1"/>
                </a:solidFill>
              </a:rPr>
              <a:t>Header</a:t>
            </a:r>
            <a:r>
              <a:rPr lang="ru-RU" sz="1800" dirty="0">
                <a:solidFill>
                  <a:schemeClr val="dk1"/>
                </a:solidFill>
              </a:rPr>
              <a:t>, по</a:t>
            </a:r>
            <a:r>
              <a:rPr lang="en-US" sz="1800" dirty="0">
                <a:solidFill>
                  <a:schemeClr val="dk1"/>
                </a:solidFill>
              </a:rPr>
              <a:t>-</a:t>
            </a:r>
            <a:r>
              <a:rPr lang="ru-RU" sz="1800" dirty="0">
                <a:solidFill>
                  <a:schemeClr val="dk1"/>
                </a:solidFill>
              </a:rPr>
              <a:t>умолчанию 8 кб</a:t>
            </a:r>
            <a:r>
              <a:rPr lang="en-US" sz="1800" dirty="0">
                <a:solidFill>
                  <a:schemeClr val="dk1"/>
                </a:solidFill>
              </a:rPr>
              <a:t>, </a:t>
            </a:r>
            <a:r>
              <a:rPr lang="ru-RU" sz="1800" dirty="0">
                <a:solidFill>
                  <a:schemeClr val="dk1"/>
                </a:solidFill>
              </a:rPr>
              <a:t>содержит:</a:t>
            </a:r>
            <a:endParaRPr sz="1800" dirty="0">
              <a:solidFill>
                <a:schemeClr val="dk1"/>
              </a:solidFill>
            </a:endParaRPr>
          </a:p>
        </p:txBody>
      </p:sp>
      <p:grpSp>
        <p:nvGrpSpPr>
          <p:cNvPr id="535" name="Google Shape;535;g143c78d15b9_0_329"/>
          <p:cNvGrpSpPr/>
          <p:nvPr/>
        </p:nvGrpSpPr>
        <p:grpSpPr>
          <a:xfrm>
            <a:off x="1725850" y="2833250"/>
            <a:ext cx="582833" cy="200870"/>
            <a:chOff x="0" y="1270"/>
            <a:chExt cx="1466615" cy="505460"/>
          </a:xfrm>
        </p:grpSpPr>
        <p:sp>
          <p:nvSpPr>
            <p:cNvPr id="536" name="Google Shape;536;g143c78d15b9_0_329"/>
            <p:cNvSpPr/>
            <p:nvPr/>
          </p:nvSpPr>
          <p:spPr>
            <a:xfrm>
              <a:off x="0" y="215900"/>
              <a:ext cx="1170705" cy="76200"/>
            </a:xfrm>
            <a:custGeom>
              <a:avLst/>
              <a:gdLst/>
              <a:ahLst/>
              <a:cxnLst/>
              <a:rect l="l" t="t" r="r" b="b"/>
              <a:pathLst>
                <a:path w="1170705" h="76200" extrusionOk="0">
                  <a:moveTo>
                    <a:pt x="0" y="0"/>
                  </a:moveTo>
                  <a:lnTo>
                    <a:pt x="1170705" y="0"/>
                  </a:lnTo>
                  <a:lnTo>
                    <a:pt x="117070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37" name="Google Shape;537;g143c78d15b9_0_329"/>
            <p:cNvSpPr/>
            <p:nvPr/>
          </p:nvSpPr>
          <p:spPr>
            <a:xfrm>
              <a:off x="1091965" y="1270"/>
              <a:ext cx="374650" cy="505460"/>
            </a:xfrm>
            <a:custGeom>
              <a:avLst/>
              <a:gdLst/>
              <a:ahLst/>
              <a:cxnLst/>
              <a:rect l="l" t="t" r="r" b="b"/>
              <a:pathLst>
                <a:path w="374650" h="505460" extrusionOk="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143c78d15b9_0_43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БУФЕРНЫЙ КЕШ. СОСТАВ</a:t>
            </a:r>
            <a:endParaRPr/>
          </a:p>
        </p:txBody>
      </p:sp>
      <p:sp>
        <p:nvSpPr>
          <p:cNvPr id="543" name="Google Shape;543;g143c78d15b9_0_43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544" name="Google Shape;544;g143c78d15b9_0_438"/>
          <p:cNvSpPr txBox="1">
            <a:spLocks noGrp="1"/>
          </p:cNvSpPr>
          <p:nvPr>
            <p:ph type="body" idx="1"/>
          </p:nvPr>
        </p:nvSpPr>
        <p:spPr>
          <a:xfrm>
            <a:off x="2811125" y="2969300"/>
            <a:ext cx="62916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-RU" sz="1800" dirty="0">
                <a:solidFill>
                  <a:schemeClr val="dk1"/>
                </a:solidFill>
              </a:rPr>
              <a:t>пустые буферы, и все они связаны в список свободных буферов,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-RU" sz="1800" dirty="0">
                <a:solidFill>
                  <a:schemeClr val="dk1"/>
                </a:solidFill>
              </a:rPr>
              <a:t>указатель на «следующую жертву» при вытеснении старых буферов на </a:t>
            </a:r>
            <a:r>
              <a:rPr lang="en-US" sz="1800" dirty="0">
                <a:solidFill>
                  <a:schemeClr val="dk1"/>
                </a:solidFill>
              </a:rPr>
              <a:t>HDD</a:t>
            </a:r>
            <a:r>
              <a:rPr lang="ru-RU" sz="1800" dirty="0">
                <a:solidFill>
                  <a:schemeClr val="dk1"/>
                </a:solidFill>
              </a:rPr>
              <a:t>,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-RU" sz="1800" dirty="0">
                <a:solidFill>
                  <a:schemeClr val="dk1"/>
                </a:solidFill>
              </a:rPr>
              <a:t>также используется хеш-таблица, чтобы быстро находить нужную страницу в кэше.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545" name="Google Shape;545;g143c78d15b9_0_438"/>
          <p:cNvSpPr txBox="1"/>
          <p:nvPr/>
        </p:nvSpPr>
        <p:spPr>
          <a:xfrm>
            <a:off x="1601750" y="2226375"/>
            <a:ext cx="667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Изначально кэш содержит: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546" name="Google Shape;546;g143c78d15b9_0_438"/>
          <p:cNvGrpSpPr/>
          <p:nvPr/>
        </p:nvGrpSpPr>
        <p:grpSpPr>
          <a:xfrm>
            <a:off x="1725850" y="2969288"/>
            <a:ext cx="582833" cy="200870"/>
            <a:chOff x="0" y="1270"/>
            <a:chExt cx="1466615" cy="505460"/>
          </a:xfrm>
        </p:grpSpPr>
        <p:sp>
          <p:nvSpPr>
            <p:cNvPr id="547" name="Google Shape;547;g143c78d15b9_0_438"/>
            <p:cNvSpPr/>
            <p:nvPr/>
          </p:nvSpPr>
          <p:spPr>
            <a:xfrm>
              <a:off x="0" y="215900"/>
              <a:ext cx="1170705" cy="76200"/>
            </a:xfrm>
            <a:custGeom>
              <a:avLst/>
              <a:gdLst/>
              <a:ahLst/>
              <a:cxnLst/>
              <a:rect l="l" t="t" r="r" b="b"/>
              <a:pathLst>
                <a:path w="1170705" h="76200" extrusionOk="0">
                  <a:moveTo>
                    <a:pt x="0" y="0"/>
                  </a:moveTo>
                  <a:lnTo>
                    <a:pt x="1170705" y="0"/>
                  </a:lnTo>
                  <a:lnTo>
                    <a:pt x="117070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48" name="Google Shape;548;g143c78d15b9_0_438"/>
            <p:cNvSpPr/>
            <p:nvPr/>
          </p:nvSpPr>
          <p:spPr>
            <a:xfrm>
              <a:off x="1091965" y="1270"/>
              <a:ext cx="374650" cy="505460"/>
            </a:xfrm>
            <a:custGeom>
              <a:avLst/>
              <a:gdLst/>
              <a:ahLst/>
              <a:cxnLst/>
              <a:rect l="l" t="t" r="r" b="b"/>
              <a:pathLst>
                <a:path w="374650" h="505460" extrusionOk="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БУФЕРНЫЙ КЕШ. МЕХАНИЗМ РАБОТЫ</a:t>
            </a:r>
            <a:endParaRPr/>
          </a:p>
        </p:txBody>
      </p:sp>
      <p:sp>
        <p:nvSpPr>
          <p:cNvPr id="554" name="Google Shape;554;p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555" name="Google Shape;555;p7"/>
          <p:cNvSpPr/>
          <p:nvPr/>
        </p:nvSpPr>
        <p:spPr>
          <a:xfrm>
            <a:off x="6568789" y="1244050"/>
            <a:ext cx="3086561" cy="64495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1</a:t>
            </a:r>
            <a:r>
              <a:rPr lang="en-US" dirty="0"/>
              <a:t> </a:t>
            </a:r>
            <a:r>
              <a:rPr lang="en-US" dirty="0" err="1"/>
              <a:t>shared_buffers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7"/>
          <p:cNvSpPr/>
          <p:nvPr/>
        </p:nvSpPr>
        <p:spPr>
          <a:xfrm>
            <a:off x="6568789" y="2069663"/>
            <a:ext cx="3086561" cy="644958"/>
          </a:xfrm>
          <a:prstGeom prst="flowChartInternalStorag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       грязный буфер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7"/>
          <p:cNvSpPr/>
          <p:nvPr/>
        </p:nvSpPr>
        <p:spPr>
          <a:xfrm>
            <a:off x="6568789" y="2895277"/>
            <a:ext cx="3086561" cy="64495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dirty="0"/>
              <a:t> </a:t>
            </a:r>
            <a:r>
              <a:rPr lang="en-US" dirty="0" err="1"/>
              <a:t>shared_buffers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7"/>
          <p:cNvSpPr/>
          <p:nvPr/>
        </p:nvSpPr>
        <p:spPr>
          <a:xfrm>
            <a:off x="6568789" y="3720890"/>
            <a:ext cx="3086561" cy="644958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dirty="0"/>
              <a:t> </a:t>
            </a:r>
            <a:r>
              <a:rPr lang="en-US" dirty="0" err="1"/>
              <a:t>shared_buffers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7"/>
          <p:cNvSpPr/>
          <p:nvPr/>
        </p:nvSpPr>
        <p:spPr>
          <a:xfrm>
            <a:off x="6568789" y="4455864"/>
            <a:ext cx="3086561" cy="64495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dirty="0"/>
              <a:t> </a:t>
            </a:r>
            <a:r>
              <a:rPr lang="en-US" dirty="0" err="1"/>
              <a:t>shared_buffers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7"/>
          <p:cNvSpPr/>
          <p:nvPr/>
        </p:nvSpPr>
        <p:spPr>
          <a:xfrm>
            <a:off x="6568789" y="5247919"/>
            <a:ext cx="3086561" cy="644958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dirty="0"/>
              <a:t> </a:t>
            </a:r>
            <a:r>
              <a:rPr lang="en-US" dirty="0" err="1"/>
              <a:t>shared_buffers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7"/>
          <p:cNvSpPr/>
          <p:nvPr/>
        </p:nvSpPr>
        <p:spPr>
          <a:xfrm>
            <a:off x="1725850" y="4423863"/>
            <a:ext cx="1239786" cy="1026648"/>
          </a:xfrm>
          <a:prstGeom prst="flowChartMultidocumen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хеш таблица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7"/>
          <p:cNvSpPr/>
          <p:nvPr/>
        </p:nvSpPr>
        <p:spPr>
          <a:xfrm>
            <a:off x="2978547" y="1367167"/>
            <a:ext cx="3590554" cy="3341878"/>
          </a:xfrm>
          <a:custGeom>
            <a:avLst/>
            <a:gdLst/>
            <a:ahLst/>
            <a:cxnLst/>
            <a:rect l="l" t="t" r="r" b="b"/>
            <a:pathLst>
              <a:path w="187374" h="150163" extrusionOk="0">
                <a:moveTo>
                  <a:pt x="0" y="150163"/>
                </a:moveTo>
                <a:cubicBezTo>
                  <a:pt x="2247" y="138256"/>
                  <a:pt x="5841" y="100623"/>
                  <a:pt x="13480" y="78718"/>
                </a:cubicBezTo>
                <a:cubicBezTo>
                  <a:pt x="21119" y="56813"/>
                  <a:pt x="29207" y="31763"/>
                  <a:pt x="45832" y="18732"/>
                </a:cubicBezTo>
                <a:cubicBezTo>
                  <a:pt x="62458" y="5701"/>
                  <a:pt x="89643" y="2668"/>
                  <a:pt x="113233" y="534"/>
                </a:cubicBezTo>
                <a:cubicBezTo>
                  <a:pt x="136823" y="-1600"/>
                  <a:pt x="175017" y="5027"/>
                  <a:pt x="187374" y="5926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7"/>
          <p:cNvSpPr/>
          <p:nvPr/>
        </p:nvSpPr>
        <p:spPr>
          <a:xfrm>
            <a:off x="2991461" y="3154243"/>
            <a:ext cx="3603470" cy="1674714"/>
          </a:xfrm>
          <a:custGeom>
            <a:avLst/>
            <a:gdLst/>
            <a:ahLst/>
            <a:cxnLst/>
            <a:rect l="l" t="t" r="r" b="b"/>
            <a:pathLst>
              <a:path w="188048" h="83914" extrusionOk="0">
                <a:moveTo>
                  <a:pt x="0" y="83914"/>
                </a:moveTo>
                <a:cubicBezTo>
                  <a:pt x="2359" y="77736"/>
                  <a:pt x="3258" y="58863"/>
                  <a:pt x="14154" y="46843"/>
                </a:cubicBezTo>
                <a:cubicBezTo>
                  <a:pt x="25051" y="34823"/>
                  <a:pt x="44373" y="19546"/>
                  <a:pt x="65379" y="11795"/>
                </a:cubicBezTo>
                <a:cubicBezTo>
                  <a:pt x="86386" y="4044"/>
                  <a:pt x="119748" y="1685"/>
                  <a:pt x="140193" y="337"/>
                </a:cubicBezTo>
                <a:cubicBezTo>
                  <a:pt x="160638" y="-1011"/>
                  <a:pt x="180072" y="3145"/>
                  <a:pt x="188048" y="3707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7"/>
          <p:cNvSpPr/>
          <p:nvPr/>
        </p:nvSpPr>
        <p:spPr>
          <a:xfrm>
            <a:off x="2952718" y="2069664"/>
            <a:ext cx="3616385" cy="2743878"/>
          </a:xfrm>
          <a:custGeom>
            <a:avLst/>
            <a:gdLst/>
            <a:ahLst/>
            <a:cxnLst/>
            <a:rect l="l" t="t" r="r" b="b"/>
            <a:pathLst>
              <a:path w="188722" h="135450" extrusionOk="0">
                <a:moveTo>
                  <a:pt x="0" y="135450"/>
                </a:moveTo>
                <a:cubicBezTo>
                  <a:pt x="3258" y="123318"/>
                  <a:pt x="4269" y="84899"/>
                  <a:pt x="19546" y="62657"/>
                </a:cubicBezTo>
                <a:cubicBezTo>
                  <a:pt x="34824" y="40415"/>
                  <a:pt x="63469" y="9860"/>
                  <a:pt x="91665" y="1997"/>
                </a:cubicBezTo>
                <a:cubicBezTo>
                  <a:pt x="119861" y="-5866"/>
                  <a:pt x="172546" y="13230"/>
                  <a:pt x="188722" y="15477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7"/>
          <p:cNvSpPr/>
          <p:nvPr/>
        </p:nvSpPr>
        <p:spPr>
          <a:xfrm>
            <a:off x="2978547" y="4783839"/>
            <a:ext cx="3603470" cy="74999"/>
          </a:xfrm>
          <a:custGeom>
            <a:avLst/>
            <a:gdLst/>
            <a:ahLst/>
            <a:cxnLst/>
            <a:rect l="l" t="t" r="r" b="b"/>
            <a:pathLst>
              <a:path w="188048" h="3370" extrusionOk="0">
                <a:moveTo>
                  <a:pt x="0" y="3370"/>
                </a:moveTo>
                <a:cubicBezTo>
                  <a:pt x="31341" y="2808"/>
                  <a:pt x="156707" y="562"/>
                  <a:pt x="188048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7"/>
          <p:cNvSpPr/>
          <p:nvPr/>
        </p:nvSpPr>
        <p:spPr>
          <a:xfrm>
            <a:off x="4410325" y="5584750"/>
            <a:ext cx="1805100" cy="720600"/>
          </a:xfrm>
          <a:prstGeom prst="wedgeEllipseCallout">
            <a:avLst>
              <a:gd name="adj1" fmla="val 79227"/>
              <a:gd name="adj2" fmla="val -16426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число обращений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143c78d15b9_0_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БУФЕРНЫЙ КЕШ. МЕХАНИЗМ РАБОТЫ</a:t>
            </a:r>
            <a:endParaRPr/>
          </a:p>
        </p:txBody>
      </p:sp>
      <p:sp>
        <p:nvSpPr>
          <p:cNvPr id="572" name="Google Shape;572;g143c78d15b9_0_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573" name="Google Shape;573;g143c78d15b9_0_0"/>
          <p:cNvSpPr/>
          <p:nvPr/>
        </p:nvSpPr>
        <p:spPr>
          <a:xfrm>
            <a:off x="6623894" y="1455662"/>
            <a:ext cx="3121681" cy="547544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143c78d15b9_0_0"/>
          <p:cNvSpPr/>
          <p:nvPr/>
        </p:nvSpPr>
        <p:spPr>
          <a:xfrm>
            <a:off x="6623894" y="2156577"/>
            <a:ext cx="3121681" cy="547544"/>
          </a:xfrm>
          <a:prstGeom prst="flowChartInternalStorag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       грязный буфер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143c78d15b9_0_0"/>
          <p:cNvSpPr/>
          <p:nvPr/>
        </p:nvSpPr>
        <p:spPr>
          <a:xfrm>
            <a:off x="6623894" y="2857491"/>
            <a:ext cx="3121681" cy="547544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143c78d15b9_0_0"/>
          <p:cNvSpPr/>
          <p:nvPr/>
        </p:nvSpPr>
        <p:spPr>
          <a:xfrm>
            <a:off x="6623894" y="3558405"/>
            <a:ext cx="3121681" cy="547544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143c78d15b9_0_0"/>
          <p:cNvSpPr/>
          <p:nvPr/>
        </p:nvSpPr>
        <p:spPr>
          <a:xfrm>
            <a:off x="6623894" y="4182369"/>
            <a:ext cx="3121681" cy="547544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g143c78d15b9_0_0"/>
          <p:cNvSpPr/>
          <p:nvPr/>
        </p:nvSpPr>
        <p:spPr>
          <a:xfrm>
            <a:off x="6623894" y="4854793"/>
            <a:ext cx="3121681" cy="547544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143c78d15b9_0_0"/>
          <p:cNvSpPr/>
          <p:nvPr/>
        </p:nvSpPr>
        <p:spPr>
          <a:xfrm>
            <a:off x="1725850" y="4155202"/>
            <a:ext cx="1253880" cy="871614"/>
          </a:xfrm>
          <a:prstGeom prst="flowChartMultidocumen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хеш таблица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143c78d15b9_0_0"/>
          <p:cNvSpPr/>
          <p:nvPr/>
        </p:nvSpPr>
        <p:spPr>
          <a:xfrm>
            <a:off x="2992801" y="1560184"/>
            <a:ext cx="3630840" cy="2836954"/>
          </a:xfrm>
          <a:custGeom>
            <a:avLst/>
            <a:gdLst/>
            <a:ahLst/>
            <a:cxnLst/>
            <a:rect l="l" t="t" r="r" b="b"/>
            <a:pathLst>
              <a:path w="187374" h="150163" extrusionOk="0">
                <a:moveTo>
                  <a:pt x="0" y="150163"/>
                </a:moveTo>
                <a:cubicBezTo>
                  <a:pt x="2247" y="138256"/>
                  <a:pt x="5841" y="100623"/>
                  <a:pt x="13480" y="78718"/>
                </a:cubicBezTo>
                <a:cubicBezTo>
                  <a:pt x="21119" y="56813"/>
                  <a:pt x="29207" y="31763"/>
                  <a:pt x="45832" y="18732"/>
                </a:cubicBezTo>
                <a:cubicBezTo>
                  <a:pt x="62458" y="5701"/>
                  <a:pt x="89643" y="2668"/>
                  <a:pt x="113233" y="534"/>
                </a:cubicBezTo>
                <a:cubicBezTo>
                  <a:pt x="136823" y="-1600"/>
                  <a:pt x="175017" y="5027"/>
                  <a:pt x="187374" y="5926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g143c78d15b9_0_0"/>
          <p:cNvSpPr/>
          <p:nvPr/>
        </p:nvSpPr>
        <p:spPr>
          <a:xfrm>
            <a:off x="3005862" y="3077343"/>
            <a:ext cx="3643900" cy="1421713"/>
          </a:xfrm>
          <a:custGeom>
            <a:avLst/>
            <a:gdLst/>
            <a:ahLst/>
            <a:cxnLst/>
            <a:rect l="l" t="t" r="r" b="b"/>
            <a:pathLst>
              <a:path w="188048" h="83914" extrusionOk="0">
                <a:moveTo>
                  <a:pt x="0" y="83914"/>
                </a:moveTo>
                <a:cubicBezTo>
                  <a:pt x="2359" y="77736"/>
                  <a:pt x="3258" y="58863"/>
                  <a:pt x="14154" y="46843"/>
                </a:cubicBezTo>
                <a:cubicBezTo>
                  <a:pt x="25051" y="34823"/>
                  <a:pt x="44373" y="19546"/>
                  <a:pt x="65379" y="11795"/>
                </a:cubicBezTo>
                <a:cubicBezTo>
                  <a:pt x="86386" y="4044"/>
                  <a:pt x="119748" y="1685"/>
                  <a:pt x="140193" y="337"/>
                </a:cubicBezTo>
                <a:cubicBezTo>
                  <a:pt x="160638" y="-1011"/>
                  <a:pt x="180072" y="3145"/>
                  <a:pt x="188048" y="3707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g143c78d15b9_0_0"/>
          <p:cNvSpPr/>
          <p:nvPr/>
        </p:nvSpPr>
        <p:spPr>
          <a:xfrm>
            <a:off x="2966678" y="2156577"/>
            <a:ext cx="3656961" cy="2329740"/>
          </a:xfrm>
          <a:custGeom>
            <a:avLst/>
            <a:gdLst/>
            <a:ahLst/>
            <a:cxnLst/>
            <a:rect l="l" t="t" r="r" b="b"/>
            <a:pathLst>
              <a:path w="188722" h="135450" extrusionOk="0">
                <a:moveTo>
                  <a:pt x="0" y="135450"/>
                </a:moveTo>
                <a:cubicBezTo>
                  <a:pt x="3258" y="123318"/>
                  <a:pt x="4269" y="84899"/>
                  <a:pt x="19546" y="62657"/>
                </a:cubicBezTo>
                <a:cubicBezTo>
                  <a:pt x="34824" y="40415"/>
                  <a:pt x="63469" y="9860"/>
                  <a:pt x="91665" y="1997"/>
                </a:cubicBezTo>
                <a:cubicBezTo>
                  <a:pt x="119861" y="-5866"/>
                  <a:pt x="172546" y="13230"/>
                  <a:pt x="188722" y="15477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g143c78d15b9_0_0"/>
          <p:cNvSpPr/>
          <p:nvPr/>
        </p:nvSpPr>
        <p:spPr>
          <a:xfrm>
            <a:off x="2992801" y="4460808"/>
            <a:ext cx="3643900" cy="63668"/>
          </a:xfrm>
          <a:custGeom>
            <a:avLst/>
            <a:gdLst/>
            <a:ahLst/>
            <a:cxnLst/>
            <a:rect l="l" t="t" r="r" b="b"/>
            <a:pathLst>
              <a:path w="188048" h="3370" extrusionOk="0">
                <a:moveTo>
                  <a:pt x="0" y="3370"/>
                </a:moveTo>
                <a:cubicBezTo>
                  <a:pt x="31341" y="2808"/>
                  <a:pt x="156707" y="562"/>
                  <a:pt x="188048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g143c78d15b9_0_0"/>
          <p:cNvSpPr/>
          <p:nvPr/>
        </p:nvSpPr>
        <p:spPr>
          <a:xfrm>
            <a:off x="3166369" y="5383644"/>
            <a:ext cx="2929631" cy="743816"/>
          </a:xfrm>
          <a:prstGeom prst="wedgeEllipseCallout">
            <a:avLst>
              <a:gd name="adj1" fmla="val 79227"/>
              <a:gd name="adj2" fmla="val -16426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число обращений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SzPts val="1400"/>
            </a:pPr>
            <a:r>
              <a:rPr lang="ru-RU" dirty="0" err="1">
                <a:solidFill>
                  <a:schemeClr val="dk1"/>
                </a:solidFill>
              </a:rPr>
              <a:t>usage</a:t>
            </a:r>
            <a:r>
              <a:rPr lang="ru-RU" dirty="0">
                <a:solidFill>
                  <a:schemeClr val="dk1"/>
                </a:solidFill>
              </a:rPr>
              <a:t> </a:t>
            </a:r>
            <a:r>
              <a:rPr lang="ru-RU" dirty="0" err="1">
                <a:solidFill>
                  <a:schemeClr val="dk1"/>
                </a:solidFill>
              </a:rPr>
              <a:t>count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43c78d15b9_0_4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БУФЕРНЫЙ КЕШ. МЕХАНИЗМ РАБОТЫ</a:t>
            </a:r>
            <a:endParaRPr/>
          </a:p>
        </p:txBody>
      </p:sp>
      <p:sp>
        <p:nvSpPr>
          <p:cNvPr id="590" name="Google Shape;590;g143c78d15b9_0_4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591" name="Google Shape;591;g143c78d15b9_0_47"/>
          <p:cNvSpPr/>
          <p:nvPr/>
        </p:nvSpPr>
        <p:spPr>
          <a:xfrm>
            <a:off x="6791099" y="1231500"/>
            <a:ext cx="3202626" cy="643622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143c78d15b9_0_47"/>
          <p:cNvSpPr/>
          <p:nvPr/>
        </p:nvSpPr>
        <p:spPr>
          <a:xfrm>
            <a:off x="6791099" y="2055404"/>
            <a:ext cx="3202626" cy="643622"/>
          </a:xfrm>
          <a:prstGeom prst="flowChartInternalStorag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         грязный буфер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g143c78d15b9_0_47"/>
          <p:cNvSpPr/>
          <p:nvPr/>
        </p:nvSpPr>
        <p:spPr>
          <a:xfrm>
            <a:off x="6791099" y="2879307"/>
            <a:ext cx="3202626" cy="643622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g143c78d15b9_0_47"/>
          <p:cNvSpPr/>
          <p:nvPr/>
        </p:nvSpPr>
        <p:spPr>
          <a:xfrm>
            <a:off x="6791099" y="3703211"/>
            <a:ext cx="3202626" cy="643622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g143c78d15b9_0_47"/>
          <p:cNvSpPr/>
          <p:nvPr/>
        </p:nvSpPr>
        <p:spPr>
          <a:xfrm>
            <a:off x="6791099" y="4436663"/>
            <a:ext cx="3202626" cy="643622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143c78d15b9_0_47"/>
          <p:cNvSpPr/>
          <p:nvPr/>
        </p:nvSpPr>
        <p:spPr>
          <a:xfrm>
            <a:off x="6791099" y="5227077"/>
            <a:ext cx="3202626" cy="643622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143c78d15b9_0_47"/>
          <p:cNvSpPr/>
          <p:nvPr/>
        </p:nvSpPr>
        <p:spPr>
          <a:xfrm>
            <a:off x="1725850" y="1740410"/>
            <a:ext cx="1286388" cy="1024542"/>
          </a:xfrm>
          <a:prstGeom prst="flowChartMultidocumen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свободные буферы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143c78d15b9_0_47"/>
          <p:cNvSpPr/>
          <p:nvPr/>
        </p:nvSpPr>
        <p:spPr>
          <a:xfrm>
            <a:off x="3039052" y="2054737"/>
            <a:ext cx="3751507" cy="2035497"/>
          </a:xfrm>
          <a:custGeom>
            <a:avLst/>
            <a:gdLst/>
            <a:ahLst/>
            <a:cxnLst/>
            <a:rect l="l" t="t" r="r" b="b"/>
            <a:pathLst>
              <a:path w="190070" h="90316" extrusionOk="0">
                <a:moveTo>
                  <a:pt x="0" y="0"/>
                </a:moveTo>
                <a:cubicBezTo>
                  <a:pt x="13031" y="1236"/>
                  <a:pt x="52461" y="-786"/>
                  <a:pt x="78185" y="7414"/>
                </a:cubicBezTo>
                <a:cubicBezTo>
                  <a:pt x="103910" y="15614"/>
                  <a:pt x="135700" y="35385"/>
                  <a:pt x="154347" y="49202"/>
                </a:cubicBezTo>
                <a:cubicBezTo>
                  <a:pt x="172995" y="63019"/>
                  <a:pt x="184116" y="83464"/>
                  <a:pt x="190070" y="90316"/>
                </a:cubicBezTo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g143c78d15b9_0_47"/>
          <p:cNvSpPr/>
          <p:nvPr/>
        </p:nvSpPr>
        <p:spPr>
          <a:xfrm>
            <a:off x="3025652" y="2114609"/>
            <a:ext cx="3765666" cy="3397343"/>
          </a:xfrm>
          <a:custGeom>
            <a:avLst/>
            <a:gdLst/>
            <a:ahLst/>
            <a:cxnLst/>
            <a:rect l="l" t="t" r="r" b="b"/>
            <a:pathLst>
              <a:path w="189396" h="152999" extrusionOk="0">
                <a:moveTo>
                  <a:pt x="0" y="0"/>
                </a:moveTo>
                <a:cubicBezTo>
                  <a:pt x="14267" y="2921"/>
                  <a:pt x="59425" y="2247"/>
                  <a:pt x="85599" y="17524"/>
                </a:cubicBezTo>
                <a:cubicBezTo>
                  <a:pt x="111773" y="32801"/>
                  <a:pt x="139744" y="69085"/>
                  <a:pt x="157043" y="91664"/>
                </a:cubicBezTo>
                <a:cubicBezTo>
                  <a:pt x="174343" y="114243"/>
                  <a:pt x="184004" y="142777"/>
                  <a:pt x="189396" y="152999"/>
                </a:cubicBezTo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g143c78d15b9_0_47"/>
          <p:cNvSpPr/>
          <p:nvPr/>
        </p:nvSpPr>
        <p:spPr>
          <a:xfrm>
            <a:off x="4645750" y="5511950"/>
            <a:ext cx="1805100" cy="720600"/>
          </a:xfrm>
          <a:prstGeom prst="wedgeEllipseCallout">
            <a:avLst>
              <a:gd name="adj1" fmla="val 79227"/>
              <a:gd name="adj2" fmla="val -16426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число обращений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43c78d15b9_0_7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БУФЕРНЫЙ КЕШ. МЕХАНИЗМ РАБОТЫ</a:t>
            </a:r>
            <a:endParaRPr/>
          </a:p>
        </p:txBody>
      </p:sp>
      <p:sp>
        <p:nvSpPr>
          <p:cNvPr id="606" name="Google Shape;606;g143c78d15b9_0_7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607" name="Google Shape;607;g143c78d15b9_0_76"/>
          <p:cNvSpPr/>
          <p:nvPr/>
        </p:nvSpPr>
        <p:spPr>
          <a:xfrm>
            <a:off x="6717123" y="1863125"/>
            <a:ext cx="3155852" cy="545866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143c78d15b9_0_76"/>
          <p:cNvSpPr/>
          <p:nvPr/>
        </p:nvSpPr>
        <p:spPr>
          <a:xfrm>
            <a:off x="6717123" y="2561890"/>
            <a:ext cx="3155852" cy="545866"/>
          </a:xfrm>
          <a:prstGeom prst="flowChartInternalStorag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                  грязный буфер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143c78d15b9_0_76"/>
          <p:cNvSpPr/>
          <p:nvPr/>
        </p:nvSpPr>
        <p:spPr>
          <a:xfrm>
            <a:off x="6717123" y="3260655"/>
            <a:ext cx="3155852" cy="545866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dirty="0" err="1">
                <a:solidFill>
                  <a:schemeClr val="dk1"/>
                </a:solidFill>
              </a:rPr>
              <a:t>pin</a:t>
            </a:r>
            <a:r>
              <a:rPr lang="ru-RU" dirty="0">
                <a:solidFill>
                  <a:schemeClr val="dk1"/>
                </a:solidFill>
              </a:rPr>
              <a:t> </a:t>
            </a:r>
            <a:r>
              <a:rPr lang="ru-RU" dirty="0" err="1">
                <a:solidFill>
                  <a:schemeClr val="dk1"/>
                </a:solidFill>
              </a:rPr>
              <a:t>count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143c78d15b9_0_76"/>
          <p:cNvSpPr/>
          <p:nvPr/>
        </p:nvSpPr>
        <p:spPr>
          <a:xfrm>
            <a:off x="6717123" y="3959420"/>
            <a:ext cx="3155852" cy="545866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143c78d15b9_0_76"/>
          <p:cNvSpPr/>
          <p:nvPr/>
        </p:nvSpPr>
        <p:spPr>
          <a:xfrm>
            <a:off x="6717123" y="4581472"/>
            <a:ext cx="3155852" cy="545866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143c78d15b9_0_76"/>
          <p:cNvSpPr/>
          <p:nvPr/>
        </p:nvSpPr>
        <p:spPr>
          <a:xfrm>
            <a:off x="6717123" y="5251834"/>
            <a:ext cx="3155852" cy="545866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143c78d15b9_0_76"/>
          <p:cNvSpPr/>
          <p:nvPr/>
        </p:nvSpPr>
        <p:spPr>
          <a:xfrm>
            <a:off x="1725850" y="2294740"/>
            <a:ext cx="1267650" cy="868968"/>
          </a:xfrm>
          <a:prstGeom prst="flowChartMultidocumen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свободные буферы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143c78d15b9_0_76"/>
          <p:cNvSpPr/>
          <p:nvPr/>
        </p:nvSpPr>
        <p:spPr>
          <a:xfrm>
            <a:off x="1765463" y="4554388"/>
            <a:ext cx="1267650" cy="868968"/>
          </a:xfrm>
          <a:prstGeom prst="flowChartMultidocumen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хеш таблица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g143c78d15b9_0_76"/>
          <p:cNvSpPr/>
          <p:nvPr/>
        </p:nvSpPr>
        <p:spPr>
          <a:xfrm>
            <a:off x="3059486" y="3316651"/>
            <a:ext cx="3683860" cy="1580520"/>
          </a:xfrm>
          <a:custGeom>
            <a:avLst/>
            <a:gdLst/>
            <a:ahLst/>
            <a:cxnLst/>
            <a:rect l="l" t="t" r="r" b="b"/>
            <a:pathLst>
              <a:path w="188048" h="83914" extrusionOk="0">
                <a:moveTo>
                  <a:pt x="0" y="83914"/>
                </a:moveTo>
                <a:cubicBezTo>
                  <a:pt x="2359" y="77736"/>
                  <a:pt x="3258" y="58863"/>
                  <a:pt x="14154" y="46843"/>
                </a:cubicBezTo>
                <a:cubicBezTo>
                  <a:pt x="25051" y="34823"/>
                  <a:pt x="44373" y="19546"/>
                  <a:pt x="65379" y="11795"/>
                </a:cubicBezTo>
                <a:cubicBezTo>
                  <a:pt x="86386" y="4044"/>
                  <a:pt x="119748" y="1685"/>
                  <a:pt x="140193" y="337"/>
                </a:cubicBezTo>
                <a:cubicBezTo>
                  <a:pt x="160638" y="-1011"/>
                  <a:pt x="180072" y="3145"/>
                  <a:pt x="188048" y="3707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6" name="Google Shape;616;g143c78d15b9_0_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7123" y="3163676"/>
            <a:ext cx="443547" cy="331189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g143c78d15b9_0_76"/>
          <p:cNvSpPr/>
          <p:nvPr/>
        </p:nvSpPr>
        <p:spPr>
          <a:xfrm>
            <a:off x="3019873" y="2561325"/>
            <a:ext cx="3697337" cy="1726390"/>
          </a:xfrm>
          <a:custGeom>
            <a:avLst/>
            <a:gdLst/>
            <a:ahLst/>
            <a:cxnLst/>
            <a:rect l="l" t="t" r="r" b="b"/>
            <a:pathLst>
              <a:path w="190070" h="90316" extrusionOk="0">
                <a:moveTo>
                  <a:pt x="0" y="0"/>
                </a:moveTo>
                <a:cubicBezTo>
                  <a:pt x="13031" y="1236"/>
                  <a:pt x="52461" y="-786"/>
                  <a:pt x="78185" y="7414"/>
                </a:cubicBezTo>
                <a:cubicBezTo>
                  <a:pt x="103910" y="15614"/>
                  <a:pt x="135700" y="35385"/>
                  <a:pt x="154347" y="49202"/>
                </a:cubicBezTo>
                <a:cubicBezTo>
                  <a:pt x="172995" y="63019"/>
                  <a:pt x="184116" y="83464"/>
                  <a:pt x="190070" y="90316"/>
                </a:cubicBezTo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g143c78d15b9_0_76"/>
          <p:cNvSpPr/>
          <p:nvPr/>
        </p:nvSpPr>
        <p:spPr>
          <a:xfrm>
            <a:off x="3006669" y="2612103"/>
            <a:ext cx="3710268" cy="2881736"/>
          </a:xfrm>
          <a:custGeom>
            <a:avLst/>
            <a:gdLst/>
            <a:ahLst/>
            <a:cxnLst/>
            <a:rect l="l" t="t" r="r" b="b"/>
            <a:pathLst>
              <a:path w="189396" h="152999" extrusionOk="0">
                <a:moveTo>
                  <a:pt x="0" y="0"/>
                </a:moveTo>
                <a:cubicBezTo>
                  <a:pt x="14267" y="2921"/>
                  <a:pt x="59425" y="2247"/>
                  <a:pt x="85599" y="17524"/>
                </a:cubicBezTo>
                <a:cubicBezTo>
                  <a:pt x="111773" y="32801"/>
                  <a:pt x="139744" y="69085"/>
                  <a:pt x="157043" y="91664"/>
                </a:cubicBezTo>
                <a:cubicBezTo>
                  <a:pt x="174343" y="114243"/>
                  <a:pt x="184004" y="142777"/>
                  <a:pt x="189396" y="152999"/>
                </a:cubicBezTo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9" name="Google Shape;619;g143c78d15b9_0_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7123" y="3163676"/>
            <a:ext cx="443547" cy="331189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g143c78d15b9_0_76"/>
          <p:cNvSpPr txBox="1"/>
          <p:nvPr/>
        </p:nvSpPr>
        <p:spPr>
          <a:xfrm>
            <a:off x="1635600" y="959575"/>
            <a:ext cx="8964338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dirty="0" err="1">
                <a:solidFill>
                  <a:schemeClr val="dk1"/>
                </a:solidFill>
              </a:rPr>
              <a:t>Cначала</a:t>
            </a:r>
            <a:r>
              <a:rPr lang="ru-RU" dirty="0">
                <a:solidFill>
                  <a:schemeClr val="dk1"/>
                </a:solidFill>
              </a:rPr>
              <a:t> ищем в буферном кэше по </a:t>
            </a:r>
            <a:r>
              <a:rPr lang="ru-RU" dirty="0" err="1">
                <a:solidFill>
                  <a:schemeClr val="dk1"/>
                </a:solidFill>
              </a:rPr>
              <a:t>хешу</a:t>
            </a:r>
            <a:r>
              <a:rPr lang="ru-RU" dirty="0">
                <a:solidFill>
                  <a:schemeClr val="dk1"/>
                </a:solidFill>
              </a:rPr>
              <a:t>. Если нужная страница найдена в кэше, процесс должен</a:t>
            </a:r>
            <a:r>
              <a:rPr lang="en-US" dirty="0">
                <a:solidFill>
                  <a:schemeClr val="dk1"/>
                </a:solidFill>
              </a:rPr>
              <a:t>:</a:t>
            </a:r>
          </a:p>
          <a:p>
            <a:pPr marL="285750" lvl="0" indent="-285750">
              <a:buFontTx/>
              <a:buChar char="-"/>
            </a:pPr>
            <a:r>
              <a:rPr lang="ru-RU" dirty="0">
                <a:solidFill>
                  <a:schemeClr val="dk1"/>
                </a:solidFill>
              </a:rPr>
              <a:t>«закрепить» буфер (</a:t>
            </a:r>
            <a:r>
              <a:rPr lang="ru-RU" dirty="0" err="1">
                <a:solidFill>
                  <a:schemeClr val="dk1"/>
                </a:solidFill>
              </a:rPr>
              <a:t>pin</a:t>
            </a:r>
            <a:r>
              <a:rPr lang="ru-RU" dirty="0">
                <a:solidFill>
                  <a:schemeClr val="dk1"/>
                </a:solidFill>
              </a:rPr>
              <a:t> </a:t>
            </a:r>
            <a:r>
              <a:rPr lang="ru-RU" dirty="0" err="1">
                <a:solidFill>
                  <a:schemeClr val="dk1"/>
                </a:solidFill>
              </a:rPr>
              <a:t>count</a:t>
            </a:r>
            <a:r>
              <a:rPr lang="en-US" dirty="0">
                <a:solidFill>
                  <a:schemeClr val="dk1"/>
                </a:solidFill>
              </a:rPr>
              <a:t>, </a:t>
            </a:r>
            <a:r>
              <a:rPr lang="ru-RU" dirty="0">
                <a:solidFill>
                  <a:schemeClr val="dk1"/>
                </a:solidFill>
              </a:rPr>
              <a:t>увеличить счетчик ) и </a:t>
            </a:r>
            <a:endParaRPr lang="en-US" dirty="0">
              <a:solidFill>
                <a:schemeClr val="dk1"/>
              </a:solidFill>
            </a:endParaRPr>
          </a:p>
          <a:p>
            <a:pPr marL="285750" lvl="0" indent="-285750">
              <a:buFontTx/>
              <a:buChar char="-"/>
            </a:pPr>
            <a:r>
              <a:rPr lang="ru-RU" dirty="0">
                <a:solidFill>
                  <a:schemeClr val="dk1"/>
                </a:solidFill>
              </a:rPr>
              <a:t>увеличить число обращений (</a:t>
            </a:r>
            <a:r>
              <a:rPr lang="ru-RU" dirty="0" err="1">
                <a:solidFill>
                  <a:schemeClr val="dk1"/>
                </a:solidFill>
              </a:rPr>
              <a:t>usage</a:t>
            </a:r>
            <a:r>
              <a:rPr lang="ru-RU" dirty="0">
                <a:solidFill>
                  <a:schemeClr val="dk1"/>
                </a:solidFill>
              </a:rPr>
              <a:t> </a:t>
            </a:r>
            <a:r>
              <a:rPr lang="ru-RU" dirty="0" err="1">
                <a:solidFill>
                  <a:schemeClr val="dk1"/>
                </a:solidFill>
              </a:rPr>
              <a:t>count</a:t>
            </a:r>
            <a:r>
              <a:rPr lang="en-US" dirty="0">
                <a:solidFill>
                  <a:schemeClr val="dk1"/>
                </a:solidFill>
              </a:rPr>
              <a:t>,</a:t>
            </a:r>
            <a:r>
              <a:rPr lang="ru-RU" dirty="0">
                <a:solidFill>
                  <a:schemeClr val="dk1"/>
                </a:solidFill>
              </a:rPr>
              <a:t> счетчик )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43c78d15b9_0_45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БУФЕРНЫЙ КЕШ. МЕХАНИЗМ РАБОТЫ</a:t>
            </a:r>
            <a:endParaRPr/>
          </a:p>
        </p:txBody>
      </p:sp>
      <p:sp>
        <p:nvSpPr>
          <p:cNvPr id="626" name="Google Shape;626;g143c78d15b9_0_45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627" name="Google Shape;627;g143c78d15b9_0_450"/>
          <p:cNvSpPr txBox="1"/>
          <p:nvPr/>
        </p:nvSpPr>
        <p:spPr>
          <a:xfrm>
            <a:off x="1635600" y="959575"/>
            <a:ext cx="8237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Если нет страницы в кэше, то грузим с диска в первый пустой блок и добавляем строку в </a:t>
            </a:r>
            <a:r>
              <a:rPr lang="ru-RU" dirty="0" err="1">
                <a:solidFill>
                  <a:schemeClr val="dk1"/>
                </a:solidFill>
              </a:rPr>
              <a:t>хеш</a:t>
            </a:r>
            <a:r>
              <a:rPr lang="ru-RU" dirty="0">
                <a:solidFill>
                  <a:schemeClr val="dk1"/>
                </a:solidFill>
              </a:rPr>
              <a:t> таблицу. Блок буфера такой же как и данные с </a:t>
            </a:r>
            <a:r>
              <a:rPr lang="en-US" dirty="0">
                <a:solidFill>
                  <a:schemeClr val="dk1"/>
                </a:solidFill>
              </a:rPr>
              <a:t>HDD.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28" name="Google Shape;628;g143c78d15b9_0_450"/>
          <p:cNvSpPr/>
          <p:nvPr/>
        </p:nvSpPr>
        <p:spPr>
          <a:xfrm>
            <a:off x="6717138" y="1790875"/>
            <a:ext cx="3155862" cy="569974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143c78d15b9_0_450"/>
          <p:cNvSpPr/>
          <p:nvPr/>
        </p:nvSpPr>
        <p:spPr>
          <a:xfrm>
            <a:off x="6717138" y="2520502"/>
            <a:ext cx="3155862" cy="569974"/>
          </a:xfrm>
          <a:prstGeom prst="flowChartInternalStorag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                  грязный буфер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143c78d15b9_0_450"/>
          <p:cNvSpPr/>
          <p:nvPr/>
        </p:nvSpPr>
        <p:spPr>
          <a:xfrm>
            <a:off x="6717138" y="3250129"/>
            <a:ext cx="3155862" cy="569974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143c78d15b9_0_450"/>
          <p:cNvSpPr/>
          <p:nvPr/>
        </p:nvSpPr>
        <p:spPr>
          <a:xfrm>
            <a:off x="6717138" y="3979756"/>
            <a:ext cx="3155862" cy="569974"/>
          </a:xfrm>
          <a:prstGeom prst="flowChartInternalStorage">
            <a:avLst/>
          </a:prstGeom>
          <a:solidFill>
            <a:srgbClr val="FFE599">
              <a:alpha val="3294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покачиваем из БД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143c78d15b9_0_450"/>
          <p:cNvSpPr/>
          <p:nvPr/>
        </p:nvSpPr>
        <p:spPr>
          <a:xfrm>
            <a:off x="6717138" y="4629281"/>
            <a:ext cx="3155862" cy="569974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143c78d15b9_0_450"/>
          <p:cNvSpPr/>
          <p:nvPr/>
        </p:nvSpPr>
        <p:spPr>
          <a:xfrm>
            <a:off x="6717138" y="5329251"/>
            <a:ext cx="3155862" cy="569974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143c78d15b9_0_450"/>
          <p:cNvSpPr/>
          <p:nvPr/>
        </p:nvSpPr>
        <p:spPr>
          <a:xfrm>
            <a:off x="1725850" y="2241552"/>
            <a:ext cx="1267650" cy="907308"/>
          </a:xfrm>
          <a:prstGeom prst="flowChartMultidocumen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свободные буферы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143c78d15b9_0_450"/>
          <p:cNvSpPr/>
          <p:nvPr/>
        </p:nvSpPr>
        <p:spPr>
          <a:xfrm>
            <a:off x="1765463" y="4601000"/>
            <a:ext cx="1267650" cy="907308"/>
          </a:xfrm>
          <a:prstGeom prst="flowChartMultidocumen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хеш таблица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g143c78d15b9_0_450"/>
          <p:cNvSpPr/>
          <p:nvPr/>
        </p:nvSpPr>
        <p:spPr>
          <a:xfrm>
            <a:off x="3059491" y="4183638"/>
            <a:ext cx="3657534" cy="775156"/>
          </a:xfrm>
          <a:custGeom>
            <a:avLst/>
            <a:gdLst/>
            <a:ahLst/>
            <a:cxnLst/>
            <a:rect l="l" t="t" r="r" b="b"/>
            <a:pathLst>
              <a:path w="188048" h="83914" extrusionOk="0">
                <a:moveTo>
                  <a:pt x="0" y="83914"/>
                </a:moveTo>
                <a:cubicBezTo>
                  <a:pt x="2359" y="77736"/>
                  <a:pt x="3258" y="58863"/>
                  <a:pt x="14154" y="46843"/>
                </a:cubicBezTo>
                <a:cubicBezTo>
                  <a:pt x="25051" y="34823"/>
                  <a:pt x="44373" y="19546"/>
                  <a:pt x="65379" y="11795"/>
                </a:cubicBezTo>
                <a:cubicBezTo>
                  <a:pt x="86386" y="4044"/>
                  <a:pt x="119748" y="1685"/>
                  <a:pt x="140193" y="337"/>
                </a:cubicBezTo>
                <a:cubicBezTo>
                  <a:pt x="160638" y="-1011"/>
                  <a:pt x="180072" y="3145"/>
                  <a:pt x="188048" y="3707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7" name="Google Shape;637;g143c78d15b9_0_4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7020" y="3837823"/>
            <a:ext cx="443549" cy="34581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g143c78d15b9_0_450"/>
          <p:cNvSpPr/>
          <p:nvPr/>
        </p:nvSpPr>
        <p:spPr>
          <a:xfrm>
            <a:off x="3006673" y="2572933"/>
            <a:ext cx="3710268" cy="3008725"/>
          </a:xfrm>
          <a:custGeom>
            <a:avLst/>
            <a:gdLst/>
            <a:ahLst/>
            <a:cxnLst/>
            <a:rect l="l" t="t" r="r" b="b"/>
            <a:pathLst>
              <a:path w="189396" h="152999" extrusionOk="0">
                <a:moveTo>
                  <a:pt x="0" y="0"/>
                </a:moveTo>
                <a:cubicBezTo>
                  <a:pt x="14267" y="2921"/>
                  <a:pt x="59425" y="2247"/>
                  <a:pt x="85599" y="17524"/>
                </a:cubicBezTo>
                <a:cubicBezTo>
                  <a:pt x="111773" y="32801"/>
                  <a:pt x="139744" y="69085"/>
                  <a:pt x="157043" y="91664"/>
                </a:cubicBezTo>
                <a:cubicBezTo>
                  <a:pt x="174343" y="114243"/>
                  <a:pt x="184004" y="142777"/>
                  <a:pt x="189396" y="152999"/>
                </a:cubicBezTo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g143c78d15b9_0_450"/>
          <p:cNvSpPr/>
          <p:nvPr/>
        </p:nvSpPr>
        <p:spPr>
          <a:xfrm>
            <a:off x="9629045" y="3582411"/>
            <a:ext cx="1375007" cy="1434359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E599">
              <a:alpha val="3294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143c78d15b9_0_482"/>
          <p:cNvSpPr txBox="1">
            <a:spLocks noGrp="1"/>
          </p:cNvSpPr>
          <p:nvPr>
            <p:ph type="title"/>
          </p:nvPr>
        </p:nvSpPr>
        <p:spPr>
          <a:xfrm>
            <a:off x="1725850" y="502450"/>
            <a:ext cx="8237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БУФЕРНЫЙ КЕШ. ЧТЕНИЕ С ВЫТЕСНЕНИЕМ</a:t>
            </a:r>
            <a:endParaRPr/>
          </a:p>
        </p:txBody>
      </p:sp>
      <p:sp>
        <p:nvSpPr>
          <p:cNvPr id="645" name="Google Shape;645;g143c78d15b9_0_48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  <p:sp>
        <p:nvSpPr>
          <p:cNvPr id="646" name="Google Shape;646;g143c78d15b9_0_482"/>
          <p:cNvSpPr txBox="1"/>
          <p:nvPr/>
        </p:nvSpPr>
        <p:spPr>
          <a:xfrm>
            <a:off x="1635600" y="959575"/>
            <a:ext cx="8237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В какой-то момент все свободные блоки заканчиваются.. Что делать дальше?</a:t>
            </a:r>
            <a:endParaRPr lang="en-US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Уменьшить </a:t>
            </a:r>
            <a:r>
              <a:rPr lang="en-US" dirty="0">
                <a:solidFill>
                  <a:schemeClr val="dk1"/>
                </a:solidFill>
              </a:rPr>
              <a:t>usage count</a:t>
            </a:r>
            <a:r>
              <a:rPr lang="ru-RU" dirty="0">
                <a:solidFill>
                  <a:schemeClr val="dk1"/>
                </a:solidFill>
              </a:rPr>
              <a:t> -1;</a:t>
            </a:r>
            <a:endParaRPr lang="en-US" dirty="0"/>
          </a:p>
        </p:txBody>
      </p:sp>
      <p:sp>
        <p:nvSpPr>
          <p:cNvPr id="647" name="Google Shape;647;g143c78d15b9_0_482"/>
          <p:cNvSpPr/>
          <p:nvPr/>
        </p:nvSpPr>
        <p:spPr>
          <a:xfrm>
            <a:off x="6651454" y="1638129"/>
            <a:ext cx="3139246" cy="589601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1-1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143c78d15b9_0_482"/>
          <p:cNvSpPr/>
          <p:nvPr/>
        </p:nvSpPr>
        <p:spPr>
          <a:xfrm>
            <a:off x="6651454" y="2392881"/>
            <a:ext cx="3139246" cy="589601"/>
          </a:xfrm>
          <a:prstGeom prst="flowChartInternalStorag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1-1                 грязный буфер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143c78d15b9_0_482"/>
          <p:cNvSpPr/>
          <p:nvPr/>
        </p:nvSpPr>
        <p:spPr>
          <a:xfrm>
            <a:off x="6651454" y="3147632"/>
            <a:ext cx="3139246" cy="589601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2-1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143c78d15b9_0_482"/>
          <p:cNvSpPr/>
          <p:nvPr/>
        </p:nvSpPr>
        <p:spPr>
          <a:xfrm>
            <a:off x="6651454" y="3902384"/>
            <a:ext cx="3139246" cy="589601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1-1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143c78d15b9_0_482"/>
          <p:cNvSpPr/>
          <p:nvPr/>
        </p:nvSpPr>
        <p:spPr>
          <a:xfrm>
            <a:off x="6651454" y="4574275"/>
            <a:ext cx="3139246" cy="589601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4-1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143c78d15b9_0_482"/>
          <p:cNvSpPr/>
          <p:nvPr/>
        </p:nvSpPr>
        <p:spPr>
          <a:xfrm>
            <a:off x="6651454" y="5298349"/>
            <a:ext cx="3139246" cy="589601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1-1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143c78d15b9_0_482"/>
          <p:cNvSpPr/>
          <p:nvPr/>
        </p:nvSpPr>
        <p:spPr>
          <a:xfrm>
            <a:off x="1745845" y="2104325"/>
            <a:ext cx="1260954" cy="938574"/>
          </a:xfrm>
          <a:prstGeom prst="flowChartMultidocumen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свободные буферы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143c78d15b9_0_482"/>
          <p:cNvSpPr/>
          <p:nvPr/>
        </p:nvSpPr>
        <p:spPr>
          <a:xfrm>
            <a:off x="3231152" y="3184508"/>
            <a:ext cx="1260954" cy="877608"/>
          </a:xfrm>
          <a:prstGeom prst="flowChartDocumen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victim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143c78d15b9_0_482"/>
          <p:cNvSpPr/>
          <p:nvPr/>
        </p:nvSpPr>
        <p:spPr>
          <a:xfrm>
            <a:off x="1725850" y="4545021"/>
            <a:ext cx="1260954" cy="938574"/>
          </a:xfrm>
          <a:prstGeom prst="flowChartMultidocumen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хеш таблица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6" name="Google Shape;656;g143c78d15b9_0_4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1337" y="5246167"/>
            <a:ext cx="441213" cy="35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g143c78d15b9_0_4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1337" y="1575175"/>
            <a:ext cx="441213" cy="357724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g143c78d15b9_0_482"/>
          <p:cNvSpPr txBox="1"/>
          <p:nvPr/>
        </p:nvSpPr>
        <p:spPr>
          <a:xfrm>
            <a:off x="3111656" y="4553663"/>
            <a:ext cx="2760900" cy="9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g143c78d15b9_0_482"/>
          <p:cNvSpPr/>
          <p:nvPr/>
        </p:nvSpPr>
        <p:spPr>
          <a:xfrm>
            <a:off x="4242444" y="2015189"/>
            <a:ext cx="2408893" cy="1178760"/>
          </a:xfrm>
          <a:custGeom>
            <a:avLst/>
            <a:gdLst/>
            <a:ahLst/>
            <a:cxnLst/>
            <a:rect l="l" t="t" r="r" b="b"/>
            <a:pathLst>
              <a:path w="186700" h="78858" extrusionOk="0">
                <a:moveTo>
                  <a:pt x="0" y="78858"/>
                </a:moveTo>
                <a:cubicBezTo>
                  <a:pt x="31117" y="65715"/>
                  <a:pt x="155583" y="13143"/>
                  <a:pt x="186700" y="0"/>
                </a:cubicBezTo>
              </a:path>
            </a:pathLst>
          </a:custGeom>
          <a:noFill/>
          <a:ln w="9525" cap="flat" cmpd="sng">
            <a:solidFill>
              <a:srgbClr val="836E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g143c78d15b9_0_482"/>
          <p:cNvSpPr/>
          <p:nvPr/>
        </p:nvSpPr>
        <p:spPr>
          <a:xfrm>
            <a:off x="4492105" y="2770033"/>
            <a:ext cx="2146159" cy="522829"/>
          </a:xfrm>
          <a:custGeom>
            <a:avLst/>
            <a:gdLst/>
            <a:ahLst/>
            <a:cxnLst/>
            <a:rect l="l" t="t" r="r" b="b"/>
            <a:pathLst>
              <a:path w="186700" h="78858" extrusionOk="0">
                <a:moveTo>
                  <a:pt x="0" y="78858"/>
                </a:moveTo>
                <a:cubicBezTo>
                  <a:pt x="31117" y="65715"/>
                  <a:pt x="155583" y="13143"/>
                  <a:pt x="186700" y="0"/>
                </a:cubicBezTo>
              </a:path>
            </a:pathLst>
          </a:custGeom>
          <a:noFill/>
          <a:ln w="9525" cap="flat" cmpd="sng">
            <a:solidFill>
              <a:srgbClr val="836E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g143c78d15b9_0_482"/>
          <p:cNvSpPr/>
          <p:nvPr/>
        </p:nvSpPr>
        <p:spPr>
          <a:xfrm>
            <a:off x="4505296" y="3407983"/>
            <a:ext cx="2146041" cy="292020"/>
          </a:xfrm>
          <a:custGeom>
            <a:avLst/>
            <a:gdLst/>
            <a:ahLst/>
            <a:cxnLst/>
            <a:rect l="l" t="t" r="r" b="b"/>
            <a:pathLst>
              <a:path w="186700" h="78858" extrusionOk="0">
                <a:moveTo>
                  <a:pt x="0" y="78858"/>
                </a:moveTo>
                <a:cubicBezTo>
                  <a:pt x="31117" y="65715"/>
                  <a:pt x="155583" y="13143"/>
                  <a:pt x="186700" y="0"/>
                </a:cubicBezTo>
              </a:path>
            </a:pathLst>
          </a:custGeom>
          <a:noFill/>
          <a:ln w="9525" cap="flat" cmpd="sng">
            <a:solidFill>
              <a:srgbClr val="836E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143c78d15b9_0_516"/>
          <p:cNvSpPr txBox="1">
            <a:spLocks noGrp="1"/>
          </p:cNvSpPr>
          <p:nvPr>
            <p:ph type="title"/>
          </p:nvPr>
        </p:nvSpPr>
        <p:spPr>
          <a:xfrm>
            <a:off x="1725850" y="502450"/>
            <a:ext cx="8237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БУФЕРНЫЙ КЕШ. ЧТЕНИЕ С ВЫТЕСНЕНИЕМ</a:t>
            </a:r>
            <a:endParaRPr/>
          </a:p>
        </p:txBody>
      </p:sp>
      <p:sp>
        <p:nvSpPr>
          <p:cNvPr id="667" name="Google Shape;667;g143c78d15b9_0_51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  <p:sp>
        <p:nvSpPr>
          <p:cNvPr id="668" name="Google Shape;668;g143c78d15b9_0_516"/>
          <p:cNvSpPr txBox="1"/>
          <p:nvPr/>
        </p:nvSpPr>
        <p:spPr>
          <a:xfrm>
            <a:off x="1635600" y="959575"/>
            <a:ext cx="82374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dirty="0">
                <a:solidFill>
                  <a:schemeClr val="dk1"/>
                </a:solidFill>
              </a:rPr>
              <a:t>После уменьшения счётчика </a:t>
            </a:r>
            <a:r>
              <a:rPr lang="en-US" dirty="0">
                <a:solidFill>
                  <a:schemeClr val="dk1"/>
                </a:solidFill>
              </a:rPr>
              <a:t>usage count</a:t>
            </a:r>
            <a:r>
              <a:rPr lang="ru-RU" dirty="0">
                <a:solidFill>
                  <a:schemeClr val="dk1"/>
                </a:solidFill>
              </a:rPr>
              <a:t> появятся буферы с «0»</a:t>
            </a:r>
            <a:endParaRPr lang="en-US" dirty="0"/>
          </a:p>
        </p:txBody>
      </p:sp>
      <p:sp>
        <p:nvSpPr>
          <p:cNvPr id="669" name="Google Shape;669;g143c78d15b9_0_516"/>
          <p:cNvSpPr/>
          <p:nvPr/>
        </p:nvSpPr>
        <p:spPr>
          <a:xfrm>
            <a:off x="6651454" y="1638129"/>
            <a:ext cx="3139246" cy="589601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dirty="0"/>
              <a:t>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143c78d15b9_0_516"/>
          <p:cNvSpPr/>
          <p:nvPr/>
        </p:nvSpPr>
        <p:spPr>
          <a:xfrm>
            <a:off x="6651454" y="2392881"/>
            <a:ext cx="3139246" cy="589601"/>
          </a:xfrm>
          <a:prstGeom prst="flowChartInternalStorag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dirty="0"/>
              <a:t>0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грязный буфер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143c78d15b9_0_516"/>
          <p:cNvSpPr/>
          <p:nvPr/>
        </p:nvSpPr>
        <p:spPr>
          <a:xfrm>
            <a:off x="6651454" y="3147632"/>
            <a:ext cx="3139246" cy="589601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dirty="0"/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143c78d15b9_0_516"/>
          <p:cNvSpPr/>
          <p:nvPr/>
        </p:nvSpPr>
        <p:spPr>
          <a:xfrm>
            <a:off x="6651454" y="3902384"/>
            <a:ext cx="3139246" cy="589601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dirty="0"/>
              <a:t>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g143c78d15b9_0_516"/>
          <p:cNvSpPr/>
          <p:nvPr/>
        </p:nvSpPr>
        <p:spPr>
          <a:xfrm>
            <a:off x="6651454" y="4574275"/>
            <a:ext cx="3139246" cy="589601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dirty="0"/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143c78d15b9_0_516"/>
          <p:cNvSpPr/>
          <p:nvPr/>
        </p:nvSpPr>
        <p:spPr>
          <a:xfrm>
            <a:off x="6651454" y="5298349"/>
            <a:ext cx="3139246" cy="589601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dirty="0"/>
              <a:t>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143c78d15b9_0_516"/>
          <p:cNvSpPr/>
          <p:nvPr/>
        </p:nvSpPr>
        <p:spPr>
          <a:xfrm>
            <a:off x="1745845" y="2104325"/>
            <a:ext cx="1260954" cy="938574"/>
          </a:xfrm>
          <a:prstGeom prst="flowChartMultidocumen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свободные буферы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143c78d15b9_0_516"/>
          <p:cNvSpPr/>
          <p:nvPr/>
        </p:nvSpPr>
        <p:spPr>
          <a:xfrm>
            <a:off x="1725850" y="4545021"/>
            <a:ext cx="1260954" cy="938574"/>
          </a:xfrm>
          <a:prstGeom prst="flowChartMultidocumen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хеш таблица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8" name="Google Shape;678;g143c78d15b9_0_5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1337" y="5246167"/>
            <a:ext cx="441213" cy="35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g143c78d15b9_0_5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1337" y="1575175"/>
            <a:ext cx="441213" cy="357724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g143c78d15b9_0_516"/>
          <p:cNvSpPr txBox="1"/>
          <p:nvPr/>
        </p:nvSpPr>
        <p:spPr>
          <a:xfrm>
            <a:off x="3111656" y="4553663"/>
            <a:ext cx="2760900" cy="9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654;g143c78d15b9_0_482">
            <a:extLst>
              <a:ext uri="{FF2B5EF4-FFF2-40B4-BE49-F238E27FC236}">
                <a16:creationId xmlns:a16="http://schemas.microsoft.com/office/drawing/2014/main" id="{0D1EE986-CD26-4A05-9312-CA4CDA5B98FF}"/>
              </a:ext>
            </a:extLst>
          </p:cNvPr>
          <p:cNvSpPr/>
          <p:nvPr/>
        </p:nvSpPr>
        <p:spPr>
          <a:xfrm>
            <a:off x="3231152" y="3184508"/>
            <a:ext cx="1260954" cy="877608"/>
          </a:xfrm>
          <a:prstGeom prst="flowChartDocumen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victim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659;g143c78d15b9_0_482">
            <a:extLst>
              <a:ext uri="{FF2B5EF4-FFF2-40B4-BE49-F238E27FC236}">
                <a16:creationId xmlns:a16="http://schemas.microsoft.com/office/drawing/2014/main" id="{7024697B-BAFC-4D9B-B082-1987659DFA97}"/>
              </a:ext>
            </a:extLst>
          </p:cNvPr>
          <p:cNvSpPr/>
          <p:nvPr/>
        </p:nvSpPr>
        <p:spPr>
          <a:xfrm>
            <a:off x="4242444" y="2015189"/>
            <a:ext cx="2408893" cy="1178760"/>
          </a:xfrm>
          <a:custGeom>
            <a:avLst/>
            <a:gdLst/>
            <a:ahLst/>
            <a:cxnLst/>
            <a:rect l="l" t="t" r="r" b="b"/>
            <a:pathLst>
              <a:path w="186700" h="78858" extrusionOk="0">
                <a:moveTo>
                  <a:pt x="0" y="78858"/>
                </a:moveTo>
                <a:cubicBezTo>
                  <a:pt x="31117" y="65715"/>
                  <a:pt x="155583" y="13143"/>
                  <a:pt x="186700" y="0"/>
                </a:cubicBezTo>
              </a:path>
            </a:pathLst>
          </a:custGeom>
          <a:noFill/>
          <a:ln w="9525" cap="flat" cmpd="sng">
            <a:solidFill>
              <a:srgbClr val="836E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660;g143c78d15b9_0_482">
            <a:extLst>
              <a:ext uri="{FF2B5EF4-FFF2-40B4-BE49-F238E27FC236}">
                <a16:creationId xmlns:a16="http://schemas.microsoft.com/office/drawing/2014/main" id="{BFF462DC-24D7-4F9D-A2BE-5A6004FC6308}"/>
              </a:ext>
            </a:extLst>
          </p:cNvPr>
          <p:cNvSpPr/>
          <p:nvPr/>
        </p:nvSpPr>
        <p:spPr>
          <a:xfrm>
            <a:off x="4492105" y="2770033"/>
            <a:ext cx="2146159" cy="522829"/>
          </a:xfrm>
          <a:custGeom>
            <a:avLst/>
            <a:gdLst/>
            <a:ahLst/>
            <a:cxnLst/>
            <a:rect l="l" t="t" r="r" b="b"/>
            <a:pathLst>
              <a:path w="186700" h="78858" extrusionOk="0">
                <a:moveTo>
                  <a:pt x="0" y="78858"/>
                </a:moveTo>
                <a:cubicBezTo>
                  <a:pt x="31117" y="65715"/>
                  <a:pt x="155583" y="13143"/>
                  <a:pt x="186700" y="0"/>
                </a:cubicBezTo>
              </a:path>
            </a:pathLst>
          </a:custGeom>
          <a:noFill/>
          <a:ln w="9525" cap="flat" cmpd="sng">
            <a:solidFill>
              <a:srgbClr val="836E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661;g143c78d15b9_0_482">
            <a:extLst>
              <a:ext uri="{FF2B5EF4-FFF2-40B4-BE49-F238E27FC236}">
                <a16:creationId xmlns:a16="http://schemas.microsoft.com/office/drawing/2014/main" id="{D54D16F1-A178-4330-A6EF-EC7831EA34BB}"/>
              </a:ext>
            </a:extLst>
          </p:cNvPr>
          <p:cNvSpPr/>
          <p:nvPr/>
        </p:nvSpPr>
        <p:spPr>
          <a:xfrm>
            <a:off x="4505296" y="3407983"/>
            <a:ext cx="2146041" cy="292020"/>
          </a:xfrm>
          <a:custGeom>
            <a:avLst/>
            <a:gdLst/>
            <a:ahLst/>
            <a:cxnLst/>
            <a:rect l="l" t="t" r="r" b="b"/>
            <a:pathLst>
              <a:path w="186700" h="78858" extrusionOk="0">
                <a:moveTo>
                  <a:pt x="0" y="78858"/>
                </a:moveTo>
                <a:cubicBezTo>
                  <a:pt x="31117" y="65715"/>
                  <a:pt x="155583" y="13143"/>
                  <a:pt x="186700" y="0"/>
                </a:cubicBezTo>
              </a:path>
            </a:pathLst>
          </a:custGeom>
          <a:noFill/>
          <a:ln w="9525" cap="flat" cmpd="sng">
            <a:solidFill>
              <a:srgbClr val="836E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43c78d15b9_0_537"/>
          <p:cNvSpPr txBox="1">
            <a:spLocks noGrp="1"/>
          </p:cNvSpPr>
          <p:nvPr>
            <p:ph type="title"/>
          </p:nvPr>
        </p:nvSpPr>
        <p:spPr>
          <a:xfrm>
            <a:off x="1725850" y="502450"/>
            <a:ext cx="8237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БУФЕРНЫЙ КЕШ. ЧТЕНИЕ С ВЫТЕСНЕНИЕМ</a:t>
            </a:r>
            <a:endParaRPr/>
          </a:p>
        </p:txBody>
      </p:sp>
      <p:sp>
        <p:nvSpPr>
          <p:cNvPr id="689" name="Google Shape;689;g143c78d15b9_0_53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  <p:sp>
        <p:nvSpPr>
          <p:cNvPr id="690" name="Google Shape;690;g143c78d15b9_0_537"/>
          <p:cNvSpPr txBox="1"/>
          <p:nvPr/>
        </p:nvSpPr>
        <p:spPr>
          <a:xfrm>
            <a:off x="1635600" y="937000"/>
            <a:ext cx="82374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Грязную страницу нужно </a:t>
            </a:r>
            <a:r>
              <a:rPr lang="ru-RU" dirty="0">
                <a:solidFill>
                  <a:schemeClr val="dk2"/>
                </a:solidFill>
              </a:rPr>
              <a:t>заменить, </a:t>
            </a:r>
            <a:r>
              <a:rPr lang="ru-RU" dirty="0">
                <a:solidFill>
                  <a:schemeClr val="tx1"/>
                </a:solidFill>
              </a:rPr>
              <a:t>но для этого ее нужно сбросить на диск, что требует много времени. </a:t>
            </a:r>
            <a:r>
              <a:rPr lang="ru-RU" dirty="0">
                <a:solidFill>
                  <a:schemeClr val="dk1"/>
                </a:solidFill>
              </a:rPr>
              <a:t>Частично сглаживается процессом </a:t>
            </a:r>
            <a:r>
              <a:rPr lang="ru-RU" dirty="0" err="1">
                <a:solidFill>
                  <a:schemeClr val="dk2"/>
                </a:solidFill>
              </a:rPr>
              <a:t>bgwriter</a:t>
            </a:r>
            <a:r>
              <a:rPr lang="ru-RU" dirty="0">
                <a:solidFill>
                  <a:schemeClr val="dk1"/>
                </a:solidFill>
              </a:rPr>
              <a:t> и механизмом контрольных точек </a:t>
            </a:r>
            <a:r>
              <a:rPr lang="en-US" dirty="0">
                <a:solidFill>
                  <a:schemeClr val="bg2"/>
                </a:solidFill>
              </a:rPr>
              <a:t>check points</a:t>
            </a:r>
            <a:r>
              <a:rPr lang="ru-RU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91" name="Google Shape;691;g143c78d15b9_0_537"/>
          <p:cNvSpPr/>
          <p:nvPr/>
        </p:nvSpPr>
        <p:spPr>
          <a:xfrm>
            <a:off x="6360705" y="1643825"/>
            <a:ext cx="2953942" cy="58663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g143c78d15b9_0_537"/>
          <p:cNvSpPr/>
          <p:nvPr/>
        </p:nvSpPr>
        <p:spPr>
          <a:xfrm>
            <a:off x="6360705" y="2466844"/>
            <a:ext cx="2953942" cy="586638"/>
          </a:xfrm>
          <a:prstGeom prst="flowChartInternalStorag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         грязный буфер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143c78d15b9_0_537"/>
          <p:cNvSpPr/>
          <p:nvPr/>
        </p:nvSpPr>
        <p:spPr>
          <a:xfrm>
            <a:off x="6360705" y="3217803"/>
            <a:ext cx="2953942" cy="58663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143c78d15b9_0_537"/>
          <p:cNvSpPr/>
          <p:nvPr/>
        </p:nvSpPr>
        <p:spPr>
          <a:xfrm>
            <a:off x="6360705" y="3968762"/>
            <a:ext cx="2953942" cy="58663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g143c78d15b9_0_537"/>
          <p:cNvSpPr/>
          <p:nvPr/>
        </p:nvSpPr>
        <p:spPr>
          <a:xfrm>
            <a:off x="6360705" y="4637277"/>
            <a:ext cx="2953942" cy="58663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143c78d15b9_0_537"/>
          <p:cNvSpPr/>
          <p:nvPr/>
        </p:nvSpPr>
        <p:spPr>
          <a:xfrm>
            <a:off x="6360705" y="5357712"/>
            <a:ext cx="2953942" cy="58663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g143c78d15b9_0_537"/>
          <p:cNvSpPr/>
          <p:nvPr/>
        </p:nvSpPr>
        <p:spPr>
          <a:xfrm>
            <a:off x="1744664" y="2179739"/>
            <a:ext cx="1186542" cy="933930"/>
          </a:xfrm>
          <a:prstGeom prst="flowChartMultidocumen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свободные буферы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143c78d15b9_0_537"/>
          <p:cNvSpPr/>
          <p:nvPr/>
        </p:nvSpPr>
        <p:spPr>
          <a:xfrm>
            <a:off x="1725850" y="4608170"/>
            <a:ext cx="1186542" cy="933930"/>
          </a:xfrm>
          <a:prstGeom prst="flowChartMultidocumen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хеш таблица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9" name="Google Shape;699;g143c78d15b9_0_5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2195" y="5305792"/>
            <a:ext cx="415171" cy="3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g143c78d15b9_0_5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9852" y="1643826"/>
            <a:ext cx="399876" cy="34620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g143c78d15b9_0_537"/>
          <p:cNvSpPr txBox="1"/>
          <p:nvPr/>
        </p:nvSpPr>
        <p:spPr>
          <a:xfrm>
            <a:off x="3008636" y="4744809"/>
            <a:ext cx="2598300" cy="9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g143c78d15b9_0_537"/>
          <p:cNvSpPr/>
          <p:nvPr/>
        </p:nvSpPr>
        <p:spPr>
          <a:xfrm>
            <a:off x="3684233" y="2125168"/>
            <a:ext cx="2676927" cy="1202152"/>
          </a:xfrm>
          <a:custGeom>
            <a:avLst/>
            <a:gdLst/>
            <a:ahLst/>
            <a:cxnLst/>
            <a:rect l="l" t="t" r="r" b="b"/>
            <a:pathLst>
              <a:path w="186700" h="78858" extrusionOk="0">
                <a:moveTo>
                  <a:pt x="0" y="78858"/>
                </a:moveTo>
                <a:cubicBezTo>
                  <a:pt x="31117" y="65715"/>
                  <a:pt x="155583" y="13143"/>
                  <a:pt x="186700" y="0"/>
                </a:cubicBezTo>
              </a:path>
            </a:pathLst>
          </a:custGeom>
          <a:noFill/>
          <a:ln w="9525" cap="flat" cmpd="sng">
            <a:solidFill>
              <a:srgbClr val="836E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g143c78d15b9_0_537"/>
          <p:cNvSpPr/>
          <p:nvPr/>
        </p:nvSpPr>
        <p:spPr>
          <a:xfrm>
            <a:off x="4075781" y="2842101"/>
            <a:ext cx="2273038" cy="659677"/>
          </a:xfrm>
          <a:custGeom>
            <a:avLst/>
            <a:gdLst/>
            <a:ahLst/>
            <a:cxnLst/>
            <a:rect l="l" t="t" r="r" b="b"/>
            <a:pathLst>
              <a:path w="186700" h="78858" extrusionOk="0">
                <a:moveTo>
                  <a:pt x="0" y="78858"/>
                </a:moveTo>
                <a:cubicBezTo>
                  <a:pt x="31117" y="65715"/>
                  <a:pt x="155583" y="13143"/>
                  <a:pt x="186700" y="0"/>
                </a:cubicBezTo>
              </a:path>
            </a:pathLst>
          </a:custGeom>
          <a:noFill/>
          <a:ln w="9525" cap="flat" cmpd="sng">
            <a:solidFill>
              <a:srgbClr val="836E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g143c78d15b9_0_537"/>
          <p:cNvSpPr/>
          <p:nvPr/>
        </p:nvSpPr>
        <p:spPr>
          <a:xfrm>
            <a:off x="4063894" y="3448518"/>
            <a:ext cx="2297265" cy="345527"/>
          </a:xfrm>
          <a:custGeom>
            <a:avLst/>
            <a:gdLst/>
            <a:ahLst/>
            <a:cxnLst/>
            <a:rect l="l" t="t" r="r" b="b"/>
            <a:pathLst>
              <a:path w="186700" h="78858" extrusionOk="0">
                <a:moveTo>
                  <a:pt x="0" y="78858"/>
                </a:moveTo>
                <a:cubicBezTo>
                  <a:pt x="31117" y="65715"/>
                  <a:pt x="155583" y="13143"/>
                  <a:pt x="186700" y="0"/>
                </a:cubicBezTo>
              </a:path>
            </a:pathLst>
          </a:custGeom>
          <a:noFill/>
          <a:ln w="9525" cap="flat" cmpd="sng">
            <a:solidFill>
              <a:srgbClr val="836E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g143c78d15b9_0_537"/>
          <p:cNvSpPr/>
          <p:nvPr/>
        </p:nvSpPr>
        <p:spPr>
          <a:xfrm>
            <a:off x="4055950" y="1602250"/>
            <a:ext cx="2027100" cy="873000"/>
          </a:xfrm>
          <a:prstGeom prst="wedgeEllipseCallout">
            <a:avLst>
              <a:gd name="adj1" fmla="val 70114"/>
              <a:gd name="adj2" fmla="val 7688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нельзя использовать, так как закреплен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g143c78d15b9_0_537"/>
          <p:cNvSpPr/>
          <p:nvPr/>
        </p:nvSpPr>
        <p:spPr>
          <a:xfrm>
            <a:off x="9326533" y="2203828"/>
            <a:ext cx="1282283" cy="1098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g143c78d15b9_0_537"/>
          <p:cNvSpPr/>
          <p:nvPr/>
        </p:nvSpPr>
        <p:spPr>
          <a:xfrm>
            <a:off x="2877353" y="3328188"/>
            <a:ext cx="1186542" cy="873126"/>
          </a:xfrm>
          <a:prstGeom prst="flowChartDocumen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victim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143c78d15b9_0_576"/>
          <p:cNvSpPr txBox="1">
            <a:spLocks noGrp="1"/>
          </p:cNvSpPr>
          <p:nvPr>
            <p:ph type="title"/>
          </p:nvPr>
        </p:nvSpPr>
        <p:spPr>
          <a:xfrm>
            <a:off x="1725850" y="502450"/>
            <a:ext cx="8237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БУФЕРНЫЙ КЕШ. ЧТЕНИЕ С ВЫТЕСНЕНИЕМ</a:t>
            </a:r>
            <a:endParaRPr/>
          </a:p>
        </p:txBody>
      </p:sp>
      <p:sp>
        <p:nvSpPr>
          <p:cNvPr id="713" name="Google Shape;713;g143c78d15b9_0_57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  <p:sp>
        <p:nvSpPr>
          <p:cNvPr id="714" name="Google Shape;714;g143c78d15b9_0_576"/>
          <p:cNvSpPr/>
          <p:nvPr/>
        </p:nvSpPr>
        <p:spPr>
          <a:xfrm>
            <a:off x="6962563" y="1222567"/>
            <a:ext cx="3337526" cy="64099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g143c78d15b9_0_576"/>
          <p:cNvSpPr/>
          <p:nvPr/>
        </p:nvSpPr>
        <p:spPr>
          <a:xfrm>
            <a:off x="6962563" y="2043111"/>
            <a:ext cx="3337526" cy="640998"/>
          </a:xfrm>
          <a:prstGeom prst="flowChartInternalStorage">
            <a:avLst/>
          </a:prstGeom>
          <a:gradFill>
            <a:gsLst>
              <a:gs pos="0">
                <a:srgbClr val="FFF6DB"/>
              </a:gs>
              <a:gs pos="100000">
                <a:srgbClr val="FAD25C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g143c78d15b9_0_576"/>
          <p:cNvSpPr/>
          <p:nvPr/>
        </p:nvSpPr>
        <p:spPr>
          <a:xfrm>
            <a:off x="6962563" y="2863655"/>
            <a:ext cx="3337526" cy="64099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g143c78d15b9_0_576"/>
          <p:cNvSpPr/>
          <p:nvPr/>
        </p:nvSpPr>
        <p:spPr>
          <a:xfrm>
            <a:off x="6962563" y="3684199"/>
            <a:ext cx="3337526" cy="64099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g143c78d15b9_0_576"/>
          <p:cNvSpPr/>
          <p:nvPr/>
        </p:nvSpPr>
        <p:spPr>
          <a:xfrm>
            <a:off x="6962563" y="4414661"/>
            <a:ext cx="3337526" cy="64099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g143c78d15b9_0_576"/>
          <p:cNvSpPr/>
          <p:nvPr/>
        </p:nvSpPr>
        <p:spPr>
          <a:xfrm>
            <a:off x="6962563" y="5201852"/>
            <a:ext cx="3337526" cy="640998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g143c78d15b9_0_576"/>
          <p:cNvSpPr/>
          <p:nvPr/>
        </p:nvSpPr>
        <p:spPr>
          <a:xfrm>
            <a:off x="1747107" y="1729402"/>
            <a:ext cx="1340604" cy="1020384"/>
          </a:xfrm>
          <a:prstGeom prst="flowChartMultidocumen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свободные буферы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g143c78d15b9_0_576"/>
          <p:cNvSpPr/>
          <p:nvPr/>
        </p:nvSpPr>
        <p:spPr>
          <a:xfrm>
            <a:off x="1725850" y="4382856"/>
            <a:ext cx="1340604" cy="1020384"/>
          </a:xfrm>
          <a:prstGeom prst="flowChartMultidocumen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хеш таблица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2" name="Google Shape;722;g143c78d15b9_0_5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2439" y="5145122"/>
            <a:ext cx="469082" cy="388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g143c78d15b9_0_5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2439" y="1154125"/>
            <a:ext cx="469082" cy="388907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g143c78d15b9_0_576"/>
          <p:cNvSpPr/>
          <p:nvPr/>
        </p:nvSpPr>
        <p:spPr>
          <a:xfrm>
            <a:off x="10314024" y="2142250"/>
            <a:ext cx="875400" cy="4428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g143c78d15b9_0_576"/>
          <p:cNvSpPr/>
          <p:nvPr/>
        </p:nvSpPr>
        <p:spPr>
          <a:xfrm>
            <a:off x="3094367" y="2244673"/>
            <a:ext cx="3868147" cy="2540706"/>
          </a:xfrm>
          <a:custGeom>
            <a:avLst/>
            <a:gdLst/>
            <a:ahLst/>
            <a:cxnLst/>
            <a:rect l="l" t="t" r="r" b="b"/>
            <a:pathLst>
              <a:path w="188048" h="83914" extrusionOk="0">
                <a:moveTo>
                  <a:pt x="0" y="83914"/>
                </a:moveTo>
                <a:cubicBezTo>
                  <a:pt x="2359" y="77736"/>
                  <a:pt x="3258" y="58863"/>
                  <a:pt x="14154" y="46843"/>
                </a:cubicBezTo>
                <a:cubicBezTo>
                  <a:pt x="25051" y="34823"/>
                  <a:pt x="44373" y="19546"/>
                  <a:pt x="65379" y="11795"/>
                </a:cubicBezTo>
                <a:cubicBezTo>
                  <a:pt x="86386" y="4044"/>
                  <a:pt x="119748" y="1685"/>
                  <a:pt x="140193" y="337"/>
                </a:cubicBezTo>
                <a:cubicBezTo>
                  <a:pt x="160638" y="-1011"/>
                  <a:pt x="180072" y="3145"/>
                  <a:pt x="188048" y="3707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g143c78d15b9_0_576"/>
          <p:cNvSpPr/>
          <p:nvPr/>
        </p:nvSpPr>
        <p:spPr>
          <a:xfrm>
            <a:off x="3094491" y="2142262"/>
            <a:ext cx="3867940" cy="1927405"/>
          </a:xfrm>
          <a:custGeom>
            <a:avLst/>
            <a:gdLst/>
            <a:ahLst/>
            <a:cxnLst/>
            <a:rect l="l" t="t" r="r" b="b"/>
            <a:pathLst>
              <a:path w="189396" h="152999" extrusionOk="0">
                <a:moveTo>
                  <a:pt x="0" y="0"/>
                </a:moveTo>
                <a:cubicBezTo>
                  <a:pt x="14267" y="2921"/>
                  <a:pt x="59425" y="2247"/>
                  <a:pt x="85599" y="17524"/>
                </a:cubicBezTo>
                <a:cubicBezTo>
                  <a:pt x="111773" y="32801"/>
                  <a:pt x="139744" y="69085"/>
                  <a:pt x="157043" y="91664"/>
                </a:cubicBezTo>
                <a:cubicBezTo>
                  <a:pt x="174343" y="114243"/>
                  <a:pt x="184004" y="142777"/>
                  <a:pt x="189396" y="152999"/>
                </a:cubicBezTo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g143c78d15b9_0_576"/>
          <p:cNvSpPr/>
          <p:nvPr/>
        </p:nvSpPr>
        <p:spPr>
          <a:xfrm>
            <a:off x="1725850" y="3115746"/>
            <a:ext cx="1340604" cy="954072"/>
          </a:xfrm>
          <a:prstGeom prst="flowChartDocumen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victim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43c78d15b9_0_94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БУФЕРНЫЙ КЕШ. НАСТРОЙКА</a:t>
            </a:r>
            <a:endParaRPr/>
          </a:p>
        </p:txBody>
      </p:sp>
      <p:sp>
        <p:nvSpPr>
          <p:cNvPr id="733" name="Google Shape;733;g143c78d15b9_0_94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  <p:sp>
        <p:nvSpPr>
          <p:cNvPr id="734" name="Google Shape;734;g143c78d15b9_0_947"/>
          <p:cNvSpPr txBox="1">
            <a:spLocks noGrp="1"/>
          </p:cNvSpPr>
          <p:nvPr>
            <p:ph type="body" idx="1"/>
          </p:nvPr>
        </p:nvSpPr>
        <p:spPr>
          <a:xfrm>
            <a:off x="1725850" y="1766550"/>
            <a:ext cx="7544400" cy="3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</a:rPr>
              <a:t>По умолчанию </a:t>
            </a:r>
            <a:r>
              <a:rPr lang="ru-RU" sz="1800" dirty="0" err="1">
                <a:solidFill>
                  <a:schemeClr val="dk2"/>
                </a:solidFill>
              </a:rPr>
              <a:t>shared_buffers</a:t>
            </a:r>
            <a:r>
              <a:rPr lang="ru-RU" sz="1800" dirty="0">
                <a:solidFill>
                  <a:schemeClr val="dk2"/>
                </a:solidFill>
              </a:rPr>
              <a:t> = 128MB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Буферный кэш должен содержать «активные» данные: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 dirty="0">
                <a:solidFill>
                  <a:schemeClr val="dk1"/>
                </a:solidFill>
              </a:rPr>
              <a:t>при меньшем размере постоянно вытесняются полезные страницы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 dirty="0">
                <a:solidFill>
                  <a:schemeClr val="dk1"/>
                </a:solidFill>
              </a:rPr>
              <a:t>при большем размере бессмысленно растут накладные расходы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</a:rPr>
              <a:t>начальная рекомендация — </a:t>
            </a:r>
            <a:r>
              <a:rPr lang="ru-RU" sz="1800" dirty="0">
                <a:solidFill>
                  <a:schemeClr val="dk2"/>
                </a:solidFill>
              </a:rPr>
              <a:t>25%</a:t>
            </a:r>
            <a:r>
              <a:rPr lang="ru-RU" sz="1800" dirty="0">
                <a:solidFill>
                  <a:schemeClr val="dk1"/>
                </a:solidFill>
              </a:rPr>
              <a:t> ОЗУ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FF0000"/>
                </a:solidFill>
              </a:rPr>
              <a:t>Нужно учитывать двойное кэширование - если страницы нет в кэше СУБД, она может оказаться в кэше ОС, но алгоритм вытеснения ОС не учитывает специфики базы данных.</a:t>
            </a:r>
            <a:endParaRPr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43c78d15b9_0_114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БУФЕРНЫЙ КЕШ. РАЗОГРЕВ КЕША</a:t>
            </a:r>
            <a:endParaRPr/>
          </a:p>
        </p:txBody>
      </p:sp>
      <p:sp>
        <p:nvSpPr>
          <p:cNvPr id="740" name="Google Shape;740;g143c78d15b9_0_114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  <p:sp>
        <p:nvSpPr>
          <p:cNvPr id="741" name="Google Shape;741;g143c78d15b9_0_1146"/>
          <p:cNvSpPr/>
          <p:nvPr/>
        </p:nvSpPr>
        <p:spPr>
          <a:xfrm>
            <a:off x="1725850" y="3020925"/>
            <a:ext cx="7771800" cy="7179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684000" tIns="108000" rIns="180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800"/>
              <a:t>используется после рестарта кластера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742" name="Google Shape;742;g143c78d15b9_0_1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025" y="3187425"/>
            <a:ext cx="385661" cy="3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g143c78d15b9_0_1146"/>
          <p:cNvSpPr/>
          <p:nvPr/>
        </p:nvSpPr>
        <p:spPr>
          <a:xfrm>
            <a:off x="1749051" y="4002275"/>
            <a:ext cx="7771800" cy="7179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684000" tIns="108000" rIns="180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/>
              <a:t>заполняет кэш указанными таблицами</a:t>
            </a:r>
            <a:endParaRPr sz="1800" b="1" u="none" strike="noStrike" cap="none">
              <a:solidFill>
                <a:srgbClr val="836ED3"/>
              </a:solidFill>
            </a:endParaRPr>
          </a:p>
        </p:txBody>
      </p:sp>
      <p:pic>
        <p:nvPicPr>
          <p:cNvPr id="744" name="Google Shape;744;g143c78d15b9_0_1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9025" y="4168775"/>
            <a:ext cx="385650" cy="38489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g143c78d15b9_0_1146"/>
          <p:cNvSpPr/>
          <p:nvPr/>
        </p:nvSpPr>
        <p:spPr>
          <a:xfrm>
            <a:off x="1737450" y="2137801"/>
            <a:ext cx="7771800" cy="5295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6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pg_prewarm</a:t>
            </a:r>
            <a:endParaRPr sz="16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751" name="Google Shape;751;p1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  <p:sp>
        <p:nvSpPr>
          <p:cNvPr id="752" name="Google Shape;752;p17"/>
          <p:cNvSpPr/>
          <p:nvPr/>
        </p:nvSpPr>
        <p:spPr>
          <a:xfrm>
            <a:off x="1703400" y="2393222"/>
            <a:ext cx="2714100" cy="2095500"/>
          </a:xfrm>
          <a:prstGeom prst="roundRect">
            <a:avLst>
              <a:gd name="adj" fmla="val 5760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Узнали подробное устройство буферного кеша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7"/>
          <p:cNvSpPr/>
          <p:nvPr/>
        </p:nvSpPr>
        <p:spPr>
          <a:xfrm>
            <a:off x="4738875" y="2393222"/>
            <a:ext cx="2714100" cy="2095500"/>
          </a:xfrm>
          <a:prstGeom prst="roundRect">
            <a:avLst>
              <a:gd name="adj" fmla="val 521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Поняли принцип его работы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4" name="Google Shape;754;p17"/>
          <p:cNvSpPr/>
          <p:nvPr/>
        </p:nvSpPr>
        <p:spPr>
          <a:xfrm>
            <a:off x="7774375" y="2393222"/>
            <a:ext cx="2714100" cy="2095500"/>
          </a:xfrm>
          <a:prstGeom prst="roundRect">
            <a:avLst>
              <a:gd name="adj" fmla="val 630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Узнали зачем нужна утилита pg_prewarm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55" name="Google Shape;75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141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6099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6025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g143c78d15b9_1_246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g143c78d15b9_1_246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g143c78d15b9_1_246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g143c78d15b9_1_246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66" name="Google Shape;766;g143c78d15b9_1_246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767" name="Google Shape;767;g143c78d15b9_1_246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768" name="Google Shape;768;g143c78d15b9_1_246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9" name="Google Shape;769;g143c78d15b9_1_246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0" name="Google Shape;770;g143c78d15b9_1_246"/>
          <p:cNvSpPr txBox="1"/>
          <p:nvPr/>
        </p:nvSpPr>
        <p:spPr>
          <a:xfrm>
            <a:off x="1715258" y="2280384"/>
            <a:ext cx="8119200" cy="16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ПРОВЕРОЧНОЕ</a:t>
            </a:r>
            <a:endParaRPr sz="700"/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</a:t>
            </a:r>
            <a:endParaRPr sz="700"/>
          </a:p>
        </p:txBody>
      </p:sp>
      <p:sp>
        <p:nvSpPr>
          <p:cNvPr id="771" name="Google Shape;771;g143c78d15b9_1_246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2" name="Google Shape;772;g143c78d15b9_1_246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begin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3" name="Google Shape;773;g143c78d15b9_1_246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74" name="Google Shape;774;g143c78d15b9_1_246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775" name="Google Shape;775;g143c78d15b9_1_246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g143c78d15b9_1_246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7" name="Google Shape;777;g143c78d15b9_1_246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8" name="Google Shape;778;g143c78d15b9_1_246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9" name="Google Shape;779;g143c78d15b9_1_246"/>
          <p:cNvSpPr txBox="1"/>
          <p:nvPr/>
        </p:nvSpPr>
        <p:spPr>
          <a:xfrm>
            <a:off x="1715259" y="3938927"/>
            <a:ext cx="53292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1">
                <a:solidFill>
                  <a:srgbClr val="FFFFFF"/>
                </a:solidFill>
              </a:rPr>
              <a:t>Цель задания:</a:t>
            </a:r>
            <a:r>
              <a:rPr lang="ru-RU" sz="1600">
                <a:solidFill>
                  <a:srgbClr val="FFFFFF"/>
                </a:solidFill>
              </a:rPr>
              <a:t> Загрузить в буфер данные для горячего доступа после рестарта сервера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143c78d15b9_0_73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rgbClr val="030124"/>
                </a:solidFill>
              </a:rPr>
              <a:t>ЗАДАНИЕ ДЛЯ САМОПРОВЕРКИ</a:t>
            </a:r>
            <a:endParaRPr/>
          </a:p>
        </p:txBody>
      </p:sp>
      <p:sp>
        <p:nvSpPr>
          <p:cNvPr id="785" name="Google Shape;785;g143c78d15b9_0_731"/>
          <p:cNvSpPr txBox="1"/>
          <p:nvPr/>
        </p:nvSpPr>
        <p:spPr>
          <a:xfrm>
            <a:off x="1765647" y="2292575"/>
            <a:ext cx="19377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использовать существующую или создать новую таблицу с данными</a:t>
            </a:r>
            <a:endParaRPr sz="1600"/>
          </a:p>
        </p:txBody>
      </p:sp>
      <p:sp>
        <p:nvSpPr>
          <p:cNvPr id="786" name="Google Shape;786;g143c78d15b9_0_731"/>
          <p:cNvSpPr txBox="1"/>
          <p:nvPr/>
        </p:nvSpPr>
        <p:spPr>
          <a:xfrm>
            <a:off x="3961525" y="2295800"/>
            <a:ext cx="16371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2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перезагрузить кластер Постгреса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143c78d15b9_0_731"/>
          <p:cNvSpPr txBox="1"/>
          <p:nvPr/>
        </p:nvSpPr>
        <p:spPr>
          <a:xfrm>
            <a:off x="6132452" y="2295800"/>
            <a:ext cx="16980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2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/>
              <a:t>создать расширение pg_prewarm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g143c78d15b9_0_731"/>
          <p:cNvSpPr txBox="1"/>
          <p:nvPr/>
        </p:nvSpPr>
        <p:spPr>
          <a:xfrm>
            <a:off x="1765638" y="177275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143c78d15b9_0_731"/>
          <p:cNvSpPr txBox="1"/>
          <p:nvPr/>
        </p:nvSpPr>
        <p:spPr>
          <a:xfrm>
            <a:off x="3949041" y="177275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g143c78d15b9_0_731"/>
          <p:cNvSpPr txBox="1"/>
          <p:nvPr/>
        </p:nvSpPr>
        <p:spPr>
          <a:xfrm>
            <a:off x="6132445" y="177275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1" name="Google Shape;791;g143c78d15b9_0_731"/>
          <p:cNvCxnSpPr/>
          <p:nvPr/>
        </p:nvCxnSpPr>
        <p:spPr>
          <a:xfrm rot="10800000">
            <a:off x="2450990" y="2016207"/>
            <a:ext cx="1425000" cy="57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2" name="Google Shape;792;g143c78d15b9_0_731"/>
          <p:cNvCxnSpPr/>
          <p:nvPr/>
        </p:nvCxnSpPr>
        <p:spPr>
          <a:xfrm rot="10800000">
            <a:off x="4634393" y="2016207"/>
            <a:ext cx="1425000" cy="57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3" name="Google Shape;793;g143c78d15b9_0_731"/>
          <p:cNvCxnSpPr/>
          <p:nvPr/>
        </p:nvCxnSpPr>
        <p:spPr>
          <a:xfrm rot="10800000">
            <a:off x="6817797" y="2016207"/>
            <a:ext cx="1425000" cy="57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4" name="Google Shape;794;g143c78d15b9_0_731"/>
          <p:cNvSpPr txBox="1"/>
          <p:nvPr/>
        </p:nvSpPr>
        <p:spPr>
          <a:xfrm>
            <a:off x="8315848" y="177275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4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5" name="Google Shape;795;g143c78d15b9_0_731"/>
          <p:cNvCxnSpPr/>
          <p:nvPr/>
        </p:nvCxnSpPr>
        <p:spPr>
          <a:xfrm rot="10800000">
            <a:off x="9001200" y="2016207"/>
            <a:ext cx="1425000" cy="57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6" name="Google Shape;796;g143c78d15b9_0_731"/>
          <p:cNvSpPr txBox="1"/>
          <p:nvPr/>
        </p:nvSpPr>
        <p:spPr>
          <a:xfrm>
            <a:off x="8315850" y="2295800"/>
            <a:ext cx="21105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2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использовать утилиту pg_prewarm на таблице из 1 пункта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143c78d15b9_0_731"/>
          <p:cNvSpPr txBox="1"/>
          <p:nvPr/>
        </p:nvSpPr>
        <p:spPr>
          <a:xfrm>
            <a:off x="1765647" y="4041025"/>
            <a:ext cx="1937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создать расширение для просмотра содержимого буферного кеша</a:t>
            </a:r>
            <a:endParaRPr sz="1600"/>
          </a:p>
        </p:txBody>
      </p:sp>
      <p:sp>
        <p:nvSpPr>
          <p:cNvPr id="798" name="Google Shape;798;g143c78d15b9_0_731"/>
          <p:cNvSpPr txBox="1"/>
          <p:nvPr/>
        </p:nvSpPr>
        <p:spPr>
          <a:xfrm>
            <a:off x="3961525" y="4044250"/>
            <a:ext cx="18831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создать представление для просмотра буферного кеша как было показано на занятии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g143c78d15b9_0_731"/>
          <p:cNvSpPr txBox="1"/>
          <p:nvPr/>
        </p:nvSpPr>
        <p:spPr>
          <a:xfrm>
            <a:off x="6132450" y="4044250"/>
            <a:ext cx="193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убедиться, что данные загружены в буферный кеш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143c78d15b9_0_731"/>
          <p:cNvSpPr txBox="1"/>
          <p:nvPr/>
        </p:nvSpPr>
        <p:spPr>
          <a:xfrm>
            <a:off x="1765638" y="3521207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5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143c78d15b9_0_731"/>
          <p:cNvSpPr txBox="1"/>
          <p:nvPr/>
        </p:nvSpPr>
        <p:spPr>
          <a:xfrm>
            <a:off x="3949041" y="3521207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6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g143c78d15b9_0_731"/>
          <p:cNvSpPr txBox="1"/>
          <p:nvPr/>
        </p:nvSpPr>
        <p:spPr>
          <a:xfrm>
            <a:off x="6132445" y="3521207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7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3" name="Google Shape;803;g143c78d15b9_0_731"/>
          <p:cNvCxnSpPr/>
          <p:nvPr/>
        </p:nvCxnSpPr>
        <p:spPr>
          <a:xfrm rot="10800000">
            <a:off x="2450990" y="3764657"/>
            <a:ext cx="1425000" cy="57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04" name="Google Shape;804;g143c78d15b9_0_731"/>
          <p:cNvCxnSpPr/>
          <p:nvPr/>
        </p:nvCxnSpPr>
        <p:spPr>
          <a:xfrm rot="10800000">
            <a:off x="4634393" y="3764657"/>
            <a:ext cx="1425000" cy="57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g143e20b9d91_0_218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g143e20b9d91_0_218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g143e20b9d91_0_21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g143e20b9d91_0_218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813" name="Google Shape;813;g143e20b9d91_0_218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814" name="Google Shape;814;g143e20b9d91_0_218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815" name="Google Shape;815;g143e20b9d91_0_218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6" name="Google Shape;816;g143e20b9d91_0_218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7" name="Google Shape;817;g143e20b9d91_0_218"/>
          <p:cNvSpPr txBox="1"/>
          <p:nvPr/>
        </p:nvSpPr>
        <p:spPr>
          <a:xfrm>
            <a:off x="1634961" y="3121413"/>
            <a:ext cx="73464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СПАСИБО</a:t>
            </a:r>
            <a:endParaRPr sz="700"/>
          </a:p>
        </p:txBody>
      </p:sp>
      <p:sp>
        <p:nvSpPr>
          <p:cNvPr id="818" name="Google Shape;818;g143e20b9d91_0_218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9" name="Google Shape;819;g143e20b9d91_0_218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End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0" name="Google Shape;820;g143e20b9d91_0_218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821" name="Google Shape;821;g143e20b9d91_0_218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822" name="Google Shape;822;g143e20b9d91_0_218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g143e20b9d91_0_218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4" name="Google Shape;824;g143e20b9d91_0_218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5" name="Google Shape;825;g143e20b9d91_0_218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6" name="Google Shape;826;g143e20b9d91_0_218"/>
          <p:cNvSpPr txBox="1"/>
          <p:nvPr/>
        </p:nvSpPr>
        <p:spPr>
          <a:xfrm>
            <a:off x="1622061" y="4145782"/>
            <a:ext cx="7372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>
                <a:solidFill>
                  <a:srgbClr val="FFFFFF"/>
                </a:solidFill>
              </a:rPr>
              <a:t>На следующем занятии мы рассмотрим тему:</a:t>
            </a:r>
            <a:endParaRPr sz="1800">
              <a:solidFill>
                <a:srgbClr val="FFFFFF"/>
              </a:solidFill>
            </a:endParaRPr>
          </a:p>
          <a:p>
            <a:pPr marL="457200" lvl="0" indent="-3175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ru-RU" sz="1800">
                <a:solidFill>
                  <a:srgbClr val="FFFFFF"/>
                </a:solidFill>
              </a:rPr>
              <a:t>Журналы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5D5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814</Words>
  <Application>Microsoft Office PowerPoint</Application>
  <PresentationFormat>Широкоэкранный</PresentationFormat>
  <Paragraphs>209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22</vt:i4>
      </vt:variant>
    </vt:vector>
  </HeadingPairs>
  <TitlesOfParts>
    <vt:vector size="36" baseType="lpstr">
      <vt:lpstr>Helvetica Neue Light</vt:lpstr>
      <vt:lpstr>Arial</vt:lpstr>
      <vt:lpstr>Calibri</vt:lpstr>
      <vt:lpstr>Arial Black</vt:lpstr>
      <vt:lpstr>Consolas</vt:lpstr>
      <vt:lpstr>Courier New</vt:lpstr>
      <vt:lpstr>Helvetica Neue</vt:lpstr>
      <vt:lpstr>Proxima Nova</vt:lpstr>
      <vt:lpstr>Template_StepUP</vt:lpstr>
      <vt:lpstr>Template_StepUP</vt:lpstr>
      <vt:lpstr>Template_StepUP</vt:lpstr>
      <vt:lpstr>Template_StepUP</vt:lpstr>
      <vt:lpstr>Template_StepUP</vt:lpstr>
      <vt:lpstr>White</vt:lpstr>
      <vt:lpstr>БУФЕРНЫЙ КЕШ</vt:lpstr>
      <vt:lpstr>ЦЕЛЬ УРОКА</vt:lpstr>
      <vt:lpstr>СОДЕРЖАНИЕ УРОКА</vt:lpstr>
      <vt:lpstr>БУФЕРНЫЙ КЕШ</vt:lpstr>
      <vt:lpstr>БУФЕРНЫЙ КЕШ. ЗАДАЧА</vt:lpstr>
      <vt:lpstr>БУФЕРНЫЙ КЕШ. СОСТАВ</vt:lpstr>
      <vt:lpstr>БУФЕРНЫЙ КЕШ. СОСТАВ</vt:lpstr>
      <vt:lpstr>БУФЕРНЫЙ КЕШ. МЕХАНИЗМ РАБОТЫ</vt:lpstr>
      <vt:lpstr>БУФЕРНЫЙ КЕШ. МЕХАНИЗМ РАБОТЫ</vt:lpstr>
      <vt:lpstr>БУФЕРНЫЙ КЕШ. МЕХАНИЗМ РАБОТЫ</vt:lpstr>
      <vt:lpstr>БУФЕРНЫЙ КЕШ. МЕХАНИЗМ РАБОТЫ</vt:lpstr>
      <vt:lpstr>БУФЕРНЫЙ КЕШ. МЕХАНИЗМ РАБОТЫ</vt:lpstr>
      <vt:lpstr>БУФЕРНЫЙ КЕШ. ЧТЕНИЕ С ВЫТЕСНЕНИЕМ</vt:lpstr>
      <vt:lpstr>БУФЕРНЫЙ КЕШ. ЧТЕНИЕ С ВЫТЕСНЕНИЕМ</vt:lpstr>
      <vt:lpstr>БУФЕРНЫЙ КЕШ. ЧТЕНИЕ С ВЫТЕСНЕНИЕМ</vt:lpstr>
      <vt:lpstr>БУФЕРНЫЙ КЕШ. ЧТЕНИЕ С ВЫТЕСНЕНИЕМ</vt:lpstr>
      <vt:lpstr>БУФЕРНЫЙ КЕШ. НАСТРОЙКА</vt:lpstr>
      <vt:lpstr>БУФЕРНЫЙ КЕШ. РАЗОГРЕВ КЕША</vt:lpstr>
      <vt:lpstr>ИТОГИ ЗАНЯТИЯ</vt:lpstr>
      <vt:lpstr>Презентация PowerPoint</vt:lpstr>
      <vt:lpstr>ЗАДАНИЕ ДЛЯ САМОПРОВЕРКИ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БУФЕРНЫЙ КЕШ</dc:title>
  <cp:lastModifiedBy>Бондарь Илья Викторович</cp:lastModifiedBy>
  <cp:revision>12</cp:revision>
  <dcterms:modified xsi:type="dcterms:W3CDTF">2025-12-24T09:33:14Z</dcterms:modified>
</cp:coreProperties>
</file>