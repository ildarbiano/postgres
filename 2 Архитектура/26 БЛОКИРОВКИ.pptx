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6" r:id="rId1"/>
    <p:sldMasterId id="2147483707" r:id="rId2"/>
    <p:sldMasterId id="2147483708" r:id="rId3"/>
    <p:sldMasterId id="2147483709" r:id="rId4"/>
    <p:sldMasterId id="2147483710" r:id="rId5"/>
    <p:sldMasterId id="2147483711" r:id="rId6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/>
  <p:notesSz cx="6858000" cy="9144000"/>
  <p:embeddedFontLst>
    <p:embeddedFont>
      <p:font typeface="Arial Black" panose="020B0A04020102020204" pitchFamily="34" charset="0"/>
      <p:regular r:id="rId34"/>
      <p:bold r:id="rId35"/>
    </p:embeddedFon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Consolas" panose="020B0609020204030204" pitchFamily="49" charset="0"/>
      <p:regular r:id="rId40"/>
      <p:bold r:id="rId41"/>
      <p:italic r:id="rId42"/>
      <p:boldItalic r:id="rId43"/>
    </p:embeddedFont>
    <p:embeddedFont>
      <p:font typeface="Helvetica Neue" panose="020B0604020202020204" charset="0"/>
      <p:regular r:id="rId44"/>
      <p:bold r:id="rId45"/>
      <p:italic r:id="rId46"/>
      <p:boldItalic r:id="rId47"/>
    </p:embeddedFont>
    <p:embeddedFont>
      <p:font typeface="Helvetica Neue Light" panose="020B0604020202020204" charset="0"/>
      <p:regular r:id="rId48"/>
      <p:bold r:id="rId49"/>
      <p:italic r:id="rId50"/>
      <p:boldItalic r:id="rId51"/>
    </p:embeddedFont>
    <p:embeddedFont>
      <p:font typeface="Open Sans" panose="020B0604020202020204" charset="0"/>
      <p:regular r:id="rId52"/>
      <p:bold r:id="rId53"/>
      <p:italic r:id="rId54"/>
      <p:boldItalic r:id="rId55"/>
    </p:embeddedFont>
    <p:embeddedFont>
      <p:font typeface="Proxima Nova" panose="020B0604020202020204" charset="0"/>
      <p:regular r:id="rId56"/>
      <p:bold r:id="rId57"/>
      <p:italic r:id="rId58"/>
      <p:boldItalic r:id="rId59"/>
    </p:embeddedFont>
    <p:embeddedFont>
      <p:font typeface="Roboto" panose="020B0604020202020204" charset="0"/>
      <p:regular r:id="rId60"/>
      <p:bold r:id="rId61"/>
      <p:italic r:id="rId62"/>
      <p:bold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9F26FC-FF67-44BC-A737-31496C2DAE2A}">
  <a:tblStyle styleId="{389F26FC-FF67-44BC-A737-31496C2DAE2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>
        <p:guide pos="3863"/>
        <p:guide pos="1118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font" Target="fonts/font17.fntdata"/><Relationship Id="rId55" Type="http://schemas.openxmlformats.org/officeDocument/2006/relationships/font" Target="fonts/font22.fntdata"/><Relationship Id="rId63" Type="http://schemas.openxmlformats.org/officeDocument/2006/relationships/font" Target="fonts/font30.fntdata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font" Target="fonts/font20.fntdata"/><Relationship Id="rId58" Type="http://schemas.openxmlformats.org/officeDocument/2006/relationships/font" Target="fonts/font25.fntdata"/><Relationship Id="rId66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openxmlformats.org/officeDocument/2006/relationships/font" Target="fonts/font28.fntdata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56" Type="http://schemas.openxmlformats.org/officeDocument/2006/relationships/font" Target="fonts/font23.fntdata"/><Relationship Id="rId64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font" Target="fonts/font18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59" Type="http://schemas.openxmlformats.org/officeDocument/2006/relationships/font" Target="fonts/font26.fntdata"/><Relationship Id="rId67" Type="http://schemas.openxmlformats.org/officeDocument/2006/relationships/tableStyles" Target="tableStyles.xml"/><Relationship Id="rId20" Type="http://schemas.openxmlformats.org/officeDocument/2006/relationships/slide" Target="slides/slide14.xml"/><Relationship Id="rId41" Type="http://schemas.openxmlformats.org/officeDocument/2006/relationships/font" Target="fonts/font8.fntdata"/><Relationship Id="rId54" Type="http://schemas.openxmlformats.org/officeDocument/2006/relationships/font" Target="fonts/font21.fntdata"/><Relationship Id="rId62" Type="http://schemas.openxmlformats.org/officeDocument/2006/relationships/font" Target="fonts/font29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font" Target="fonts/font3.fntdata"/><Relationship Id="rId49" Type="http://schemas.openxmlformats.org/officeDocument/2006/relationships/font" Target="fonts/font16.fntdata"/><Relationship Id="rId57" Type="http://schemas.openxmlformats.org/officeDocument/2006/relationships/font" Target="fonts/font24.fntdata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font" Target="fonts/font11.fntdata"/><Relationship Id="rId52" Type="http://schemas.openxmlformats.org/officeDocument/2006/relationships/font" Target="fonts/font19.fntdata"/><Relationship Id="rId60" Type="http://schemas.openxmlformats.org/officeDocument/2006/relationships/font" Target="fonts/font27.fntdata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43e26f4798_0_511:notes"/>
          <p:cNvSpPr txBox="1">
            <a:spLocks noGrp="1"/>
          </p:cNvSpPr>
          <p:nvPr>
            <p:ph type="body" idx="1"/>
          </p:nvPr>
        </p:nvSpPr>
        <p:spPr>
          <a:xfrm>
            <a:off x="216991" y="7823199"/>
            <a:ext cx="1735800" cy="6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3" name="Google Shape;443;g143e26f4798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3790950" y="2032000"/>
            <a:ext cx="9752013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143e26f4798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9" name="Google Shape;449;g143e26f4798_0_105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ЗДЕСЬ ТЕКСТ,КОТОРЫЙ БУДЕТ ПРОГОВАРИВАТЬСЯ ДЛЯ ЭТОГО СЛАЙДА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ЦЕЛЬ урока должна быть понятной и понятна ценность. В тексте важно проговорить как эта тема связана с предыдущей и какую ценность несет в общейй программе.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Каждая цель начинается с глагола. Например “изучить”, “подготовить”, “обосновать”, “обобщить”, “рассмотреть”, “выяснить” ит.д.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g143e26f4798_0_105:notes"/>
          <p:cNvSpPr txBox="1">
            <a:spLocks noGrp="1"/>
          </p:cNvSpPr>
          <p:nvPr>
            <p:ph type="sldNum" idx="12"/>
          </p:nvPr>
        </p:nvSpPr>
        <p:spPr>
          <a:xfrm>
            <a:off x="2185095" y="11580284"/>
            <a:ext cx="1671600" cy="6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43e26f4798_0_307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4" name="Google Shape;464;g143e26f4798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43e26f4798_0_2332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g143e26f4798_0_2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43e26f4798_0_2351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g143e26f4798_0_2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43e26f4798_0_2224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g143e26f4798_0_2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143e26f4798_0_2659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g143e26f4798_0_2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143e26f4798_0_2556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g143e26f4798_0_2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143e26f4798_0_2678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g143e26f4798_0_26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143e26f4798_0_2688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g143e26f4798_0_26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43e26f4798_0_2830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g143e26f4798_0_28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143e26f4798_0_2942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g143e26f4798_0_29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143e26f4798_0_2006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g143e26f4798_0_20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43e26f4798_0_3208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g143e26f4798_0_3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143e26f4798_0_3176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g143e26f4798_0_3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143e26f4798_0_2954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g143e26f4798_0_29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143e26f4798_0_1566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g143e26f4798_0_1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143e26f4798_0_1665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g143e26f4798_0_16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143e26f4798_0_1797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g143e26f4798_0_17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143e26f4798_0_3078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g143e26f4798_0_30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143e26f4798_0_3189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g143e26f4798_0_3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143e26f4798_0_3199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g143e26f4798_0_3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143e26f4798_0_705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2" name="Google Shape;722;g143e26f4798_0_7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143e26f4798_0_8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4" name="Google Shape;734;g143e26f4798_0_83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143e26f4798_0_974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g143e26f4798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143e26f4798_0_1373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g143e26f4798_0_1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.png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99" name="Google Shape;99;p16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16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14" name="Google Shape;114;p18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8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18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8" name="Google Shape;128;p19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9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19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0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43" name="Google Shape;143;p20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1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1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392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1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1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1" name="Google Shape;151;p21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2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392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2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56" name="Google Shape;15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2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23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171" name="Google Shape;171;p25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p28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29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90" name="Google Shape;190;p29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9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9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9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9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9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9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29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01" name="Google Shape;201;p30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0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0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0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30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30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0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0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0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" name="Google Shape;213;p31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31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15" name="Google Shape;215;p31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1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1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1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31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1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31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1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1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2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2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2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29" name="Google Shape;229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2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3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32" name="Google Shape;232;p32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3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3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3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37" name="Google Shape;23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3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33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0" name="Google Shape;240;p33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1" name="Google Shape;241;p33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" name="Google Shape;244;p34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4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6" name="Google Shape;246;p3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7" name="Google Shape;247;p34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35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6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" name="Google Shape;253;p36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54" name="Google Shape;254;p36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255" name="Google Shape;255;p36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258" name="Google Shape;258;p37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>
            <a:spLocks noGrp="1"/>
          </p:cNvSpPr>
          <p:nvPr>
            <p:ph type="sldNum" idx="12"/>
          </p:nvPr>
        </p:nvSpPr>
        <p:spPr>
          <a:xfrm>
            <a:off x="5977052" y="6536531"/>
            <a:ext cx="2331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2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8" name="Google Shape;278;p42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279" name="Google Shape;279;p42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2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2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42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2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42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2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42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3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9" name="Google Shape;289;p43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43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4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44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94" name="Google Shape;294;p44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4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4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4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p44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4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p44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4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4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44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6" name="Google Shape;306;p45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45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08" name="Google Shape;308;p45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5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5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5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p45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5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45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5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5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5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0" name="Google Shape;320;p46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46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4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23" name="Google Shape;323;p46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47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7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7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28" name="Google Shape;328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4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31" name="Google Shape;331;p47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48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8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8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36" name="Google Shape;336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8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48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" name="Google Shape;339;p4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40" name="Google Shape;340;p48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9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3" name="Google Shape;343;p49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0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6" name="Google Shape;346;p50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7" name="Google Shape;347;p50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348" name="Google Shape;348;p50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1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351" name="Google Shape;351;p51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2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4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5" name="Google Shape;365;p54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366" name="Google Shape;366;p54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54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54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54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54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54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54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3" name="Google Shape;373;p54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5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6" name="Google Shape;376;p55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5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6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80" name="Google Shape;380;p56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81" name="Google Shape;381;p56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56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56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56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56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6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7" name="Google Shape;387;p56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56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56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56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7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57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57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95" name="Google Shape;395;p57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57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57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7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9" name="Google Shape;399;p57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57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1" name="Google Shape;401;p57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57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57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57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58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58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58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09" name="Google Shape;409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58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5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12" name="Google Shape;412;p58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59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59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59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17" name="Google Shape;417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59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19" name="Google Shape;419;p59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0" name="Google Shape;420;p5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21" name="Google Shape;421;p59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0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4" name="Google Shape;424;p60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5" name="Google Shape;425;p60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6" name="Google Shape;426;p6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27" name="Google Shape;427;p60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1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0" name="Google Shape;430;p61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2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3" name="Google Shape;433;p62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34" name="Google Shape;434;p62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435" name="Google Shape;435;p62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3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438" name="Google Shape;438;p63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4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5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3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6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4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89" name="Google Shape;89;p1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176" name="Google Shape;176;p2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8" name="Google Shape;178;p27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7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9"/>
          <p:cNvSpPr txBox="1">
            <a:spLocks noGrp="1"/>
          </p:cNvSpPr>
          <p:nvPr>
            <p:ph type="title"/>
          </p:nvPr>
        </p:nvSpPr>
        <p:spPr>
          <a:xfrm>
            <a:off x="1826683" y="979211"/>
            <a:ext cx="9753600" cy="12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3" name="Google Shape;263;p39"/>
          <p:cNvSpPr txBox="1">
            <a:spLocks noGrp="1"/>
          </p:cNvSpPr>
          <p:nvPr>
            <p:ph type="body" idx="1"/>
          </p:nvPr>
        </p:nvSpPr>
        <p:spPr>
          <a:xfrm>
            <a:off x="6805083" y="2229126"/>
            <a:ext cx="4775400" cy="43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4" name="Google Shape;264;p39"/>
          <p:cNvSpPr txBox="1">
            <a:spLocks noGrp="1"/>
          </p:cNvSpPr>
          <p:nvPr>
            <p:ph type="sldNum" idx="12"/>
          </p:nvPr>
        </p:nvSpPr>
        <p:spPr>
          <a:xfrm>
            <a:off x="5977052" y="6536531"/>
            <a:ext cx="2331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1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269" name="Google Shape;269;p4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4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71" name="Google Shape;271;p41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1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1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1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1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3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356" name="Google Shape;356;p5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53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58" name="Google Shape;358;p53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53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53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53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53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8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5"/>
          <p:cNvSpPr txBox="1">
            <a:spLocks noGrp="1"/>
          </p:cNvSpPr>
          <p:nvPr>
            <p:ph type="body" idx="1"/>
          </p:nvPr>
        </p:nvSpPr>
        <p:spPr>
          <a:xfrm>
            <a:off x="1633468" y="2788358"/>
            <a:ext cx="6223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БЛОК 3. АРХИТЕКТУРА</a:t>
            </a:r>
            <a:endParaRPr/>
          </a:p>
        </p:txBody>
      </p:sp>
      <p:sp>
        <p:nvSpPr>
          <p:cNvPr id="446" name="Google Shape;446;p65"/>
          <p:cNvSpPr txBox="1">
            <a:spLocks noGrp="1"/>
          </p:cNvSpPr>
          <p:nvPr>
            <p:ph type="title"/>
          </p:nvPr>
        </p:nvSpPr>
        <p:spPr>
          <a:xfrm>
            <a:off x="1620999" y="3363138"/>
            <a:ext cx="75207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5400"/>
              <a:t>БЛОКИРОВКИ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ЦЕЛЬ УРОКА</a:t>
            </a:r>
            <a:endParaRPr/>
          </a:p>
        </p:txBody>
      </p:sp>
      <p:sp>
        <p:nvSpPr>
          <p:cNvPr id="453" name="Google Shape;453;p6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sp>
        <p:nvSpPr>
          <p:cNvPr id="454" name="Google Shape;454;p66"/>
          <p:cNvSpPr/>
          <p:nvPr/>
        </p:nvSpPr>
        <p:spPr>
          <a:xfrm>
            <a:off x="1719852" y="2395182"/>
            <a:ext cx="1033800" cy="1033800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ru-RU" sz="3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5" name="Google Shape;455;p66"/>
          <p:cNvSpPr/>
          <p:nvPr/>
        </p:nvSpPr>
        <p:spPr>
          <a:xfrm>
            <a:off x="4654361" y="2395182"/>
            <a:ext cx="1033800" cy="1033800"/>
          </a:xfrm>
          <a:prstGeom prst="ellipse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lang="ru-RU" sz="36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6" name="Google Shape;456;p66"/>
          <p:cNvSpPr/>
          <p:nvPr/>
        </p:nvSpPr>
        <p:spPr>
          <a:xfrm>
            <a:off x="7535863" y="2395182"/>
            <a:ext cx="1033800" cy="1033800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r>
              <a:rPr lang="ru-RU" sz="36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7" name="Google Shape;457;p66"/>
          <p:cNvSpPr txBox="1"/>
          <p:nvPr/>
        </p:nvSpPr>
        <p:spPr>
          <a:xfrm>
            <a:off x="1719852" y="3583202"/>
            <a:ext cx="2570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Узнать, что такое блокировки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458" name="Google Shape;458;p66"/>
          <p:cNvCxnSpPr/>
          <p:nvPr/>
        </p:nvCxnSpPr>
        <p:spPr>
          <a:xfrm rot="10800000">
            <a:off x="5857832" y="2912091"/>
            <a:ext cx="14820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9" name="Google Shape;459;p66"/>
          <p:cNvSpPr txBox="1"/>
          <p:nvPr/>
        </p:nvSpPr>
        <p:spPr>
          <a:xfrm>
            <a:off x="4671575" y="3583200"/>
            <a:ext cx="2068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Понять какие виды существуют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60" name="Google Shape;460;p66"/>
          <p:cNvSpPr txBox="1"/>
          <p:nvPr/>
        </p:nvSpPr>
        <p:spPr>
          <a:xfrm>
            <a:off x="7535875" y="3583200"/>
            <a:ext cx="2068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Узнать, что такое дедлоки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61" name="Google Shape;461;p66"/>
          <p:cNvCxnSpPr/>
          <p:nvPr/>
        </p:nvCxnSpPr>
        <p:spPr>
          <a:xfrm rot="10800000">
            <a:off x="2949827" y="2912091"/>
            <a:ext cx="14820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СОДЕРЖАНИЕ УРОКА</a:t>
            </a:r>
            <a:endParaRPr/>
          </a:p>
        </p:txBody>
      </p:sp>
      <p:sp>
        <p:nvSpPr>
          <p:cNvPr id="467" name="Google Shape;467;p6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468" name="Google Shape;468;p67"/>
          <p:cNvSpPr/>
          <p:nvPr/>
        </p:nvSpPr>
        <p:spPr>
          <a:xfrm>
            <a:off x="1719852" y="1361364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9" name="Google Shape;469;p67"/>
          <p:cNvSpPr/>
          <p:nvPr/>
        </p:nvSpPr>
        <p:spPr>
          <a:xfrm>
            <a:off x="1719852" y="3129109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0" name="Google Shape;470;p67"/>
          <p:cNvSpPr/>
          <p:nvPr/>
        </p:nvSpPr>
        <p:spPr>
          <a:xfrm>
            <a:off x="1719852" y="4896852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71" name="Google Shape;471;p67"/>
          <p:cNvCxnSpPr/>
          <p:nvPr/>
        </p:nvCxnSpPr>
        <p:spPr>
          <a:xfrm rot="10800000">
            <a:off x="2183068" y="2395849"/>
            <a:ext cx="0" cy="6252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2" name="Google Shape;472;p67"/>
          <p:cNvCxnSpPr/>
          <p:nvPr/>
        </p:nvCxnSpPr>
        <p:spPr>
          <a:xfrm rot="10800000">
            <a:off x="2183068" y="4163594"/>
            <a:ext cx="0" cy="6252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3" name="Google Shape;473;p67"/>
          <p:cNvSpPr txBox="1"/>
          <p:nvPr/>
        </p:nvSpPr>
        <p:spPr>
          <a:xfrm>
            <a:off x="2860569" y="1670664"/>
            <a:ext cx="257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</a:rPr>
              <a:t>Блокировки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474" name="Google Shape;474;p67"/>
          <p:cNvSpPr txBox="1"/>
          <p:nvPr/>
        </p:nvSpPr>
        <p:spPr>
          <a:xfrm>
            <a:off x="2860577" y="3438400"/>
            <a:ext cx="295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</a:rPr>
              <a:t>Виды блокировок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67"/>
          <p:cNvSpPr txBox="1"/>
          <p:nvPr/>
        </p:nvSpPr>
        <p:spPr>
          <a:xfrm>
            <a:off x="2860569" y="5221443"/>
            <a:ext cx="257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</a:rPr>
              <a:t>Дедлоки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67"/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8"/>
          <p:cNvSpPr txBox="1">
            <a:spLocks noGrp="1"/>
          </p:cNvSpPr>
          <p:nvPr>
            <p:ph type="title"/>
          </p:nvPr>
        </p:nvSpPr>
        <p:spPr>
          <a:xfrm>
            <a:off x="1703400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БЛОКИРОВКИ ОБЪЕКТОВ</a:t>
            </a:r>
            <a:endParaRPr/>
          </a:p>
        </p:txBody>
      </p:sp>
      <p:sp>
        <p:nvSpPr>
          <p:cNvPr id="482" name="Google Shape;482;p6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483" name="Google Shape;483;p68"/>
          <p:cNvSpPr txBox="1">
            <a:spLocks noGrp="1"/>
          </p:cNvSpPr>
          <p:nvPr>
            <p:ph type="body" idx="1"/>
          </p:nvPr>
        </p:nvSpPr>
        <p:spPr>
          <a:xfrm>
            <a:off x="1703400" y="1819538"/>
            <a:ext cx="7157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2"/>
                </a:solidFill>
              </a:rPr>
              <a:t>Проблема:</a:t>
            </a:r>
            <a:r>
              <a:rPr lang="ru-RU" sz="1800">
                <a:solidFill>
                  <a:schemeClr val="dk1"/>
                </a:solidFill>
              </a:rPr>
              <a:t> как одновременно получить доступ к одному объекту?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484" name="Google Shape;484;p68"/>
          <p:cNvCxnSpPr/>
          <p:nvPr/>
        </p:nvCxnSpPr>
        <p:spPr>
          <a:xfrm>
            <a:off x="1703400" y="2293168"/>
            <a:ext cx="87852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5" name="Google Shape;485;p68"/>
          <p:cNvSpPr txBox="1">
            <a:spLocks noGrp="1"/>
          </p:cNvSpPr>
          <p:nvPr>
            <p:ph type="body" idx="1"/>
          </p:nvPr>
        </p:nvSpPr>
        <p:spPr>
          <a:xfrm>
            <a:off x="1703400" y="2554288"/>
            <a:ext cx="7157700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2"/>
                </a:solidFill>
              </a:rPr>
              <a:t>Решение:</a:t>
            </a:r>
            <a:r>
              <a:rPr lang="ru-RU" sz="1800">
                <a:solidFill>
                  <a:schemeClr val="dk1"/>
                </a:solidFill>
              </a:rPr>
              <a:t> упорядочение конкурентного доступа к разделяемым ресурсам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86" name="Google Shape;486;p68"/>
          <p:cNvSpPr/>
          <p:nvPr/>
        </p:nvSpPr>
        <p:spPr>
          <a:xfrm>
            <a:off x="1703400" y="3464063"/>
            <a:ext cx="446100" cy="431100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rgbClr val="1B4EFC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200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87" name="Google Shape;487;p68"/>
          <p:cNvSpPr/>
          <p:nvPr/>
        </p:nvSpPr>
        <p:spPr>
          <a:xfrm>
            <a:off x="1703400" y="4607350"/>
            <a:ext cx="446100" cy="431100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rgbClr val="836ED3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2000" i="0" u="none" strike="noStrike" cap="none">
              <a:solidFill>
                <a:srgbClr val="836ED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88" name="Google Shape;488;p68"/>
          <p:cNvSpPr txBox="1">
            <a:spLocks noGrp="1"/>
          </p:cNvSpPr>
          <p:nvPr>
            <p:ph type="body" idx="1"/>
          </p:nvPr>
        </p:nvSpPr>
        <p:spPr>
          <a:xfrm>
            <a:off x="2375725" y="3464063"/>
            <a:ext cx="7157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3F3F3F"/>
                </a:solidFill>
              </a:rPr>
              <a:t>перед обращением к данным процесс захватывает блокировку, после обращения — освобождает, другой процесс начинает ожидать освобождения ресурса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89" name="Google Shape;489;p68"/>
          <p:cNvSpPr txBox="1">
            <a:spLocks noGrp="1"/>
          </p:cNvSpPr>
          <p:nvPr>
            <p:ph type="body" idx="1"/>
          </p:nvPr>
        </p:nvSpPr>
        <p:spPr>
          <a:xfrm>
            <a:off x="2375725" y="4684300"/>
            <a:ext cx="7157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3F3F3F"/>
                </a:solidFill>
              </a:rPr>
              <a:t>блокировки приводят к очередям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БЛОКИРОВКИ ОБЪЕКТОВ</a:t>
            </a:r>
            <a:endParaRPr/>
          </a:p>
        </p:txBody>
      </p:sp>
      <p:sp>
        <p:nvSpPr>
          <p:cNvPr id="495" name="Google Shape;495;p6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sp>
        <p:nvSpPr>
          <p:cNvPr id="496" name="Google Shape;496;p69"/>
          <p:cNvSpPr/>
          <p:nvPr/>
        </p:nvSpPr>
        <p:spPr>
          <a:xfrm>
            <a:off x="1703388" y="2418033"/>
            <a:ext cx="7962600" cy="1109700"/>
          </a:xfrm>
          <a:prstGeom prst="roundRect">
            <a:avLst>
              <a:gd name="adj" fmla="val 11900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3F3F3F"/>
                </a:solidFill>
              </a:rPr>
              <a:t>несколько версий данных, не избавляет от всех проблем</a:t>
            </a:r>
            <a:endParaRPr sz="1800"/>
          </a:p>
        </p:txBody>
      </p:sp>
      <p:sp>
        <p:nvSpPr>
          <p:cNvPr id="497" name="Google Shape;497;p69"/>
          <p:cNvSpPr/>
          <p:nvPr/>
        </p:nvSpPr>
        <p:spPr>
          <a:xfrm>
            <a:off x="1870850" y="2548588"/>
            <a:ext cx="3284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chemeClr val="dk2"/>
                </a:solidFill>
              </a:rPr>
              <a:t>МНОГОВЕРСИОННОСТЬ</a:t>
            </a:r>
            <a:endParaRPr sz="2000" i="0" u="none" strike="noStrike" cap="none">
              <a:solidFill>
                <a:schemeClr val="dk2"/>
              </a:solidFill>
            </a:endParaRPr>
          </a:p>
        </p:txBody>
      </p:sp>
      <p:sp>
        <p:nvSpPr>
          <p:cNvPr id="498" name="Google Shape;498;p69"/>
          <p:cNvSpPr/>
          <p:nvPr/>
        </p:nvSpPr>
        <p:spPr>
          <a:xfrm>
            <a:off x="1703388" y="3766013"/>
            <a:ext cx="7962600" cy="1427700"/>
          </a:xfrm>
          <a:prstGeom prst="roundRect">
            <a:avLst>
              <a:gd name="adj" fmla="val 11626"/>
            </a:avLst>
          </a:prstGeom>
          <a:solidFill>
            <a:srgbClr val="00C39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endParaRPr sz="1800"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3F3F3F"/>
                </a:solidFill>
              </a:rPr>
              <a:t>процессы не блокируются, но при неудачном стечении обстоятельств возникает ошибка</a:t>
            </a:r>
            <a:endParaRPr sz="1800"/>
          </a:p>
        </p:txBody>
      </p:sp>
      <p:sp>
        <p:nvSpPr>
          <p:cNvPr id="499" name="Google Shape;499;p69"/>
          <p:cNvSpPr/>
          <p:nvPr/>
        </p:nvSpPr>
        <p:spPr>
          <a:xfrm>
            <a:off x="1870850" y="3936413"/>
            <a:ext cx="4904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chemeClr val="accent5"/>
                </a:solidFill>
              </a:rPr>
              <a:t>ОПТИМИСТИЧНЫЕ БЛОКИРОВКИ</a:t>
            </a:r>
            <a:endParaRPr sz="2000" i="0" u="none" strike="noStrike" cap="none">
              <a:solidFill>
                <a:schemeClr val="accent5"/>
              </a:solidFill>
            </a:endParaRPr>
          </a:p>
        </p:txBody>
      </p:sp>
      <p:sp>
        <p:nvSpPr>
          <p:cNvPr id="500" name="Google Shape;500;p69"/>
          <p:cNvSpPr txBox="1">
            <a:spLocks noGrp="1"/>
          </p:cNvSpPr>
          <p:nvPr>
            <p:ph type="body" idx="1"/>
          </p:nvPr>
        </p:nvSpPr>
        <p:spPr>
          <a:xfrm>
            <a:off x="1703388" y="1664275"/>
            <a:ext cx="7157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Дальнейшее развитие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501" name="Google Shape;501;p69"/>
          <p:cNvCxnSpPr/>
          <p:nvPr/>
        </p:nvCxnSpPr>
        <p:spPr>
          <a:xfrm rot="10800000" flipH="1">
            <a:off x="1703388" y="2179454"/>
            <a:ext cx="7914300" cy="30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70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БЛОКИРОВКИ ОБЪЕКТОВ. ВИДЫ РЕСУРСОВ</a:t>
            </a:r>
            <a:endParaRPr/>
          </a:p>
        </p:txBody>
      </p:sp>
      <p:sp>
        <p:nvSpPr>
          <p:cNvPr id="507" name="Google Shape;507;p7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  <p:sp>
        <p:nvSpPr>
          <p:cNvPr id="508" name="Google Shape;508;p70"/>
          <p:cNvSpPr txBox="1">
            <a:spLocks noGrp="1"/>
          </p:cNvSpPr>
          <p:nvPr>
            <p:ph type="body" idx="1"/>
          </p:nvPr>
        </p:nvSpPr>
        <p:spPr>
          <a:xfrm>
            <a:off x="2716375" y="2070963"/>
            <a:ext cx="5299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все, что можно идентифицировать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509" name="Google Shape;509;p70"/>
          <p:cNvGrpSpPr/>
          <p:nvPr/>
        </p:nvGrpSpPr>
        <p:grpSpPr>
          <a:xfrm>
            <a:off x="1737700" y="2109140"/>
            <a:ext cx="582833" cy="200870"/>
            <a:chOff x="0" y="1270"/>
            <a:chExt cx="1466615" cy="505460"/>
          </a:xfrm>
        </p:grpSpPr>
        <p:sp>
          <p:nvSpPr>
            <p:cNvPr id="510" name="Google Shape;510;p70"/>
            <p:cNvSpPr/>
            <p:nvPr/>
          </p:nvSpPr>
          <p:spPr>
            <a:xfrm>
              <a:off x="0" y="215900"/>
              <a:ext cx="1170705" cy="76200"/>
            </a:xfrm>
            <a:custGeom>
              <a:avLst/>
              <a:gdLst/>
              <a:ahLst/>
              <a:cxnLst/>
              <a:rect l="l" t="t" r="r" b="b"/>
              <a:pathLst>
                <a:path w="1170705" h="76200" extrusionOk="0">
                  <a:moveTo>
                    <a:pt x="0" y="0"/>
                  </a:moveTo>
                  <a:lnTo>
                    <a:pt x="1170705" y="0"/>
                  </a:lnTo>
                  <a:lnTo>
                    <a:pt x="117070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511" name="Google Shape;511;p70"/>
            <p:cNvSpPr/>
            <p:nvPr/>
          </p:nvSpPr>
          <p:spPr>
            <a:xfrm>
              <a:off x="1091965" y="1270"/>
              <a:ext cx="374650" cy="505460"/>
            </a:xfrm>
            <a:custGeom>
              <a:avLst/>
              <a:gdLst/>
              <a:ahLst/>
              <a:cxnLst/>
              <a:rect l="l" t="t" r="r" b="b"/>
              <a:pathLst>
                <a:path w="374650" h="505460" extrusionOk="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512" name="Google Shape;512;p70"/>
          <p:cNvSpPr txBox="1">
            <a:spLocks noGrp="1"/>
          </p:cNvSpPr>
          <p:nvPr>
            <p:ph type="body" idx="1"/>
          </p:nvPr>
        </p:nvSpPr>
        <p:spPr>
          <a:xfrm>
            <a:off x="1737700" y="1645150"/>
            <a:ext cx="5299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Что подразумевается под ресурсом?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13" name="Google Shape;513;p70"/>
          <p:cNvSpPr/>
          <p:nvPr/>
        </p:nvSpPr>
        <p:spPr>
          <a:xfrm>
            <a:off x="1725850" y="3433238"/>
            <a:ext cx="2982900" cy="1205100"/>
          </a:xfrm>
          <a:prstGeom prst="roundRect">
            <a:avLst>
              <a:gd name="adj" fmla="val 8116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реальные хранимые объекты: страницы, таблицы, строки и т. п.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14" name="Google Shape;514;p70"/>
          <p:cNvSpPr/>
          <p:nvPr/>
        </p:nvSpPr>
        <p:spPr>
          <a:xfrm>
            <a:off x="5070350" y="3437738"/>
            <a:ext cx="3096900" cy="1205100"/>
          </a:xfrm>
          <a:prstGeom prst="roundRect">
            <a:avLst>
              <a:gd name="adj" fmla="val 7960"/>
            </a:avLst>
          </a:prstGeom>
          <a:solidFill>
            <a:srgbClr val="CBF2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структуры данных в общей памяти (хеш-таблицы, буферы...)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15" name="Google Shape;515;p70"/>
          <p:cNvSpPr/>
          <p:nvPr/>
        </p:nvSpPr>
        <p:spPr>
          <a:xfrm>
            <a:off x="1725850" y="4875613"/>
            <a:ext cx="2982900" cy="1047900"/>
          </a:xfrm>
          <a:prstGeom prst="roundRect">
            <a:avLst>
              <a:gd name="adj" fmla="val 10916"/>
            </a:avLst>
          </a:prstGeom>
          <a:solidFill>
            <a:srgbClr val="00C39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абстрактные ресурсы (число)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516" name="Google Shape;516;p70"/>
          <p:cNvCxnSpPr/>
          <p:nvPr/>
        </p:nvCxnSpPr>
        <p:spPr>
          <a:xfrm>
            <a:off x="1725850" y="3139656"/>
            <a:ext cx="87852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7" name="Google Shape;517;p70"/>
          <p:cNvSpPr txBox="1">
            <a:spLocks noGrp="1"/>
          </p:cNvSpPr>
          <p:nvPr>
            <p:ph type="body" idx="1"/>
          </p:nvPr>
        </p:nvSpPr>
        <p:spPr>
          <a:xfrm>
            <a:off x="1737700" y="2605313"/>
            <a:ext cx="5299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Примеры ресурсов: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71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/>
              <a:t>БЛОКИРОВКИ ОБЪЕКТОВ</a:t>
            </a:r>
            <a:endParaRPr/>
          </a:p>
        </p:txBody>
      </p:sp>
      <p:sp>
        <p:nvSpPr>
          <p:cNvPr id="523" name="Google Shape;523;p7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  <p:sp>
        <p:nvSpPr>
          <p:cNvPr id="524" name="Google Shape;524;p71"/>
          <p:cNvSpPr txBox="1">
            <a:spLocks noGrp="1"/>
          </p:cNvSpPr>
          <p:nvPr>
            <p:ph type="body" idx="1"/>
          </p:nvPr>
        </p:nvSpPr>
        <p:spPr>
          <a:xfrm>
            <a:off x="1725850" y="1203500"/>
            <a:ext cx="7544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Факторы, влияющие на производительность: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25" name="Google Shape;525;p71"/>
          <p:cNvSpPr/>
          <p:nvPr/>
        </p:nvSpPr>
        <p:spPr>
          <a:xfrm>
            <a:off x="1725850" y="1658155"/>
            <a:ext cx="3719100" cy="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2"/>
                </a:solidFill>
              </a:rPr>
              <a:t>Гранулярность блокировки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26" name="Google Shape;526;p71"/>
          <p:cNvSpPr/>
          <p:nvPr/>
        </p:nvSpPr>
        <p:spPr>
          <a:xfrm>
            <a:off x="1725850" y="3803620"/>
            <a:ext cx="3719100" cy="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2"/>
                </a:solidFill>
              </a:rPr>
              <a:t>Режимы блокировок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27" name="Google Shape;527;p71"/>
          <p:cNvSpPr txBox="1"/>
          <p:nvPr/>
        </p:nvSpPr>
        <p:spPr>
          <a:xfrm>
            <a:off x="1725850" y="4556475"/>
            <a:ext cx="8176200" cy="10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ru-RU" sz="1800">
                <a:solidFill>
                  <a:schemeClr val="dk1"/>
                </a:solidFill>
              </a:rPr>
              <a:t>совместимость режимов определяется матрицей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ru-RU" sz="1800">
                <a:solidFill>
                  <a:schemeClr val="dk1"/>
                </a:solidFill>
              </a:rPr>
              <a:t>больше совместимых режимов — больше возможностей для параллелизма</a:t>
            </a:r>
            <a:endParaRPr/>
          </a:p>
        </p:txBody>
      </p:sp>
      <p:sp>
        <p:nvSpPr>
          <p:cNvPr id="528" name="Google Shape;528;p71"/>
          <p:cNvSpPr txBox="1"/>
          <p:nvPr/>
        </p:nvSpPr>
        <p:spPr>
          <a:xfrm>
            <a:off x="1725850" y="2411010"/>
            <a:ext cx="8176200" cy="10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ru-RU" sz="1800">
                <a:solidFill>
                  <a:schemeClr val="dk1"/>
                </a:solidFill>
              </a:rPr>
              <a:t>степень детализации, уровень в иерархии ресурсов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ru-RU" sz="1800">
                <a:solidFill>
                  <a:schemeClr val="dk1"/>
                </a:solidFill>
              </a:rPr>
              <a:t>например: таблица → страница → строки, хеш-таблица → корзины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ru-RU" sz="1800">
                <a:solidFill>
                  <a:schemeClr val="dk1"/>
                </a:solidFill>
              </a:rPr>
              <a:t>выше гранулярность — больше возможностей для параллелизма</a:t>
            </a:r>
            <a:endParaRPr/>
          </a:p>
        </p:txBody>
      </p:sp>
      <p:cxnSp>
        <p:nvCxnSpPr>
          <p:cNvPr id="529" name="Google Shape;529;p71"/>
          <p:cNvCxnSpPr/>
          <p:nvPr/>
        </p:nvCxnSpPr>
        <p:spPr>
          <a:xfrm>
            <a:off x="1725850" y="3656765"/>
            <a:ext cx="87852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2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/>
              <a:t>БЛОКИРОВКИ ОБЪЕКТОВ. ВИДЫ БЛОКИРОВОК</a:t>
            </a:r>
            <a:endParaRPr/>
          </a:p>
        </p:txBody>
      </p:sp>
      <p:sp>
        <p:nvSpPr>
          <p:cNvPr id="535" name="Google Shape;535;p7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sp>
        <p:nvSpPr>
          <p:cNvPr id="536" name="Google Shape;536;p72"/>
          <p:cNvSpPr txBox="1">
            <a:spLocks noGrp="1"/>
          </p:cNvSpPr>
          <p:nvPr>
            <p:ph type="body" idx="1"/>
          </p:nvPr>
        </p:nvSpPr>
        <p:spPr>
          <a:xfrm>
            <a:off x="1725850" y="1878650"/>
            <a:ext cx="7544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1"/>
                </a:solidFill>
              </a:rPr>
              <a:t>По типу: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37" name="Google Shape;537;p72"/>
          <p:cNvSpPr/>
          <p:nvPr/>
        </p:nvSpPr>
        <p:spPr>
          <a:xfrm>
            <a:off x="1725850" y="2393094"/>
            <a:ext cx="6441300" cy="1189800"/>
          </a:xfrm>
          <a:prstGeom prst="roundRect">
            <a:avLst>
              <a:gd name="adj" fmla="val 8116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Исключительные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38" name="Google Shape;538;p72"/>
          <p:cNvSpPr/>
          <p:nvPr/>
        </p:nvSpPr>
        <p:spPr>
          <a:xfrm>
            <a:off x="1882900" y="2568263"/>
            <a:ext cx="2082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2"/>
                </a:solidFill>
              </a:rPr>
              <a:t>EXCLUSIVE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539" name="Google Shape;539;p72"/>
          <p:cNvSpPr/>
          <p:nvPr/>
        </p:nvSpPr>
        <p:spPr>
          <a:xfrm>
            <a:off x="1725850" y="3789538"/>
            <a:ext cx="6441300" cy="1189800"/>
          </a:xfrm>
          <a:prstGeom prst="roundRect">
            <a:avLst>
              <a:gd name="adj" fmla="val 8116"/>
            </a:avLst>
          </a:prstGeom>
          <a:solidFill>
            <a:srgbClr val="CBF2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Совместные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540" name="Google Shape;540;p72"/>
          <p:cNvSpPr/>
          <p:nvPr/>
        </p:nvSpPr>
        <p:spPr>
          <a:xfrm>
            <a:off x="1882900" y="3999863"/>
            <a:ext cx="2082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accent2"/>
                </a:solidFill>
              </a:rPr>
              <a:t>SHARED</a:t>
            </a:r>
            <a:endParaRPr sz="20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3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/>
              <a:t>БЛОКИРОВКИ ОБЪЕКТОВ. ВИДЫ БЛОКИРОВОК</a:t>
            </a:r>
            <a:endParaRPr/>
          </a:p>
        </p:txBody>
      </p:sp>
      <p:sp>
        <p:nvSpPr>
          <p:cNvPr id="546" name="Google Shape;546;p73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  <p:sp>
        <p:nvSpPr>
          <p:cNvPr id="547" name="Google Shape;547;p73"/>
          <p:cNvSpPr txBox="1">
            <a:spLocks noGrp="1"/>
          </p:cNvSpPr>
          <p:nvPr>
            <p:ph type="body" idx="1"/>
          </p:nvPr>
        </p:nvSpPr>
        <p:spPr>
          <a:xfrm>
            <a:off x="1725850" y="1475925"/>
            <a:ext cx="7544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По времени жизни: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48" name="Google Shape;548;p73"/>
          <p:cNvSpPr/>
          <p:nvPr/>
        </p:nvSpPr>
        <p:spPr>
          <a:xfrm>
            <a:off x="1725850" y="1946300"/>
            <a:ext cx="8318400" cy="1961400"/>
          </a:xfrm>
          <a:prstGeom prst="roundRect">
            <a:avLst>
              <a:gd name="adj" fmla="val 8116"/>
            </a:avLst>
          </a:prstGeom>
          <a:solidFill>
            <a:srgbClr val="00C39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rgbClr val="3F3F3F"/>
              </a:buClr>
              <a:buSzPts val="1600"/>
              <a:buChar char="●"/>
            </a:pPr>
            <a:r>
              <a:rPr lang="ru-RU" sz="1600">
                <a:solidFill>
                  <a:srgbClr val="3F3F3F"/>
                </a:solidFill>
              </a:rPr>
              <a:t>обычно захватываются до конца транзакции и относятся к хранимым данным (например таблицы и отношения)</a:t>
            </a:r>
            <a:endParaRPr sz="1600">
              <a:solidFill>
                <a:srgbClr val="3F3F3F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●"/>
            </a:pPr>
            <a:r>
              <a:rPr lang="ru-RU" sz="1600">
                <a:solidFill>
                  <a:srgbClr val="3F3F3F"/>
                </a:solidFill>
              </a:rPr>
              <a:t>большое число режимов</a:t>
            </a:r>
            <a:endParaRPr sz="1600">
              <a:solidFill>
                <a:srgbClr val="3F3F3F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Char char="●"/>
            </a:pPr>
            <a:r>
              <a:rPr lang="ru-RU" sz="1600">
                <a:solidFill>
                  <a:srgbClr val="3F3F3F"/>
                </a:solidFill>
              </a:rPr>
              <a:t>развитая «тяжеловесная» инфраструктура, мониторинг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549" name="Google Shape;549;p73"/>
          <p:cNvSpPr/>
          <p:nvPr/>
        </p:nvSpPr>
        <p:spPr>
          <a:xfrm>
            <a:off x="1965800" y="2064500"/>
            <a:ext cx="4596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accent5"/>
                </a:solidFill>
              </a:rPr>
              <a:t>ДОЛГОВРЕМЕННЫЕ БЛОКИРОВКИ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550" name="Google Shape;550;p73"/>
          <p:cNvSpPr/>
          <p:nvPr/>
        </p:nvSpPr>
        <p:spPr>
          <a:xfrm>
            <a:off x="1725850" y="4070275"/>
            <a:ext cx="8318400" cy="1781100"/>
          </a:xfrm>
          <a:prstGeom prst="roundRect">
            <a:avLst>
              <a:gd name="adj" fmla="val 8116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sz="1600">
                <a:solidFill>
                  <a:schemeClr val="dk1"/>
                </a:solidFill>
              </a:rPr>
              <a:t>обычно захватываются на доли секунды (управляются автоматически)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sz="1600">
                <a:solidFill>
                  <a:schemeClr val="dk1"/>
                </a:solidFill>
              </a:rPr>
              <a:t>и относятся к структурам в оперативной памяти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sz="1600">
                <a:solidFill>
                  <a:schemeClr val="dk1"/>
                </a:solidFill>
              </a:rPr>
              <a:t>минимум режимов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sz="1600">
                <a:solidFill>
                  <a:schemeClr val="dk1"/>
                </a:solidFill>
              </a:rPr>
              <a:t>«легковесная» инфраструктура, мониторинг может отсутствовать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551" name="Google Shape;551;p73"/>
          <p:cNvSpPr/>
          <p:nvPr/>
        </p:nvSpPr>
        <p:spPr>
          <a:xfrm>
            <a:off x="1965800" y="4200563"/>
            <a:ext cx="2082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836ED3"/>
                </a:solidFill>
              </a:rPr>
              <a:t>SHARED</a:t>
            </a:r>
            <a:endParaRPr sz="2000">
              <a:solidFill>
                <a:srgbClr val="836ED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7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/>
              <a:t>БЛОКИРОВКИ ОБЪЕКТОВ. КАКИЕ СУЩЕСТВУЮТ</a:t>
            </a:r>
            <a:endParaRPr/>
          </a:p>
        </p:txBody>
      </p:sp>
      <p:sp>
        <p:nvSpPr>
          <p:cNvPr id="557" name="Google Shape;557;p7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  <p:sp>
        <p:nvSpPr>
          <p:cNvPr id="558" name="Google Shape;558;p74"/>
          <p:cNvSpPr/>
          <p:nvPr/>
        </p:nvSpPr>
        <p:spPr>
          <a:xfrm>
            <a:off x="7221750" y="1427150"/>
            <a:ext cx="3081000" cy="597600"/>
          </a:xfrm>
          <a:prstGeom prst="flowChartInternalStorage">
            <a:avLst/>
          </a:prstGeom>
          <a:solidFill>
            <a:srgbClr val="CBF2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   1</a:t>
            </a:r>
            <a:endParaRPr/>
          </a:p>
        </p:txBody>
      </p:sp>
      <p:sp>
        <p:nvSpPr>
          <p:cNvPr id="559" name="Google Shape;559;p74"/>
          <p:cNvSpPr/>
          <p:nvPr/>
        </p:nvSpPr>
        <p:spPr>
          <a:xfrm>
            <a:off x="7221750" y="2169120"/>
            <a:ext cx="3081000" cy="597625"/>
          </a:xfrm>
          <a:prstGeom prst="flowChartInternalStorag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    0                грязный буфер</a:t>
            </a:r>
            <a:endParaRPr/>
          </a:p>
        </p:txBody>
      </p:sp>
      <p:sp>
        <p:nvSpPr>
          <p:cNvPr id="560" name="Google Shape;560;p74"/>
          <p:cNvSpPr/>
          <p:nvPr/>
        </p:nvSpPr>
        <p:spPr>
          <a:xfrm>
            <a:off x="7221750" y="2911115"/>
            <a:ext cx="3081000" cy="597625"/>
          </a:xfrm>
          <a:prstGeom prst="flowChartInternalStorage">
            <a:avLst/>
          </a:prstGeom>
          <a:solidFill>
            <a:srgbClr val="CBF2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   2</a:t>
            </a:r>
            <a:endParaRPr/>
          </a:p>
        </p:txBody>
      </p:sp>
      <p:sp>
        <p:nvSpPr>
          <p:cNvPr id="561" name="Google Shape;561;p74"/>
          <p:cNvSpPr/>
          <p:nvPr/>
        </p:nvSpPr>
        <p:spPr>
          <a:xfrm>
            <a:off x="7221750" y="3653110"/>
            <a:ext cx="3081000" cy="597625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   1</a:t>
            </a:r>
            <a:endParaRPr/>
          </a:p>
        </p:txBody>
      </p:sp>
      <p:sp>
        <p:nvSpPr>
          <p:cNvPr id="562" name="Google Shape;562;p74"/>
          <p:cNvSpPr/>
          <p:nvPr/>
        </p:nvSpPr>
        <p:spPr>
          <a:xfrm>
            <a:off x="7221750" y="4395105"/>
            <a:ext cx="3081000" cy="597625"/>
          </a:xfrm>
          <a:prstGeom prst="flowChartInternalStorage">
            <a:avLst/>
          </a:prstGeom>
          <a:solidFill>
            <a:srgbClr val="CBF2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   4</a:t>
            </a:r>
            <a:endParaRPr/>
          </a:p>
        </p:txBody>
      </p:sp>
      <p:sp>
        <p:nvSpPr>
          <p:cNvPr id="563" name="Google Shape;563;p74"/>
          <p:cNvSpPr/>
          <p:nvPr/>
        </p:nvSpPr>
        <p:spPr>
          <a:xfrm>
            <a:off x="7221749" y="5137100"/>
            <a:ext cx="3081000" cy="597600"/>
          </a:xfrm>
          <a:prstGeom prst="flowChartInternalStorage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   1</a:t>
            </a:r>
            <a:endParaRPr/>
          </a:p>
        </p:txBody>
      </p:sp>
      <p:pic>
        <p:nvPicPr>
          <p:cNvPr id="564" name="Google Shape;56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4734" y="5059736"/>
            <a:ext cx="413860" cy="362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4734" y="1358826"/>
            <a:ext cx="413860" cy="362584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74"/>
          <p:cNvSpPr/>
          <p:nvPr/>
        </p:nvSpPr>
        <p:spPr>
          <a:xfrm>
            <a:off x="7678101" y="4512626"/>
            <a:ext cx="258768" cy="362556"/>
          </a:xfrm>
          <a:prstGeom prst="lightningBolt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74"/>
          <p:cNvSpPr/>
          <p:nvPr/>
        </p:nvSpPr>
        <p:spPr>
          <a:xfrm>
            <a:off x="2047910" y="4264618"/>
            <a:ext cx="4681800" cy="1662000"/>
          </a:xfrm>
          <a:prstGeom prst="can">
            <a:avLst>
              <a:gd name="adj" fmla="val 25000"/>
            </a:avLst>
          </a:prstGeom>
          <a:solidFill>
            <a:srgbClr val="CBF2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74"/>
          <p:cNvSpPr/>
          <p:nvPr/>
        </p:nvSpPr>
        <p:spPr>
          <a:xfrm>
            <a:off x="2491998" y="5059831"/>
            <a:ext cx="4078200" cy="362400"/>
          </a:xfrm>
          <a:prstGeom prst="rect">
            <a:avLst/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74"/>
          <p:cNvSpPr/>
          <p:nvPr/>
        </p:nvSpPr>
        <p:spPr>
          <a:xfrm>
            <a:off x="2491998" y="4697330"/>
            <a:ext cx="4078200" cy="362400"/>
          </a:xfrm>
          <a:prstGeom prst="rect">
            <a:avLst/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2860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/>
              <a:t>БД</a:t>
            </a:r>
            <a:endParaRPr sz="2000"/>
          </a:p>
        </p:txBody>
      </p:sp>
      <p:pic>
        <p:nvPicPr>
          <p:cNvPr id="570" name="Google Shape;570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4337" y="4719938"/>
            <a:ext cx="413850" cy="317167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74"/>
          <p:cNvSpPr/>
          <p:nvPr/>
        </p:nvSpPr>
        <p:spPr>
          <a:xfrm>
            <a:off x="2183448" y="1763016"/>
            <a:ext cx="4410720" cy="2085912"/>
          </a:xfrm>
          <a:prstGeom prst="cloud">
            <a:avLst/>
          </a:prstGeom>
          <a:solidFill>
            <a:srgbClr val="00C391">
              <a:alpha val="2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74"/>
          <p:cNvSpPr txBox="1"/>
          <p:nvPr/>
        </p:nvSpPr>
        <p:spPr>
          <a:xfrm>
            <a:off x="3491898" y="1358925"/>
            <a:ext cx="42801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/>
              <a:t>shared memory (тяжеловесные)</a:t>
            </a:r>
            <a:endParaRPr sz="1800"/>
          </a:p>
        </p:txBody>
      </p:sp>
      <p:sp>
        <p:nvSpPr>
          <p:cNvPr id="573" name="Google Shape;573;p74"/>
          <p:cNvSpPr/>
          <p:nvPr/>
        </p:nvSpPr>
        <p:spPr>
          <a:xfrm>
            <a:off x="2220397" y="3347375"/>
            <a:ext cx="1331400" cy="467100"/>
          </a:xfrm>
          <a:prstGeom prst="wedgeEllipseCallout">
            <a:avLst>
              <a:gd name="adj1" fmla="val 27618"/>
              <a:gd name="adj2" fmla="val -109864"/>
            </a:avLst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объекты</a:t>
            </a:r>
            <a:endParaRPr/>
          </a:p>
        </p:txBody>
      </p:sp>
      <p:sp>
        <p:nvSpPr>
          <p:cNvPr id="574" name="Google Shape;574;p74"/>
          <p:cNvSpPr/>
          <p:nvPr/>
        </p:nvSpPr>
        <p:spPr>
          <a:xfrm>
            <a:off x="4216425" y="2730025"/>
            <a:ext cx="1524600" cy="525900"/>
          </a:xfrm>
          <a:prstGeom prst="wedgeEllipseCallout">
            <a:avLst>
              <a:gd name="adj1" fmla="val 36026"/>
              <a:gd name="adj2" fmla="val -98519"/>
            </a:avLst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предикаты</a:t>
            </a:r>
            <a:endParaRPr/>
          </a:p>
        </p:txBody>
      </p:sp>
      <p:sp>
        <p:nvSpPr>
          <p:cNvPr id="575" name="Google Shape;575;p74"/>
          <p:cNvSpPr/>
          <p:nvPr/>
        </p:nvSpPr>
        <p:spPr>
          <a:xfrm>
            <a:off x="1725850" y="1512825"/>
            <a:ext cx="1634400" cy="467100"/>
          </a:xfrm>
          <a:prstGeom prst="wedgeEllipseCallout">
            <a:avLst>
              <a:gd name="adj1" fmla="val 49552"/>
              <a:gd name="adj2" fmla="val 113712"/>
            </a:avLst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транзакции</a:t>
            </a:r>
            <a:endParaRPr/>
          </a:p>
        </p:txBody>
      </p:sp>
      <p:sp>
        <p:nvSpPr>
          <p:cNvPr id="576" name="Google Shape;576;p74"/>
          <p:cNvSpPr txBox="1"/>
          <p:nvPr/>
        </p:nvSpPr>
        <p:spPr>
          <a:xfrm>
            <a:off x="7678100" y="1565175"/>
            <a:ext cx="31716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shared buffers (легковесные)</a:t>
            </a:r>
            <a:endParaRPr/>
          </a:p>
        </p:txBody>
      </p:sp>
      <p:pic>
        <p:nvPicPr>
          <p:cNvPr id="577" name="Google Shape;577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4337" y="5082438"/>
            <a:ext cx="413850" cy="317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7875" y="2758563"/>
            <a:ext cx="413850" cy="317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6475" y="2169763"/>
            <a:ext cx="413850" cy="317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0250" y="2136363"/>
            <a:ext cx="413850" cy="317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80450" y="3793338"/>
            <a:ext cx="413850" cy="317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80450" y="5277313"/>
            <a:ext cx="413850" cy="317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5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87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ru-RU"/>
              <a:t>БЛОКИРОВКИ ОТНОШЕНИЙ</a:t>
            </a:r>
            <a:endParaRPr/>
          </a:p>
        </p:txBody>
      </p:sp>
      <p:sp>
        <p:nvSpPr>
          <p:cNvPr id="588" name="Google Shape;588;p7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  <p:sp>
        <p:nvSpPr>
          <p:cNvPr id="589" name="Google Shape;589;p75"/>
          <p:cNvSpPr/>
          <p:nvPr/>
        </p:nvSpPr>
        <p:spPr>
          <a:xfrm>
            <a:off x="1662400" y="1386350"/>
            <a:ext cx="7771800" cy="7179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684000" tIns="108000" rIns="180000" bIns="1080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dk1"/>
                </a:solidFill>
              </a:rPr>
              <a:t>тип ресурса: relation в pg_locks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590" name="Google Shape;59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5575" y="1552850"/>
            <a:ext cx="385661" cy="384901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75"/>
          <p:cNvSpPr txBox="1">
            <a:spLocks noGrp="1"/>
          </p:cNvSpPr>
          <p:nvPr>
            <p:ph type="body" idx="1"/>
          </p:nvPr>
        </p:nvSpPr>
        <p:spPr>
          <a:xfrm>
            <a:off x="1662400" y="2364925"/>
            <a:ext cx="3170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Режимы: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92" name="Google Shape;592;p75"/>
          <p:cNvSpPr txBox="1">
            <a:spLocks noGrp="1"/>
          </p:cNvSpPr>
          <p:nvPr>
            <p:ph type="body" idx="1"/>
          </p:nvPr>
        </p:nvSpPr>
        <p:spPr>
          <a:xfrm>
            <a:off x="1662400" y="2862450"/>
            <a:ext cx="8405400" cy="27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ru-RU" sz="1600">
                <a:latin typeface="Arial"/>
                <a:ea typeface="Arial"/>
                <a:cs typeface="Arial"/>
                <a:sym typeface="Arial"/>
              </a:rPr>
              <a:t>Access Share 				</a:t>
            </a:r>
            <a:r>
              <a:rPr lang="ru-RU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>
                <a:latin typeface="Arial"/>
                <a:ea typeface="Arial"/>
                <a:cs typeface="Arial"/>
                <a:sym typeface="Arial"/>
              </a:rPr>
              <a:t>Row Share 				</a:t>
            </a:r>
            <a:r>
              <a:rPr lang="ru-RU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SELECT FOR UPDATE/SHARE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>
                <a:latin typeface="Arial"/>
                <a:ea typeface="Arial"/>
                <a:cs typeface="Arial"/>
                <a:sym typeface="Arial"/>
              </a:rPr>
              <a:t>Row Exclusive 			</a:t>
            </a:r>
            <a:r>
              <a:rPr lang="ru-RU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UPDATE, DELETE, INSERT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>
                <a:latin typeface="Arial"/>
                <a:ea typeface="Arial"/>
                <a:cs typeface="Arial"/>
                <a:sym typeface="Arial"/>
              </a:rPr>
              <a:t>Share Update Exclusive 	        </a:t>
            </a:r>
            <a:r>
              <a:rPr lang="ru-RU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VACUUM, ALTER TABLE,</a:t>
            </a:r>
            <a:br>
              <a:rPr lang="ru-RU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СREATE INDEX CONCURRENTLY</a:t>
            </a:r>
            <a:endParaRPr sz="1600">
              <a:solidFill>
                <a:schemeClr val="dk2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 	</a:t>
            </a:r>
            <a:r>
              <a:rPr lang="ru-RU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		CREATE INDEX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>
                <a:latin typeface="Arial"/>
                <a:ea typeface="Arial"/>
                <a:cs typeface="Arial"/>
                <a:sym typeface="Arial"/>
              </a:rPr>
              <a:t>Share Row Exclusive 		</a:t>
            </a:r>
            <a:r>
              <a:rPr lang="ru-RU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CREATE TRIGGER, ALTER TABLE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>
                <a:latin typeface="Arial"/>
                <a:ea typeface="Arial"/>
                <a:cs typeface="Arial"/>
                <a:sym typeface="Arial"/>
              </a:rPr>
              <a:t>Exclusive 				</a:t>
            </a:r>
            <a:r>
              <a:rPr lang="ru-RU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REFRESH MAT. VIEW CONCURRENTLY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>
                <a:latin typeface="Arial"/>
                <a:ea typeface="Arial"/>
                <a:cs typeface="Arial"/>
                <a:sym typeface="Arial"/>
              </a:rPr>
              <a:t>Access Exclusive 			</a:t>
            </a:r>
            <a:r>
              <a:rPr lang="ru-RU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DROP, TRUNCATE, VACUUM FULL,</a:t>
            </a:r>
            <a:br>
              <a:rPr lang="ru-RU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</a:t>
            </a:r>
            <a:r>
              <a:rPr lang="ru-RU" sz="1600">
                <a:solidFill>
                  <a:schemeClr val="dk2"/>
                </a:solidFill>
              </a:rPr>
              <a:t> </a:t>
            </a:r>
            <a:r>
              <a:rPr lang="ru-RU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LOCK TABLE, ALTER TABLE, REFRESH MAT. VIEW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75"/>
          <p:cNvSpPr/>
          <p:nvPr/>
        </p:nvSpPr>
        <p:spPr>
          <a:xfrm>
            <a:off x="9228625" y="2862450"/>
            <a:ext cx="488700" cy="21231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75"/>
          <p:cNvSpPr txBox="1"/>
          <p:nvPr/>
        </p:nvSpPr>
        <p:spPr>
          <a:xfrm>
            <a:off x="9801525" y="3460500"/>
            <a:ext cx="1760100" cy="9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/>
              <a:t>допускают изменение данных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7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540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87350">
              <a:lnSpc>
                <a:spcPct val="90000"/>
              </a:lnSpc>
              <a:buFont typeface="Arial Black"/>
              <a:buAutoNum type="arabicPeriod"/>
            </a:pPr>
            <a:r>
              <a:rPr lang="ru-RU" dirty="0"/>
              <a:t>БЛОКИРОВКИ ОТНОШЕНИЙ.</a:t>
            </a:r>
            <a:br>
              <a:rPr lang="ru-RU" dirty="0"/>
            </a:br>
            <a:r>
              <a:rPr lang="ru-RU" sz="1400" dirty="0"/>
              <a:t>X – обозначены не совместимые блокировки.</a:t>
            </a:r>
            <a:endParaRPr sz="1400" dirty="0"/>
          </a:p>
        </p:txBody>
      </p:sp>
      <p:sp>
        <p:nvSpPr>
          <p:cNvPr id="600" name="Google Shape;600;p7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  <p:graphicFrame>
        <p:nvGraphicFramePr>
          <p:cNvPr id="601" name="Google Shape;601;p76"/>
          <p:cNvGraphicFramePr/>
          <p:nvPr>
            <p:extLst>
              <p:ext uri="{D42A27DB-BD31-4B8C-83A1-F6EECF244321}">
                <p14:modId xmlns:p14="http://schemas.microsoft.com/office/powerpoint/2010/main" val="3544961748"/>
              </p:ext>
            </p:extLst>
          </p:nvPr>
        </p:nvGraphicFramePr>
        <p:xfrm>
          <a:off x="844163" y="1094225"/>
          <a:ext cx="9937500" cy="4612801"/>
        </p:xfrm>
        <a:graphic>
          <a:graphicData uri="http://schemas.openxmlformats.org/drawingml/2006/table">
            <a:tbl>
              <a:tblPr>
                <a:noFill/>
                <a:tableStyleId>{389F26FC-FF67-44BC-A737-31496C2DAE2A}</a:tableStyleId>
              </a:tblPr>
              <a:tblGrid>
                <a:gridCol w="174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6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3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9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6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3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04250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>
                          <a:solidFill>
                            <a:schemeClr val="dk1"/>
                          </a:solidFill>
                        </a:rPr>
                        <a:t>Запраши​ваемый режим блоки​ровки</a:t>
                      </a:r>
                      <a:endParaRPr sz="12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>
                          <a:solidFill>
                            <a:schemeClr val="dk1"/>
                          </a:solidFill>
                        </a:rPr>
                        <a:t>Текущий режим блокировки</a:t>
                      </a:r>
                      <a:endParaRPr sz="12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0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>
                          <a:solidFill>
                            <a:schemeClr val="dk1"/>
                          </a:solidFill>
                        </a:rPr>
                        <a:t>ACCESS SHARE</a:t>
                      </a:r>
                      <a:endParaRPr sz="12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>
                          <a:solidFill>
                            <a:schemeClr val="dk1"/>
                          </a:solidFill>
                        </a:rPr>
                        <a:t>ROW SHARE</a:t>
                      </a:r>
                      <a:endParaRPr sz="12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>
                          <a:solidFill>
                            <a:schemeClr val="dk1"/>
                          </a:solidFill>
                        </a:rPr>
                        <a:t>ROW EXCLUSIVE</a:t>
                      </a:r>
                      <a:endParaRPr sz="12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>
                          <a:solidFill>
                            <a:schemeClr val="dk1"/>
                          </a:solidFill>
                        </a:rPr>
                        <a:t>SHARE UPDATE EXCLUSIVE</a:t>
                      </a:r>
                      <a:endParaRPr sz="12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>
                          <a:solidFill>
                            <a:schemeClr val="dk1"/>
                          </a:solidFill>
                        </a:rPr>
                        <a:t>SHARE</a:t>
                      </a:r>
                      <a:endParaRPr sz="12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>
                          <a:solidFill>
                            <a:schemeClr val="dk1"/>
                          </a:solidFill>
                        </a:rPr>
                        <a:t>SHARE ROW EXCLUSIVE</a:t>
                      </a:r>
                      <a:endParaRPr sz="12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>
                          <a:solidFill>
                            <a:schemeClr val="dk1"/>
                          </a:solidFill>
                        </a:rPr>
                        <a:t>EXCLU​SIVE</a:t>
                      </a:r>
                      <a:endParaRPr sz="12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>
                          <a:solidFill>
                            <a:schemeClr val="dk1"/>
                          </a:solidFill>
                        </a:rPr>
                        <a:t>ACCESS EXCLUSIVE</a:t>
                      </a:r>
                      <a:endParaRPr sz="12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ACCESS SHARE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ROW SHARE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ROW EXCLUSIVE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SHARE UPDATE EXCLUSIVE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SHARE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SHARE ROW EXCLUSIVE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3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EXCLU​SIVE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ACCESS EXCLUSIVE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dk1"/>
                          </a:solidFill>
                        </a:rPr>
                        <a:t>X</a:t>
                      </a:r>
                      <a:endParaRPr sz="120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7"/>
          <p:cNvSpPr txBox="1">
            <a:spLocks noGrp="1"/>
          </p:cNvSpPr>
          <p:nvPr>
            <p:ph type="title"/>
          </p:nvPr>
        </p:nvSpPr>
        <p:spPr>
          <a:xfrm>
            <a:off x="1774824" y="607417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87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ru-RU"/>
              <a:t>БЛОКИРОВКИ ОТНОШЕНИЙ</a:t>
            </a:r>
            <a:endParaRPr/>
          </a:p>
        </p:txBody>
      </p:sp>
      <p:sp>
        <p:nvSpPr>
          <p:cNvPr id="607" name="Google Shape;607;p7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  <p:cxnSp>
        <p:nvCxnSpPr>
          <p:cNvPr id="608" name="Google Shape;608;p77"/>
          <p:cNvCxnSpPr/>
          <p:nvPr/>
        </p:nvCxnSpPr>
        <p:spPr>
          <a:xfrm>
            <a:off x="1725849" y="1427672"/>
            <a:ext cx="72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9" name="Google Shape;609;p77"/>
          <p:cNvSpPr/>
          <p:nvPr/>
        </p:nvSpPr>
        <p:spPr>
          <a:xfrm>
            <a:off x="1725850" y="1626500"/>
            <a:ext cx="2423100" cy="275400"/>
          </a:xfrm>
          <a:prstGeom prst="rect">
            <a:avLst/>
          </a:prstGeom>
          <a:solidFill>
            <a:srgbClr val="CBF2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access share - SELECT 1</a:t>
            </a:r>
            <a:endParaRPr/>
          </a:p>
        </p:txBody>
      </p:sp>
      <p:sp>
        <p:nvSpPr>
          <p:cNvPr id="610" name="Google Shape;610;p77"/>
          <p:cNvSpPr/>
          <p:nvPr/>
        </p:nvSpPr>
        <p:spPr>
          <a:xfrm>
            <a:off x="2392614" y="2100625"/>
            <a:ext cx="2292600" cy="275400"/>
          </a:xfrm>
          <a:prstGeom prst="rect">
            <a:avLst/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access share - SELECT 2</a:t>
            </a:r>
            <a:endParaRPr/>
          </a:p>
        </p:txBody>
      </p:sp>
      <p:cxnSp>
        <p:nvCxnSpPr>
          <p:cNvPr id="611" name="Google Shape;611;p77"/>
          <p:cNvCxnSpPr>
            <a:endCxn id="612" idx="7"/>
          </p:cNvCxnSpPr>
          <p:nvPr/>
        </p:nvCxnSpPr>
        <p:spPr>
          <a:xfrm flipH="1">
            <a:off x="4678612" y="1427651"/>
            <a:ext cx="6600" cy="257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3" name="Google Shape;613;p77"/>
          <p:cNvCxnSpPr>
            <a:endCxn id="614" idx="7"/>
          </p:cNvCxnSpPr>
          <p:nvPr/>
        </p:nvCxnSpPr>
        <p:spPr>
          <a:xfrm flipH="1">
            <a:off x="7791407" y="1427524"/>
            <a:ext cx="2400" cy="278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5" name="Google Shape;615;p77"/>
          <p:cNvSpPr txBox="1"/>
          <p:nvPr/>
        </p:nvSpPr>
        <p:spPr>
          <a:xfrm>
            <a:off x="9218038" y="1212125"/>
            <a:ext cx="2423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/>
              <a:t>timeline</a:t>
            </a:r>
            <a:endParaRPr sz="1600"/>
          </a:p>
        </p:txBody>
      </p:sp>
      <p:sp>
        <p:nvSpPr>
          <p:cNvPr id="612" name="Google Shape;612;p77"/>
          <p:cNvSpPr/>
          <p:nvPr/>
        </p:nvSpPr>
        <p:spPr>
          <a:xfrm>
            <a:off x="1362125" y="4134750"/>
            <a:ext cx="3323100" cy="1917900"/>
          </a:xfrm>
          <a:prstGeom prst="wedgeEllipseCallout">
            <a:avLst>
              <a:gd name="adj1" fmla="val 49801"/>
              <a:gd name="adj2" fmla="val -56846"/>
            </a:avLst>
          </a:prstGeom>
          <a:solidFill>
            <a:srgbClr val="CBF2FF">
              <a:alpha val="3452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Начало выполнения вакуума, до этого он ждет окончания выполнения предыдущих запросов 1 и 2, так как ему нужна эксклюзивная блокировка</a:t>
            </a:r>
            <a:endParaRPr dirty="0"/>
          </a:p>
        </p:txBody>
      </p:sp>
      <p:sp>
        <p:nvSpPr>
          <p:cNvPr id="614" name="Google Shape;614;p77"/>
          <p:cNvSpPr/>
          <p:nvPr/>
        </p:nvSpPr>
        <p:spPr>
          <a:xfrm>
            <a:off x="4814064" y="4333257"/>
            <a:ext cx="4010700" cy="1636500"/>
          </a:xfrm>
          <a:prstGeom prst="wedgeEllipseCallout">
            <a:avLst>
              <a:gd name="adj1" fmla="val 24235"/>
              <a:gd name="adj2" fmla="val -57457"/>
            </a:avLst>
          </a:prstGeom>
          <a:solidFill>
            <a:srgbClr val="CBF2FF">
              <a:alpha val="3452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Начало выполнения запросов 3 и 4, до этого они ждут завершения эксклюзивной блокировки</a:t>
            </a:r>
            <a:endParaRPr/>
          </a:p>
        </p:txBody>
      </p:sp>
      <p:sp>
        <p:nvSpPr>
          <p:cNvPr id="616" name="Google Shape;616;p77"/>
          <p:cNvSpPr/>
          <p:nvPr/>
        </p:nvSpPr>
        <p:spPr>
          <a:xfrm>
            <a:off x="3121907" y="2574775"/>
            <a:ext cx="4669500" cy="275400"/>
          </a:xfrm>
          <a:prstGeom prst="rect">
            <a:avLst/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access exclusive - VACUUM FULL</a:t>
            </a:r>
            <a:endParaRPr/>
          </a:p>
        </p:txBody>
      </p:sp>
      <p:sp>
        <p:nvSpPr>
          <p:cNvPr id="617" name="Google Shape;617;p77"/>
          <p:cNvSpPr/>
          <p:nvPr/>
        </p:nvSpPr>
        <p:spPr>
          <a:xfrm>
            <a:off x="3785273" y="3048912"/>
            <a:ext cx="4669500" cy="275400"/>
          </a:xfrm>
          <a:prstGeom prst="rect">
            <a:avLst/>
          </a:prstGeom>
          <a:solidFill>
            <a:srgbClr val="00C391">
              <a:alpha val="2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access share - SELECT 3</a:t>
            </a:r>
            <a:endParaRPr/>
          </a:p>
        </p:txBody>
      </p:sp>
      <p:sp>
        <p:nvSpPr>
          <p:cNvPr id="618" name="Google Shape;618;p77"/>
          <p:cNvSpPr/>
          <p:nvPr/>
        </p:nvSpPr>
        <p:spPr>
          <a:xfrm>
            <a:off x="4266250" y="3523050"/>
            <a:ext cx="4996200" cy="275400"/>
          </a:xfrm>
          <a:prstGeom prst="rect">
            <a:avLst/>
          </a:prstGeom>
          <a:solidFill>
            <a:srgbClr val="1B4EFC">
              <a:alpha val="4365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access share - SELECT 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78"/>
          <p:cNvSpPr txBox="1">
            <a:spLocks noGrp="1"/>
          </p:cNvSpPr>
          <p:nvPr>
            <p:ph type="title"/>
          </p:nvPr>
        </p:nvSpPr>
        <p:spPr>
          <a:xfrm>
            <a:off x="1703400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 b="1"/>
              <a:t>2. БЛОКИРОВКИ СТРОК</a:t>
            </a:r>
            <a:endParaRPr/>
          </a:p>
        </p:txBody>
      </p:sp>
      <p:sp>
        <p:nvSpPr>
          <p:cNvPr id="624" name="Google Shape;624;p7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  <p:sp>
        <p:nvSpPr>
          <p:cNvPr id="625" name="Google Shape;625;p78"/>
          <p:cNvSpPr txBox="1">
            <a:spLocks noGrp="1"/>
          </p:cNvSpPr>
          <p:nvPr>
            <p:ph type="body" idx="1"/>
          </p:nvPr>
        </p:nvSpPr>
        <p:spPr>
          <a:xfrm>
            <a:off x="1703400" y="2015988"/>
            <a:ext cx="7157700" cy="28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•"/>
            </a:pPr>
            <a:r>
              <a:rPr lang="ru-RU" sz="1800">
                <a:solidFill>
                  <a:schemeClr val="dk1"/>
                </a:solidFill>
              </a:rPr>
              <a:t>информация только в страницах данных </a:t>
            </a:r>
            <a:r>
              <a:rPr lang="ru-RU" sz="1800">
                <a:solidFill>
                  <a:schemeClr val="dk2"/>
                </a:solidFill>
              </a:rPr>
              <a:t>на диске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ru-RU" sz="1800">
                <a:solidFill>
                  <a:schemeClr val="dk1"/>
                </a:solidFill>
              </a:rPr>
              <a:t>в отличии от блокировок отношений (которых ограниченное количество), здесь ограничений нет (могут быть миллиарды строк)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ru-RU" sz="1800">
                <a:solidFill>
                  <a:schemeClr val="dk1"/>
                </a:solidFill>
              </a:rPr>
              <a:t>поле xmax заголовка версии строки + информационные биты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ru-RU" sz="1800">
                <a:solidFill>
                  <a:schemeClr val="dk1"/>
                </a:solidFill>
              </a:rPr>
              <a:t>большое число минимально отражается на производительности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ru-RU" sz="1800">
                <a:solidFill>
                  <a:schemeClr val="dk1"/>
                </a:solidFill>
              </a:rPr>
              <a:t>очередь ожидания организована с помощью блокировок объектов (пропорционально числу процессов, а не строк)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 b="1"/>
              <a:t>2. БЛОКИРОВКИ СТРОК. РЕЖИМЫ</a:t>
            </a:r>
            <a:endParaRPr/>
          </a:p>
        </p:txBody>
      </p:sp>
      <p:sp>
        <p:nvSpPr>
          <p:cNvPr id="631" name="Google Shape;631;p7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  <p:sp>
        <p:nvSpPr>
          <p:cNvPr id="632" name="Google Shape;632;p79"/>
          <p:cNvSpPr txBox="1">
            <a:spLocks noGrp="1"/>
          </p:cNvSpPr>
          <p:nvPr>
            <p:ph type="body" idx="1"/>
          </p:nvPr>
        </p:nvSpPr>
        <p:spPr>
          <a:xfrm>
            <a:off x="1725850" y="1601138"/>
            <a:ext cx="7544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Эксклюзивный и разделяемый. Эксклюзивный: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633" name="Google Shape;633;p79"/>
          <p:cNvSpPr/>
          <p:nvPr/>
        </p:nvSpPr>
        <p:spPr>
          <a:xfrm>
            <a:off x="1725850" y="2774326"/>
            <a:ext cx="8233200" cy="996600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SELECT FOR UPDATE</a:t>
            </a:r>
            <a:br>
              <a:rPr lang="ru-RU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-RU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UPDATE </a:t>
            </a:r>
            <a:r>
              <a:rPr lang="ru-RU" sz="1600">
                <a:solidFill>
                  <a:schemeClr val="lt1"/>
                </a:solidFill>
              </a:rPr>
              <a:t>(с изменением ключевых полей)</a:t>
            </a:r>
            <a:br>
              <a:rPr lang="ru-RU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-RU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DELETE</a:t>
            </a:r>
            <a:endParaRPr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4" name="Google Shape;634;p79"/>
          <p:cNvSpPr txBox="1"/>
          <p:nvPr/>
        </p:nvSpPr>
        <p:spPr>
          <a:xfrm>
            <a:off x="2419675" y="2233759"/>
            <a:ext cx="5942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accent3"/>
                </a:solidFill>
              </a:rPr>
              <a:t>UPDATE: </a:t>
            </a:r>
            <a:r>
              <a:rPr lang="ru-RU" sz="1800">
                <a:solidFill>
                  <a:schemeClr val="dk1"/>
                </a:solidFill>
              </a:rPr>
              <a:t>удаление строки или изменение всех полей</a:t>
            </a:r>
            <a:endParaRPr sz="18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635" name="Google Shape;635;p79"/>
          <p:cNvSpPr/>
          <p:nvPr/>
        </p:nvSpPr>
        <p:spPr>
          <a:xfrm>
            <a:off x="1725851" y="2126059"/>
            <a:ext cx="484500" cy="4926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6ED3"/>
              </a:buClr>
              <a:buSzPts val="2400"/>
              <a:buFont typeface="Arial"/>
              <a:buNone/>
            </a:pPr>
            <a:r>
              <a:rPr lang="ru-RU" sz="2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700" b="0" i="0" u="none" strike="noStrike" cap="non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6" name="Google Shape;636;p79"/>
          <p:cNvSpPr/>
          <p:nvPr/>
        </p:nvSpPr>
        <p:spPr>
          <a:xfrm>
            <a:off x="1725850" y="4574861"/>
            <a:ext cx="8233200" cy="918900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SELECT FOR NO KEY UPDATE</a:t>
            </a:r>
            <a:br>
              <a:rPr lang="ru-RU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-RU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UPDATE </a:t>
            </a:r>
            <a:r>
              <a:rPr lang="ru-RU" sz="1600">
                <a:solidFill>
                  <a:schemeClr val="lt1"/>
                </a:solidFill>
              </a:rPr>
              <a:t>(без изменения ключевых полей - все внешние ключи без изменений)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637" name="Google Shape;637;p79"/>
          <p:cNvSpPr txBox="1"/>
          <p:nvPr/>
        </p:nvSpPr>
        <p:spPr>
          <a:xfrm>
            <a:off x="2419675" y="4034288"/>
            <a:ext cx="668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accent6"/>
                </a:solidFill>
              </a:rPr>
              <a:t>NO KEY UPDATE:</a:t>
            </a:r>
            <a:r>
              <a:rPr lang="ru-RU" sz="1800">
                <a:solidFill>
                  <a:schemeClr val="dk1"/>
                </a:solidFill>
              </a:rPr>
              <a:t> изменение любых полей, кроме ключевых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38" name="Google Shape;638;p79"/>
          <p:cNvSpPr/>
          <p:nvPr/>
        </p:nvSpPr>
        <p:spPr>
          <a:xfrm>
            <a:off x="1725851" y="3926588"/>
            <a:ext cx="484500" cy="492600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391"/>
              </a:buClr>
              <a:buSzPts val="3200"/>
              <a:buFont typeface="Arial"/>
              <a:buNone/>
            </a:pPr>
            <a:r>
              <a:rPr lang="ru-RU" sz="26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600" b="0" i="0" u="none" strike="noStrike" cap="none">
              <a:solidFill>
                <a:schemeClr val="accent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80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 b="1"/>
              <a:t>2. БЛОКИРОВКИ СТРОК. РЕЖИМЫ</a:t>
            </a:r>
            <a:endParaRPr/>
          </a:p>
        </p:txBody>
      </p:sp>
      <p:sp>
        <p:nvSpPr>
          <p:cNvPr id="644" name="Google Shape;644;p8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16</a:t>
            </a:fld>
            <a:endParaRPr/>
          </a:p>
        </p:txBody>
      </p:sp>
      <p:sp>
        <p:nvSpPr>
          <p:cNvPr id="645" name="Google Shape;645;p80"/>
          <p:cNvSpPr txBox="1">
            <a:spLocks noGrp="1"/>
          </p:cNvSpPr>
          <p:nvPr>
            <p:ph type="body" idx="1"/>
          </p:nvPr>
        </p:nvSpPr>
        <p:spPr>
          <a:xfrm>
            <a:off x="1725850" y="1703338"/>
            <a:ext cx="7544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Разделяемый: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646" name="Google Shape;646;p80"/>
          <p:cNvSpPr/>
          <p:nvPr/>
        </p:nvSpPr>
        <p:spPr>
          <a:xfrm>
            <a:off x="1725850" y="2876524"/>
            <a:ext cx="8233200" cy="492600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SELECT FOR SHARE</a:t>
            </a:r>
            <a:endParaRPr sz="160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7" name="Google Shape;647;p80"/>
          <p:cNvSpPr txBox="1"/>
          <p:nvPr/>
        </p:nvSpPr>
        <p:spPr>
          <a:xfrm>
            <a:off x="2419675" y="2335959"/>
            <a:ext cx="5942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2"/>
                </a:solidFill>
              </a:rPr>
              <a:t>SHARE: </a:t>
            </a:r>
            <a:r>
              <a:rPr lang="ru-RU" sz="1800">
                <a:solidFill>
                  <a:schemeClr val="dk1"/>
                </a:solidFill>
              </a:rPr>
              <a:t>запрет изменения любых полей строки`</a:t>
            </a:r>
            <a:endParaRPr sz="18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648" name="Google Shape;648;p80"/>
          <p:cNvSpPr/>
          <p:nvPr/>
        </p:nvSpPr>
        <p:spPr>
          <a:xfrm>
            <a:off x="1725851" y="2228259"/>
            <a:ext cx="484500" cy="492600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6ED3"/>
              </a:buClr>
              <a:buSzPts val="2400"/>
              <a:buFont typeface="Arial"/>
              <a:buNone/>
            </a:pPr>
            <a:r>
              <a:rPr lang="ru-RU" sz="2600" b="0" i="0" u="none" strike="noStrike" cap="none">
                <a:solidFill>
                  <a:srgbClr val="1B4E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700" b="0" i="0" u="none" strike="noStrike" cap="none">
              <a:solidFill>
                <a:srgbClr val="1B4E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9" name="Google Shape;649;p80"/>
          <p:cNvSpPr/>
          <p:nvPr/>
        </p:nvSpPr>
        <p:spPr>
          <a:xfrm>
            <a:off x="1725850" y="4235761"/>
            <a:ext cx="8233200" cy="918900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SELECT FOR KEY SHARE</a:t>
            </a:r>
            <a:endParaRPr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UPDATE </a:t>
            </a:r>
            <a:r>
              <a:rPr lang="ru-RU" sz="1600">
                <a:solidFill>
                  <a:schemeClr val="lt1"/>
                </a:solidFill>
              </a:rPr>
              <a:t>(без изменения ключевых полей)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650" name="Google Shape;650;p80"/>
          <p:cNvSpPr txBox="1"/>
          <p:nvPr/>
        </p:nvSpPr>
        <p:spPr>
          <a:xfrm>
            <a:off x="2419675" y="3695188"/>
            <a:ext cx="668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accent5"/>
                </a:solidFill>
              </a:rPr>
              <a:t>KEY SHARE:</a:t>
            </a:r>
            <a:r>
              <a:rPr lang="ru-RU" sz="1800">
                <a:solidFill>
                  <a:schemeClr val="dk2"/>
                </a:solidFill>
              </a:rPr>
              <a:t> </a:t>
            </a:r>
            <a:r>
              <a:rPr lang="ru-RU" sz="1800">
                <a:solidFill>
                  <a:srgbClr val="3F3F3F"/>
                </a:solidFill>
              </a:rPr>
              <a:t>запрет изменения ключевых полей строки</a:t>
            </a:r>
            <a:endParaRPr sz="1800"/>
          </a:p>
        </p:txBody>
      </p:sp>
      <p:sp>
        <p:nvSpPr>
          <p:cNvPr id="651" name="Google Shape;651;p80"/>
          <p:cNvSpPr/>
          <p:nvPr/>
        </p:nvSpPr>
        <p:spPr>
          <a:xfrm>
            <a:off x="1725851" y="3587488"/>
            <a:ext cx="484500" cy="492600"/>
          </a:xfrm>
          <a:prstGeom prst="ellipse">
            <a:avLst/>
          </a:prstGeom>
          <a:solidFill>
            <a:srgbClr val="00C391">
              <a:alpha val="20000"/>
            </a:srgbClr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391"/>
              </a:buClr>
              <a:buSzPts val="3200"/>
              <a:buFont typeface="Arial"/>
              <a:buNone/>
            </a:pPr>
            <a:r>
              <a:rPr lang="ru-RU" sz="2600" b="0" i="0" u="none" strike="noStrike" cap="none">
                <a:solidFill>
                  <a:srgbClr val="00C39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6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81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b="1"/>
              <a:t>2. БЛОКИРОВКИ СТРОК. РЕЖИМЫ</a:t>
            </a:r>
            <a:endParaRPr/>
          </a:p>
        </p:txBody>
      </p:sp>
      <p:sp>
        <p:nvSpPr>
          <p:cNvPr id="657" name="Google Shape;657;p8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17</a:t>
            </a:fld>
            <a:endParaRPr/>
          </a:p>
        </p:txBody>
      </p:sp>
      <p:graphicFrame>
        <p:nvGraphicFramePr>
          <p:cNvPr id="658" name="Google Shape;658;p81"/>
          <p:cNvGraphicFramePr/>
          <p:nvPr/>
        </p:nvGraphicFramePr>
        <p:xfrm>
          <a:off x="1725850" y="125057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{389F26FC-FF67-44BC-A737-31496C2DAE2A}</a:tableStyleId>
              </a:tblPr>
              <a:tblGrid>
                <a:gridCol w="300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2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7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0850">
                <a:tc rowSpan="2">
                  <a:txBody>
                    <a:bodyPr/>
                    <a:lstStyle/>
                    <a:p>
                      <a:pPr marL="13970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ru-RU" b="1">
                          <a:solidFill>
                            <a:schemeClr val="dk2"/>
                          </a:solidFill>
                          <a:highlight>
                            <a:srgbClr val="FFFFFF"/>
                          </a:highlight>
                        </a:rPr>
                        <a:t>Запраши​ваемый режим блоки​ровки</a:t>
                      </a:r>
                      <a:endParaRPr b="1">
                        <a:solidFill>
                          <a:schemeClr val="dk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13970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ru-RU" b="1">
                          <a:solidFill>
                            <a:schemeClr val="dk2"/>
                          </a:solidFill>
                          <a:highlight>
                            <a:srgbClr val="FFFFFF"/>
                          </a:highlight>
                        </a:rPr>
                        <a:t>Текущий режим блокировки</a:t>
                      </a:r>
                      <a:endParaRPr b="1">
                        <a:solidFill>
                          <a:schemeClr val="dk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53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3970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ru-RU" b="1">
                          <a:solidFill>
                            <a:schemeClr val="dk2"/>
                          </a:solidFill>
                          <a:highlight>
                            <a:srgbClr val="FFFFFF"/>
                          </a:highlight>
                        </a:rPr>
                        <a:t>FOR KEY SHARE</a:t>
                      </a:r>
                      <a:endParaRPr b="1">
                        <a:solidFill>
                          <a:schemeClr val="dk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970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ru-RU" b="1">
                          <a:solidFill>
                            <a:schemeClr val="dk2"/>
                          </a:solidFill>
                          <a:highlight>
                            <a:srgbClr val="FFFFFF"/>
                          </a:highlight>
                        </a:rPr>
                        <a:t>FOR SHARE</a:t>
                      </a:r>
                      <a:endParaRPr b="1">
                        <a:solidFill>
                          <a:schemeClr val="dk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970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ru-RU" b="1">
                          <a:solidFill>
                            <a:schemeClr val="dk2"/>
                          </a:solidFill>
                          <a:highlight>
                            <a:srgbClr val="FFFFFF"/>
                          </a:highlight>
                        </a:rPr>
                        <a:t>FOR NO KEY UPDATE</a:t>
                      </a:r>
                      <a:endParaRPr b="1">
                        <a:solidFill>
                          <a:schemeClr val="dk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970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ru-RU" b="1">
                          <a:solidFill>
                            <a:schemeClr val="dk2"/>
                          </a:solidFill>
                          <a:highlight>
                            <a:srgbClr val="FFFFFF"/>
                          </a:highlight>
                        </a:rPr>
                        <a:t>FOR UPDATE</a:t>
                      </a:r>
                      <a:endParaRPr b="1">
                        <a:solidFill>
                          <a:schemeClr val="dk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 anchor="b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850">
                <a:tc>
                  <a:txBody>
                    <a:bodyPr/>
                    <a:lstStyle/>
                    <a:p>
                      <a:pPr marL="13970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FOR KEY SHARE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970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ru-RU" sz="1150">
                          <a:solidFill>
                            <a:srgbClr val="525F6C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150">
                        <a:solidFill>
                          <a:srgbClr val="525F6C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76200" marR="7620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970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ru-RU" sz="1150">
                          <a:solidFill>
                            <a:srgbClr val="525F6C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150">
                        <a:solidFill>
                          <a:srgbClr val="525F6C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76200" marR="7620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970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ru-RU" sz="1150">
                          <a:solidFill>
                            <a:srgbClr val="525F6C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150">
                        <a:solidFill>
                          <a:srgbClr val="525F6C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76200" marR="7620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970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0850">
                <a:tc>
                  <a:txBody>
                    <a:bodyPr/>
                    <a:lstStyle/>
                    <a:p>
                      <a:pPr marL="13970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FOR SHARE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970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ru-RU" sz="1150">
                          <a:solidFill>
                            <a:srgbClr val="525F6C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150">
                        <a:solidFill>
                          <a:srgbClr val="525F6C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76200" marR="7620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970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ru-RU" sz="1150">
                          <a:solidFill>
                            <a:srgbClr val="525F6C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150">
                        <a:solidFill>
                          <a:srgbClr val="525F6C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76200" marR="7620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970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970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0850">
                <a:tc>
                  <a:txBody>
                    <a:bodyPr/>
                    <a:lstStyle/>
                    <a:p>
                      <a:pPr marL="13970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FOR NO KEY UPDATE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970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ru-RU" sz="1150">
                          <a:solidFill>
                            <a:srgbClr val="525F6C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150">
                        <a:solidFill>
                          <a:srgbClr val="525F6C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76200" marR="7620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970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970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970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0850">
                <a:tc>
                  <a:txBody>
                    <a:bodyPr/>
                    <a:lstStyle/>
                    <a:p>
                      <a:pPr marL="13970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FOR UPDATE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970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970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970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3970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82"/>
          <p:cNvSpPr txBox="1">
            <a:spLocks noGrp="1"/>
          </p:cNvSpPr>
          <p:nvPr>
            <p:ph type="title"/>
          </p:nvPr>
        </p:nvSpPr>
        <p:spPr>
          <a:xfrm>
            <a:off x="1725844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b="1"/>
              <a:t>2. БЛОКИРОВКИ СТРОК. ДЕДЛОК</a:t>
            </a:r>
            <a:endParaRPr/>
          </a:p>
        </p:txBody>
      </p:sp>
      <p:sp>
        <p:nvSpPr>
          <p:cNvPr id="664" name="Google Shape;664;p8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18</a:t>
            </a:fld>
            <a:endParaRPr/>
          </a:p>
        </p:txBody>
      </p:sp>
      <p:sp>
        <p:nvSpPr>
          <p:cNvPr id="665" name="Google Shape;665;p82"/>
          <p:cNvSpPr/>
          <p:nvPr/>
        </p:nvSpPr>
        <p:spPr>
          <a:xfrm>
            <a:off x="5168397" y="2156575"/>
            <a:ext cx="1098000" cy="467100"/>
          </a:xfrm>
          <a:prstGeom prst="roundRect">
            <a:avLst>
              <a:gd name="adj" fmla="val 16667"/>
            </a:avLst>
          </a:prstGeom>
          <a:solidFill>
            <a:srgbClr val="00C391">
              <a:alpha val="2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T1001</a:t>
            </a:r>
            <a:endParaRPr/>
          </a:p>
        </p:txBody>
      </p:sp>
      <p:cxnSp>
        <p:nvCxnSpPr>
          <p:cNvPr id="666" name="Google Shape;666;p82"/>
          <p:cNvCxnSpPr>
            <a:stCxn id="665" idx="3"/>
          </p:cNvCxnSpPr>
          <p:nvPr/>
        </p:nvCxnSpPr>
        <p:spPr>
          <a:xfrm rot="10800000" flipH="1">
            <a:off x="6266397" y="2376625"/>
            <a:ext cx="880800" cy="13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67" name="Google Shape;667;p82"/>
          <p:cNvSpPr/>
          <p:nvPr/>
        </p:nvSpPr>
        <p:spPr>
          <a:xfrm>
            <a:off x="7160747" y="2125118"/>
            <a:ext cx="1098000" cy="467100"/>
          </a:xfrm>
          <a:prstGeom prst="rect">
            <a:avLst/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xid 1001</a:t>
            </a:r>
            <a:endParaRPr/>
          </a:p>
        </p:txBody>
      </p:sp>
      <p:sp>
        <p:nvSpPr>
          <p:cNvPr id="668" name="Google Shape;668;p82"/>
          <p:cNvSpPr/>
          <p:nvPr/>
        </p:nvSpPr>
        <p:spPr>
          <a:xfrm>
            <a:off x="5168397" y="3147929"/>
            <a:ext cx="1098000" cy="467100"/>
          </a:xfrm>
          <a:prstGeom prst="roundRect">
            <a:avLst>
              <a:gd name="adj" fmla="val 16667"/>
            </a:avLst>
          </a:prstGeom>
          <a:solidFill>
            <a:srgbClr val="00C391">
              <a:alpha val="2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T1002</a:t>
            </a:r>
            <a:endParaRPr/>
          </a:p>
        </p:txBody>
      </p:sp>
      <p:cxnSp>
        <p:nvCxnSpPr>
          <p:cNvPr id="669" name="Google Shape;669;p82"/>
          <p:cNvCxnSpPr/>
          <p:nvPr/>
        </p:nvCxnSpPr>
        <p:spPr>
          <a:xfrm rot="10800000" flipH="1">
            <a:off x="6266332" y="3399431"/>
            <a:ext cx="880800" cy="13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70" name="Google Shape;670;p82"/>
          <p:cNvSpPr/>
          <p:nvPr/>
        </p:nvSpPr>
        <p:spPr>
          <a:xfrm>
            <a:off x="7160747" y="3147929"/>
            <a:ext cx="1098000" cy="467100"/>
          </a:xfrm>
          <a:prstGeom prst="rect">
            <a:avLst/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xid 1002</a:t>
            </a:r>
            <a:endParaRPr/>
          </a:p>
        </p:txBody>
      </p:sp>
      <p:cxnSp>
        <p:nvCxnSpPr>
          <p:cNvPr id="671" name="Google Shape;671;p82"/>
          <p:cNvCxnSpPr>
            <a:stCxn id="668" idx="3"/>
          </p:cNvCxnSpPr>
          <p:nvPr/>
        </p:nvCxnSpPr>
        <p:spPr>
          <a:xfrm rot="10800000" flipH="1">
            <a:off x="6266397" y="2612879"/>
            <a:ext cx="1097700" cy="76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672" name="Google Shape;672;p82"/>
          <p:cNvSpPr/>
          <p:nvPr/>
        </p:nvSpPr>
        <p:spPr>
          <a:xfrm>
            <a:off x="5168397" y="4530112"/>
            <a:ext cx="1098000" cy="467100"/>
          </a:xfrm>
          <a:prstGeom prst="roundRect">
            <a:avLst>
              <a:gd name="adj" fmla="val 16667"/>
            </a:avLst>
          </a:prstGeom>
          <a:solidFill>
            <a:srgbClr val="00C391">
              <a:alpha val="2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T1003</a:t>
            </a:r>
            <a:endParaRPr/>
          </a:p>
        </p:txBody>
      </p:sp>
      <p:cxnSp>
        <p:nvCxnSpPr>
          <p:cNvPr id="673" name="Google Shape;673;p82"/>
          <p:cNvCxnSpPr/>
          <p:nvPr/>
        </p:nvCxnSpPr>
        <p:spPr>
          <a:xfrm rot="10800000" flipH="1">
            <a:off x="6266332" y="4781614"/>
            <a:ext cx="880800" cy="13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74" name="Google Shape;674;p82"/>
          <p:cNvSpPr/>
          <p:nvPr/>
        </p:nvSpPr>
        <p:spPr>
          <a:xfrm>
            <a:off x="7160747" y="4530112"/>
            <a:ext cx="1098000" cy="467100"/>
          </a:xfrm>
          <a:prstGeom prst="rect">
            <a:avLst/>
          </a:prstGeom>
          <a:solidFill>
            <a:srgbClr val="E5E0F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xid 1003</a:t>
            </a:r>
            <a:endParaRPr/>
          </a:p>
        </p:txBody>
      </p:sp>
      <p:cxnSp>
        <p:nvCxnSpPr>
          <p:cNvPr id="675" name="Google Shape;675;p82"/>
          <p:cNvCxnSpPr>
            <a:stCxn id="672" idx="3"/>
            <a:endCxn id="670" idx="2"/>
          </p:cNvCxnSpPr>
          <p:nvPr/>
        </p:nvCxnSpPr>
        <p:spPr>
          <a:xfrm rot="10800000" flipH="1">
            <a:off x="6266397" y="3614962"/>
            <a:ext cx="1443300" cy="114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676" name="Google Shape;676;p82"/>
          <p:cNvSpPr/>
          <p:nvPr/>
        </p:nvSpPr>
        <p:spPr>
          <a:xfrm>
            <a:off x="6279765" y="1258725"/>
            <a:ext cx="3577446" cy="4374146"/>
          </a:xfrm>
          <a:custGeom>
            <a:avLst/>
            <a:gdLst/>
            <a:ahLst/>
            <a:cxnLst/>
            <a:rect l="l" t="t" r="r" b="b"/>
            <a:pathLst>
              <a:path w="177916" h="187450" extrusionOk="0">
                <a:moveTo>
                  <a:pt x="0" y="47911"/>
                </a:moveTo>
                <a:cubicBezTo>
                  <a:pt x="9661" y="40160"/>
                  <a:pt x="29432" y="4662"/>
                  <a:pt x="57965" y="1404"/>
                </a:cubicBezTo>
                <a:cubicBezTo>
                  <a:pt x="86498" y="-1854"/>
                  <a:pt x="155134" y="-1516"/>
                  <a:pt x="171198" y="28365"/>
                </a:cubicBezTo>
                <a:cubicBezTo>
                  <a:pt x="187262" y="58246"/>
                  <a:pt x="170973" y="158673"/>
                  <a:pt x="154347" y="180690"/>
                </a:cubicBezTo>
                <a:cubicBezTo>
                  <a:pt x="137722" y="202708"/>
                  <a:pt x="85262" y="163840"/>
                  <a:pt x="71445" y="16047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sp>
      <p:sp>
        <p:nvSpPr>
          <p:cNvPr id="677" name="Google Shape;677;p82"/>
          <p:cNvSpPr/>
          <p:nvPr/>
        </p:nvSpPr>
        <p:spPr>
          <a:xfrm>
            <a:off x="1725844" y="3147929"/>
            <a:ext cx="1098000" cy="467100"/>
          </a:xfrm>
          <a:prstGeom prst="roundRect">
            <a:avLst>
              <a:gd name="adj" fmla="val 16667"/>
            </a:avLst>
          </a:prstGeom>
          <a:solidFill>
            <a:srgbClr val="00C391">
              <a:alpha val="2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T1001</a:t>
            </a:r>
            <a:endParaRPr/>
          </a:p>
        </p:txBody>
      </p:sp>
      <p:sp>
        <p:nvSpPr>
          <p:cNvPr id="678" name="Google Shape;678;p82"/>
          <p:cNvSpPr/>
          <p:nvPr/>
        </p:nvSpPr>
        <p:spPr>
          <a:xfrm>
            <a:off x="3176047" y="2376679"/>
            <a:ext cx="1098000" cy="467100"/>
          </a:xfrm>
          <a:prstGeom prst="roundRect">
            <a:avLst>
              <a:gd name="adj" fmla="val 16667"/>
            </a:avLst>
          </a:prstGeom>
          <a:solidFill>
            <a:srgbClr val="00C391">
              <a:alpha val="2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T1002</a:t>
            </a:r>
            <a:endParaRPr/>
          </a:p>
        </p:txBody>
      </p:sp>
      <p:sp>
        <p:nvSpPr>
          <p:cNvPr id="679" name="Google Shape;679;p82"/>
          <p:cNvSpPr/>
          <p:nvPr/>
        </p:nvSpPr>
        <p:spPr>
          <a:xfrm>
            <a:off x="3176047" y="3825882"/>
            <a:ext cx="1098000" cy="467100"/>
          </a:xfrm>
          <a:prstGeom prst="roundRect">
            <a:avLst>
              <a:gd name="adj" fmla="val 16667"/>
            </a:avLst>
          </a:prstGeom>
          <a:solidFill>
            <a:srgbClr val="00C391">
              <a:alpha val="2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T1003</a:t>
            </a:r>
            <a:endParaRPr/>
          </a:p>
        </p:txBody>
      </p:sp>
      <p:cxnSp>
        <p:nvCxnSpPr>
          <p:cNvPr id="680" name="Google Shape;680;p82"/>
          <p:cNvCxnSpPr>
            <a:stCxn id="677" idx="0"/>
            <a:endCxn id="678" idx="1"/>
          </p:cNvCxnSpPr>
          <p:nvPr/>
        </p:nvCxnSpPr>
        <p:spPr>
          <a:xfrm rot="10800000" flipH="1">
            <a:off x="2274844" y="2610329"/>
            <a:ext cx="901200" cy="53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681" name="Google Shape;681;p82"/>
          <p:cNvCxnSpPr>
            <a:stCxn id="679" idx="0"/>
            <a:endCxn id="678" idx="2"/>
          </p:cNvCxnSpPr>
          <p:nvPr/>
        </p:nvCxnSpPr>
        <p:spPr>
          <a:xfrm rot="10800000">
            <a:off x="3725047" y="2843682"/>
            <a:ext cx="0" cy="98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2" name="Google Shape;682;p82"/>
          <p:cNvCxnSpPr>
            <a:stCxn id="677" idx="2"/>
            <a:endCxn id="679" idx="1"/>
          </p:cNvCxnSpPr>
          <p:nvPr/>
        </p:nvCxnSpPr>
        <p:spPr>
          <a:xfrm>
            <a:off x="2274844" y="3615029"/>
            <a:ext cx="901200" cy="44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83" name="Google Shape;683;p82"/>
          <p:cNvSpPr txBox="1"/>
          <p:nvPr/>
        </p:nvSpPr>
        <p:spPr>
          <a:xfrm>
            <a:off x="1725844" y="1460956"/>
            <a:ext cx="257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000"/>
              <a:t>В</a:t>
            </a:r>
            <a:r>
              <a:rPr lang="ru-RU" sz="2000">
                <a:solidFill>
                  <a:srgbClr val="000000"/>
                </a:solidFill>
              </a:rPr>
              <a:t>заимоблокировки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684" name="Google Shape;684;p82"/>
          <p:cNvSpPr txBox="1"/>
          <p:nvPr/>
        </p:nvSpPr>
        <p:spPr>
          <a:xfrm>
            <a:off x="1725850" y="5391775"/>
            <a:ext cx="6363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>
                <a:solidFill>
                  <a:schemeClr val="dk1"/>
                </a:solidFill>
              </a:rPr>
              <a:t>postgres строит граф связей для выявления таких ситуаций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dk1"/>
                </a:solidFill>
              </a:rPr>
              <a:t>deadlock_timeout</a:t>
            </a:r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83"/>
          <p:cNvSpPr txBox="1">
            <a:spLocks noGrp="1"/>
          </p:cNvSpPr>
          <p:nvPr>
            <p:ph type="body" idx="1"/>
          </p:nvPr>
        </p:nvSpPr>
        <p:spPr>
          <a:xfrm>
            <a:off x="1725849" y="1824094"/>
            <a:ext cx="8497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rgbClr val="3F3F3F"/>
                </a:solidFill>
              </a:rPr>
              <a:t>Как выглядит взаимоблокировка</a:t>
            </a:r>
            <a:endParaRPr sz="1800"/>
          </a:p>
        </p:txBody>
      </p:sp>
      <p:sp>
        <p:nvSpPr>
          <p:cNvPr id="690" name="Google Shape;690;p83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2. БЛОКИРОВКИ СТРОК. ПРАКТИКА</a:t>
            </a:r>
            <a:endParaRPr/>
          </a:p>
        </p:txBody>
      </p:sp>
      <p:sp>
        <p:nvSpPr>
          <p:cNvPr id="691" name="Google Shape;691;p83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19</a:t>
            </a:fld>
            <a:endParaRPr/>
          </a:p>
        </p:txBody>
      </p:sp>
      <p:sp>
        <p:nvSpPr>
          <p:cNvPr id="692" name="Google Shape;692;p83"/>
          <p:cNvSpPr/>
          <p:nvPr/>
        </p:nvSpPr>
        <p:spPr>
          <a:xfrm>
            <a:off x="1725850" y="2345300"/>
            <a:ext cx="8233200" cy="2688600"/>
          </a:xfrm>
          <a:prstGeom prst="roundRect">
            <a:avLst>
              <a:gd name="adj" fmla="val 2331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Consolas"/>
              <a:buNone/>
            </a:pPr>
            <a:r>
              <a:rPr lang="ru-RU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ERROR:  deadlock detected</a:t>
            </a:r>
            <a:endParaRPr sz="1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DETAIL:  Process 1092 waits for ShareLock on transaction 32001; blocked by process 1093.</a:t>
            </a:r>
            <a:endParaRPr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Process 1093 waits for ShareLock on transaction 32002; blocked by process 1092.</a:t>
            </a:r>
            <a:endParaRPr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HINT:  See server log for query details.</a:t>
            </a:r>
            <a:endParaRPr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CONTEXT:  while updating tuple (0,2) in relation "accounts"</a:t>
            </a:r>
            <a:endParaRPr sz="1600" b="1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8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 b="1"/>
              <a:t>3. БЛОКИРОВКИ В ПАМЯТИ. SPINLOCK</a:t>
            </a:r>
            <a:endParaRPr/>
          </a:p>
        </p:txBody>
      </p:sp>
      <p:sp>
        <p:nvSpPr>
          <p:cNvPr id="698" name="Google Shape;698;p8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20</a:t>
            </a:fld>
            <a:endParaRPr/>
          </a:p>
        </p:txBody>
      </p:sp>
      <p:sp>
        <p:nvSpPr>
          <p:cNvPr id="699" name="Google Shape;699;p84"/>
          <p:cNvSpPr/>
          <p:nvPr/>
        </p:nvSpPr>
        <p:spPr>
          <a:xfrm>
            <a:off x="1725850" y="1939500"/>
            <a:ext cx="7962600" cy="2979000"/>
          </a:xfrm>
          <a:prstGeom prst="roundRect">
            <a:avLst>
              <a:gd name="adj" fmla="val 11900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устанавливаются на очень короткое время, несколько инструкций процессора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>
                <a:solidFill>
                  <a:schemeClr val="dk1"/>
                </a:solidFill>
              </a:rPr>
              <a:t>используются атомарные инструкции процессора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>
                <a:solidFill>
                  <a:schemeClr val="dk1"/>
                </a:solidFill>
              </a:rPr>
              <a:t>единственный режим — исключительный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>
                <a:solidFill>
                  <a:schemeClr val="dk1"/>
                </a:solidFill>
              </a:rPr>
              <a:t>нет возможности мониторинга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>
                <a:solidFill>
                  <a:schemeClr val="dk1"/>
                </a:solidFill>
              </a:rPr>
              <a:t>нет обнаружения взаимоблокировок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>
                <a:solidFill>
                  <a:schemeClr val="dk1"/>
                </a:solidFill>
              </a:rPr>
              <a:t>цикл активного ожидания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00" name="Google Shape;700;p84"/>
          <p:cNvSpPr/>
          <p:nvPr/>
        </p:nvSpPr>
        <p:spPr>
          <a:xfrm>
            <a:off x="1930275" y="2216500"/>
            <a:ext cx="3284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1800">
                <a:solidFill>
                  <a:srgbClr val="1B4EFC"/>
                </a:solidFill>
              </a:rPr>
              <a:t>SPINLOCK</a:t>
            </a: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701" name="Google Shape;701;p84"/>
          <p:cNvSpPr/>
          <p:nvPr/>
        </p:nvSpPr>
        <p:spPr>
          <a:xfrm>
            <a:off x="9016900" y="1660938"/>
            <a:ext cx="353862" cy="439614"/>
          </a:xfrm>
          <a:prstGeom prst="lightningBolt">
            <a:avLst/>
          </a:prstGeom>
          <a:solidFill>
            <a:srgbClr val="00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85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 b="1"/>
              <a:t>3. БЛОКИРОВКИ В ПАМЯТИ. ЛЕГКИЕ БЛОКИРОВКИ</a:t>
            </a:r>
            <a:endParaRPr/>
          </a:p>
        </p:txBody>
      </p:sp>
      <p:sp>
        <p:nvSpPr>
          <p:cNvPr id="707" name="Google Shape;707;p8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21</a:t>
            </a:fld>
            <a:endParaRPr/>
          </a:p>
        </p:txBody>
      </p:sp>
      <p:sp>
        <p:nvSpPr>
          <p:cNvPr id="708" name="Google Shape;708;p85"/>
          <p:cNvSpPr/>
          <p:nvPr/>
        </p:nvSpPr>
        <p:spPr>
          <a:xfrm>
            <a:off x="1725850" y="1939500"/>
            <a:ext cx="7962600" cy="2979000"/>
          </a:xfrm>
          <a:prstGeom prst="roundRect">
            <a:avLst>
              <a:gd name="adj" fmla="val 11900"/>
            </a:avLst>
          </a:prstGeom>
          <a:solidFill>
            <a:srgbClr val="00C39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>
                <a:solidFill>
                  <a:schemeClr val="dk1"/>
                </a:solidFill>
              </a:rPr>
              <a:t>устанавливаются на короткое время, обычно доли секунды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>
                <a:solidFill>
                  <a:schemeClr val="dk1"/>
                </a:solidFill>
              </a:rPr>
              <a:t>исключительный и разделяемый режимы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>
                <a:solidFill>
                  <a:schemeClr val="dk1"/>
                </a:solidFill>
              </a:rPr>
              <a:t>есть мониторинг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>
                <a:solidFill>
                  <a:schemeClr val="dk1"/>
                </a:solidFill>
              </a:rPr>
              <a:t>нет обнаружения взаимоблокировок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>
                <a:solidFill>
                  <a:schemeClr val="dk1"/>
                </a:solidFill>
              </a:rPr>
              <a:t>пассивное ожидание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>
                <a:solidFill>
                  <a:schemeClr val="dk1"/>
                </a:solidFill>
              </a:rPr>
              <a:t>при освобождении ресурса возникает состояние гонки, выигрывает случайный процесс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09" name="Google Shape;709;p85"/>
          <p:cNvSpPr/>
          <p:nvPr/>
        </p:nvSpPr>
        <p:spPr>
          <a:xfrm>
            <a:off x="1942125" y="2133600"/>
            <a:ext cx="3284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1800">
                <a:solidFill>
                  <a:schemeClr val="accent5"/>
                </a:solidFill>
              </a:rPr>
              <a:t>LIGHTWEIGHTLOCK</a:t>
            </a:r>
            <a:endParaRPr sz="1800" i="0" u="none" strike="noStrike" cap="none">
              <a:solidFill>
                <a:schemeClr val="accent5"/>
              </a:solidFill>
            </a:endParaRPr>
          </a:p>
        </p:txBody>
      </p:sp>
      <p:pic>
        <p:nvPicPr>
          <p:cNvPr id="710" name="Google Shape;710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77000" y="2133600"/>
            <a:ext cx="565999" cy="56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8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 b="1"/>
              <a:t>3. БЛОКИРОВКИ В ПАМЯТИ. ЗАКРЕПЛЕНИЕ БУФЕРА</a:t>
            </a:r>
            <a:endParaRPr/>
          </a:p>
        </p:txBody>
      </p:sp>
      <p:sp>
        <p:nvSpPr>
          <p:cNvPr id="716" name="Google Shape;716;p8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22</a:t>
            </a:fld>
            <a:endParaRPr/>
          </a:p>
        </p:txBody>
      </p:sp>
      <p:sp>
        <p:nvSpPr>
          <p:cNvPr id="717" name="Google Shape;717;p86"/>
          <p:cNvSpPr/>
          <p:nvPr/>
        </p:nvSpPr>
        <p:spPr>
          <a:xfrm>
            <a:off x="1725850" y="1939500"/>
            <a:ext cx="7962600" cy="2979000"/>
          </a:xfrm>
          <a:prstGeom prst="roundRect">
            <a:avLst>
              <a:gd name="adj" fmla="val 11900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>
                <a:solidFill>
                  <a:schemeClr val="dk1"/>
                </a:solidFill>
              </a:rPr>
              <a:t>устанавливается на время работы с буфером, возможно длительное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>
                <a:solidFill>
                  <a:schemeClr val="dk1"/>
                </a:solidFill>
              </a:rPr>
              <a:t>исключительный и разделяемый режимы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>
                <a:solidFill>
                  <a:schemeClr val="dk1"/>
                </a:solidFill>
              </a:rPr>
              <a:t>есть мониторинг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>
                <a:solidFill>
                  <a:schemeClr val="dk1"/>
                </a:solidFill>
              </a:rPr>
              <a:t>есть обнаружение взаимоблокировок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sz="1800">
                <a:solidFill>
                  <a:schemeClr val="dk1"/>
                </a:solidFill>
              </a:rPr>
              <a:t>пассивное ожидание, но обычно закрепленный буфер пропускается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18" name="Google Shape;718;p86"/>
          <p:cNvSpPr/>
          <p:nvPr/>
        </p:nvSpPr>
        <p:spPr>
          <a:xfrm>
            <a:off x="1942125" y="2133600"/>
            <a:ext cx="3284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1800">
                <a:solidFill>
                  <a:schemeClr val="accent6"/>
                </a:solidFill>
              </a:rPr>
              <a:t>BUFFERPIN</a:t>
            </a:r>
            <a:endParaRPr sz="1800" i="0" u="none" strike="noStrike" cap="none">
              <a:solidFill>
                <a:schemeClr val="accent6"/>
              </a:solidFill>
            </a:endParaRPr>
          </a:p>
        </p:txBody>
      </p:sp>
      <p:pic>
        <p:nvPicPr>
          <p:cNvPr id="719" name="Google Shape;71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8925" y="2106262"/>
            <a:ext cx="566010" cy="43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8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ИТОГИ ЗАНЯТИЯ</a:t>
            </a:r>
            <a:endParaRPr/>
          </a:p>
        </p:txBody>
      </p:sp>
      <p:sp>
        <p:nvSpPr>
          <p:cNvPr id="725" name="Google Shape;725;p8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23</a:t>
            </a:fld>
            <a:endParaRPr/>
          </a:p>
        </p:txBody>
      </p:sp>
      <p:sp>
        <p:nvSpPr>
          <p:cNvPr id="726" name="Google Shape;726;p87"/>
          <p:cNvSpPr/>
          <p:nvPr/>
        </p:nvSpPr>
        <p:spPr>
          <a:xfrm>
            <a:off x="1703400" y="2393222"/>
            <a:ext cx="2714100" cy="2095500"/>
          </a:xfrm>
          <a:prstGeom prst="roundRect">
            <a:avLst>
              <a:gd name="adj" fmla="val 5760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Узнали, что такое блокировки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87"/>
          <p:cNvSpPr/>
          <p:nvPr/>
        </p:nvSpPr>
        <p:spPr>
          <a:xfrm>
            <a:off x="4738875" y="2393222"/>
            <a:ext cx="2714100" cy="2095500"/>
          </a:xfrm>
          <a:prstGeom prst="roundRect">
            <a:avLst>
              <a:gd name="adj" fmla="val 5215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Поняли какие виды существуют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8" name="Google Shape;728;p87"/>
          <p:cNvSpPr/>
          <p:nvPr/>
        </p:nvSpPr>
        <p:spPr>
          <a:xfrm>
            <a:off x="7774375" y="2393222"/>
            <a:ext cx="2714100" cy="2095500"/>
          </a:xfrm>
          <a:prstGeom prst="roundRect">
            <a:avLst>
              <a:gd name="adj" fmla="val 6305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Узнали, что такое дедлоки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29" name="Google Shape;729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4141" y="255871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6099" y="255871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16025" y="2558716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Google Shape;736;p88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88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88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88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740" name="Google Shape;740;p88"/>
          <p:cNvGrpSpPr/>
          <p:nvPr/>
        </p:nvGrpSpPr>
        <p:grpSpPr>
          <a:xfrm>
            <a:off x="10565800" y="0"/>
            <a:ext cx="1636800" cy="6858000"/>
            <a:chOff x="21132640" y="0"/>
            <a:chExt cx="3273600" cy="13716000"/>
          </a:xfrm>
        </p:grpSpPr>
        <p:sp>
          <p:nvSpPr>
            <p:cNvPr id="741" name="Google Shape;741;p88"/>
            <p:cNvSpPr/>
            <p:nvPr/>
          </p:nvSpPr>
          <p:spPr>
            <a:xfrm>
              <a:off x="21132640" y="0"/>
              <a:ext cx="3273600" cy="13716000"/>
            </a:xfrm>
            <a:prstGeom prst="rect">
              <a:avLst/>
            </a:prstGeom>
            <a:solidFill>
              <a:srgbClr val="1400C1"/>
            </a:solidFill>
            <a:ln>
              <a:noFill/>
            </a:ln>
          </p:spPr>
          <p:txBody>
            <a:bodyPr spcFirstLastPara="1" wrap="square" lIns="35725" tIns="35725" rIns="35725" bIns="35725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Helvetica Neue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742" name="Google Shape;742;p88" descr="Logo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916292" y="987426"/>
              <a:ext cx="1769700" cy="12042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3" name="Google Shape;743;p88"/>
          <p:cNvSpPr/>
          <p:nvPr/>
        </p:nvSpPr>
        <p:spPr>
          <a:xfrm>
            <a:off x="8945629" y="3632200"/>
            <a:ext cx="3240300" cy="3240300"/>
          </a:xfrm>
          <a:prstGeom prst="rect">
            <a:avLst/>
          </a:prstGeom>
          <a:blipFill rotWithShape="1">
            <a:blip r:embed="rId6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4" name="Google Shape;744;p88"/>
          <p:cNvSpPr txBox="1"/>
          <p:nvPr/>
        </p:nvSpPr>
        <p:spPr>
          <a:xfrm>
            <a:off x="1715258" y="2280384"/>
            <a:ext cx="8119200" cy="16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lang="ru-RU" sz="60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ПРОВЕРОЧНОЕ</a:t>
            </a:r>
            <a:endParaRPr sz="700"/>
          </a:p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lang="ru-RU" sz="60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ЗАДАНИЕ</a:t>
            </a:r>
            <a:endParaRPr sz="700"/>
          </a:p>
        </p:txBody>
      </p:sp>
      <p:sp>
        <p:nvSpPr>
          <p:cNvPr id="745" name="Google Shape;745;p88"/>
          <p:cNvSpPr/>
          <p:nvPr/>
        </p:nvSpPr>
        <p:spPr>
          <a:xfrm>
            <a:off x="8954911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6" name="Google Shape;746;p88"/>
          <p:cNvSpPr txBox="1"/>
          <p:nvPr/>
        </p:nvSpPr>
        <p:spPr>
          <a:xfrm>
            <a:off x="8985748" y="6301922"/>
            <a:ext cx="7560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None/>
            </a:pPr>
            <a:r>
              <a:rPr lang="ru-RU" sz="15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begin</a:t>
            </a:r>
            <a:endParaRPr sz="15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47" name="Google Shape;747;p88"/>
          <p:cNvSpPr/>
          <p:nvPr/>
        </p:nvSpPr>
        <p:spPr>
          <a:xfrm>
            <a:off x="10572632" y="4444819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748" name="Google Shape;748;p88"/>
          <p:cNvGrpSpPr/>
          <p:nvPr/>
        </p:nvGrpSpPr>
        <p:grpSpPr>
          <a:xfrm>
            <a:off x="10715067" y="4596847"/>
            <a:ext cx="515245" cy="456900"/>
            <a:chOff x="21456284" y="9198597"/>
            <a:chExt cx="1030489" cy="913800"/>
          </a:xfrm>
        </p:grpSpPr>
        <p:sp>
          <p:nvSpPr>
            <p:cNvPr id="749" name="Google Shape;749;p88"/>
            <p:cNvSpPr txBox="1"/>
            <p:nvPr/>
          </p:nvSpPr>
          <p:spPr>
            <a:xfrm>
              <a:off x="21456284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88"/>
            <p:cNvSpPr txBox="1"/>
            <p:nvPr/>
          </p:nvSpPr>
          <p:spPr>
            <a:xfrm>
              <a:off x="22127673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1" name="Google Shape;751;p88"/>
          <p:cNvSpPr/>
          <p:nvPr/>
        </p:nvSpPr>
        <p:spPr>
          <a:xfrm>
            <a:off x="11405843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9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2" name="Google Shape;752;p88"/>
          <p:cNvSpPr/>
          <p:nvPr/>
        </p:nvSpPr>
        <p:spPr>
          <a:xfrm>
            <a:off x="2944" y="0"/>
            <a:ext cx="1619100" cy="1619100"/>
          </a:xfrm>
          <a:prstGeom prst="rect">
            <a:avLst/>
          </a:prstGeom>
          <a:blipFill rotWithShape="1">
            <a:blip r:embed="rId10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3" name="Google Shape;753;p88"/>
          <p:cNvSpPr txBox="1"/>
          <p:nvPr/>
        </p:nvSpPr>
        <p:spPr>
          <a:xfrm>
            <a:off x="1715259" y="3938927"/>
            <a:ext cx="5329200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1">
                <a:solidFill>
                  <a:srgbClr val="FFFFFF"/>
                </a:solidFill>
              </a:rPr>
              <a:t>Цель задания: </a:t>
            </a:r>
            <a:r>
              <a:rPr lang="ru-RU" sz="1600">
                <a:solidFill>
                  <a:srgbClr val="FFFFFF"/>
                </a:solidFill>
              </a:rPr>
              <a:t>найти ситуации мертвых блокировок</a:t>
            </a:r>
            <a:endParaRPr sz="1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8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rgbClr val="030124"/>
                </a:solidFill>
              </a:rPr>
              <a:t>ЗАДАНИЕ ДЛЯ САМОПРОВЕРКИ</a:t>
            </a:r>
            <a:endParaRPr/>
          </a:p>
        </p:txBody>
      </p:sp>
      <p:sp>
        <p:nvSpPr>
          <p:cNvPr id="759" name="Google Shape;759;p89"/>
          <p:cNvSpPr txBox="1"/>
          <p:nvPr/>
        </p:nvSpPr>
        <p:spPr>
          <a:xfrm>
            <a:off x="1765647" y="2292575"/>
            <a:ext cx="19377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использовать существующую или создать новую таблицу с данными</a:t>
            </a:r>
            <a:endParaRPr sz="1600"/>
          </a:p>
        </p:txBody>
      </p:sp>
      <p:sp>
        <p:nvSpPr>
          <p:cNvPr id="760" name="Google Shape;760;p89"/>
          <p:cNvSpPr txBox="1"/>
          <p:nvPr/>
        </p:nvSpPr>
        <p:spPr>
          <a:xfrm>
            <a:off x="3961525" y="2295800"/>
            <a:ext cx="16371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112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>
                <a:solidFill>
                  <a:schemeClr val="dk1"/>
                </a:solidFill>
              </a:rPr>
              <a:t>в 2 сеансах начать транзакции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761" name="Google Shape;761;p89"/>
          <p:cNvSpPr txBox="1"/>
          <p:nvPr/>
        </p:nvSpPr>
        <p:spPr>
          <a:xfrm>
            <a:off x="6132450" y="2295800"/>
            <a:ext cx="19377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112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>
                <a:solidFill>
                  <a:schemeClr val="dk1"/>
                </a:solidFill>
              </a:rPr>
              <a:t>в 1 сеансе сделать обновление первой строки таблицы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89"/>
          <p:cNvSpPr txBox="1"/>
          <p:nvPr/>
        </p:nvSpPr>
        <p:spPr>
          <a:xfrm>
            <a:off x="1765638" y="1772756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89"/>
          <p:cNvSpPr txBox="1"/>
          <p:nvPr/>
        </p:nvSpPr>
        <p:spPr>
          <a:xfrm>
            <a:off x="3949041" y="1772756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89"/>
          <p:cNvSpPr txBox="1"/>
          <p:nvPr/>
        </p:nvSpPr>
        <p:spPr>
          <a:xfrm>
            <a:off x="6132445" y="1772756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5" name="Google Shape;765;p89"/>
          <p:cNvCxnSpPr/>
          <p:nvPr/>
        </p:nvCxnSpPr>
        <p:spPr>
          <a:xfrm rot="10800000">
            <a:off x="2450990" y="2016207"/>
            <a:ext cx="1425000" cy="57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6" name="Google Shape;766;p89"/>
          <p:cNvCxnSpPr/>
          <p:nvPr/>
        </p:nvCxnSpPr>
        <p:spPr>
          <a:xfrm rot="10800000">
            <a:off x="4634393" y="2016207"/>
            <a:ext cx="1425000" cy="57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7" name="Google Shape;767;p89"/>
          <p:cNvCxnSpPr/>
          <p:nvPr/>
        </p:nvCxnSpPr>
        <p:spPr>
          <a:xfrm rot="10800000">
            <a:off x="6744747" y="2016207"/>
            <a:ext cx="1425000" cy="57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8" name="Google Shape;768;p89"/>
          <p:cNvSpPr txBox="1"/>
          <p:nvPr/>
        </p:nvSpPr>
        <p:spPr>
          <a:xfrm>
            <a:off x="8315848" y="1772756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3200">
                <a:solidFill>
                  <a:schemeClr val="accent4"/>
                </a:solidFill>
              </a:rPr>
              <a:t>4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9" name="Google Shape;769;p89"/>
          <p:cNvCxnSpPr/>
          <p:nvPr/>
        </p:nvCxnSpPr>
        <p:spPr>
          <a:xfrm rot="10800000">
            <a:off x="9001200" y="2016207"/>
            <a:ext cx="1425000" cy="57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0" name="Google Shape;770;p89"/>
          <p:cNvSpPr txBox="1"/>
          <p:nvPr/>
        </p:nvSpPr>
        <p:spPr>
          <a:xfrm>
            <a:off x="8315850" y="2295800"/>
            <a:ext cx="21105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>
                <a:solidFill>
                  <a:schemeClr val="dk1"/>
                </a:solidFill>
              </a:rPr>
              <a:t>во 2 сеансе сделать обновление второй строки таблицы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89"/>
          <p:cNvSpPr txBox="1"/>
          <p:nvPr/>
        </p:nvSpPr>
        <p:spPr>
          <a:xfrm>
            <a:off x="1765647" y="4041025"/>
            <a:ext cx="1937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в 1 сеансе сделать обновление второй строки таблицы</a:t>
            </a:r>
            <a:endParaRPr sz="1600"/>
          </a:p>
        </p:txBody>
      </p:sp>
      <p:sp>
        <p:nvSpPr>
          <p:cNvPr id="772" name="Google Shape;772;p89"/>
          <p:cNvSpPr txBox="1"/>
          <p:nvPr/>
        </p:nvSpPr>
        <p:spPr>
          <a:xfrm>
            <a:off x="3961525" y="4044250"/>
            <a:ext cx="18831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во 2 сеансе сделать обновление первой строки таблицы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89"/>
          <p:cNvSpPr txBox="1"/>
          <p:nvPr/>
        </p:nvSpPr>
        <p:spPr>
          <a:xfrm>
            <a:off x="6132450" y="4044250"/>
            <a:ext cx="1937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убедиться, что произошел дедлок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89"/>
          <p:cNvSpPr txBox="1"/>
          <p:nvPr/>
        </p:nvSpPr>
        <p:spPr>
          <a:xfrm>
            <a:off x="1765638" y="3521207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3200">
                <a:solidFill>
                  <a:schemeClr val="accent4"/>
                </a:solidFill>
              </a:rPr>
              <a:t>5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89"/>
          <p:cNvSpPr txBox="1"/>
          <p:nvPr/>
        </p:nvSpPr>
        <p:spPr>
          <a:xfrm>
            <a:off x="3949041" y="3521207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3200">
                <a:solidFill>
                  <a:schemeClr val="accent4"/>
                </a:solidFill>
              </a:rPr>
              <a:t>6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89"/>
          <p:cNvSpPr txBox="1"/>
          <p:nvPr/>
        </p:nvSpPr>
        <p:spPr>
          <a:xfrm>
            <a:off x="6132445" y="3521207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3200">
                <a:solidFill>
                  <a:schemeClr val="accent4"/>
                </a:solidFill>
              </a:rPr>
              <a:t>7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7" name="Google Shape;777;p89"/>
          <p:cNvCxnSpPr/>
          <p:nvPr/>
        </p:nvCxnSpPr>
        <p:spPr>
          <a:xfrm rot="10800000">
            <a:off x="2450990" y="3764657"/>
            <a:ext cx="1425000" cy="57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8" name="Google Shape;778;p89"/>
          <p:cNvCxnSpPr/>
          <p:nvPr/>
        </p:nvCxnSpPr>
        <p:spPr>
          <a:xfrm rot="10800000">
            <a:off x="4634393" y="3764657"/>
            <a:ext cx="1425000" cy="57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9" name="Google Shape;779;p89"/>
          <p:cNvSpPr txBox="1"/>
          <p:nvPr/>
        </p:nvSpPr>
        <p:spPr>
          <a:xfrm>
            <a:off x="8315845" y="4044250"/>
            <a:ext cx="1937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в лог файле найти информацию об этом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89"/>
          <p:cNvSpPr txBox="1"/>
          <p:nvPr/>
        </p:nvSpPr>
        <p:spPr>
          <a:xfrm>
            <a:off x="8315845" y="3521207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3200">
                <a:solidFill>
                  <a:schemeClr val="accent4"/>
                </a:solidFill>
              </a:rPr>
              <a:t>8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1" name="Google Shape;781;p89"/>
          <p:cNvCxnSpPr/>
          <p:nvPr/>
        </p:nvCxnSpPr>
        <p:spPr>
          <a:xfrm rot="10800000">
            <a:off x="6744747" y="3764657"/>
            <a:ext cx="1425000" cy="57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90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</a:pPr>
            <a:r>
              <a:rPr lang="ru-RU"/>
              <a:t>СПАСИБО</a:t>
            </a:r>
            <a:endParaRPr/>
          </a:p>
        </p:txBody>
      </p:sp>
      <p:sp>
        <p:nvSpPr>
          <p:cNvPr id="787" name="Google Shape;787;p90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13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На следующем занятии мы переходим к следующему блоку Организация данных: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ru-RU"/>
              <a:t>Логическое устройство. Базы данных и схемы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ru-RU"/>
              <a:t>Табличные пространства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ru-RU"/>
              <a:t>Физическое устройство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D6D5D5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1235</Words>
  <Application>Microsoft Office PowerPoint</Application>
  <PresentationFormat>Широкоэкранный</PresentationFormat>
  <Paragraphs>344</Paragraphs>
  <Slides>26</Slides>
  <Notes>26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6</vt:i4>
      </vt:variant>
      <vt:variant>
        <vt:lpstr>Заголовки слайдов</vt:lpstr>
      </vt:variant>
      <vt:variant>
        <vt:i4>26</vt:i4>
      </vt:variant>
    </vt:vector>
  </HeadingPairs>
  <TitlesOfParts>
    <vt:vector size="42" baseType="lpstr">
      <vt:lpstr>Arial</vt:lpstr>
      <vt:lpstr>Calibri</vt:lpstr>
      <vt:lpstr>Arial Black</vt:lpstr>
      <vt:lpstr>Proxima Nova</vt:lpstr>
      <vt:lpstr>Open Sans</vt:lpstr>
      <vt:lpstr>Roboto</vt:lpstr>
      <vt:lpstr>Consolas</vt:lpstr>
      <vt:lpstr>Helvetica Neue Light</vt:lpstr>
      <vt:lpstr>Courier New</vt:lpstr>
      <vt:lpstr>Helvetica Neue</vt:lpstr>
      <vt:lpstr>Тема Office</vt:lpstr>
      <vt:lpstr>Template_StepUP</vt:lpstr>
      <vt:lpstr>Template_StepUP</vt:lpstr>
      <vt:lpstr>White</vt:lpstr>
      <vt:lpstr>Template_StepUP</vt:lpstr>
      <vt:lpstr>Template_StepUP</vt:lpstr>
      <vt:lpstr>БЛОКИРОВКИ</vt:lpstr>
      <vt:lpstr>ЦЕЛЬ УРОКА</vt:lpstr>
      <vt:lpstr>СОДЕРЖАНИЕ УРОКА</vt:lpstr>
      <vt:lpstr>БЛОКИРОВКИ ОБЪЕКТОВ</vt:lpstr>
      <vt:lpstr>БЛОКИРОВКИ ОБЪЕКТОВ</vt:lpstr>
      <vt:lpstr>БЛОКИРОВКИ ОБЪЕКТОВ. ВИДЫ РЕСУРСОВ</vt:lpstr>
      <vt:lpstr>БЛОКИРОВКИ ОБЪЕКТОВ</vt:lpstr>
      <vt:lpstr>БЛОКИРОВКИ ОБЪЕКТОВ. ВИДЫ БЛОКИРОВОК</vt:lpstr>
      <vt:lpstr>БЛОКИРОВКИ ОБЪЕКТОВ. ВИДЫ БЛОКИРОВОК</vt:lpstr>
      <vt:lpstr>БЛОКИРОВКИ ОБЪЕКТОВ. КАКИЕ СУЩЕСТВУЮТ</vt:lpstr>
      <vt:lpstr>БЛОКИРОВКИ ОТНОШЕНИЙ</vt:lpstr>
      <vt:lpstr>БЛОКИРОВКИ ОТНОШЕНИЙ. X – обозначены не совместимые блокировки.</vt:lpstr>
      <vt:lpstr>БЛОКИРОВКИ ОТНОШЕНИЙ</vt:lpstr>
      <vt:lpstr>2. БЛОКИРОВКИ СТРОК</vt:lpstr>
      <vt:lpstr>2. БЛОКИРОВКИ СТРОК. РЕЖИМЫ</vt:lpstr>
      <vt:lpstr>2. БЛОКИРОВКИ СТРОК. РЕЖИМЫ</vt:lpstr>
      <vt:lpstr>2. БЛОКИРОВКИ СТРОК. РЕЖИМЫ</vt:lpstr>
      <vt:lpstr>2. БЛОКИРОВКИ СТРОК. ДЕДЛОК</vt:lpstr>
      <vt:lpstr>2. БЛОКИРОВКИ СТРОК. ПРАКТИКА</vt:lpstr>
      <vt:lpstr>3. БЛОКИРОВКИ В ПАМЯТИ. SPINLOCK</vt:lpstr>
      <vt:lpstr>3. БЛОКИРОВКИ В ПАМЯТИ. ЛЕГКИЕ БЛОКИРОВКИ</vt:lpstr>
      <vt:lpstr>3. БЛОКИРОВКИ В ПАМЯТИ. ЗАКРЕПЛЕНИЕ БУФЕРА</vt:lpstr>
      <vt:lpstr>ИТОГИ ЗАНЯТИЯ</vt:lpstr>
      <vt:lpstr>Презентация PowerPoint</vt:lpstr>
      <vt:lpstr>ЗАДАНИЕ ДЛЯ САМОПРОВЕРКИ</vt:lpstr>
      <vt:lpstr>СПАСИБО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БЛОКИРОВКИ</dc:title>
  <cp:lastModifiedBy>Бондарь Илья Викторович</cp:lastModifiedBy>
  <cp:revision>3</cp:revision>
  <dcterms:modified xsi:type="dcterms:W3CDTF">2025-12-26T10:18:20Z</dcterms:modified>
</cp:coreProperties>
</file>