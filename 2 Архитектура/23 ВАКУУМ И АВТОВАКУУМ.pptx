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6858000" cx="12192000"/>
  <p:notesSz cx="12192000" cy="6858000"/>
  <p:embeddedFontLst>
    <p:embeddedFont>
      <p:font typeface="Proxima Nova"/>
      <p:regular r:id="rId30"/>
      <p:bold r:id="rId31"/>
      <p:italic r:id="rId32"/>
      <p:boldItalic r:id="rId33"/>
    </p:embeddedFont>
    <p:embeddedFont>
      <p:font typeface="Helvetica Neue"/>
      <p:regular r:id="rId34"/>
      <p:bold r:id="rId35"/>
      <p:italic r:id="rId36"/>
      <p:boldItalic r:id="rId37"/>
    </p:embeddedFont>
    <p:embeddedFont>
      <p:font typeface="Arial Black"/>
      <p:regular r:id="rId38"/>
    </p:embeddedFont>
    <p:embeddedFont>
      <p:font typeface="Open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43" roundtripDataSignature="AMtx7mjUltseSPhMpkn12as/6rSIFyTF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slide" Target="slides/slide13.xml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customschemas.google.com/relationships/presentationmetadata" Target="meta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roximaNova-bold.fntdata"/><Relationship Id="rId30" Type="http://schemas.openxmlformats.org/officeDocument/2006/relationships/font" Target="fonts/ProximaNova-regular.fntdata"/><Relationship Id="rId11" Type="http://schemas.openxmlformats.org/officeDocument/2006/relationships/slide" Target="slides/slide4.xml"/><Relationship Id="rId33" Type="http://schemas.openxmlformats.org/officeDocument/2006/relationships/font" Target="fonts/ProximaNova-boldItalic.fntdata"/><Relationship Id="rId10" Type="http://schemas.openxmlformats.org/officeDocument/2006/relationships/slide" Target="slides/slide3.xml"/><Relationship Id="rId32" Type="http://schemas.openxmlformats.org/officeDocument/2006/relationships/font" Target="fonts/ProximaNova-italic.fntdata"/><Relationship Id="rId13" Type="http://schemas.openxmlformats.org/officeDocument/2006/relationships/slide" Target="slides/slide6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5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8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7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0.xml"/><Relationship Id="rId39" Type="http://schemas.openxmlformats.org/officeDocument/2006/relationships/font" Target="fonts/OpenSans-regular.fntdata"/><Relationship Id="rId16" Type="http://schemas.openxmlformats.org/officeDocument/2006/relationships/slide" Target="slides/slide9.xml"/><Relationship Id="rId38" Type="http://schemas.openxmlformats.org/officeDocument/2006/relationships/font" Target="fonts/ArialBlack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:notes"/>
          <p:cNvSpPr txBox="1"/>
          <p:nvPr>
            <p:ph idx="1" type="body"/>
          </p:nvPr>
        </p:nvSpPr>
        <p:spPr>
          <a:xfrm>
            <a:off x="385762" y="5867399"/>
            <a:ext cx="3086100" cy="4800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:notes"/>
          <p:cNvSpPr/>
          <p:nvPr>
            <p:ph idx="2" type="sldImg"/>
          </p:nvPr>
        </p:nvSpPr>
        <p:spPr>
          <a:xfrm>
            <a:off x="385762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424ca66d30_0_17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1424ca66d30_0_17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42b2dfbff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142b2dfbff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427fe1c415_0_2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1427fe1c415_0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427fe1c415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1427fe1c415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42b2dfbfff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142b2dfbfff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42b2dfbfff_0_3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142b2dfbfff_0_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43c6a13bb0_0_0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g143c6a13bb0_0_0:notes"/>
          <p:cNvSpPr txBox="1"/>
          <p:nvPr>
            <p:ph idx="1" type="body"/>
          </p:nvPr>
        </p:nvSpPr>
        <p:spPr>
          <a:xfrm>
            <a:off x="1625600" y="3257550"/>
            <a:ext cx="89409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42b2dfbfff_0_2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142b2dfbfff_0_2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 showMasterSp="0">
  <p:cSld name="1_Пользовательский макет">
    <p:bg>
      <p:bgPr>
        <a:solidFill>
          <a:srgbClr val="01208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1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descr="Shape, circle&#10;&#10;Description automatically generated" id="21" name="Google Shape;2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1"/>
          <p:cNvSpPr/>
          <p:nvPr/>
        </p:nvSpPr>
        <p:spPr>
          <a:xfrm>
            <a:off x="10554128" y="1"/>
            <a:ext cx="1634700" cy="6848399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4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8" name="Google Shape;2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24"/>
          <p:cNvSpPr txBox="1"/>
          <p:nvPr>
            <p:ph type="title"/>
          </p:nvPr>
        </p:nvSpPr>
        <p:spPr>
          <a:xfrm>
            <a:off x="1725849" y="502442"/>
            <a:ext cx="7644899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 showMasterSp="0">
  <p:cSld name="2_Пользовательский макет">
    <p:bg>
      <p:bgPr>
        <a:solidFill>
          <a:srgbClr val="012089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36" name="Google Shape;3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8"/>
          <p:cNvSpPr/>
          <p:nvPr/>
        </p:nvSpPr>
        <p:spPr>
          <a:xfrm>
            <a:off x="10554128" y="1"/>
            <a:ext cx="1634700" cy="6848399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0" name="Google Shape;4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8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2" name="Google Shape;4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 showMasterSp="0">
  <p:cSld name="Пользовательский макет">
    <p:bg>
      <p:bgPr>
        <a:solidFill>
          <a:srgbClr val="012089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/>
          <p:nvPr>
            <p:ph idx="1" type="body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9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2" type="body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50" name="Google Shape;5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9"/>
          <p:cNvSpPr/>
          <p:nvPr/>
        </p:nvSpPr>
        <p:spPr>
          <a:xfrm>
            <a:off x="10554128" y="1"/>
            <a:ext cx="1634700" cy="6848399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54" name="Google Shape;5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56" name="Google Shape;5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0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30"/>
          <p:cNvSpPr txBox="1"/>
          <p:nvPr>
            <p:ph type="title"/>
          </p:nvPr>
        </p:nvSpPr>
        <p:spPr>
          <a:xfrm>
            <a:off x="1725849" y="799038"/>
            <a:ext cx="7644899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5" name="Google Shape;65;p3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1"/>
          <p:cNvPicPr preferRelativeResize="0"/>
          <p:nvPr/>
        </p:nvPicPr>
        <p:blipFill rotWithShape="1">
          <a:blip r:embed="rId2">
            <a:alphaModFix/>
          </a:blip>
          <a:srcRect b="427" l="0" r="35291" t="0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1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1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0" name="Google Shape;7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1"/>
          <p:cNvSpPr txBox="1"/>
          <p:nvPr>
            <p:ph type="title"/>
          </p:nvPr>
        </p:nvSpPr>
        <p:spPr>
          <a:xfrm>
            <a:off x="1725849" y="502442"/>
            <a:ext cx="7644899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3" name="Google Shape;73;p3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32"/>
          <p:cNvPicPr preferRelativeResize="0"/>
          <p:nvPr/>
        </p:nvPicPr>
        <p:blipFill rotWithShape="1">
          <a:blip r:embed="rId2">
            <a:alphaModFix/>
          </a:blip>
          <a:srcRect b="427" l="0" r="35291" t="0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2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8" name="Google Shape;7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2"/>
          <p:cNvSpPr txBox="1"/>
          <p:nvPr>
            <p:ph type="title"/>
          </p:nvPr>
        </p:nvSpPr>
        <p:spPr>
          <a:xfrm>
            <a:off x="1725849" y="799038"/>
            <a:ext cx="7644899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2" name="Google Shape;82;p3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1" showMasterSp="0">
  <p:cSld name="Титульный 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3"/>
          <p:cNvSpPr txBox="1"/>
          <p:nvPr>
            <p:ph idx="1" type="body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33"/>
          <p:cNvSpPr txBox="1"/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0" i="0" sz="60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. заголовок + текст">
  <p:cSld name="Бол. заголовок + текст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4"/>
          <p:cNvSpPr txBox="1"/>
          <p:nvPr>
            <p:ph idx="1" type="body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34"/>
          <p:cNvSpPr txBox="1"/>
          <p:nvPr>
            <p:ph idx="11" type="ftr"/>
          </p:nvPr>
        </p:nvSpPr>
        <p:spPr>
          <a:xfrm>
            <a:off x="336154" y="5895439"/>
            <a:ext cx="8553900" cy="110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9" name="Google Shape;89;p34"/>
          <p:cNvSpPr txBox="1"/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b="1" i="0" sz="3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90" name="Google Shape;90;p34"/>
          <p:cNvSpPr txBox="1"/>
          <p:nvPr>
            <p:ph idx="12" type="sldNum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бивка 2" showMasterSp="0">
  <p:cSld name="Перебивка 2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5"/>
          <p:cNvSpPr txBox="1"/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1" i="0" sz="48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93" name="Google Shape;93;p35"/>
          <p:cNvSpPr txBox="1"/>
          <p:nvPr>
            <p:ph idx="1" type="body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 1" showMasterSp="0">
  <p:cSld name="Финальный слайд 1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"/>
          <p:cNvSpPr txBox="1"/>
          <p:nvPr>
            <p:ph idx="1" type="body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3c6a13bb0_0_27"/>
          <p:cNvSpPr txBox="1"/>
          <p:nvPr>
            <p:ph idx="12" type="sldNum"/>
          </p:nvPr>
        </p:nvSpPr>
        <p:spPr>
          <a:xfrm>
            <a:off x="5977052" y="6536531"/>
            <a:ext cx="233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3"/>
          <p:cNvSpPr txBox="1"/>
          <p:nvPr>
            <p:ph type="title"/>
          </p:nvPr>
        </p:nvSpPr>
        <p:spPr>
          <a:xfrm>
            <a:off x="1725849" y="502442"/>
            <a:ext cx="7644899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 showMasterSp="0">
  <p:cSld name="2_Пользовательский макет">
    <p:bg>
      <p:bgPr>
        <a:solidFill>
          <a:srgbClr val="012089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114" name="Google Shape;1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7"/>
          <p:cNvSpPr/>
          <p:nvPr/>
        </p:nvSpPr>
        <p:spPr>
          <a:xfrm>
            <a:off x="10554128" y="1"/>
            <a:ext cx="1634700" cy="6848399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18" name="Google Shape;11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20" name="Google Shape;12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 showMasterSp="0">
  <p:cSld name="1_Пользовательский макет">
    <p:bg>
      <p:bgPr>
        <a:solidFill>
          <a:srgbClr val="012089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7"/>
          <p:cNvSpPr txBox="1"/>
          <p:nvPr>
            <p:ph idx="1" type="body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37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descr="Shape, circle&#10;&#10;Description automatically generated" id="127" name="Google Shape;12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7"/>
          <p:cNvSpPr/>
          <p:nvPr/>
        </p:nvSpPr>
        <p:spPr>
          <a:xfrm>
            <a:off x="10554128" y="1"/>
            <a:ext cx="1634700" cy="6848399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4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34" name="Google Shape;134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 showMasterSp="0">
  <p:cSld name="Пользовательский макет">
    <p:bg>
      <p:bgPr>
        <a:solidFill>
          <a:srgbClr val="012089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8"/>
          <p:cNvSpPr txBox="1"/>
          <p:nvPr>
            <p:ph idx="1" type="body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38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2" type="body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139" name="Google Shape;13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8"/>
          <p:cNvSpPr/>
          <p:nvPr/>
        </p:nvSpPr>
        <p:spPr>
          <a:xfrm>
            <a:off x="10554128" y="1"/>
            <a:ext cx="1634700" cy="6848399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43" name="Google Shape;14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8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45" name="Google Shape;14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9"/>
          <p:cNvPicPr preferRelativeResize="0"/>
          <p:nvPr/>
        </p:nvPicPr>
        <p:blipFill rotWithShape="1">
          <a:blip r:embed="rId2">
            <a:alphaModFix/>
          </a:blip>
          <a:srcRect b="427" l="0" r="35291" t="0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9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3" name="Google Shape;15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9"/>
          <p:cNvSpPr txBox="1"/>
          <p:nvPr>
            <p:ph type="title"/>
          </p:nvPr>
        </p:nvSpPr>
        <p:spPr>
          <a:xfrm>
            <a:off x="1725849" y="502442"/>
            <a:ext cx="7644899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p39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6" name="Google Shape;156;p3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40"/>
          <p:cNvPicPr preferRelativeResize="0"/>
          <p:nvPr/>
        </p:nvPicPr>
        <p:blipFill rotWithShape="1">
          <a:blip r:embed="rId2">
            <a:alphaModFix/>
          </a:blip>
          <a:srcRect b="427" l="0" r="35291" t="0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0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1" name="Google Shape;16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0"/>
          <p:cNvSpPr txBox="1"/>
          <p:nvPr>
            <p:ph type="title"/>
          </p:nvPr>
        </p:nvSpPr>
        <p:spPr>
          <a:xfrm>
            <a:off x="1725849" y="799038"/>
            <a:ext cx="7644899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3" name="Google Shape;163;p40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40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5" name="Google Shape;165;p4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1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41"/>
          <p:cNvSpPr txBox="1"/>
          <p:nvPr>
            <p:ph type="title"/>
          </p:nvPr>
        </p:nvSpPr>
        <p:spPr>
          <a:xfrm>
            <a:off x="1725849" y="799038"/>
            <a:ext cx="7644899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9" name="Google Shape;169;p41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41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1" name="Google Shape;171;p4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1" showMasterSp="0">
  <p:cSld name="Титульный 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2"/>
          <p:cNvSpPr txBox="1"/>
          <p:nvPr>
            <p:ph idx="1" type="body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42"/>
          <p:cNvSpPr txBox="1"/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0" i="0" sz="60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. заголовок + текст">
  <p:cSld name="Бол. заголовок + текст"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3"/>
          <p:cNvSpPr txBox="1"/>
          <p:nvPr>
            <p:ph idx="1" type="body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43"/>
          <p:cNvSpPr txBox="1"/>
          <p:nvPr>
            <p:ph idx="11" type="ftr"/>
          </p:nvPr>
        </p:nvSpPr>
        <p:spPr>
          <a:xfrm>
            <a:off x="336154" y="5895439"/>
            <a:ext cx="8553900" cy="110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78" name="Google Shape;178;p43"/>
          <p:cNvSpPr txBox="1"/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b="1" i="0" sz="3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179" name="Google Shape;179;p43"/>
          <p:cNvSpPr txBox="1"/>
          <p:nvPr>
            <p:ph idx="12" type="sldNum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бивка 2" showMasterSp="0">
  <p:cSld name="Перебивка 2">
    <p:bg>
      <p:bgPr>
        <a:solidFill>
          <a:schemeClr val="dk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4"/>
          <p:cNvSpPr txBox="1"/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1" i="0" sz="48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182" name="Google Shape;182;p44"/>
          <p:cNvSpPr txBox="1"/>
          <p:nvPr>
            <p:ph idx="1" type="body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 1" showMasterSp="0">
  <p:cSld name="Финальный слайд 1">
    <p:bg>
      <p:bgPr>
        <a:solidFill>
          <a:schemeClr val="dk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5"/>
          <p:cNvSpPr txBox="1"/>
          <p:nvPr>
            <p:ph idx="1" type="body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 showMasterSp="0">
  <p:cSld name="1_Пользовательский макет">
    <p:bg>
      <p:bgPr>
        <a:solidFill>
          <a:srgbClr val="012089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27fe1c415_0_134"/>
          <p:cNvSpPr txBox="1"/>
          <p:nvPr>
            <p:ph idx="1" type="body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g1427fe1c415_0_134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descr="Shape, circle&#10;&#10;Description automatically generated" id="197" name="Google Shape;197;g1427fe1c415_0_1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1427fe1c415_0_134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1427fe1c415_0_134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1427fe1c415_0_134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4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1427fe1c415_0_134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1427fe1c415_0_134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1427fe1c415_0_134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04" name="Google Shape;204;g1427fe1c415_0_1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427fe1c415_0_145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" name="Google Shape;207;g1427fe1c415_0_145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8" name="Google Shape;208;g1427fe1c415_0_145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 showMasterSp="0">
  <p:cSld name="2_Пользовательский макет">
    <p:bg>
      <p:bgPr>
        <a:solidFill>
          <a:srgbClr val="012089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427fe1c415_0_149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1" name="Google Shape;211;g1427fe1c415_0_149"/>
          <p:cNvSpPr txBox="1"/>
          <p:nvPr>
            <p:ph idx="1" type="body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212" name="Google Shape;212;g1427fe1c415_0_1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1427fe1c415_0_14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1427fe1c415_0_14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1427fe1c415_0_14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16" name="Google Shape;216;g1427fe1c415_0_1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1427fe1c415_0_14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18" name="Google Shape;218;g1427fe1c415_0_1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1427fe1c415_0_14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1427fe1c415_0_14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1427fe1c415_0_14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 showMasterSp="0">
  <p:cSld name="Пользовательский макет">
    <p:bg>
      <p:bgPr>
        <a:solidFill>
          <a:srgbClr val="012089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427fe1c415_0_162"/>
          <p:cNvSpPr txBox="1"/>
          <p:nvPr>
            <p:ph idx="1" type="body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g1427fe1c415_0_162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25" name="Google Shape;225;g1427fe1c415_0_162"/>
          <p:cNvSpPr txBox="1"/>
          <p:nvPr>
            <p:ph idx="2" type="body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226" name="Google Shape;226;g1427fe1c415_0_1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1427fe1c415_0_162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1427fe1c415_0_162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1427fe1c415_0_162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30" name="Google Shape;230;g1427fe1c415_0_1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1427fe1c415_0_162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32" name="Google Shape;232;g1427fe1c415_0_1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1427fe1c415_0_162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1427fe1c415_0_162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1427fe1c415_0_162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27fe1c415_0_176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g1427fe1c415_0_176"/>
          <p:cNvSpPr txBox="1"/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9" name="Google Shape;239;g1427fe1c415_0_176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0" name="Google Shape;240;g1427fe1c415_0_176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1" name="Google Shape;241;g1427fe1c415_0_17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g1427fe1c415_0_182"/>
          <p:cNvPicPr preferRelativeResize="0"/>
          <p:nvPr/>
        </p:nvPicPr>
        <p:blipFill rotWithShape="1">
          <a:blip r:embed="rId2">
            <a:alphaModFix/>
          </a:blip>
          <a:srcRect b="428" l="0" r="35291" t="0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1427fe1c415_0_18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1427fe1c415_0_182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46" name="Google Shape;246;g1427fe1c415_0_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1427fe1c415_0_182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48" name="Google Shape;248;g1427fe1c415_0_182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9" name="Google Shape;249;g1427fe1c415_0_18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g1427fe1c415_0_190"/>
          <p:cNvPicPr preferRelativeResize="0"/>
          <p:nvPr/>
        </p:nvPicPr>
        <p:blipFill rotWithShape="1">
          <a:blip r:embed="rId2">
            <a:alphaModFix/>
          </a:blip>
          <a:srcRect b="428" l="0" r="35291" t="0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1427fe1c415_0_19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1427fe1c415_0_190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54" name="Google Shape;254;g1427fe1c415_0_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1427fe1c415_0_190"/>
          <p:cNvSpPr txBox="1"/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6" name="Google Shape;256;g1427fe1c415_0_190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7" name="Google Shape;257;g1427fe1c415_0_190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8" name="Google Shape;258;g1427fe1c415_0_19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1" showMasterSp="0">
  <p:cSld name="Титульный 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427fe1c415_0_199"/>
          <p:cNvSpPr txBox="1"/>
          <p:nvPr>
            <p:ph idx="1" type="body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1" name="Google Shape;261;g1427fe1c415_0_199"/>
          <p:cNvSpPr txBox="1"/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0" i="0" sz="60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. заголовок + текст">
  <p:cSld name="Бол. заголовок + текст"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427fe1c415_0_202"/>
          <p:cNvSpPr txBox="1"/>
          <p:nvPr>
            <p:ph idx="1" type="body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4" name="Google Shape;264;g1427fe1c415_0_202"/>
          <p:cNvSpPr txBox="1"/>
          <p:nvPr>
            <p:ph idx="11" type="ftr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65" name="Google Shape;265;g1427fe1c415_0_202"/>
          <p:cNvSpPr txBox="1"/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b="1" i="0" sz="3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266" name="Google Shape;266;g1427fe1c415_0_202"/>
          <p:cNvSpPr txBox="1"/>
          <p:nvPr>
            <p:ph idx="12" type="sldNum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бивка 2" showMasterSp="0">
  <p:cSld name="Перебивка 2">
    <p:bg>
      <p:bgPr>
        <a:solidFill>
          <a:schemeClr val="dk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27fe1c415_0_207"/>
          <p:cNvSpPr txBox="1"/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1" i="0" sz="48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269" name="Google Shape;269;g1427fe1c415_0_207"/>
          <p:cNvSpPr txBox="1"/>
          <p:nvPr>
            <p:ph idx="1" type="body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 1" showMasterSp="0">
  <p:cSld name="Финальный слайд 1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427fe1c415_0_210"/>
          <p:cNvSpPr txBox="1"/>
          <p:nvPr>
            <p:ph idx="1" type="body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.xml"/><Relationship Id="rId10" Type="http://schemas.openxmlformats.org/officeDocument/2006/relationships/slideLayout" Target="../slideLayouts/slideLayout4.xml"/><Relationship Id="rId1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6.xml"/><Relationship Id="rId1" Type="http://schemas.openxmlformats.org/officeDocument/2006/relationships/image" Target="../media/image22.png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9" Type="http://schemas.openxmlformats.org/officeDocument/2006/relationships/slideLayout" Target="../slideLayouts/slideLayout3.xml"/><Relationship Id="rId15" Type="http://schemas.openxmlformats.org/officeDocument/2006/relationships/slideLayout" Target="../slideLayouts/slideLayout9.xml"/><Relationship Id="rId14" Type="http://schemas.openxmlformats.org/officeDocument/2006/relationships/slideLayout" Target="../slideLayouts/slideLayout8.xml"/><Relationship Id="rId17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19" Type="http://schemas.openxmlformats.org/officeDocument/2006/relationships/theme" Target="../theme/theme3.xml"/><Relationship Id="rId6" Type="http://schemas.openxmlformats.org/officeDocument/2006/relationships/image" Target="../media/image1.png"/><Relationship Id="rId1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" Type="http://schemas.openxmlformats.org/officeDocument/2006/relationships/image" Target="../media/image22.png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9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" Type="http://schemas.openxmlformats.org/officeDocument/2006/relationships/image" Target="../media/image22.png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9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18" Type="http://schemas.openxmlformats.org/officeDocument/2006/relationships/theme" Target="../theme/theme4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1725849" y="502442"/>
            <a:ext cx="7644899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 sz="25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11" name="Google Shape;11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" name="Google Shape;13;p20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0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3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0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0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0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725849" y="502442"/>
            <a:ext cx="7644899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 sz="25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100" name="Google Shape;100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2" name="Google Shape;102;p22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2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3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2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2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427fe1c415_0_125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 sz="25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187" name="Google Shape;187;g1427fe1c415_0_1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1427fe1c415_0_125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9" name="Google Shape;189;g1427fe1c415_0_125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1427fe1c415_0_125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3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1427fe1c415_0_125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1427fe1c415_0_125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1427fe1c415_0_125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habr.com/ru/company/postgrespro/blog/452320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postgrespro.ru/docs/postgresql/14/runtime-config-autovacuum" TargetMode="External"/><Relationship Id="rId4" Type="http://schemas.openxmlformats.org/officeDocument/2006/relationships/hyperlink" Target="https://habr.com/ru/company/postgrespro/blog/452762/" TargetMode="External"/><Relationship Id="rId5" Type="http://schemas.openxmlformats.org/officeDocument/2006/relationships/hyperlink" Target="https://aws.amazon.com/ru/blogs/database/a-case-study-of-tuning-autovacuum-in-amazon-rds-for-postgresql/" TargetMode="External"/><Relationship Id="rId6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"/>
          <p:cNvSpPr txBox="1"/>
          <p:nvPr>
            <p:ph idx="1" type="body"/>
          </p:nvPr>
        </p:nvSpPr>
        <p:spPr>
          <a:xfrm>
            <a:off x="1622193" y="2544108"/>
            <a:ext cx="622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 3. АРХИТЕКТУРА</a:t>
            </a:r>
            <a:endParaRPr/>
          </a:p>
        </p:txBody>
      </p:sp>
      <p:sp>
        <p:nvSpPr>
          <p:cNvPr id="277" name="Google Shape;277;p1"/>
          <p:cNvSpPr txBox="1"/>
          <p:nvPr>
            <p:ph type="title"/>
          </p:nvPr>
        </p:nvSpPr>
        <p:spPr>
          <a:xfrm>
            <a:off x="1609724" y="3118888"/>
            <a:ext cx="75207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/>
              <a:t>ВАКУУМ И АВТОВАКУУМ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/>
          <p:cNvSpPr/>
          <p:nvPr/>
        </p:nvSpPr>
        <p:spPr>
          <a:xfrm>
            <a:off x="1719852" y="1614489"/>
            <a:ext cx="2570700" cy="1822800"/>
          </a:xfrm>
          <a:prstGeom prst="roundRect">
            <a:avLst>
              <a:gd fmla="val 7748" name="adj"/>
            </a:avLst>
          </a:prstGeom>
          <a:solidFill>
            <a:srgbClr val="CEE6FF"/>
          </a:solidFill>
          <a:ln>
            <a:noFill/>
          </a:ln>
        </p:spPr>
        <p:txBody>
          <a:bodyPr anchorCtr="0" anchor="t" bIns="144000" lIns="144000" spcFirstLastPara="1" rIns="144000" wrap="square" tIns="75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Понять, что такое вакуум и автовакуум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"/>
          <p:cNvSpPr/>
          <p:nvPr/>
        </p:nvSpPr>
        <p:spPr>
          <a:xfrm>
            <a:off x="4569975" y="1614500"/>
            <a:ext cx="4158300" cy="1822800"/>
          </a:xfrm>
          <a:prstGeom prst="roundRect">
            <a:avLst>
              <a:gd fmla="val 6634" name="adj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anchorCtr="0" anchor="t" bIns="144000" lIns="144000" spcFirstLastPara="1" rIns="144000" wrap="square" tIns="75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Определить их задачи, архитектуру и их практическое применение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4" name="Google Shape;284;p2"/>
          <p:cNvSpPr/>
          <p:nvPr/>
        </p:nvSpPr>
        <p:spPr>
          <a:xfrm>
            <a:off x="5567499" y="3679750"/>
            <a:ext cx="3160800" cy="1822800"/>
          </a:xfrm>
          <a:prstGeom prst="roundRect">
            <a:avLst>
              <a:gd fmla="val 8306" name="adj"/>
            </a:avLst>
          </a:prstGeom>
          <a:solidFill>
            <a:srgbClr val="CBF2FF"/>
          </a:solidFill>
          <a:ln>
            <a:noFill/>
          </a:ln>
        </p:spPr>
        <p:txBody>
          <a:bodyPr anchorCtr="0" anchor="t" bIns="144000" lIns="144000" spcFirstLastPara="1" rIns="144000" wrap="square" tIns="75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Понять, что такое заморозка и на что она влияет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"/>
          <p:cNvSpPr/>
          <p:nvPr/>
        </p:nvSpPr>
        <p:spPr>
          <a:xfrm>
            <a:off x="1719849" y="3679750"/>
            <a:ext cx="3529500" cy="1822800"/>
          </a:xfrm>
          <a:prstGeom prst="roundRect">
            <a:avLst>
              <a:gd fmla="val 5519" name="adj"/>
            </a:avLst>
          </a:prstGeom>
          <a:solidFill>
            <a:srgbClr val="E5E0F6"/>
          </a:solidFill>
          <a:ln>
            <a:noFill/>
          </a:ln>
        </p:spPr>
        <p:txBody>
          <a:bodyPr anchorCtr="0" anchor="t" bIns="144000" lIns="144000" spcFirstLastPara="1" rIns="144000" wrap="square" tIns="75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Узнать как поменять настройки этих процессов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"/>
          <p:cNvSpPr txBox="1"/>
          <p:nvPr>
            <p:ph type="title"/>
          </p:nvPr>
        </p:nvSpPr>
        <p:spPr>
          <a:xfrm>
            <a:off x="1725849" y="502442"/>
            <a:ext cx="7644899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287" name="Google Shape;287;p2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88" name="Google Shape;288;p2"/>
          <p:cNvSpPr/>
          <p:nvPr/>
        </p:nvSpPr>
        <p:spPr>
          <a:xfrm>
            <a:off x="1902732" y="17191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0" spcFirstLastPara="1" rIns="71425" wrap="square" tIns="7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9" name="Google Shape;289;p2"/>
          <p:cNvSpPr/>
          <p:nvPr/>
        </p:nvSpPr>
        <p:spPr>
          <a:xfrm>
            <a:off x="4752860" y="17191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0" spcFirstLastPara="1" rIns="71425" wrap="square" tIns="7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0" name="Google Shape;290;p2"/>
          <p:cNvSpPr/>
          <p:nvPr/>
        </p:nvSpPr>
        <p:spPr>
          <a:xfrm>
            <a:off x="5750387" y="378435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0" spcFirstLastPara="1" rIns="71425" wrap="square" tIns="7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500" u="none" cap="none" strike="noStrike">
              <a:solidFill>
                <a:schemeClr val="accen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1" name="Google Shape;291;p2"/>
          <p:cNvSpPr/>
          <p:nvPr/>
        </p:nvSpPr>
        <p:spPr>
          <a:xfrm>
            <a:off x="1902732" y="382619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0" spcFirstLastPara="1" rIns="71425" wrap="square" tIns="7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500" u="none" cap="none" strike="noStrike">
              <a:solidFill>
                <a:schemeClr val="accent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424ca66d30_0_1745"/>
          <p:cNvSpPr txBox="1"/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297" name="Google Shape;297;g1424ca66d30_0_1745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8" name="Google Shape;298;g1424ca66d30_0_1745"/>
          <p:cNvSpPr/>
          <p:nvPr/>
        </p:nvSpPr>
        <p:spPr>
          <a:xfrm>
            <a:off x="1719852" y="1361364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9" name="Google Shape;299;g1424ca66d30_0_1745"/>
          <p:cNvSpPr/>
          <p:nvPr/>
        </p:nvSpPr>
        <p:spPr>
          <a:xfrm>
            <a:off x="1719852" y="3129109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0" name="Google Shape;300;g1424ca66d30_0_1745"/>
          <p:cNvSpPr/>
          <p:nvPr/>
        </p:nvSpPr>
        <p:spPr>
          <a:xfrm>
            <a:off x="1719852" y="4896852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01" name="Google Shape;301;g1424ca66d30_0_1745"/>
          <p:cNvCxnSpPr/>
          <p:nvPr/>
        </p:nvCxnSpPr>
        <p:spPr>
          <a:xfrm rot="10800000">
            <a:off x="2183068" y="2395849"/>
            <a:ext cx="0" cy="62520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g1424ca66d30_0_1745"/>
          <p:cNvCxnSpPr/>
          <p:nvPr/>
        </p:nvCxnSpPr>
        <p:spPr>
          <a:xfrm rot="10800000">
            <a:off x="2183068" y="4163594"/>
            <a:ext cx="0" cy="62520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g1424ca66d30_0_1745"/>
          <p:cNvSpPr txBox="1"/>
          <p:nvPr/>
        </p:nvSpPr>
        <p:spPr>
          <a:xfrm>
            <a:off x="2860569" y="1670664"/>
            <a:ext cx="25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</a:rPr>
              <a:t>Вакуум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4" name="Google Shape;304;g1424ca66d30_0_1745"/>
          <p:cNvSpPr txBox="1"/>
          <p:nvPr/>
        </p:nvSpPr>
        <p:spPr>
          <a:xfrm>
            <a:off x="2860569" y="3438409"/>
            <a:ext cx="228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</a:rPr>
              <a:t>Автовакуум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5" name="Google Shape;305;g1424ca66d30_0_1745"/>
          <p:cNvSpPr txBox="1"/>
          <p:nvPr/>
        </p:nvSpPr>
        <p:spPr>
          <a:xfrm>
            <a:off x="2860569" y="5221443"/>
            <a:ext cx="25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</a:rPr>
              <a:t>Настройки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6" name="Google Shape;306;g1424ca66d30_0_1745"/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fmla="val 5294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"/>
          <p:cNvSpPr txBox="1"/>
          <p:nvPr>
            <p:ph idx="1" type="body"/>
          </p:nvPr>
        </p:nvSpPr>
        <p:spPr>
          <a:xfrm>
            <a:off x="1725850" y="3460888"/>
            <a:ext cx="6526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/>
              <a:t>Они, равно как и соответствующие им записи в индексах, будут присутствовать в БД вплоть да принудительного удаления — т.н. vacuum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2"/>
                </a:solidFill>
              </a:rPr>
              <a:t>Ну и пусть?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2" name="Google Shape;312;p4"/>
          <p:cNvSpPr txBox="1"/>
          <p:nvPr>
            <p:ph type="title"/>
          </p:nvPr>
        </p:nvSpPr>
        <p:spPr>
          <a:xfrm>
            <a:off x="1725849" y="502442"/>
            <a:ext cx="7644899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ВАКУУМ</a:t>
            </a:r>
            <a:endParaRPr/>
          </a:p>
        </p:txBody>
      </p:sp>
      <p:sp>
        <p:nvSpPr>
          <p:cNvPr id="313" name="Google Shape;313;p4"/>
          <p:cNvSpPr txBox="1"/>
          <p:nvPr>
            <p:ph idx="12" type="sldNum"/>
          </p:nvPr>
        </p:nvSpPr>
        <p:spPr>
          <a:xfrm>
            <a:off x="250594" y="6446580"/>
            <a:ext cx="8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4" name="Google Shape;314;p4"/>
          <p:cNvSpPr/>
          <p:nvPr/>
        </p:nvSpPr>
        <p:spPr>
          <a:xfrm>
            <a:off x="1725850" y="2011688"/>
            <a:ext cx="6830400" cy="9912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>
            <a:noFill/>
          </a:ln>
        </p:spPr>
        <p:txBody>
          <a:bodyPr anchorCtr="0" anchor="ctr" bIns="108000" lIns="684000" spcFirstLastPara="1" rIns="180000" wrap="square" tIns="10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Неиспользуемые в рамках незавершенных транзакций строки называются мертвыми (dead)</a:t>
            </a:r>
            <a:endParaRPr i="1"/>
          </a:p>
        </p:txBody>
      </p:sp>
      <p:pic>
        <p:nvPicPr>
          <p:cNvPr id="315" name="Google Shape;31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025" y="2178188"/>
            <a:ext cx="385661" cy="38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42b2dfbfff_0_0"/>
          <p:cNvSpPr txBox="1"/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ВАКУУМ</a:t>
            </a:r>
            <a:endParaRPr/>
          </a:p>
        </p:txBody>
      </p:sp>
      <p:sp>
        <p:nvSpPr>
          <p:cNvPr id="321" name="Google Shape;321;g142b2dfbfff_0_0"/>
          <p:cNvSpPr txBox="1"/>
          <p:nvPr>
            <p:ph idx="12" type="sldNum"/>
          </p:nvPr>
        </p:nvSpPr>
        <p:spPr>
          <a:xfrm>
            <a:off x="250594" y="6446580"/>
            <a:ext cx="8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2" name="Google Shape;322;g142b2dfbfff_0_0"/>
          <p:cNvSpPr txBox="1"/>
          <p:nvPr/>
        </p:nvSpPr>
        <p:spPr>
          <a:xfrm>
            <a:off x="1725838" y="1815611"/>
            <a:ext cx="323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Но: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23" name="Google Shape;323;g142b2dfbfff_0_0"/>
          <p:cNvCxnSpPr/>
          <p:nvPr/>
        </p:nvCxnSpPr>
        <p:spPr>
          <a:xfrm flipH="1" rot="10800000">
            <a:off x="1725838" y="2271302"/>
            <a:ext cx="7224600" cy="78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g142b2dfbfff_0_0"/>
          <p:cNvSpPr txBox="1"/>
          <p:nvPr/>
        </p:nvSpPr>
        <p:spPr>
          <a:xfrm>
            <a:off x="1725850" y="24576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  <a:highlight>
                  <a:srgbClr val="FFFFFF"/>
                </a:highlight>
                <a:latin typeface="Arial Black"/>
                <a:ea typeface="Arial Black"/>
                <a:cs typeface="Arial Black"/>
                <a:sym typeface="Arial Black"/>
              </a:rPr>
              <a:t>✖</a:t>
            </a:r>
            <a:endParaRPr sz="200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5" name="Google Shape;325;g142b2dfbfff_0_0"/>
          <p:cNvSpPr txBox="1"/>
          <p:nvPr>
            <p:ph idx="1" type="body"/>
          </p:nvPr>
        </p:nvSpPr>
        <p:spPr>
          <a:xfrm>
            <a:off x="2387475" y="2565288"/>
            <a:ext cx="652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занимают место в памяти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6" name="Google Shape;326;g142b2dfbfff_0_0"/>
          <p:cNvSpPr txBox="1"/>
          <p:nvPr/>
        </p:nvSpPr>
        <p:spPr>
          <a:xfrm>
            <a:off x="1725850" y="3134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  <a:highlight>
                  <a:srgbClr val="FFFFFF"/>
                </a:highlight>
                <a:latin typeface="Arial Black"/>
                <a:ea typeface="Arial Black"/>
                <a:cs typeface="Arial Black"/>
                <a:sym typeface="Arial Black"/>
              </a:rPr>
              <a:t>✖</a:t>
            </a:r>
            <a:endParaRPr sz="200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7" name="Google Shape;327;g142b2dfbfff_0_0"/>
          <p:cNvSpPr txBox="1"/>
          <p:nvPr>
            <p:ph idx="1" type="body"/>
          </p:nvPr>
        </p:nvSpPr>
        <p:spPr>
          <a:xfrm>
            <a:off x="2387475" y="3242200"/>
            <a:ext cx="652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занимают место на дисках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8" name="Google Shape;328;g142b2dfbfff_0_0"/>
          <p:cNvSpPr txBox="1"/>
          <p:nvPr/>
        </p:nvSpPr>
        <p:spPr>
          <a:xfrm>
            <a:off x="1725850" y="3811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  <a:highlight>
                  <a:srgbClr val="FFFFFF"/>
                </a:highlight>
                <a:latin typeface="Arial Black"/>
                <a:ea typeface="Arial Black"/>
                <a:cs typeface="Arial Black"/>
                <a:sym typeface="Arial Black"/>
              </a:rPr>
              <a:t>✖</a:t>
            </a:r>
            <a:endParaRPr sz="200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9" name="Google Shape;329;g142b2dfbfff_0_0"/>
          <p:cNvSpPr txBox="1"/>
          <p:nvPr>
            <p:ph idx="1" type="body"/>
          </p:nvPr>
        </p:nvSpPr>
        <p:spPr>
          <a:xfrm>
            <a:off x="2387475" y="3919100"/>
            <a:ext cx="652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участвуют в select и update, where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0" name="Google Shape;330;g142b2dfbfff_0_0"/>
          <p:cNvSpPr txBox="1"/>
          <p:nvPr/>
        </p:nvSpPr>
        <p:spPr>
          <a:xfrm>
            <a:off x="1744225" y="44883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  <a:highlight>
                  <a:srgbClr val="FFFFFF"/>
                </a:highlight>
                <a:latin typeface="Arial Black"/>
                <a:ea typeface="Arial Black"/>
                <a:cs typeface="Arial Black"/>
                <a:sym typeface="Arial Black"/>
              </a:rPr>
              <a:t>✖</a:t>
            </a:r>
            <a:endParaRPr sz="200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1" name="Google Shape;331;g142b2dfbfff_0_0"/>
          <p:cNvSpPr txBox="1"/>
          <p:nvPr>
            <p:ph idx="1" type="body"/>
          </p:nvPr>
        </p:nvSpPr>
        <p:spPr>
          <a:xfrm>
            <a:off x="2405850" y="4488300"/>
            <a:ext cx="652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достаточно ощутимо и негативно влияют на производительность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"/>
          <p:cNvSpPr txBox="1"/>
          <p:nvPr>
            <p:ph type="title"/>
          </p:nvPr>
        </p:nvSpPr>
        <p:spPr>
          <a:xfrm>
            <a:off x="1725849" y="502442"/>
            <a:ext cx="7644899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ВАКУУМ</a:t>
            </a:r>
            <a:endParaRPr/>
          </a:p>
        </p:txBody>
      </p:sp>
      <p:sp>
        <p:nvSpPr>
          <p:cNvPr id="337" name="Google Shape;337;p5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8" name="Google Shape;338;p5"/>
          <p:cNvSpPr txBox="1"/>
          <p:nvPr/>
        </p:nvSpPr>
        <p:spPr>
          <a:xfrm>
            <a:off x="1725850" y="1746288"/>
            <a:ext cx="795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Варианты использования: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"/>
          <p:cNvSpPr/>
          <p:nvPr/>
        </p:nvSpPr>
        <p:spPr>
          <a:xfrm>
            <a:off x="1725850" y="2182100"/>
            <a:ext cx="2982900" cy="731700"/>
          </a:xfrm>
          <a:prstGeom prst="roundRect">
            <a:avLst>
              <a:gd fmla="val 8116" name="adj"/>
            </a:avLst>
          </a:prstGeom>
          <a:solidFill>
            <a:srgbClr val="CEE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"/>
          <p:cNvSpPr/>
          <p:nvPr/>
        </p:nvSpPr>
        <p:spPr>
          <a:xfrm>
            <a:off x="1882900" y="2353663"/>
            <a:ext cx="208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0" spcFirstLastPara="1" rIns="71425" wrap="square" tIns="71425">
            <a:noAutofit/>
          </a:bodyPr>
          <a:lstStyle/>
          <a:p>
            <a:pPr indent="0" lvl="0" marL="1111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rgbClr val="1B4EFC"/>
                </a:solidFill>
              </a:rPr>
              <a:t>VACUUM</a:t>
            </a:r>
            <a:endParaRPr i="0" sz="1800" u="none" cap="none" strike="noStrike">
              <a:solidFill>
                <a:srgbClr val="1B4EFC"/>
              </a:solidFill>
            </a:endParaRPr>
          </a:p>
        </p:txBody>
      </p:sp>
      <p:sp>
        <p:nvSpPr>
          <p:cNvPr id="341" name="Google Shape;341;p5"/>
          <p:cNvSpPr/>
          <p:nvPr/>
        </p:nvSpPr>
        <p:spPr>
          <a:xfrm>
            <a:off x="1725850" y="3232275"/>
            <a:ext cx="3096900" cy="2114400"/>
          </a:xfrm>
          <a:prstGeom prst="roundRect">
            <a:avLst>
              <a:gd fmla="val 7960" name="adj"/>
            </a:avLst>
          </a:prstGeom>
          <a:solidFill>
            <a:srgbClr val="CB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1111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Выполняет очистку (VACUUM), а затем анализ (ANALYZE) всех указанных таблиц</a:t>
            </a:r>
            <a:endParaRPr sz="1800"/>
          </a:p>
        </p:txBody>
      </p:sp>
      <p:sp>
        <p:nvSpPr>
          <p:cNvPr id="342" name="Google Shape;342;p5"/>
          <p:cNvSpPr/>
          <p:nvPr/>
        </p:nvSpPr>
        <p:spPr>
          <a:xfrm>
            <a:off x="1882900" y="3429000"/>
            <a:ext cx="236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0" spcFirstLastPara="1" rIns="71425" wrap="square" tIns="71425">
            <a:noAutofit/>
          </a:bodyPr>
          <a:lstStyle/>
          <a:p>
            <a:pPr indent="0" lvl="0" marL="1111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rgbClr val="02C2FD"/>
                </a:solidFill>
              </a:rPr>
              <a:t>VACUUM ANALYZE </a:t>
            </a:r>
            <a:endParaRPr i="0" sz="1800" u="none" cap="none" strike="noStrike">
              <a:solidFill>
                <a:srgbClr val="02C2FD"/>
              </a:solidFill>
            </a:endParaRPr>
          </a:p>
        </p:txBody>
      </p:sp>
      <p:sp>
        <p:nvSpPr>
          <p:cNvPr id="343" name="Google Shape;343;p5"/>
          <p:cNvSpPr/>
          <p:nvPr/>
        </p:nvSpPr>
        <p:spPr>
          <a:xfrm>
            <a:off x="5127350" y="2182100"/>
            <a:ext cx="2982900" cy="731700"/>
          </a:xfrm>
          <a:prstGeom prst="roundRect">
            <a:avLst>
              <a:gd fmla="val 10916" name="adj"/>
            </a:avLst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44" name="Google Shape;344;p5"/>
          <p:cNvSpPr/>
          <p:nvPr/>
        </p:nvSpPr>
        <p:spPr>
          <a:xfrm>
            <a:off x="5284400" y="2353675"/>
            <a:ext cx="2318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0" spcFirstLastPara="1" rIns="71425" wrap="square" tIns="71425">
            <a:noAutofit/>
          </a:bodyPr>
          <a:lstStyle/>
          <a:p>
            <a:pPr indent="0" lvl="0" marL="1111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accent5"/>
                </a:solidFill>
              </a:rPr>
              <a:t>VACUUM VERBOSE</a:t>
            </a:r>
            <a:endParaRPr i="0" sz="1800" u="none" cap="none" strike="noStrike">
              <a:solidFill>
                <a:schemeClr val="accent5"/>
              </a:solidFill>
            </a:endParaRPr>
          </a:p>
        </p:txBody>
      </p:sp>
      <p:sp>
        <p:nvSpPr>
          <p:cNvPr id="345" name="Google Shape;345;p5"/>
          <p:cNvSpPr/>
          <p:nvPr/>
        </p:nvSpPr>
        <p:spPr>
          <a:xfrm>
            <a:off x="5070350" y="3232275"/>
            <a:ext cx="3096900" cy="2114400"/>
          </a:xfrm>
          <a:prstGeom prst="roundRect">
            <a:avLst>
              <a:gd fmla="val 10060" name="adj"/>
            </a:avLst>
          </a:prstGeom>
          <a:solidFill>
            <a:srgbClr val="E5E0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11112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1111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Д</a:t>
            </a:r>
            <a:r>
              <a:rPr lang="ru-RU" sz="1800">
                <a:solidFill>
                  <a:schemeClr val="dk1"/>
                </a:solidFill>
              </a:rPr>
              <a:t>ефрагментация. нужен </a:t>
            </a:r>
            <a:r>
              <a:rPr lang="ru-RU" sz="1800">
                <a:solidFill>
                  <a:schemeClr val="accent6"/>
                </a:solidFill>
              </a:rPr>
              <a:t>исключительный</a:t>
            </a:r>
            <a:r>
              <a:rPr lang="ru-RU" sz="1800">
                <a:solidFill>
                  <a:schemeClr val="dk2"/>
                </a:solidFill>
              </a:rPr>
              <a:t> </a:t>
            </a:r>
            <a:r>
              <a:rPr lang="ru-RU" sz="1800">
                <a:solidFill>
                  <a:schemeClr val="dk1"/>
                </a:solidFill>
              </a:rPr>
              <a:t>доступ без </a:t>
            </a:r>
            <a:r>
              <a:rPr lang="ru-RU" sz="1800">
                <a:solidFill>
                  <a:schemeClr val="accent6"/>
                </a:solidFill>
              </a:rPr>
              <a:t>блокировок</a:t>
            </a:r>
            <a:r>
              <a:rPr lang="ru-RU" sz="1800">
                <a:solidFill>
                  <a:schemeClr val="dk1"/>
                </a:solidFill>
              </a:rPr>
              <a:t> на запись. Создается новый файл!!!</a:t>
            </a:r>
            <a:endParaRPr sz="1800"/>
          </a:p>
        </p:txBody>
      </p:sp>
      <p:sp>
        <p:nvSpPr>
          <p:cNvPr id="346" name="Google Shape;346;p5"/>
          <p:cNvSpPr/>
          <p:nvPr/>
        </p:nvSpPr>
        <p:spPr>
          <a:xfrm>
            <a:off x="5227400" y="3429000"/>
            <a:ext cx="208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0" spcFirstLastPara="1" rIns="71425" wrap="square" tIns="71425">
            <a:noAutofit/>
          </a:bodyPr>
          <a:lstStyle/>
          <a:p>
            <a:pPr indent="0" lvl="0" marL="1111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rgbClr val="836ED3"/>
                </a:solidFill>
              </a:rPr>
              <a:t>VACUUM FULL</a:t>
            </a:r>
            <a:endParaRPr i="0" sz="1800" u="none" cap="none" strike="noStrike">
              <a:solidFill>
                <a:srgbClr val="836ED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427fe1c415_0_213"/>
          <p:cNvSpPr txBox="1"/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ВАКУУМ</a:t>
            </a:r>
            <a:endParaRPr/>
          </a:p>
        </p:txBody>
      </p:sp>
      <p:sp>
        <p:nvSpPr>
          <p:cNvPr id="352" name="Google Shape;352;g1427fe1c415_0_213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3" name="Google Shape;353;g1427fe1c415_0_213"/>
          <p:cNvSpPr/>
          <p:nvPr/>
        </p:nvSpPr>
        <p:spPr>
          <a:xfrm>
            <a:off x="1725850" y="4162273"/>
            <a:ext cx="8233200" cy="492600"/>
          </a:xfrm>
          <a:prstGeom prst="roundRect">
            <a:avLst>
              <a:gd fmla="val 4323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216000" lIns="216000" spcFirstLastPara="1" rIns="216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b="0" i="0" lang="ru-RU" sz="12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SELECT * FROM pg_stat_progress_vacuum;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4" name="Google Shape;354;g1427fe1c415_0_213"/>
          <p:cNvSpPr txBox="1"/>
          <p:nvPr/>
        </p:nvSpPr>
        <p:spPr>
          <a:xfrm>
            <a:off x="1770975" y="2103801"/>
            <a:ext cx="795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 выполнением можно следить через: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1427fe1c415_0_213"/>
          <p:cNvSpPr/>
          <p:nvPr/>
        </p:nvSpPr>
        <p:spPr>
          <a:xfrm>
            <a:off x="1725850" y="2682238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1B4EFC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i="0" sz="2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6" name="Google Shape;356;g1427fe1c415_0_213"/>
          <p:cNvSpPr/>
          <p:nvPr/>
        </p:nvSpPr>
        <p:spPr>
          <a:xfrm>
            <a:off x="1725850" y="3337650"/>
            <a:ext cx="446100" cy="4311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836ED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i="0" sz="2000" u="none" cap="none" strike="noStrike">
              <a:solidFill>
                <a:srgbClr val="836ED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7" name="Google Shape;357;g1427fe1c415_0_213"/>
          <p:cNvSpPr txBox="1"/>
          <p:nvPr>
            <p:ph idx="1" type="body"/>
          </p:nvPr>
        </p:nvSpPr>
        <p:spPr>
          <a:xfrm>
            <a:off x="2364900" y="2759188"/>
            <a:ext cx="426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консоль в случае vacuum verbose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58" name="Google Shape;358;g1427fe1c415_0_213"/>
          <p:cNvSpPr txBox="1"/>
          <p:nvPr>
            <p:ph idx="1" type="body"/>
          </p:nvPr>
        </p:nvSpPr>
        <p:spPr>
          <a:xfrm>
            <a:off x="2364900" y="3414600"/>
            <a:ext cx="652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или через системное представление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427fe1c415_0_106"/>
          <p:cNvSpPr txBox="1"/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ВАКУУМ. ПРАКТИКА</a:t>
            </a:r>
            <a:endParaRPr/>
          </a:p>
        </p:txBody>
      </p:sp>
      <p:sp>
        <p:nvSpPr>
          <p:cNvPr id="364" name="Google Shape;364;g1427fe1c415_0_106"/>
          <p:cNvSpPr txBox="1"/>
          <p:nvPr/>
        </p:nvSpPr>
        <p:spPr>
          <a:xfrm>
            <a:off x="1725847" y="2380150"/>
            <a:ext cx="175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В</a:t>
            </a:r>
            <a:r>
              <a:rPr lang="ru-RU" sz="1600">
                <a:solidFill>
                  <a:schemeClr val="dk1"/>
                </a:solidFill>
              </a:rPr>
              <a:t> 1 окне обновим запись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1427fe1c415_0_106"/>
          <p:cNvSpPr txBox="1"/>
          <p:nvPr/>
        </p:nvSpPr>
        <p:spPr>
          <a:xfrm>
            <a:off x="4794563" y="2380153"/>
            <a:ext cx="264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В</a:t>
            </a:r>
            <a:r>
              <a:rPr lang="ru-RU" sz="1600">
                <a:solidFill>
                  <a:schemeClr val="dk1"/>
                </a:solidFill>
              </a:rPr>
              <a:t>о 2 окне делаем begin transaction isolation level repeatable read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1427fe1c415_0_106"/>
          <p:cNvSpPr txBox="1"/>
          <p:nvPr/>
        </p:nvSpPr>
        <p:spPr>
          <a:xfrm>
            <a:off x="1725850" y="3974800"/>
            <a:ext cx="181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В </a:t>
            </a:r>
            <a:r>
              <a:rPr lang="ru-RU" sz="1600">
                <a:solidFill>
                  <a:schemeClr val="dk1"/>
                </a:solidFill>
              </a:rPr>
              <a:t>1 пообновляем еще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1427fe1c415_0_106"/>
          <p:cNvSpPr txBox="1"/>
          <p:nvPr/>
        </p:nvSpPr>
        <p:spPr>
          <a:xfrm>
            <a:off x="4794575" y="3963925"/>
            <a:ext cx="246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С</a:t>
            </a:r>
            <a:r>
              <a:rPr lang="ru-RU" sz="1600">
                <a:solidFill>
                  <a:schemeClr val="dk1"/>
                </a:solidFill>
              </a:rPr>
              <a:t>мотрим vacuum verbose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1427fe1c415_0_106"/>
          <p:cNvSpPr txBox="1"/>
          <p:nvPr/>
        </p:nvSpPr>
        <p:spPr>
          <a:xfrm>
            <a:off x="1725838" y="1852085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1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1427fe1c415_0_106"/>
          <p:cNvSpPr txBox="1"/>
          <p:nvPr/>
        </p:nvSpPr>
        <p:spPr>
          <a:xfrm>
            <a:off x="4806438" y="1850477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2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1427fe1c415_0_106"/>
          <p:cNvSpPr txBox="1"/>
          <p:nvPr/>
        </p:nvSpPr>
        <p:spPr>
          <a:xfrm>
            <a:off x="1725856" y="3404915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3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1427fe1c415_0_106"/>
          <p:cNvSpPr txBox="1"/>
          <p:nvPr/>
        </p:nvSpPr>
        <p:spPr>
          <a:xfrm>
            <a:off x="4794563" y="3404915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4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g1427fe1c415_0_106"/>
          <p:cNvCxnSpPr/>
          <p:nvPr/>
        </p:nvCxnSpPr>
        <p:spPr>
          <a:xfrm rot="10800000">
            <a:off x="2338224" y="2112101"/>
            <a:ext cx="2220600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g1427fe1c415_0_106"/>
          <p:cNvCxnSpPr/>
          <p:nvPr/>
        </p:nvCxnSpPr>
        <p:spPr>
          <a:xfrm rot="10800000">
            <a:off x="5508745" y="2112101"/>
            <a:ext cx="2553300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g1427fe1c415_0_106"/>
          <p:cNvCxnSpPr/>
          <p:nvPr/>
        </p:nvCxnSpPr>
        <p:spPr>
          <a:xfrm rot="10800000">
            <a:off x="2338224" y="3689807"/>
            <a:ext cx="2220600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g1427fe1c415_0_106"/>
          <p:cNvSpPr txBox="1"/>
          <p:nvPr/>
        </p:nvSpPr>
        <p:spPr>
          <a:xfrm>
            <a:off x="1725850" y="4999575"/>
            <a:ext cx="66159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Для дополнительного чтения: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702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-RU" sz="1600" u="sng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MVCC-6. Очистка / Блог компании Postgres Professional / Хабр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76" name="Google Shape;376;g1427fe1c415_0_106"/>
          <p:cNvSpPr txBox="1"/>
          <p:nvPr/>
        </p:nvSpPr>
        <p:spPr>
          <a:xfrm>
            <a:off x="1725850" y="1275813"/>
            <a:ext cx="7950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Сценарий —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"/>
          <p:cNvSpPr txBox="1"/>
          <p:nvPr>
            <p:ph type="title"/>
          </p:nvPr>
        </p:nvSpPr>
        <p:spPr>
          <a:xfrm>
            <a:off x="1725849" y="502442"/>
            <a:ext cx="7644899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АВТОВАКУУМ</a:t>
            </a:r>
            <a:endParaRPr/>
          </a:p>
        </p:txBody>
      </p:sp>
      <p:sp>
        <p:nvSpPr>
          <p:cNvPr id="382" name="Google Shape;382;p7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83" name="Google Shape;383;p7"/>
          <p:cNvSpPr txBox="1"/>
          <p:nvPr/>
        </p:nvSpPr>
        <p:spPr>
          <a:xfrm>
            <a:off x="1725850" y="3822663"/>
            <a:ext cx="79503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70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Он </a:t>
            </a:r>
            <a:r>
              <a:rPr b="0" i="0" lang="ru-RU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не работает все время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а вызывает вакуум в зависимости от различных порогов срабатывания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1725850" y="2439513"/>
            <a:ext cx="6830400" cy="9912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>
            <a:noFill/>
          </a:ln>
        </p:spPr>
        <p:txBody>
          <a:bodyPr anchorCtr="0" anchor="ctr" bIns="108000" lIns="684000" spcFirstLastPara="1" rIns="180000" wrap="square" tIns="10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Чтобы вручную не заниматься очисткой таблиц есть фоновый процесс </a:t>
            </a:r>
            <a:r>
              <a:rPr lang="ru-RU" sz="1800">
                <a:solidFill>
                  <a:schemeClr val="dk2"/>
                </a:solidFill>
              </a:rPr>
              <a:t>Автовакуум</a:t>
            </a:r>
            <a:endParaRPr i="1"/>
          </a:p>
        </p:txBody>
      </p:sp>
      <p:pic>
        <p:nvPicPr>
          <p:cNvPr id="385" name="Google Shape;38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025" y="2606013"/>
            <a:ext cx="385661" cy="38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"/>
          <p:cNvSpPr txBox="1"/>
          <p:nvPr>
            <p:ph type="title"/>
          </p:nvPr>
        </p:nvSpPr>
        <p:spPr>
          <a:xfrm>
            <a:off x="1725849" y="502442"/>
            <a:ext cx="7644899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АВТОВАКУУМ. НАСТРОЙКИ</a:t>
            </a:r>
            <a:endParaRPr/>
          </a:p>
        </p:txBody>
      </p:sp>
      <p:sp>
        <p:nvSpPr>
          <p:cNvPr id="391" name="Google Shape;391;p8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92" name="Google Shape;392;p8"/>
          <p:cNvSpPr txBox="1"/>
          <p:nvPr/>
        </p:nvSpPr>
        <p:spPr>
          <a:xfrm>
            <a:off x="1725850" y="1435463"/>
            <a:ext cx="795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70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Желательно настаивать максимально агрессивно: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1725850" y="2039588"/>
            <a:ext cx="7320600" cy="9138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702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3F3F3F"/>
                </a:solidFill>
              </a:rPr>
              <a:t>autovacuum_max_workers = 10 — количество параллельных процессов</a:t>
            </a:r>
            <a:endParaRPr sz="1800"/>
          </a:p>
        </p:txBody>
      </p:sp>
      <p:sp>
        <p:nvSpPr>
          <p:cNvPr id="394" name="Google Shape;394;p8"/>
          <p:cNvSpPr/>
          <p:nvPr/>
        </p:nvSpPr>
        <p:spPr>
          <a:xfrm>
            <a:off x="1725850" y="3232444"/>
            <a:ext cx="7320600" cy="913800"/>
          </a:xfrm>
          <a:prstGeom prst="roundRect">
            <a:avLst>
              <a:gd fmla="val 16667" name="adj"/>
            </a:avLst>
          </a:prstGeom>
          <a:solidFill>
            <a:srgbClr val="E5E0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3F3F3F"/>
                </a:solidFill>
              </a:rPr>
              <a:t>autovacuum_naptime = 15s — время сна между запусками процессов автовакуума</a:t>
            </a:r>
            <a:endParaRPr sz="1800"/>
          </a:p>
        </p:txBody>
      </p:sp>
      <p:sp>
        <p:nvSpPr>
          <p:cNvPr id="395" name="Google Shape;395;p8"/>
          <p:cNvSpPr/>
          <p:nvPr/>
        </p:nvSpPr>
        <p:spPr>
          <a:xfrm>
            <a:off x="1725850" y="4425300"/>
            <a:ext cx="7320600" cy="1140300"/>
          </a:xfrm>
          <a:prstGeom prst="roundRect">
            <a:avLst>
              <a:gd fmla="val 16667" name="adj"/>
            </a:avLst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3F3F3F"/>
                </a:solidFill>
              </a:rPr>
              <a:t>autovacuum_vacuum_threshold = 25 — минимальное количество измененных строк, при котором автовакуум придет в таблицу для очистки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42b2dfbfff_0_28"/>
          <p:cNvSpPr txBox="1"/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АВТОВАКУУМ. НАСТРОЙКИ</a:t>
            </a:r>
            <a:endParaRPr/>
          </a:p>
        </p:txBody>
      </p:sp>
      <p:sp>
        <p:nvSpPr>
          <p:cNvPr id="401" name="Google Shape;401;g142b2dfbfff_0_28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2" name="Google Shape;402;g142b2dfbfff_0_28"/>
          <p:cNvSpPr txBox="1"/>
          <p:nvPr/>
        </p:nvSpPr>
        <p:spPr>
          <a:xfrm>
            <a:off x="1725850" y="1885638"/>
            <a:ext cx="7644900" cy="13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70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Но не забывать что autovacuum может стать источником проблем: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4999"/>
              </a:lnSpc>
              <a:spcBef>
                <a:spcPts val="702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●"/>
            </a:pPr>
            <a:r>
              <a:rPr b="0" i="0" lang="ru-RU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например высокий ввод-вывод </a:t>
            </a:r>
            <a:r>
              <a:rPr b="0" i="0" lang="ru-RU" sz="18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https://postgrespro.ru/docs/postgresql/14/runtime-config-autovacuum</a:t>
            </a:r>
            <a:r>
              <a:rPr b="0" i="0" lang="ru-RU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ru-RU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8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MVCC-7. Автоочистка / Блог компании Postgres Professional / Хабр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142b2dfbfff_0_28"/>
          <p:cNvSpPr/>
          <p:nvPr/>
        </p:nvSpPr>
        <p:spPr>
          <a:xfrm>
            <a:off x="1725850" y="3599263"/>
            <a:ext cx="7644900" cy="13731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>
            <a:noFill/>
          </a:ln>
        </p:spPr>
        <p:txBody>
          <a:bodyPr anchorCtr="0" anchor="ctr" bIns="108000" lIns="684000" spcFirstLastPara="1" rIns="180000" wrap="square" tIns="108000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70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rgbClr val="3F3F3F"/>
                </a:solidFill>
              </a:rPr>
              <a:t>Как амазон решил проблему с автовакуумом:</a:t>
            </a:r>
            <a:endParaRPr sz="1800"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70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u="sng">
                <a:solidFill>
                  <a:schemeClr val="dk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https://aws.amazon.com/ru/blogs/database/a-case-study-of-tuning-autovacuum-in-amazon-rds-for-postgresql/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04" name="Google Shape;404;g142b2dfbfff_0_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99025" y="3765750"/>
            <a:ext cx="385661" cy="38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9"/>
          <p:cNvSpPr txBox="1"/>
          <p:nvPr>
            <p:ph type="title"/>
          </p:nvPr>
        </p:nvSpPr>
        <p:spPr>
          <a:xfrm>
            <a:off x="1725849" y="502442"/>
            <a:ext cx="7644899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АВТОВАКУУМ. НАСТРОЙКИ</a:t>
            </a:r>
            <a:endParaRPr/>
          </a:p>
        </p:txBody>
      </p:sp>
      <p:sp>
        <p:nvSpPr>
          <p:cNvPr id="410" name="Google Shape;410;p9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1" name="Google Shape;411;p9"/>
          <p:cNvSpPr txBox="1"/>
          <p:nvPr/>
        </p:nvSpPr>
        <p:spPr>
          <a:xfrm>
            <a:off x="1725850" y="1947663"/>
            <a:ext cx="7950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70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Посмотрим на настройки: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1725850" y="2442031"/>
            <a:ext cx="8233200" cy="492600"/>
          </a:xfrm>
          <a:prstGeom prst="roundRect">
            <a:avLst>
              <a:gd fmla="val 4323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216000" lIns="216000" spcFirstLastPara="1" rIns="216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b="0" i="0" lang="ru-RU" sz="12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select name, setting, context, short_desc from pg_settings where category like '%Autovacuum%';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1725850" y="3182699"/>
            <a:ext cx="8233200" cy="492600"/>
          </a:xfrm>
          <a:prstGeom prst="roundRect">
            <a:avLst>
              <a:gd fmla="val 4323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216000" lIns="216000" spcFirstLastPara="1" rIns="216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2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ALTER SYSTEM SET autovacuum_naptime = 55;</a:t>
            </a:r>
            <a:endParaRPr b="0" i="0" sz="1200" u="none" cap="none" strike="noStrike"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2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SHOW autovacuum_naptime;</a:t>
            </a:r>
            <a:endParaRPr b="0" i="0" sz="1200" u="none" cap="none" strike="noStrike"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4" name="Google Shape;414;p9"/>
          <p:cNvSpPr txBox="1"/>
          <p:nvPr/>
        </p:nvSpPr>
        <p:spPr>
          <a:xfrm>
            <a:off x="1725850" y="3923367"/>
            <a:ext cx="7950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70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Мягкий релоад конфигурации без рестарта сервера: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1725850" y="4417735"/>
            <a:ext cx="8233200" cy="492600"/>
          </a:xfrm>
          <a:prstGeom prst="roundRect">
            <a:avLst>
              <a:gd fmla="val 4323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216000" lIns="216000" spcFirstLastPara="1" rIns="216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2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pg_ctlcluster 14 main reload</a:t>
            </a:r>
            <a:endParaRPr b="0" i="0" sz="1200" u="none" cap="none" strike="noStrike"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2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SELECT pg_reload_conf();</a:t>
            </a:r>
            <a:endParaRPr b="0" i="0" sz="1200" u="none" cap="none" strike="noStrike"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0"/>
          <p:cNvSpPr txBox="1"/>
          <p:nvPr>
            <p:ph type="title"/>
          </p:nvPr>
        </p:nvSpPr>
        <p:spPr>
          <a:xfrm>
            <a:off x="1725849" y="502442"/>
            <a:ext cx="7644899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/>
              <a:t>ЗАМОРОЗКА. ПРОБЛЕМА</a:t>
            </a:r>
            <a:endParaRPr/>
          </a:p>
        </p:txBody>
      </p:sp>
      <p:sp>
        <p:nvSpPr>
          <p:cNvPr id="421" name="Google Shape;421;p10"/>
          <p:cNvSpPr txBox="1"/>
          <p:nvPr>
            <p:ph idx="12" type="sldNum"/>
          </p:nvPr>
        </p:nvSpPr>
        <p:spPr>
          <a:xfrm>
            <a:off x="250638" y="6446575"/>
            <a:ext cx="622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2" name="Google Shape;422;p10"/>
          <p:cNvSpPr txBox="1"/>
          <p:nvPr/>
        </p:nvSpPr>
        <p:spPr>
          <a:xfrm>
            <a:off x="1725848" y="2163150"/>
            <a:ext cx="75474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 номер транзакции в PostgreSQL выделено 32 бита (около 4 млрд)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 активной работе сервера - нагрузке 1000 транзакций в секунду переполнение произойдет всего через </a:t>
            </a:r>
            <a:r>
              <a:rPr b="0" i="0" lang="ru-RU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полтора месяца непрерывной работы.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Механизм многоверсионности полагается на последовательность нумерации — тогда из двух транзакций </a:t>
            </a:r>
            <a:r>
              <a:rPr b="0" i="0" lang="ru-RU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транзакцию</a:t>
            </a: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 </a:t>
            </a:r>
            <a:r>
              <a:rPr b="0" i="0" lang="ru-RU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меньшим </a:t>
            </a: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номером можно считать </a:t>
            </a:r>
            <a:r>
              <a:rPr b="0" i="0" lang="ru-RU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начавшейся раньше. 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Поэтому нельзя просто так</a:t>
            </a:r>
            <a:r>
              <a:rPr b="0" i="0" lang="ru-RU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обнулить </a:t>
            </a: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счетчик и продолжить нумерацию </a:t>
            </a:r>
            <a:r>
              <a:rPr b="0" i="0" lang="ru-RU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заново.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Поэтому придумали механизм заморозки.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0"/>
          <p:cNvSpPr txBox="1"/>
          <p:nvPr/>
        </p:nvSpPr>
        <p:spPr>
          <a:xfrm>
            <a:off x="1725838" y="1524211"/>
            <a:ext cx="3237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transaction id wraparound</a:t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10"/>
          <p:cNvCxnSpPr/>
          <p:nvPr/>
        </p:nvCxnSpPr>
        <p:spPr>
          <a:xfrm flipH="1" rot="10800000">
            <a:off x="1725838" y="1979902"/>
            <a:ext cx="7224600" cy="78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1"/>
          <p:cNvSpPr txBox="1"/>
          <p:nvPr>
            <p:ph type="title"/>
          </p:nvPr>
        </p:nvSpPr>
        <p:spPr>
          <a:xfrm>
            <a:off x="1725849" y="502442"/>
            <a:ext cx="7644899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/>
              <a:t>ЗАМОРОЗКА</a:t>
            </a:r>
            <a:endParaRPr/>
          </a:p>
        </p:txBody>
      </p:sp>
      <p:sp>
        <p:nvSpPr>
          <p:cNvPr id="430" name="Google Shape;430;p11"/>
          <p:cNvSpPr txBox="1"/>
          <p:nvPr>
            <p:ph idx="12" type="sldNum"/>
          </p:nvPr>
        </p:nvSpPr>
        <p:spPr>
          <a:xfrm>
            <a:off x="250632" y="6446575"/>
            <a:ext cx="53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31" name="Google Shape;431;p11"/>
          <p:cNvSpPr txBox="1"/>
          <p:nvPr/>
        </p:nvSpPr>
        <p:spPr>
          <a:xfrm>
            <a:off x="1854200" y="1276350"/>
            <a:ext cx="86268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Закольцованная схема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1146625" y="2582625"/>
            <a:ext cx="4027800" cy="37284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2997200" y="2473775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BF2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2466525" y="1690562"/>
            <a:ext cx="2041200" cy="6804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CBF2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относительный номер транзакции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11"/>
          <p:cNvCxnSpPr>
            <a:stCxn id="432" idx="4"/>
            <a:endCxn id="433" idx="2"/>
          </p:cNvCxnSpPr>
          <p:nvPr/>
        </p:nvCxnSpPr>
        <p:spPr>
          <a:xfrm flipH="1" rot="10800000">
            <a:off x="3160525" y="2785125"/>
            <a:ext cx="6900" cy="352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36" name="Google Shape;436;p11"/>
          <p:cNvSpPr txBox="1"/>
          <p:nvPr/>
        </p:nvSpPr>
        <p:spPr>
          <a:xfrm>
            <a:off x="3555100" y="4068550"/>
            <a:ext cx="1687200" cy="831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все 2млрд номеров здесь в </a:t>
            </a:r>
            <a:r>
              <a:rPr b="1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будущем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1"/>
          <p:cNvSpPr txBox="1"/>
          <p:nvPr/>
        </p:nvSpPr>
        <p:spPr>
          <a:xfrm>
            <a:off x="1231000" y="4068550"/>
            <a:ext cx="1687200" cy="831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все 2млрд номеров здесь в </a:t>
            </a:r>
            <a:r>
              <a:rPr b="1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прошлом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5392050" y="4106625"/>
            <a:ext cx="857400" cy="39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6551375" y="2566575"/>
            <a:ext cx="4027800" cy="37284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8401950" y="2457725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BF2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5871000" y="1870575"/>
            <a:ext cx="2925600" cy="500400"/>
          </a:xfrm>
          <a:prstGeom prst="roundRect">
            <a:avLst>
              <a:gd fmla="val 16667" name="adj"/>
            </a:avLst>
          </a:prstGeom>
          <a:solidFill>
            <a:srgbClr val="CBF2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Через некоторое время приходит 2 транзакция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9803525" y="2936700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BF2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11"/>
          <p:cNvCxnSpPr>
            <a:stCxn id="439" idx="3"/>
            <a:endCxn id="442" idx="2"/>
          </p:cNvCxnSpPr>
          <p:nvPr/>
        </p:nvCxnSpPr>
        <p:spPr>
          <a:xfrm flipH="1" rot="10800000">
            <a:off x="7141233" y="3248163"/>
            <a:ext cx="2832300" cy="250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p11"/>
          <p:cNvSpPr txBox="1"/>
          <p:nvPr/>
        </p:nvSpPr>
        <p:spPr>
          <a:xfrm>
            <a:off x="7201800" y="3263000"/>
            <a:ext cx="13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прошлое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1"/>
          <p:cNvSpPr txBox="1"/>
          <p:nvPr/>
        </p:nvSpPr>
        <p:spPr>
          <a:xfrm>
            <a:off x="8651000" y="5129900"/>
            <a:ext cx="13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будущее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9191225" y="1587750"/>
            <a:ext cx="1752599" cy="7971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E5E0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возраст транзакции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11"/>
          <p:cNvCxnSpPr>
            <a:stCxn id="440" idx="3"/>
            <a:endCxn id="446" idx="7"/>
          </p:cNvCxnSpPr>
          <p:nvPr/>
        </p:nvCxnSpPr>
        <p:spPr>
          <a:xfrm flipH="1" rot="10800000">
            <a:off x="8742150" y="2484425"/>
            <a:ext cx="960300" cy="129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8" name="Google Shape;448;p11"/>
          <p:cNvCxnSpPr>
            <a:stCxn id="442" idx="0"/>
            <a:endCxn id="446" idx="7"/>
          </p:cNvCxnSpPr>
          <p:nvPr/>
        </p:nvCxnSpPr>
        <p:spPr>
          <a:xfrm flipH="1" rot="5400000">
            <a:off x="9611975" y="2575050"/>
            <a:ext cx="452100" cy="271200"/>
          </a:xfrm>
          <a:prstGeom prst="curvedConnector3">
            <a:avLst>
              <a:gd fmla="val 5001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"/>
          <p:cNvSpPr txBox="1"/>
          <p:nvPr>
            <p:ph type="title"/>
          </p:nvPr>
        </p:nvSpPr>
        <p:spPr>
          <a:xfrm>
            <a:off x="1725849" y="502442"/>
            <a:ext cx="7644899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/>
              <a:t>ЗАМОРОЗКА</a:t>
            </a:r>
            <a:endParaRPr/>
          </a:p>
        </p:txBody>
      </p:sp>
      <p:sp>
        <p:nvSpPr>
          <p:cNvPr id="454" name="Google Shape;454;p12"/>
          <p:cNvSpPr txBox="1"/>
          <p:nvPr>
            <p:ph idx="12" type="sldNum"/>
          </p:nvPr>
        </p:nvSpPr>
        <p:spPr>
          <a:xfrm>
            <a:off x="250632" y="6446575"/>
            <a:ext cx="53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55" name="Google Shape;455;p12"/>
          <p:cNvSpPr txBox="1"/>
          <p:nvPr/>
        </p:nvSpPr>
        <p:spPr>
          <a:xfrm>
            <a:off x="1854200" y="1276350"/>
            <a:ext cx="86268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Закольцованная схема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1146625" y="2582625"/>
            <a:ext cx="4027800" cy="37284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2997200" y="2473775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2466525" y="1690562"/>
            <a:ext cx="2041200" cy="6804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391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оказывается в далеком прошлом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" name="Google Shape;459;p12"/>
          <p:cNvCxnSpPr>
            <a:stCxn id="456" idx="5"/>
            <a:endCxn id="456" idx="1"/>
          </p:cNvCxnSpPr>
          <p:nvPr/>
        </p:nvCxnSpPr>
        <p:spPr>
          <a:xfrm rot="10800000">
            <a:off x="1736367" y="3128613"/>
            <a:ext cx="2848200" cy="26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60" name="Google Shape;460;p12"/>
          <p:cNvSpPr txBox="1"/>
          <p:nvPr/>
        </p:nvSpPr>
        <p:spPr>
          <a:xfrm>
            <a:off x="3555100" y="4068550"/>
            <a:ext cx="16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прошлое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2"/>
          <p:cNvSpPr txBox="1"/>
          <p:nvPr/>
        </p:nvSpPr>
        <p:spPr>
          <a:xfrm>
            <a:off x="1231000" y="4068550"/>
            <a:ext cx="16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будущее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5392050" y="4106625"/>
            <a:ext cx="857400" cy="39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6551375" y="2566575"/>
            <a:ext cx="4027800" cy="37284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8401950" y="2457725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5871000" y="1870575"/>
            <a:ext cx="2925600" cy="500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Через некоторое время приходит 4 транзакция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9984500" y="3203113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12"/>
          <p:cNvCxnSpPr>
            <a:stCxn id="463" idx="3"/>
            <a:endCxn id="463" idx="7"/>
          </p:cNvCxnSpPr>
          <p:nvPr/>
        </p:nvCxnSpPr>
        <p:spPr>
          <a:xfrm flipH="1" rot="10800000">
            <a:off x="7141233" y="3112563"/>
            <a:ext cx="2848200" cy="26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12"/>
          <p:cNvSpPr txBox="1"/>
          <p:nvPr/>
        </p:nvSpPr>
        <p:spPr>
          <a:xfrm>
            <a:off x="7201800" y="3263000"/>
            <a:ext cx="13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будущее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2"/>
          <p:cNvSpPr txBox="1"/>
          <p:nvPr/>
        </p:nvSpPr>
        <p:spPr>
          <a:xfrm>
            <a:off x="8651000" y="5129900"/>
            <a:ext cx="13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прошлое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9191225" y="1587750"/>
            <a:ext cx="1752599" cy="7971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E5E0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оказывается в будущем!!!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12"/>
          <p:cNvCxnSpPr>
            <a:stCxn id="464" idx="3"/>
            <a:endCxn id="470" idx="7"/>
          </p:cNvCxnSpPr>
          <p:nvPr/>
        </p:nvCxnSpPr>
        <p:spPr>
          <a:xfrm flipH="1" rot="10800000">
            <a:off x="8742150" y="2484425"/>
            <a:ext cx="960300" cy="129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72" name="Google Shape;472;p12"/>
          <p:cNvSpPr/>
          <p:nvPr/>
        </p:nvSpPr>
        <p:spPr>
          <a:xfrm>
            <a:off x="9803525" y="5617299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6924225" y="5617299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4404200" y="3064063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4404200" y="5579975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3179525" y="6236775"/>
            <a:ext cx="2925600" cy="500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приходит 3 транзакция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3"/>
          <p:cNvSpPr txBox="1"/>
          <p:nvPr>
            <p:ph type="title"/>
          </p:nvPr>
        </p:nvSpPr>
        <p:spPr>
          <a:xfrm>
            <a:off x="1725849" y="502442"/>
            <a:ext cx="7644899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/>
              <a:t>ЗАМОРОЗКА</a:t>
            </a:r>
            <a:endParaRPr/>
          </a:p>
        </p:txBody>
      </p:sp>
      <p:sp>
        <p:nvSpPr>
          <p:cNvPr id="482" name="Google Shape;482;p13"/>
          <p:cNvSpPr txBox="1"/>
          <p:nvPr>
            <p:ph idx="12" type="sldNum"/>
          </p:nvPr>
        </p:nvSpPr>
        <p:spPr>
          <a:xfrm>
            <a:off x="250632" y="6446575"/>
            <a:ext cx="53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83" name="Google Shape;483;p13"/>
          <p:cNvSpPr txBox="1"/>
          <p:nvPr/>
        </p:nvSpPr>
        <p:spPr>
          <a:xfrm>
            <a:off x="1819125" y="1133263"/>
            <a:ext cx="86268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Закольцованная схема. Проблема решена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1146625" y="2582625"/>
            <a:ext cx="4027800" cy="37284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2997200" y="2473775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2466525" y="1690562"/>
            <a:ext cx="2041200" cy="6804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391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заморожена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487;p13"/>
          <p:cNvCxnSpPr>
            <a:stCxn id="484" idx="5"/>
            <a:endCxn id="484" idx="1"/>
          </p:cNvCxnSpPr>
          <p:nvPr/>
        </p:nvCxnSpPr>
        <p:spPr>
          <a:xfrm rot="10800000">
            <a:off x="1736367" y="3128613"/>
            <a:ext cx="2848200" cy="26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88" name="Google Shape;488;p13"/>
          <p:cNvSpPr txBox="1"/>
          <p:nvPr/>
        </p:nvSpPr>
        <p:spPr>
          <a:xfrm>
            <a:off x="3555100" y="4068550"/>
            <a:ext cx="16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прошлое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3"/>
          <p:cNvSpPr txBox="1"/>
          <p:nvPr/>
        </p:nvSpPr>
        <p:spPr>
          <a:xfrm>
            <a:off x="1231000" y="4068550"/>
            <a:ext cx="16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будущее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5392050" y="4106625"/>
            <a:ext cx="857400" cy="39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6551375" y="2566575"/>
            <a:ext cx="4027800" cy="37284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8401950" y="2457725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5871000" y="1870575"/>
            <a:ext cx="4458600" cy="500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Через некоторое время приходит 4 транзакция, 2 уже заморожена к этому времени. Все ок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9989425" y="3128625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5" name="Google Shape;495;p13"/>
          <p:cNvCxnSpPr>
            <a:stCxn id="491" idx="3"/>
            <a:endCxn id="491" idx="7"/>
          </p:cNvCxnSpPr>
          <p:nvPr/>
        </p:nvCxnSpPr>
        <p:spPr>
          <a:xfrm flipH="1" rot="10800000">
            <a:off x="7141233" y="3112563"/>
            <a:ext cx="2848200" cy="26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p13"/>
          <p:cNvSpPr txBox="1"/>
          <p:nvPr/>
        </p:nvSpPr>
        <p:spPr>
          <a:xfrm>
            <a:off x="7201800" y="3263000"/>
            <a:ext cx="13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будущее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3"/>
          <p:cNvSpPr txBox="1"/>
          <p:nvPr/>
        </p:nvSpPr>
        <p:spPr>
          <a:xfrm>
            <a:off x="8651000" y="5129900"/>
            <a:ext cx="13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прошлое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9803525" y="5617299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6924225" y="5617299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4404200" y="3064063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4404200" y="5579975"/>
            <a:ext cx="340200" cy="311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3179525" y="6236775"/>
            <a:ext cx="2925600" cy="500400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приходит 3 транзакция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4"/>
          <p:cNvSpPr txBox="1"/>
          <p:nvPr>
            <p:ph type="title"/>
          </p:nvPr>
        </p:nvSpPr>
        <p:spPr>
          <a:xfrm>
            <a:off x="1725849" y="502442"/>
            <a:ext cx="7644899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ЗАМОРОЗКА</a:t>
            </a:r>
            <a:endParaRPr/>
          </a:p>
        </p:txBody>
      </p:sp>
      <p:sp>
        <p:nvSpPr>
          <p:cNvPr id="508" name="Google Shape;508;p14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9" name="Google Shape;509;p14"/>
          <p:cNvSpPr txBox="1"/>
          <p:nvPr/>
        </p:nvSpPr>
        <p:spPr>
          <a:xfrm>
            <a:off x="2312400" y="1925625"/>
            <a:ext cx="795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702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того, чтобы пометить номер транзакции xmin как замороженный, выставляются одновременно оба бита-подсказки — бит фиксации и бит отмены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1605250" y="2167275"/>
            <a:ext cx="446100" cy="4311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i="0" sz="2000" u="none" cap="none" strike="noStrike">
              <a:solidFill>
                <a:schemeClr val="accent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1605250" y="3295800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i="0" sz="2000" cap="none" strike="noStrike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1605250" y="4418926"/>
            <a:ext cx="446100" cy="431100"/>
          </a:xfrm>
          <a:prstGeom prst="ellipse">
            <a:avLst/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00C39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i="0" sz="2000" u="none" cap="none" strike="noStrike">
              <a:solidFill>
                <a:srgbClr val="00C39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3" name="Google Shape;513;p14"/>
          <p:cNvSpPr txBox="1"/>
          <p:nvPr/>
        </p:nvSpPr>
        <p:spPr>
          <a:xfrm>
            <a:off x="2312400" y="3372750"/>
            <a:ext cx="795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Одна из задач автовакуума пробегать и замораживать старые строки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2312400" y="4336576"/>
            <a:ext cx="79503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Замороженная версия строки считается старше любых обычных данных и всегда видна во всех снимках данных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5"/>
          <p:cNvSpPr txBox="1"/>
          <p:nvPr>
            <p:ph type="title"/>
          </p:nvPr>
        </p:nvSpPr>
        <p:spPr>
          <a:xfrm>
            <a:off x="1725849" y="502442"/>
            <a:ext cx="7644899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ЗАМОРОЗКА. НАСТРОЙКА</a:t>
            </a:r>
            <a:endParaRPr/>
          </a:p>
        </p:txBody>
      </p:sp>
      <p:sp>
        <p:nvSpPr>
          <p:cNvPr id="520" name="Google Shape;520;p15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21" name="Google Shape;521;p15"/>
          <p:cNvSpPr txBox="1"/>
          <p:nvPr/>
        </p:nvSpPr>
        <p:spPr>
          <a:xfrm>
            <a:off x="1725850" y="1189938"/>
            <a:ext cx="7950300" cy="4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параметра настройки: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702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Плохо делать очень маленьким для активно меняющихся данных — двойная работа автовакуума: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Вакуум пробегает полностью заполненные и неменяющиеся странички, куда обычно не заходит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аварийной заморозки, иначе: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1725850" y="1644025"/>
            <a:ext cx="7950300" cy="492600"/>
          </a:xfrm>
          <a:prstGeom prst="roundRect">
            <a:avLst>
              <a:gd fmla="val 4323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216000" lIns="216000" spcFirstLastPara="1" rIns="216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b="0" i="0" lang="ru-RU" sz="12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SHOW vacuum_freeze_min_age;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1725850" y="3130625"/>
            <a:ext cx="7950300" cy="492600"/>
          </a:xfrm>
          <a:prstGeom prst="roundRect">
            <a:avLst>
              <a:gd fmla="val 4323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216000" lIns="216000" spcFirstLastPara="1" rIns="216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b="0" i="0" lang="ru-RU" sz="12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SHOW vacuum_freeze_table_age;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1725850" y="4617225"/>
            <a:ext cx="7950300" cy="492600"/>
          </a:xfrm>
          <a:prstGeom prst="roundRect">
            <a:avLst>
              <a:gd fmla="val 4323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216000" lIns="216000" spcFirstLastPara="1" rIns="216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b="0" i="0" lang="ru-RU" sz="1200" u="none" cap="none" strike="noStrik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SHOW autovacuum_freeze_max_age;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42b2dfbfff_0_351"/>
          <p:cNvSpPr txBox="1"/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530" name="Google Shape;530;g142b2dfbfff_0_351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31" name="Google Shape;531;g142b2dfbfff_0_351"/>
          <p:cNvSpPr/>
          <p:nvPr/>
        </p:nvSpPr>
        <p:spPr>
          <a:xfrm>
            <a:off x="1725839" y="1907561"/>
            <a:ext cx="2714100" cy="1607400"/>
          </a:xfrm>
          <a:prstGeom prst="roundRect">
            <a:avLst>
              <a:gd fmla="val 5760" name="adj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anchorCtr="0" anchor="t" bIns="144000" lIns="180000" spcFirstLastPara="1" rIns="108000" wrap="square" tIns="108000">
            <a:noAutofit/>
          </a:bodyPr>
          <a:lstStyle/>
          <a:p>
            <a:pPr indent="0" lvl="0" marL="111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b="0" i="0" lang="ru-RU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112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Поняли, что такое вакуум и автовакуум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142b2dfbfff_0_351"/>
          <p:cNvSpPr/>
          <p:nvPr/>
        </p:nvSpPr>
        <p:spPr>
          <a:xfrm>
            <a:off x="4761325" y="1907550"/>
            <a:ext cx="3705900" cy="1607400"/>
          </a:xfrm>
          <a:prstGeom prst="roundRect">
            <a:avLst>
              <a:gd fmla="val 5215" name="adj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anchorCtr="0" anchor="t" bIns="144000" lIns="180000" spcFirstLastPara="1" rIns="108000" wrap="square" tIns="108000">
            <a:noAutofit/>
          </a:bodyPr>
          <a:lstStyle/>
          <a:p>
            <a:pPr indent="0" lvl="0" marL="111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b="0" i="0" lang="ru-RU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112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Поняли их задачи, архитектуру и их практическое применение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3" name="Google Shape;533;g142b2dfbfff_0_351"/>
          <p:cNvSpPr/>
          <p:nvPr/>
        </p:nvSpPr>
        <p:spPr>
          <a:xfrm>
            <a:off x="5571950" y="3765825"/>
            <a:ext cx="2895000" cy="1607400"/>
          </a:xfrm>
          <a:prstGeom prst="roundRect">
            <a:avLst>
              <a:gd fmla="val 6305" name="adj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anchorCtr="0" anchor="t" bIns="144000" lIns="180000" spcFirstLastPara="1" rIns="108000" wrap="square" tIns="108000">
            <a:noAutofit/>
          </a:bodyPr>
          <a:lstStyle/>
          <a:p>
            <a:pPr indent="0" lvl="0" marL="111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b="0" i="0" lang="ru-RU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112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Поняли, что такое заморозка и на что она влияет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34" name="Google Shape;534;g142b2dfbfff_0_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591" y="2073041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g142b2dfbfff_0_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4574" y="2073041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g142b2dfbfff_0_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4575" y="3931316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g142b2dfbfff_0_351"/>
          <p:cNvSpPr/>
          <p:nvPr/>
        </p:nvSpPr>
        <p:spPr>
          <a:xfrm>
            <a:off x="1725848" y="3765825"/>
            <a:ext cx="3540600" cy="1607400"/>
          </a:xfrm>
          <a:prstGeom prst="roundRect">
            <a:avLst>
              <a:gd fmla="val 6305" name="adj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anchorCtr="0" anchor="t" bIns="144000" lIns="180000" spcFirstLastPara="1" rIns="108000" wrap="square" tIns="108000">
            <a:noAutofit/>
          </a:bodyPr>
          <a:lstStyle/>
          <a:p>
            <a:pPr indent="0" lvl="0" marL="111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b="0" i="0" lang="ru-RU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>
                <a:solidFill>
                  <a:schemeClr val="accent5"/>
                </a:solidFill>
              </a:rPr>
              <a:t>4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112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Узнали как поменять настройки этих процессов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38" name="Google Shape;538;g142b2dfbfff_0_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7500" y="3931316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circle, rectangle&#10;&#10;Description automatically generated" id="543" name="Google Shape;543;g143c6a13bb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, circle, rectangle&#10;&#10;Description automatically generated" id="544" name="Google Shape;544;g143c6a13bb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, circle&#10;&#10;Description automatically generated" id="545" name="Google Shape;545;g143c6a13bb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g143c6a13bb0_0_0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47" name="Google Shape;547;g143c6a13bb0_0_0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548" name="Google Shape;548;g143c6a13bb0_0_0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anchorCtr="0" anchor="ctr" bIns="35725" lIns="35725" spcFirstLastPara="1" rIns="35725" wrap="square" tIns="3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descr="Logo&#10;&#10;Description automatically generated" id="549" name="Google Shape;549;g143c6a13bb0_0_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0" name="Google Shape;550;g143c6a13bb0_0_0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g143c6a13bb0_0_0"/>
          <p:cNvSpPr txBox="1"/>
          <p:nvPr/>
        </p:nvSpPr>
        <p:spPr>
          <a:xfrm>
            <a:off x="1715258" y="2280384"/>
            <a:ext cx="81192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b="0" i="0" lang="ru-RU" sz="6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ПРОВЕРОЧНОЕ</a:t>
            </a:r>
            <a:endParaRPr sz="700"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b="0" i="0" lang="ru-RU" sz="6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</a:t>
            </a:r>
            <a:endParaRPr sz="700"/>
          </a:p>
        </p:txBody>
      </p:sp>
      <p:sp>
        <p:nvSpPr>
          <p:cNvPr id="552" name="Google Shape;552;g143c6a13bb0_0_0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3" name="Google Shape;553;g143c6a13bb0_0_0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35725" spcFirstLastPara="1" rIns="35725" wrap="square" tIns="3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begin</a:t>
            </a:r>
            <a:endParaRPr b="0" i="0" sz="15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4" name="Google Shape;554;g143c6a13bb0_0_0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55" name="Google Shape;555;g143c6a13bb0_0_0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556" name="Google Shape;556;g143c6a13bb0_0_0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725" lIns="35725" spcFirstLastPara="1" rIns="35725" wrap="square" tIns="357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b="0" i="0" lang="ru-RU" sz="2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g143c6a13bb0_0_0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725" lIns="35725" spcFirstLastPara="1" rIns="35725" wrap="square" tIns="357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b="0" i="0" lang="ru-RU" sz="2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8" name="Google Shape;558;g143c6a13bb0_0_0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9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9" name="Google Shape;559;g143c6a13bb0_0_0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0" name="Google Shape;560;g143c6a13bb0_0_0"/>
          <p:cNvSpPr txBox="1"/>
          <p:nvPr/>
        </p:nvSpPr>
        <p:spPr>
          <a:xfrm>
            <a:off x="1715259" y="3938927"/>
            <a:ext cx="53292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35725" spcFirstLastPara="1" rIns="35725" wrap="square" tIns="3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ru-RU" sz="1600">
                <a:solidFill>
                  <a:srgbClr val="FFFFFF"/>
                </a:solidFill>
              </a:rPr>
              <a:t>Цель задания: </a:t>
            </a:r>
            <a:r>
              <a:rPr lang="ru-RU" sz="1600">
                <a:solidFill>
                  <a:srgbClr val="FFFFFF"/>
                </a:solidFill>
              </a:rPr>
              <a:t>понять механизм появления мертвых строк и процесс их утилизации</a:t>
            </a:r>
            <a:endParaRPr i="0" sz="16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142b2dfbfff_0_234"/>
          <p:cNvSpPr txBox="1"/>
          <p:nvPr>
            <p:ph type="title"/>
          </p:nvPr>
        </p:nvSpPr>
        <p:spPr>
          <a:xfrm>
            <a:off x="1725838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ЗАДАНИЕ НА САМОПРОВЕРКУ</a:t>
            </a:r>
            <a:endParaRPr/>
          </a:p>
        </p:txBody>
      </p:sp>
      <p:sp>
        <p:nvSpPr>
          <p:cNvPr id="566" name="Google Shape;566;g142b2dfbfff_0_234"/>
          <p:cNvSpPr txBox="1"/>
          <p:nvPr/>
        </p:nvSpPr>
        <p:spPr>
          <a:xfrm>
            <a:off x="1725838" y="2290350"/>
            <a:ext cx="24519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2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У</a:t>
            </a:r>
            <a:r>
              <a:rPr lang="ru-RU" sz="1600">
                <a:solidFill>
                  <a:schemeClr val="dk1"/>
                </a:solidFill>
              </a:rPr>
              <a:t>бедиться, что автокоммит включен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142b2dfbfff_0_234"/>
          <p:cNvSpPr txBox="1"/>
          <p:nvPr/>
        </p:nvSpPr>
        <p:spPr>
          <a:xfrm>
            <a:off x="4696150" y="2290350"/>
            <a:ext cx="34170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2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Н</a:t>
            </a:r>
            <a:r>
              <a:rPr lang="ru-RU" sz="1600">
                <a:solidFill>
                  <a:schemeClr val="dk1"/>
                </a:solidFill>
              </a:rPr>
              <a:t>а предыдущем задании для самопроверки была создана таблица persons, можно использовать её или создать новую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142b2dfbfff_0_234"/>
          <p:cNvSpPr txBox="1"/>
          <p:nvPr/>
        </p:nvSpPr>
        <p:spPr>
          <a:xfrm>
            <a:off x="8379156" y="2290350"/>
            <a:ext cx="23091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О</a:t>
            </a:r>
            <a:r>
              <a:rPr lang="ru-RU" sz="1600">
                <a:solidFill>
                  <a:schemeClr val="dk1"/>
                </a:solidFill>
              </a:rPr>
              <a:t>бновить 1 запись в этой таблице</a:t>
            </a:r>
            <a:endParaRPr sz="1600"/>
          </a:p>
        </p:txBody>
      </p:sp>
      <p:sp>
        <p:nvSpPr>
          <p:cNvPr id="569" name="Google Shape;569;g142b2dfbfff_0_234"/>
          <p:cNvSpPr txBox="1"/>
          <p:nvPr/>
        </p:nvSpPr>
        <p:spPr>
          <a:xfrm>
            <a:off x="1725838" y="1782611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142b2dfbfff_0_234"/>
          <p:cNvSpPr txBox="1"/>
          <p:nvPr/>
        </p:nvSpPr>
        <p:spPr>
          <a:xfrm>
            <a:off x="4696158" y="1782611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142b2dfbfff_0_234"/>
          <p:cNvSpPr txBox="1"/>
          <p:nvPr/>
        </p:nvSpPr>
        <p:spPr>
          <a:xfrm>
            <a:off x="8379153" y="1782611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2" name="Google Shape;572;g142b2dfbfff_0_234"/>
          <p:cNvCxnSpPr/>
          <p:nvPr/>
        </p:nvCxnSpPr>
        <p:spPr>
          <a:xfrm rot="10800000">
            <a:off x="2425860" y="2025611"/>
            <a:ext cx="2004300" cy="630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3" name="Google Shape;573;g142b2dfbfff_0_234"/>
          <p:cNvCxnSpPr/>
          <p:nvPr/>
        </p:nvCxnSpPr>
        <p:spPr>
          <a:xfrm flipH="1">
            <a:off x="5463150" y="2025611"/>
            <a:ext cx="2634900" cy="660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4" name="Google Shape;574;g142b2dfbfff_0_234"/>
          <p:cNvSpPr txBox="1"/>
          <p:nvPr/>
        </p:nvSpPr>
        <p:spPr>
          <a:xfrm>
            <a:off x="1725838" y="4406653"/>
            <a:ext cx="24519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2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У</a:t>
            </a:r>
            <a:r>
              <a:rPr lang="ru-RU" sz="1600">
                <a:solidFill>
                  <a:schemeClr val="dk1"/>
                </a:solidFill>
              </a:rPr>
              <a:t>бедится, что появилась мертвая запись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142b2dfbfff_0_234"/>
          <p:cNvSpPr txBox="1"/>
          <p:nvPr/>
        </p:nvSpPr>
        <p:spPr>
          <a:xfrm>
            <a:off x="4696138" y="4406653"/>
            <a:ext cx="26478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2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О</a:t>
            </a:r>
            <a:r>
              <a:rPr lang="ru-RU" sz="1600">
                <a:solidFill>
                  <a:schemeClr val="dk1"/>
                </a:solidFill>
              </a:rPr>
              <a:t>чистить таблицу от старых записей вызвав вакуум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142b2dfbfff_0_234"/>
          <p:cNvSpPr txBox="1"/>
          <p:nvPr/>
        </p:nvSpPr>
        <p:spPr>
          <a:xfrm>
            <a:off x="8379156" y="4406653"/>
            <a:ext cx="2309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2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У</a:t>
            </a:r>
            <a:r>
              <a:rPr lang="ru-RU" sz="1600">
                <a:solidFill>
                  <a:schemeClr val="dk1"/>
                </a:solidFill>
              </a:rPr>
              <a:t>бедится, что остались только актуальные записи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142b2dfbfff_0_234"/>
          <p:cNvSpPr txBox="1"/>
          <p:nvPr/>
        </p:nvSpPr>
        <p:spPr>
          <a:xfrm>
            <a:off x="1725838" y="3717014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4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g142b2dfbfff_0_234"/>
          <p:cNvSpPr txBox="1"/>
          <p:nvPr/>
        </p:nvSpPr>
        <p:spPr>
          <a:xfrm>
            <a:off x="4651613" y="3717014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5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142b2dfbfff_0_234"/>
          <p:cNvSpPr txBox="1"/>
          <p:nvPr/>
        </p:nvSpPr>
        <p:spPr>
          <a:xfrm>
            <a:off x="8334619" y="3717014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6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0" name="Google Shape;580;g142b2dfbfff_0_234"/>
          <p:cNvCxnSpPr/>
          <p:nvPr/>
        </p:nvCxnSpPr>
        <p:spPr>
          <a:xfrm rot="10800000">
            <a:off x="2381335" y="3960015"/>
            <a:ext cx="2004300" cy="630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g142b2dfbfff_0_234"/>
          <p:cNvCxnSpPr/>
          <p:nvPr/>
        </p:nvCxnSpPr>
        <p:spPr>
          <a:xfrm rot="10800000">
            <a:off x="9077875" y="2028611"/>
            <a:ext cx="1546800" cy="60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g142b2dfbfff_0_234"/>
          <p:cNvCxnSpPr/>
          <p:nvPr/>
        </p:nvCxnSpPr>
        <p:spPr>
          <a:xfrm flipH="1">
            <a:off x="5418625" y="3960015"/>
            <a:ext cx="2634900" cy="660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9"/>
          <p:cNvSpPr txBox="1"/>
          <p:nvPr>
            <p:ph type="title"/>
          </p:nvPr>
        </p:nvSpPr>
        <p:spPr>
          <a:xfrm>
            <a:off x="1609724" y="3118888"/>
            <a:ext cx="7520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</a:pPr>
            <a:r>
              <a:rPr lang="ru-RU"/>
              <a:t>СПАСИБО</a:t>
            </a:r>
            <a:endParaRPr/>
          </a:p>
        </p:txBody>
      </p:sp>
      <p:sp>
        <p:nvSpPr>
          <p:cNvPr id="588" name="Google Shape;588;p19"/>
          <p:cNvSpPr txBox="1"/>
          <p:nvPr>
            <p:ph idx="1" type="body"/>
          </p:nvPr>
        </p:nvSpPr>
        <p:spPr>
          <a:xfrm>
            <a:off x="1612209" y="4166475"/>
            <a:ext cx="732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ru-RU"/>
              <a:t>На следующем занятии мы рассмотрим тему Буферного кеша более подробно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2022-02-28T08:51:36Z</dcterms:created>
  <dc:creator>Трошин Алексей Валентинович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A3CABEB6-9801-44A9-9F71-DC183518BDEA</vt:lpwstr>
  </property>
  <property fmtid="{D5CDD505-2E9C-101B-9397-08002B2CF9AE}" pid="3" name="ArticulatePath">
    <vt:lpwstr>Spark_</vt:lpwstr>
  </property>
</Properties>
</file>