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74" r:id="rId3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embeddedFontLst>
    <p:embeddedFont>
      <p:font typeface="Arial Black" panose="020B0A04020102020204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Helvetica Neue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paGYDaAarEnAu7Aze3PgjjCYB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5E2FA-D609-421E-BACF-321489D2B3F9}">
  <a:tblStyle styleId="{1825E2FA-D609-421E-BACF-321489D2B3F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font" Target="fonts/font10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24c60633b_0_10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263" name="Google Shape;263;g1424c60633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24c60633b_0_140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1424c60633b_0_1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424c60633b_0_98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424c60633b_0_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24c60633b_0_109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1424c60633b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24c60633b_0_109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1424c60633b_0_10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424c60633b_0_110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1424c60633b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424c60633b_0_111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1424c60633b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424c60633b_0_191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1424c60633b_0_1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424c60633b_0_112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1424c60633b_0_1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424c60633b_0_113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1424c60633b_0_1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424c60633b_0_114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1424c60633b_0_1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424c60633b_0_179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1424c60633b_0_1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424c60633b_0_18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1424c60633b_0_1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424c60633b_0_70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1424c60633b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424c60633b_0_49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1424c60633b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424c60633b_0_59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1424c60633b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424c60633b_0_161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1424c60633b_0_1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424c60633b_0_163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1424c60633b_0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424c60633b_0_165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1424c60633b_0_1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424c60633b_0_30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g1424c60633b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24c60633b_0_1445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g1424c60633b_0_144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g1424c60633b_0_144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1424c60633b_0_144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1424c60633b_0_144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1424c60633b_0_144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1424c60633b_0_144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424c60633b_0_144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1424c60633b_0_144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g1424c60633b_0_1445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24c60633b_0_145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g1424c60633b_0_145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1424c60633b_0_14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24c60633b_0_146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1424c60633b_0_146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g1424c60633b_0_146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1424c60633b_0_146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1424c60633b_0_146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1424c60633b_0_146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1424c60633b_0_146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1424c60633b_0_146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1424c60633b_0_146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1424c60633b_0_146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424c60633b_0_146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424c60633b_0_146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24c60633b_0_147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g1424c60633b_0_147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1424c60633b_0_147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g1424c60633b_0_147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1424c60633b_0_147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424c60633b_0_147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424c60633b_0_147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1424c60633b_0_147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424c60633b_0_147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1424c60633b_0_147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1424c60633b_0_147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1424c60633b_0_147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1424c60633b_0_147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1424c60633b_0_1487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424c60633b_0_148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1424c60633b_0_148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2" name="Google Shape;142;g1424c60633b_0_14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1424c60633b_0_148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1424c60633b_0_148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g1424c60633b_0_148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1424c60633b_0_149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1424c60633b_0_149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424c60633b_0_149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0" name="Google Shape;150;g1424c60633b_0_14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424c60633b_0_149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1424c60633b_0_149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g1424c60633b_0_149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g1424c60633b_0_149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4c60633b_0_150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g1424c60633b_0_150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1424c60633b_0_150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g1424c60633b_0_150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g1424c60633b_0_150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24c60633b_0_151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g1424c60633b_0_151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24c60633b_0_151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g1424c60633b_0_151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g1424c60633b_0_151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g1424c60633b_0_151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424c60633b_0_1518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g1424c60633b_0_1518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24c60633b_0_1521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24c60633b_0_1814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g1424c60633b_0_181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g1424c60633b_0_181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1424c60633b_0_181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424c60633b_0_181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1424c60633b_0_181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424c60633b_0_181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424c60633b_0_181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1424c60633b_0_181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1424c60633b_0_1814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24c60633b_0_1825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g1424c60633b_0_182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1424c60633b_0_182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24c60633b_0_182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g1424c60633b_0_1829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1" name="Google Shape;201;g1424c60633b_0_182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1424c60633b_0_182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424c60633b_0_18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1424c60633b_0_18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1424c60633b_0_182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1424c60633b_0_182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1424c60633b_0_182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1424c60633b_0_18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1424c60633b_0_18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1424c60633b_0_18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24c60633b_0_1842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g1424c60633b_0_184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g1424c60633b_0_1842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g1424c60633b_0_184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24c60633b_0_18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1424c60633b_0_18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1424c60633b_0_18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1424c60633b_0_18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1424c60633b_0_184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1424c60633b_0_18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1424c60633b_0_18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424c60633b_0_18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1424c60633b_0_18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24c60633b_0_185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g1424c60633b_0_185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g1424c60633b_0_185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g1424c60633b_0_18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0" name="Google Shape;230;g1424c60633b_0_185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1424c60633b_0_186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1424c60633b_0_186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1424c60633b_0_186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5" name="Google Shape;235;g1424c60633b_0_18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1424c60633b_0_186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g1424c60633b_0_186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8" name="Google Shape;238;g1424c60633b_0_186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1424c60633b_0_187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1424c60633b_0_187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1424c60633b_0_187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3" name="Google Shape;243;g1424c60633b_0_18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1424c60633b_0_187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g1424c60633b_0_187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g1424c60633b_0_18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g1424c60633b_0_187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24c60633b_0_1879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g1424c60633b_0_1879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424c60633b_0_1882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g1424c60633b_0_1882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g1424c60633b_0_1882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g1424c60633b_0_1882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24c60633b_0_188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g1424c60633b_0_188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24c60633b_0_1890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24c60633b_0_143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g1424c60633b_0_143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424c60633b_0_143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g1424c60633b_0_1436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1424c60633b_0_1436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1424c60633b_0_1436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1424c60633b_0_1436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424c60633b_0_1436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24c60633b_0_180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g1424c60633b_0_180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1424c60633b_0_180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g1424c60633b_0_180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1424c60633b_0_180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1424c60633b_0_180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424c60633b_0_180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1424c60633b_0_180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y/otus/blog/501294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postgrespro.ru/docs/postgrespro/13/transaction-iso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24c60633b_0_103"/>
          <p:cNvSpPr txBox="1">
            <a:spLocks noGrp="1"/>
          </p:cNvSpPr>
          <p:nvPr>
            <p:ph type="body" idx="1"/>
          </p:nvPr>
        </p:nvSpPr>
        <p:spPr>
          <a:xfrm>
            <a:off x="824176" y="2428863"/>
            <a:ext cx="620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3. АРХИТЕКТУРА</a:t>
            </a:r>
            <a:endParaRPr/>
          </a:p>
        </p:txBody>
      </p:sp>
      <p:sp>
        <p:nvSpPr>
          <p:cNvPr id="266" name="Google Shape;266;g1424c60633b_0_103"/>
          <p:cNvSpPr txBox="1">
            <a:spLocks noGrp="1"/>
          </p:cNvSpPr>
          <p:nvPr>
            <p:ph type="title"/>
          </p:nvPr>
        </p:nvSpPr>
        <p:spPr>
          <a:xfrm>
            <a:off x="824175" y="3016138"/>
            <a:ext cx="96123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ИЗОЛЯЦИЯ И МНОГОВЕРСИОННОСТЬ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424c60633b_0_1409"/>
          <p:cNvSpPr/>
          <p:nvPr/>
        </p:nvSpPr>
        <p:spPr>
          <a:xfrm>
            <a:off x="1719852" y="1614489"/>
            <a:ext cx="2570700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Понять задачи и назначение ACID</a:t>
            </a:r>
            <a:endParaRPr sz="1600"/>
          </a:p>
        </p:txBody>
      </p:sp>
      <p:sp>
        <p:nvSpPr>
          <p:cNvPr id="272" name="Google Shape;272;g1424c60633b_0_1409"/>
          <p:cNvSpPr/>
          <p:nvPr/>
        </p:nvSpPr>
        <p:spPr>
          <a:xfrm>
            <a:off x="4569975" y="1614500"/>
            <a:ext cx="4158300" cy="18228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Определить различие разных уровней изоляции транзакций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g1424c60633b_0_1409"/>
          <p:cNvSpPr/>
          <p:nvPr/>
        </p:nvSpPr>
        <p:spPr>
          <a:xfrm>
            <a:off x="5567499" y="3679750"/>
            <a:ext cx="3160800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Знать как подключиться и проверить как настроены уровни изоляции транзакций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4" name="Google Shape;274;g1424c60633b_0_1409"/>
          <p:cNvSpPr/>
          <p:nvPr/>
        </p:nvSpPr>
        <p:spPr>
          <a:xfrm>
            <a:off x="1719849" y="3679750"/>
            <a:ext cx="3529500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Разобраться в работе системы многоверсионности MVCC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75" name="Google Shape;275;g1424c60633b_0_140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276" name="Google Shape;276;g1424c60633b_0_140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277" name="Google Shape;277;g1424c60633b_0_1409"/>
          <p:cNvSpPr/>
          <p:nvPr/>
        </p:nvSpPr>
        <p:spPr>
          <a:xfrm>
            <a:off x="1902732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g1424c60633b_0_1409"/>
          <p:cNvSpPr/>
          <p:nvPr/>
        </p:nvSpPr>
        <p:spPr>
          <a:xfrm>
            <a:off x="4752860" y="17191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g1424c60633b_0_1409"/>
          <p:cNvSpPr/>
          <p:nvPr/>
        </p:nvSpPr>
        <p:spPr>
          <a:xfrm>
            <a:off x="5750387" y="378435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2"/>
                </a:solidFill>
              </a:rPr>
              <a:t>4</a:t>
            </a:r>
            <a:endParaRPr sz="1500" b="0" i="0" u="none" strike="noStrike" cap="none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g1424c60633b_0_1409"/>
          <p:cNvSpPr/>
          <p:nvPr/>
        </p:nvSpPr>
        <p:spPr>
          <a:xfrm>
            <a:off x="1902732" y="382619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6"/>
                </a:solidFill>
              </a:rPr>
              <a:t>3</a:t>
            </a:r>
            <a:endParaRPr sz="1500" b="0" i="0" u="none" strike="noStrike" cap="none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g1424c60633b_0_1409"/>
          <p:cNvSpPr/>
          <p:nvPr/>
        </p:nvSpPr>
        <p:spPr>
          <a:xfrm>
            <a:off x="248550" y="1507675"/>
            <a:ext cx="10450200" cy="57150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Табличное пространство pg_global</a:t>
            </a:r>
            <a:endParaRPr/>
          </a:p>
        </p:txBody>
      </p:sp>
      <p:sp>
        <p:nvSpPr>
          <p:cNvPr id="282" name="Google Shape;282;g1424c60633b_0_1409"/>
          <p:cNvSpPr/>
          <p:nvPr/>
        </p:nvSpPr>
        <p:spPr>
          <a:xfrm>
            <a:off x="1554850" y="2650675"/>
            <a:ext cx="3415500" cy="3796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1424c60633b_0_1409"/>
          <p:cNvSpPr/>
          <p:nvPr/>
        </p:nvSpPr>
        <p:spPr>
          <a:xfrm>
            <a:off x="5936350" y="2664275"/>
            <a:ext cx="4313400" cy="37284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1424c60633b_0_1409"/>
          <p:cNvSpPr txBox="1"/>
          <p:nvPr/>
        </p:nvSpPr>
        <p:spPr>
          <a:xfrm>
            <a:off x="3214925" y="2691500"/>
            <a:ext cx="14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БД “POSTGRES”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24c60633b_0_1409"/>
          <p:cNvSpPr txBox="1"/>
          <p:nvPr/>
        </p:nvSpPr>
        <p:spPr>
          <a:xfrm>
            <a:off x="8442800" y="2727275"/>
            <a:ext cx="14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БД “APP”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1424c60633b_0_1409"/>
          <p:cNvSpPr/>
          <p:nvPr/>
        </p:nvSpPr>
        <p:spPr>
          <a:xfrm>
            <a:off x="2017475" y="3058875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1424c60633b_0_1409"/>
          <p:cNvSpPr/>
          <p:nvPr/>
        </p:nvSpPr>
        <p:spPr>
          <a:xfrm>
            <a:off x="3432625" y="3072500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1424c60633b_0_1409"/>
          <p:cNvSpPr/>
          <p:nvPr/>
        </p:nvSpPr>
        <p:spPr>
          <a:xfrm>
            <a:off x="6238425" y="3072500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1424c60633b_0_1409"/>
          <p:cNvSpPr/>
          <p:nvPr/>
        </p:nvSpPr>
        <p:spPr>
          <a:xfrm>
            <a:off x="7555600" y="3072500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1424c60633b_0_1409"/>
          <p:cNvSpPr txBox="1"/>
          <p:nvPr/>
        </p:nvSpPr>
        <p:spPr>
          <a:xfrm>
            <a:off x="1949375" y="5668100"/>
            <a:ext cx="121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схема pg_catalog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424c60633b_0_1409"/>
          <p:cNvSpPr txBox="1"/>
          <p:nvPr/>
        </p:nvSpPr>
        <p:spPr>
          <a:xfrm>
            <a:off x="3364525" y="5668100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схема public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1424c60633b_0_1409"/>
          <p:cNvSpPr txBox="1"/>
          <p:nvPr/>
        </p:nvSpPr>
        <p:spPr>
          <a:xfrm>
            <a:off x="6129550" y="5668100"/>
            <a:ext cx="121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схема pg_catalog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24c60633b_0_1409"/>
          <p:cNvSpPr txBox="1"/>
          <p:nvPr/>
        </p:nvSpPr>
        <p:spPr>
          <a:xfrm>
            <a:off x="7501163" y="5668100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схема public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1424c60633b_0_1409"/>
          <p:cNvSpPr/>
          <p:nvPr/>
        </p:nvSpPr>
        <p:spPr>
          <a:xfrm>
            <a:off x="248550" y="4161011"/>
            <a:ext cx="10521000" cy="57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ТП pg_default</a:t>
            </a:r>
            <a:endParaRPr/>
          </a:p>
        </p:txBody>
      </p:sp>
      <p:sp>
        <p:nvSpPr>
          <p:cNvPr id="295" name="Google Shape;295;g1424c60633b_0_1409"/>
          <p:cNvSpPr/>
          <p:nvPr/>
        </p:nvSpPr>
        <p:spPr>
          <a:xfrm>
            <a:off x="248550" y="4995186"/>
            <a:ext cx="10521000" cy="57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ТП my_ts</a:t>
            </a:r>
            <a:endParaRPr/>
          </a:p>
        </p:txBody>
      </p:sp>
      <p:sp>
        <p:nvSpPr>
          <p:cNvPr id="296" name="Google Shape;296;g1424c60633b_0_1409"/>
          <p:cNvSpPr/>
          <p:nvPr/>
        </p:nvSpPr>
        <p:spPr>
          <a:xfrm>
            <a:off x="4711700" y="1575700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глобал.</a:t>
            </a:r>
            <a:r>
              <a:rPr lang="ru-RU"/>
              <a:t>объект </a:t>
            </a:r>
            <a:endParaRPr/>
          </a:p>
        </p:txBody>
      </p:sp>
      <p:sp>
        <p:nvSpPr>
          <p:cNvPr id="297" name="Google Shape;297;g1424c60633b_0_1409"/>
          <p:cNvSpPr/>
          <p:nvPr/>
        </p:nvSpPr>
        <p:spPr>
          <a:xfrm>
            <a:off x="2065063" y="4246650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объект1</a:t>
            </a:r>
            <a:endParaRPr/>
          </a:p>
        </p:txBody>
      </p:sp>
      <p:sp>
        <p:nvSpPr>
          <p:cNvPr id="298" name="Google Shape;298;g1424c60633b_0_1409"/>
          <p:cNvSpPr/>
          <p:nvPr/>
        </p:nvSpPr>
        <p:spPr>
          <a:xfrm>
            <a:off x="3480200" y="4246650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объект2</a:t>
            </a:r>
            <a:endParaRPr/>
          </a:p>
        </p:txBody>
      </p:sp>
      <p:sp>
        <p:nvSpPr>
          <p:cNvPr id="299" name="Google Shape;299;g1424c60633b_0_1409"/>
          <p:cNvSpPr/>
          <p:nvPr/>
        </p:nvSpPr>
        <p:spPr>
          <a:xfrm>
            <a:off x="3480188" y="5080825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объект3</a:t>
            </a:r>
            <a:endParaRPr/>
          </a:p>
        </p:txBody>
      </p:sp>
      <p:sp>
        <p:nvSpPr>
          <p:cNvPr id="300" name="Google Shape;300;g1424c60633b_0_1409"/>
          <p:cNvSpPr/>
          <p:nvPr/>
        </p:nvSpPr>
        <p:spPr>
          <a:xfrm>
            <a:off x="2065075" y="3337075"/>
            <a:ext cx="979725" cy="400200"/>
          </a:xfrm>
          <a:prstGeom prst="flowChartInternalStorage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глобал.</a:t>
            </a:r>
            <a:r>
              <a:rPr lang="ru-RU"/>
              <a:t>объект</a:t>
            </a:r>
            <a:endParaRPr/>
          </a:p>
        </p:txBody>
      </p:sp>
      <p:sp>
        <p:nvSpPr>
          <p:cNvPr id="301" name="Google Shape;301;g1424c60633b_0_1409"/>
          <p:cNvSpPr/>
          <p:nvPr/>
        </p:nvSpPr>
        <p:spPr>
          <a:xfrm>
            <a:off x="6286013" y="3337075"/>
            <a:ext cx="979725" cy="400200"/>
          </a:xfrm>
          <a:prstGeom prst="flowChartInternalStorage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глобал.</a:t>
            </a:r>
            <a:r>
              <a:rPr lang="ru-RU"/>
              <a:t>объект</a:t>
            </a:r>
            <a:endParaRPr/>
          </a:p>
        </p:txBody>
      </p:sp>
      <p:cxnSp>
        <p:nvCxnSpPr>
          <p:cNvPr id="302" name="Google Shape;302;g1424c60633b_0_1409"/>
          <p:cNvCxnSpPr>
            <a:stCxn id="296" idx="1"/>
            <a:endCxn id="300" idx="0"/>
          </p:cNvCxnSpPr>
          <p:nvPr/>
        </p:nvCxnSpPr>
        <p:spPr>
          <a:xfrm flipH="1">
            <a:off x="2555000" y="1775800"/>
            <a:ext cx="2156700" cy="1561200"/>
          </a:xfrm>
          <a:prstGeom prst="curvedConnector2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Google Shape;303;g1424c60633b_0_1409"/>
          <p:cNvCxnSpPr>
            <a:stCxn id="296" idx="3"/>
            <a:endCxn id="301" idx="0"/>
          </p:cNvCxnSpPr>
          <p:nvPr/>
        </p:nvCxnSpPr>
        <p:spPr>
          <a:xfrm>
            <a:off x="5691425" y="1775800"/>
            <a:ext cx="1084500" cy="1561200"/>
          </a:xfrm>
          <a:prstGeom prst="curvedConnector2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4" name="Google Shape;304;g1424c60633b_0_1409"/>
          <p:cNvSpPr/>
          <p:nvPr/>
        </p:nvSpPr>
        <p:spPr>
          <a:xfrm>
            <a:off x="6286000" y="5068236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424c60633b_0_98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310" name="Google Shape;310;g1424c60633b_0_98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311" name="Google Shape;311;g1424c60633b_0_986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g1424c60633b_0_986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g1424c60633b_0_986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4" name="Google Shape;314;g1424c60633b_0_986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" name="Google Shape;315;g1424c60633b_0_986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g1424c60633b_0_986"/>
          <p:cNvSpPr txBox="1"/>
          <p:nvPr/>
        </p:nvSpPr>
        <p:spPr>
          <a:xfrm>
            <a:off x="2860569" y="1685981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ACID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7" name="Google Shape;317;g1424c60633b_0_986"/>
          <p:cNvSpPr txBox="1"/>
          <p:nvPr/>
        </p:nvSpPr>
        <p:spPr>
          <a:xfrm>
            <a:off x="2860569" y="3453700"/>
            <a:ext cx="228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MVCC</a:t>
            </a:r>
            <a:endParaRPr sz="180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g1424c60633b_0_986"/>
          <p:cNvSpPr txBox="1"/>
          <p:nvPr/>
        </p:nvSpPr>
        <p:spPr>
          <a:xfrm>
            <a:off x="2860569" y="5082968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Уровни изоляции транзакций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g1424c60633b_0_986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24c60633b_0_109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МНОЖЕСТВЕННАЯ ПАРАЛЛЕЛЬНАЯ НАГРУЗКА</a:t>
            </a:r>
            <a:endParaRPr/>
          </a:p>
        </p:txBody>
      </p:sp>
      <p:sp>
        <p:nvSpPr>
          <p:cNvPr id="325" name="Google Shape;325;g1424c60633b_0_109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326" name="Google Shape;326;g1424c60633b_0_1090"/>
          <p:cNvSpPr txBox="1">
            <a:spLocks noGrp="1"/>
          </p:cNvSpPr>
          <p:nvPr>
            <p:ph type="body" idx="1"/>
          </p:nvPr>
        </p:nvSpPr>
        <p:spPr>
          <a:xfrm>
            <a:off x="2811125" y="3079563"/>
            <a:ext cx="52998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как обеспечить </a:t>
            </a:r>
            <a:r>
              <a:rPr lang="ru-RU">
                <a:solidFill>
                  <a:schemeClr val="dk2"/>
                </a:solidFill>
              </a:rPr>
              <a:t>параллельную</a:t>
            </a:r>
            <a:r>
              <a:rPr lang="ru-RU">
                <a:solidFill>
                  <a:schemeClr val="dk1"/>
                </a:solidFill>
              </a:rPr>
              <a:t> работу множества сессий </a:t>
            </a:r>
            <a:r>
              <a:rPr lang="ru-RU">
                <a:solidFill>
                  <a:schemeClr val="dk2"/>
                </a:solidFill>
              </a:rPr>
              <a:t>(concurrency)</a:t>
            </a:r>
            <a:r>
              <a:rPr lang="ru-RU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которые </a:t>
            </a:r>
            <a:r>
              <a:rPr lang="ru-RU">
                <a:solidFill>
                  <a:schemeClr val="dk2"/>
                </a:solidFill>
              </a:rPr>
              <a:t>модифицируют</a:t>
            </a:r>
            <a:r>
              <a:rPr lang="ru-RU">
                <a:solidFill>
                  <a:schemeClr val="dk1"/>
                </a:solidFill>
              </a:rPr>
              <a:t> данные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так, чтобы они </a:t>
            </a:r>
            <a:r>
              <a:rPr lang="ru-RU">
                <a:solidFill>
                  <a:schemeClr val="dk2"/>
                </a:solidFill>
              </a:rPr>
              <a:t>не мешали</a:t>
            </a:r>
            <a:r>
              <a:rPr lang="ru-RU">
                <a:solidFill>
                  <a:schemeClr val="dk1"/>
                </a:solidFill>
              </a:rPr>
              <a:t> друг другу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ни с точки зрения </a:t>
            </a:r>
            <a:r>
              <a:rPr lang="ru-RU">
                <a:solidFill>
                  <a:schemeClr val="dk2"/>
                </a:solidFill>
              </a:rPr>
              <a:t>чтения</a:t>
            </a:r>
            <a:r>
              <a:rPr lang="ru-RU">
                <a:solidFill>
                  <a:schemeClr val="dk1"/>
                </a:solidFill>
              </a:rPr>
              <a:t> ни с точки зрения </a:t>
            </a:r>
            <a:r>
              <a:rPr lang="ru-RU">
                <a:solidFill>
                  <a:schemeClr val="dk2"/>
                </a:solidFill>
              </a:rPr>
              <a:t>записи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и обеспечивали целостность данных - т.н. </a:t>
            </a:r>
            <a:r>
              <a:rPr lang="ru-RU">
                <a:solidFill>
                  <a:schemeClr val="dk2"/>
                </a:solidFill>
              </a:rPr>
              <a:t>consistency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и их </a:t>
            </a:r>
            <a:r>
              <a:rPr lang="ru-RU">
                <a:solidFill>
                  <a:schemeClr val="dk2"/>
                </a:solidFill>
              </a:rPr>
              <a:t>надежность</a:t>
            </a:r>
            <a:r>
              <a:rPr lang="ru-RU">
                <a:solidFill>
                  <a:schemeClr val="dk1"/>
                </a:solidFill>
              </a:rPr>
              <a:t> - т.н. </a:t>
            </a:r>
            <a:r>
              <a:rPr lang="ru-RU">
                <a:solidFill>
                  <a:schemeClr val="dk2"/>
                </a:solidFill>
              </a:rPr>
              <a:t>durability?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7" name="Google Shape;327;g1424c60633b_0_1090"/>
          <p:cNvSpPr txBox="1"/>
          <p:nvPr/>
        </p:nvSpPr>
        <p:spPr>
          <a:xfrm>
            <a:off x="1725850" y="2054638"/>
            <a:ext cx="4136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СУБД решает много задач и в том числе одну из непростых проблем:</a:t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328" name="Google Shape;328;g1424c60633b_0_1090"/>
          <p:cNvGrpSpPr/>
          <p:nvPr/>
        </p:nvGrpSpPr>
        <p:grpSpPr>
          <a:xfrm>
            <a:off x="1725850" y="3079563"/>
            <a:ext cx="582833" cy="200870"/>
            <a:chOff x="0" y="1270"/>
            <a:chExt cx="1466615" cy="505460"/>
          </a:xfrm>
        </p:grpSpPr>
        <p:sp>
          <p:nvSpPr>
            <p:cNvPr id="329" name="Google Shape;329;g1424c60633b_0_1090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30" name="Google Shape;330;g1424c60633b_0_1090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424c60633b_0_109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ACID</a:t>
            </a:r>
            <a:endParaRPr/>
          </a:p>
        </p:txBody>
      </p:sp>
      <p:sp>
        <p:nvSpPr>
          <p:cNvPr id="336" name="Google Shape;336;g1424c60633b_0_109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337" name="Google Shape;337;g1424c60633b_0_1097"/>
          <p:cNvSpPr txBox="1">
            <a:spLocks noGrp="1"/>
          </p:cNvSpPr>
          <p:nvPr>
            <p:ph type="body" idx="1"/>
          </p:nvPr>
        </p:nvSpPr>
        <p:spPr>
          <a:xfrm>
            <a:off x="2476352" y="1297250"/>
            <a:ext cx="252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Ответ — транзакционные системы, OLTP — </a:t>
            </a:r>
            <a:r>
              <a:rPr lang="ru-RU">
                <a:solidFill>
                  <a:schemeClr val="dk2"/>
                </a:solidFill>
              </a:rPr>
              <a:t>O</a:t>
            </a:r>
            <a:r>
              <a:rPr lang="ru-RU">
                <a:solidFill>
                  <a:schemeClr val="dk1"/>
                </a:solidFill>
              </a:rPr>
              <a:t>n</a:t>
            </a:r>
            <a:r>
              <a:rPr lang="ru-RU">
                <a:solidFill>
                  <a:schemeClr val="dk2"/>
                </a:solidFill>
              </a:rPr>
              <a:t>l</a:t>
            </a:r>
            <a:r>
              <a:rPr lang="ru-RU">
                <a:solidFill>
                  <a:schemeClr val="dk1"/>
                </a:solidFill>
              </a:rPr>
              <a:t>ine </a:t>
            </a:r>
            <a:r>
              <a:rPr lang="ru-RU">
                <a:solidFill>
                  <a:schemeClr val="dk2"/>
                </a:solidFill>
              </a:rPr>
              <a:t>T</a:t>
            </a:r>
            <a:r>
              <a:rPr lang="ru-RU">
                <a:solidFill>
                  <a:schemeClr val="dk1"/>
                </a:solidFill>
              </a:rPr>
              <a:t>ransaction </a:t>
            </a:r>
            <a:r>
              <a:rPr lang="ru-RU">
                <a:solidFill>
                  <a:schemeClr val="dk2"/>
                </a:solidFill>
              </a:rPr>
              <a:t>P</a:t>
            </a:r>
            <a:r>
              <a:rPr lang="ru-RU">
                <a:solidFill>
                  <a:schemeClr val="dk1"/>
                </a:solidFill>
              </a:rPr>
              <a:t>rocessing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38" name="Google Shape;338;g1424c60633b_0_1097"/>
          <p:cNvGrpSpPr/>
          <p:nvPr/>
        </p:nvGrpSpPr>
        <p:grpSpPr>
          <a:xfrm>
            <a:off x="1725850" y="1297250"/>
            <a:ext cx="582833" cy="200870"/>
            <a:chOff x="0" y="1270"/>
            <a:chExt cx="1466615" cy="505460"/>
          </a:xfrm>
        </p:grpSpPr>
        <p:sp>
          <p:nvSpPr>
            <p:cNvPr id="339" name="Google Shape;339;g1424c60633b_0_1097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40" name="Google Shape;340;g1424c60633b_0_1097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341" name="Google Shape;341;g1424c60633b_0_1097"/>
          <p:cNvSpPr/>
          <p:nvPr/>
        </p:nvSpPr>
        <p:spPr>
          <a:xfrm>
            <a:off x="1725850" y="2476950"/>
            <a:ext cx="3306600" cy="8727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Атомарность</a:t>
            </a:r>
            <a:endParaRPr sz="1600"/>
          </a:p>
        </p:txBody>
      </p:sp>
      <p:sp>
        <p:nvSpPr>
          <p:cNvPr id="342" name="Google Shape;342;g1424c60633b_0_1097"/>
          <p:cNvSpPr/>
          <p:nvPr/>
        </p:nvSpPr>
        <p:spPr>
          <a:xfrm>
            <a:off x="1870527" y="2567225"/>
            <a:ext cx="158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2FD"/>
              </a:buClr>
              <a:buSzPts val="3200"/>
              <a:buFont typeface="Arial"/>
              <a:buNone/>
            </a:pPr>
            <a:r>
              <a:rPr lang="ru-RU" sz="1600">
                <a:solidFill>
                  <a:srgbClr val="836ED3"/>
                </a:solidFill>
              </a:rPr>
              <a:t>ATOMICITY</a:t>
            </a:r>
            <a:endParaRPr sz="1600" i="0" u="none" strike="noStrike" cap="none">
              <a:solidFill>
                <a:srgbClr val="836ED3"/>
              </a:solidFill>
            </a:endParaRPr>
          </a:p>
        </p:txBody>
      </p:sp>
      <p:sp>
        <p:nvSpPr>
          <p:cNvPr id="343" name="Google Shape;343;g1424c60633b_0_1097"/>
          <p:cNvSpPr/>
          <p:nvPr/>
        </p:nvSpPr>
        <p:spPr>
          <a:xfrm>
            <a:off x="5344250" y="2476950"/>
            <a:ext cx="4738200" cy="3201600"/>
          </a:xfrm>
          <a:prstGeom prst="roundRect">
            <a:avLst>
              <a:gd name="adj" fmla="val 6023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Транзакция: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множество операций, выполняемое приложением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которое переводит базу данных из одного корректного состояния в другое корректное состояние </a:t>
            </a:r>
            <a:r>
              <a:rPr lang="ru-RU" sz="1600">
                <a:solidFill>
                  <a:schemeClr val="dk2"/>
                </a:solidFill>
              </a:rPr>
              <a:t>(согласованность)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при условии, что транзакция выполнена полностью </a:t>
            </a:r>
            <a:r>
              <a:rPr lang="ru-RU" sz="1600">
                <a:solidFill>
                  <a:schemeClr val="dk2"/>
                </a:solidFill>
              </a:rPr>
              <a:t>(атомарность)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и без помех со стороны других транзакций </a:t>
            </a:r>
            <a:r>
              <a:rPr lang="ru-RU" sz="1600">
                <a:solidFill>
                  <a:schemeClr val="dk2"/>
                </a:solidFill>
              </a:rPr>
              <a:t>(изолированность)</a:t>
            </a:r>
            <a:endParaRPr/>
          </a:p>
        </p:txBody>
      </p:sp>
      <p:sp>
        <p:nvSpPr>
          <p:cNvPr id="344" name="Google Shape;344;g1424c60633b_0_1097"/>
          <p:cNvSpPr/>
          <p:nvPr/>
        </p:nvSpPr>
        <p:spPr>
          <a:xfrm>
            <a:off x="1725850" y="3641400"/>
            <a:ext cx="3306600" cy="872700"/>
          </a:xfrm>
          <a:prstGeom prst="roundRect">
            <a:avLst>
              <a:gd name="adj" fmla="val 16667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Согласованность</a:t>
            </a:r>
            <a:endParaRPr sz="1600"/>
          </a:p>
        </p:txBody>
      </p:sp>
      <p:sp>
        <p:nvSpPr>
          <p:cNvPr id="345" name="Google Shape;345;g1424c60633b_0_1097"/>
          <p:cNvSpPr/>
          <p:nvPr/>
        </p:nvSpPr>
        <p:spPr>
          <a:xfrm>
            <a:off x="1870525" y="3731675"/>
            <a:ext cx="1895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2FD"/>
              </a:buClr>
              <a:buSzPts val="3200"/>
              <a:buFont typeface="Arial"/>
              <a:buNone/>
            </a:pPr>
            <a:r>
              <a:rPr lang="ru-RU" sz="1600">
                <a:solidFill>
                  <a:schemeClr val="accent2"/>
                </a:solidFill>
              </a:rPr>
              <a:t>CONSISTENCY</a:t>
            </a:r>
            <a:endParaRPr sz="1600" i="0" u="none" strike="noStrike" cap="none">
              <a:solidFill>
                <a:schemeClr val="accent2"/>
              </a:solidFill>
            </a:endParaRPr>
          </a:p>
        </p:txBody>
      </p:sp>
      <p:sp>
        <p:nvSpPr>
          <p:cNvPr id="346" name="Google Shape;346;g1424c60633b_0_1097"/>
          <p:cNvSpPr/>
          <p:nvPr/>
        </p:nvSpPr>
        <p:spPr>
          <a:xfrm>
            <a:off x="1725850" y="4805850"/>
            <a:ext cx="3306600" cy="8727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Изолированность</a:t>
            </a:r>
            <a:endParaRPr sz="1600"/>
          </a:p>
        </p:txBody>
      </p:sp>
      <p:sp>
        <p:nvSpPr>
          <p:cNvPr id="347" name="Google Shape;347;g1424c60633b_0_1097"/>
          <p:cNvSpPr/>
          <p:nvPr/>
        </p:nvSpPr>
        <p:spPr>
          <a:xfrm>
            <a:off x="1870527" y="4896125"/>
            <a:ext cx="158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2FD"/>
              </a:buClr>
              <a:buSzPts val="3200"/>
              <a:buFont typeface="Arial"/>
              <a:buNone/>
            </a:pPr>
            <a:r>
              <a:rPr lang="ru-RU" sz="1600">
                <a:solidFill>
                  <a:schemeClr val="accent5"/>
                </a:solidFill>
              </a:rPr>
              <a:t>ISOLATION</a:t>
            </a:r>
            <a:endParaRPr sz="1600" i="0" u="none" strike="noStrike" cap="none">
              <a:solidFill>
                <a:schemeClr val="accent5"/>
              </a:solidFill>
            </a:endParaRPr>
          </a:p>
        </p:txBody>
      </p:sp>
      <p:sp>
        <p:nvSpPr>
          <p:cNvPr id="348" name="Google Shape;348;g1424c60633b_0_1097"/>
          <p:cNvSpPr/>
          <p:nvPr/>
        </p:nvSpPr>
        <p:spPr>
          <a:xfrm>
            <a:off x="5344250" y="1230350"/>
            <a:ext cx="4738200" cy="8727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Долговечность</a:t>
            </a:r>
            <a:endParaRPr sz="1600"/>
          </a:p>
        </p:txBody>
      </p:sp>
      <p:sp>
        <p:nvSpPr>
          <p:cNvPr id="349" name="Google Shape;349;g1424c60633b_0_1097"/>
          <p:cNvSpPr/>
          <p:nvPr/>
        </p:nvSpPr>
        <p:spPr>
          <a:xfrm>
            <a:off x="5488927" y="1320625"/>
            <a:ext cx="158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2FD"/>
              </a:buClr>
              <a:buSzPts val="3200"/>
              <a:buFont typeface="Arial"/>
              <a:buNone/>
            </a:pPr>
            <a:r>
              <a:rPr lang="ru-RU" sz="1600">
                <a:solidFill>
                  <a:srgbClr val="836ED3"/>
                </a:solidFill>
              </a:rPr>
              <a:t>DURABILITY</a:t>
            </a:r>
            <a:endParaRPr sz="1600" i="0" u="none" strike="noStrike" cap="none">
              <a:solidFill>
                <a:srgbClr val="836ED3"/>
              </a:solidFill>
            </a:endParaRPr>
          </a:p>
        </p:txBody>
      </p:sp>
      <p:sp>
        <p:nvSpPr>
          <p:cNvPr id="350" name="Google Shape;350;g1424c60633b_0_1097"/>
          <p:cNvSpPr/>
          <p:nvPr/>
        </p:nvSpPr>
        <p:spPr>
          <a:xfrm>
            <a:off x="5488927" y="2567225"/>
            <a:ext cx="158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2FD"/>
              </a:buClr>
              <a:buSzPts val="32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TRANSACTION</a:t>
            </a:r>
            <a:endParaRPr sz="1600" i="0" u="none" strike="noStrike" cap="non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424c60633b_0_110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ACID — А ГДЕ ЖЕ НАДЕЖНОСТЬ?</a:t>
            </a:r>
            <a:endParaRPr/>
          </a:p>
        </p:txBody>
      </p:sp>
      <p:sp>
        <p:nvSpPr>
          <p:cNvPr id="356" name="Google Shape;356;g1424c60633b_0_110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357" name="Google Shape;357;g1424c60633b_0_1104"/>
          <p:cNvSpPr txBox="1">
            <a:spLocks noGrp="1"/>
          </p:cNvSpPr>
          <p:nvPr>
            <p:ph type="body" idx="1"/>
          </p:nvPr>
        </p:nvSpPr>
        <p:spPr>
          <a:xfrm>
            <a:off x="1725850" y="2024625"/>
            <a:ext cx="7544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ARIES</a:t>
            </a:r>
            <a:r>
              <a:rPr lang="ru-RU">
                <a:solidFill>
                  <a:schemeClr val="dk1"/>
                </a:solidFill>
              </a:rPr>
              <a:t> — </a:t>
            </a:r>
            <a:r>
              <a:rPr lang="ru-RU">
                <a:solidFill>
                  <a:schemeClr val="dk2"/>
                </a:solidFill>
              </a:rPr>
              <a:t>A</a:t>
            </a:r>
            <a:r>
              <a:rPr lang="ru-RU">
                <a:solidFill>
                  <a:schemeClr val="dk1"/>
                </a:solidFill>
              </a:rPr>
              <a:t>lgorithms for </a:t>
            </a:r>
            <a:r>
              <a:rPr lang="ru-RU">
                <a:solidFill>
                  <a:schemeClr val="dk2"/>
                </a:solidFill>
              </a:rPr>
              <a:t>R</a:t>
            </a:r>
            <a:r>
              <a:rPr lang="ru-RU">
                <a:solidFill>
                  <a:schemeClr val="dk1"/>
                </a:solidFill>
              </a:rPr>
              <a:t>ecovery and </a:t>
            </a:r>
            <a:r>
              <a:rPr lang="ru-RU">
                <a:solidFill>
                  <a:schemeClr val="dk2"/>
                </a:solidFill>
              </a:rPr>
              <a:t>I</a:t>
            </a:r>
            <a:r>
              <a:rPr lang="ru-RU">
                <a:solidFill>
                  <a:schemeClr val="dk1"/>
                </a:solidFill>
              </a:rPr>
              <a:t>solation </a:t>
            </a:r>
            <a:r>
              <a:rPr lang="ru-RU">
                <a:solidFill>
                  <a:schemeClr val="dk2"/>
                </a:solidFill>
              </a:rPr>
              <a:t>E</a:t>
            </a:r>
            <a:r>
              <a:rPr lang="ru-RU">
                <a:solidFill>
                  <a:schemeClr val="dk1"/>
                </a:solidFill>
              </a:rPr>
              <a:t>xploiting Semantics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logging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undo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redo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checkpoints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g1424c60633b_0_1104"/>
          <p:cNvSpPr txBox="1">
            <a:spLocks noGrp="1"/>
          </p:cNvSpPr>
          <p:nvPr>
            <p:ph type="body" idx="1"/>
          </p:nvPr>
        </p:nvSpPr>
        <p:spPr>
          <a:xfrm>
            <a:off x="1725850" y="3872825"/>
            <a:ext cx="7544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MVCC</a:t>
            </a:r>
            <a:r>
              <a:rPr lang="ru-RU">
                <a:solidFill>
                  <a:schemeClr val="dk1"/>
                </a:solidFill>
              </a:rPr>
              <a:t> — </a:t>
            </a:r>
            <a:r>
              <a:rPr lang="ru-RU">
                <a:solidFill>
                  <a:schemeClr val="dk2"/>
                </a:solidFill>
              </a:rPr>
              <a:t>M</a:t>
            </a:r>
            <a:r>
              <a:rPr lang="ru-RU">
                <a:solidFill>
                  <a:schemeClr val="dk1"/>
                </a:solidFill>
              </a:rPr>
              <a:t>ulti</a:t>
            </a:r>
            <a:r>
              <a:rPr lang="ru-RU">
                <a:solidFill>
                  <a:schemeClr val="dk2"/>
                </a:solidFill>
              </a:rPr>
              <a:t>v</a:t>
            </a:r>
            <a:r>
              <a:rPr lang="ru-RU">
                <a:solidFill>
                  <a:schemeClr val="dk1"/>
                </a:solidFill>
              </a:rPr>
              <a:t>ersion </a:t>
            </a:r>
            <a:r>
              <a:rPr lang="ru-RU">
                <a:solidFill>
                  <a:schemeClr val="dk2"/>
                </a:solidFill>
              </a:rPr>
              <a:t>C</a:t>
            </a:r>
            <a:r>
              <a:rPr lang="ru-RU">
                <a:solidFill>
                  <a:schemeClr val="dk1"/>
                </a:solidFill>
              </a:rPr>
              <a:t>oncurrency </a:t>
            </a:r>
            <a:r>
              <a:rPr lang="ru-RU">
                <a:solidFill>
                  <a:schemeClr val="dk2"/>
                </a:solidFill>
              </a:rPr>
              <a:t>C</a:t>
            </a:r>
            <a:r>
              <a:rPr lang="ru-RU">
                <a:solidFill>
                  <a:schemeClr val="dk1"/>
                </a:solidFill>
              </a:rPr>
              <a:t>ontrol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copy-on-write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каждый пользователь работает со снимком БД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>
                <a:solidFill>
                  <a:schemeClr val="dk1"/>
                </a:solidFill>
              </a:rPr>
              <a:t>вносимые пользователем изменения не видны другим до фиксации транзакции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59" name="Google Shape;359;g1424c60633b_0_1104"/>
          <p:cNvCxnSpPr/>
          <p:nvPr/>
        </p:nvCxnSpPr>
        <p:spPr>
          <a:xfrm>
            <a:off x="1703401" y="3546881"/>
            <a:ext cx="87852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424c60633b_0_111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POSTGRESQL MVCC</a:t>
            </a:r>
            <a:endParaRPr/>
          </a:p>
        </p:txBody>
      </p:sp>
      <p:sp>
        <p:nvSpPr>
          <p:cNvPr id="365" name="Google Shape;365;g1424c60633b_0_111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pic>
        <p:nvPicPr>
          <p:cNvPr id="366" name="Google Shape;366;g1424c60633b_0_1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162" y="1650413"/>
            <a:ext cx="837475" cy="8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1424c60633b_0_1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0825" y="1650412"/>
            <a:ext cx="678902" cy="83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1424c60633b_0_1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7209" y="3597188"/>
            <a:ext cx="479278" cy="8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1424c60633b_0_1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8150" y="3597188"/>
            <a:ext cx="837475" cy="8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1424c60633b_0_11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2495" y="1650413"/>
            <a:ext cx="728710" cy="83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1424c60633b_0_1112"/>
          <p:cNvSpPr txBox="1"/>
          <p:nvPr/>
        </p:nvSpPr>
        <p:spPr>
          <a:xfrm>
            <a:off x="1725850" y="2568038"/>
            <a:ext cx="2102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Tuple multi versioning</a:t>
            </a:r>
            <a:endParaRPr sz="1600">
              <a:solidFill>
                <a:srgbClr val="1B4EFC"/>
              </a:solidFill>
            </a:endParaRPr>
          </a:p>
        </p:txBody>
      </p:sp>
      <p:sp>
        <p:nvSpPr>
          <p:cNvPr id="372" name="Google Shape;372;g1424c60633b_0_1112"/>
          <p:cNvSpPr txBox="1"/>
          <p:nvPr/>
        </p:nvSpPr>
        <p:spPr>
          <a:xfrm>
            <a:off x="4454650" y="2568038"/>
            <a:ext cx="202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М</a:t>
            </a:r>
            <a:r>
              <a:rPr lang="ru-RU" sz="1600">
                <a:solidFill>
                  <a:schemeClr val="dk1"/>
                </a:solidFill>
              </a:rPr>
              <a:t>ноговерсионность</a:t>
            </a:r>
            <a:endParaRPr/>
          </a:p>
        </p:txBody>
      </p:sp>
      <p:sp>
        <p:nvSpPr>
          <p:cNvPr id="373" name="Google Shape;373;g1424c60633b_0_1112"/>
          <p:cNvSpPr txBox="1"/>
          <p:nvPr/>
        </p:nvSpPr>
        <p:spPr>
          <a:xfrm>
            <a:off x="7105750" y="2568038"/>
            <a:ext cx="306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Данные не удаляются в процессе обработки транзакций</a:t>
            </a:r>
            <a:endParaRPr/>
          </a:p>
        </p:txBody>
      </p:sp>
      <p:sp>
        <p:nvSpPr>
          <p:cNvPr id="374" name="Google Shape;374;g1424c60633b_0_1112"/>
          <p:cNvSpPr txBox="1"/>
          <p:nvPr/>
        </p:nvSpPr>
        <p:spPr>
          <a:xfrm>
            <a:off x="1764700" y="4678088"/>
            <a:ext cx="20244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Со</a:t>
            </a:r>
            <a:r>
              <a:rPr lang="ru-RU" sz="1600">
                <a:solidFill>
                  <a:schemeClr val="dk1"/>
                </a:solidFill>
              </a:rPr>
              <a:t>здаются новые версии записей</a:t>
            </a:r>
            <a:endParaRPr/>
          </a:p>
        </p:txBody>
      </p:sp>
      <p:sp>
        <p:nvSpPr>
          <p:cNvPr id="375" name="Google Shape;375;g1424c60633b_0_1112"/>
          <p:cNvSpPr txBox="1"/>
          <p:nvPr/>
        </p:nvSpPr>
        <p:spPr>
          <a:xfrm>
            <a:off x="4454650" y="4678088"/>
            <a:ext cx="202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Дорого для операции update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424c60633b_0_191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POSTGRESQL MVCC, XMIN &amp; XMAX, CMIN &amp; CMAX</a:t>
            </a:r>
            <a:endParaRPr/>
          </a:p>
        </p:txBody>
      </p:sp>
      <p:sp>
        <p:nvSpPr>
          <p:cNvPr id="381" name="Google Shape;381;g1424c60633b_0_191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382" name="Google Shape;382;g1424c60633b_0_1914"/>
          <p:cNvSpPr txBox="1">
            <a:spLocks noGrp="1"/>
          </p:cNvSpPr>
          <p:nvPr>
            <p:ph type="body" idx="1"/>
          </p:nvPr>
        </p:nvSpPr>
        <p:spPr>
          <a:xfrm>
            <a:off x="1725850" y="1715263"/>
            <a:ext cx="754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В каждой таблице есть четыре скрытые колонки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3" name="Google Shape;383;g1424c60633b_0_1914"/>
          <p:cNvSpPr/>
          <p:nvPr/>
        </p:nvSpPr>
        <p:spPr>
          <a:xfrm>
            <a:off x="1725850" y="2194550"/>
            <a:ext cx="2982900" cy="1780800"/>
          </a:xfrm>
          <a:prstGeom prst="roundRect">
            <a:avLst>
              <a:gd name="adj" fmla="val 8116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Идентификатор транзакции которая создала данную версию записи</a:t>
            </a:r>
            <a:endParaRPr/>
          </a:p>
        </p:txBody>
      </p:sp>
      <p:sp>
        <p:nvSpPr>
          <p:cNvPr id="384" name="Google Shape;384;g1424c60633b_0_1914"/>
          <p:cNvSpPr/>
          <p:nvPr/>
        </p:nvSpPr>
        <p:spPr>
          <a:xfrm>
            <a:off x="1882900" y="2404875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1B4EFC"/>
                </a:solidFill>
              </a:rPr>
              <a:t>XMIN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85" name="Google Shape;385;g1424c60633b_0_1914"/>
          <p:cNvSpPr/>
          <p:nvPr/>
        </p:nvSpPr>
        <p:spPr>
          <a:xfrm>
            <a:off x="5070350" y="2199050"/>
            <a:ext cx="3096900" cy="1780800"/>
          </a:xfrm>
          <a:prstGeom prst="roundRect">
            <a:avLst>
              <a:gd name="adj" fmla="val 7960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Идентификатор транзакции которая удалила данную версию записи</a:t>
            </a:r>
            <a:endParaRPr/>
          </a:p>
        </p:txBody>
      </p:sp>
      <p:sp>
        <p:nvSpPr>
          <p:cNvPr id="386" name="Google Shape;386;g1424c60633b_0_1914"/>
          <p:cNvSpPr/>
          <p:nvPr/>
        </p:nvSpPr>
        <p:spPr>
          <a:xfrm>
            <a:off x="5227400" y="2409375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02C2FD"/>
                </a:solidFill>
              </a:rPr>
              <a:t>XMAX</a:t>
            </a:r>
            <a:endParaRPr sz="1800" i="0" u="none" strike="noStrike" cap="none">
              <a:solidFill>
                <a:srgbClr val="02C2FD"/>
              </a:solidFill>
            </a:endParaRPr>
          </a:p>
        </p:txBody>
      </p:sp>
      <p:sp>
        <p:nvSpPr>
          <p:cNvPr id="387" name="Google Shape;387;g1424c60633b_0_1914"/>
          <p:cNvSpPr/>
          <p:nvPr/>
        </p:nvSpPr>
        <p:spPr>
          <a:xfrm>
            <a:off x="1725850" y="4217325"/>
            <a:ext cx="2982900" cy="1780800"/>
          </a:xfrm>
          <a:prstGeom prst="roundRect">
            <a:avLst>
              <a:gd name="adj" fmla="val 10916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Порядковый номер команды в транзакции, добавившей запись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388" name="Google Shape;388;g1424c60633b_0_1914"/>
          <p:cNvSpPr/>
          <p:nvPr/>
        </p:nvSpPr>
        <p:spPr>
          <a:xfrm>
            <a:off x="1882900" y="4427650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00C391"/>
                </a:solidFill>
              </a:rPr>
              <a:t>CMIN</a:t>
            </a:r>
            <a:endParaRPr sz="1800" i="0" u="none" strike="noStrike" cap="none">
              <a:solidFill>
                <a:srgbClr val="00C391"/>
              </a:solidFill>
            </a:endParaRPr>
          </a:p>
        </p:txBody>
      </p:sp>
      <p:sp>
        <p:nvSpPr>
          <p:cNvPr id="389" name="Google Shape;389;g1424c60633b_0_1914"/>
          <p:cNvSpPr/>
          <p:nvPr/>
        </p:nvSpPr>
        <p:spPr>
          <a:xfrm>
            <a:off x="5070350" y="4217325"/>
            <a:ext cx="3096900" cy="1780800"/>
          </a:xfrm>
          <a:prstGeom prst="roundRect">
            <a:avLst>
              <a:gd name="adj" fmla="val 10060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Номер команды в транзакции, удалившей запись</a:t>
            </a:r>
            <a:endParaRPr/>
          </a:p>
        </p:txBody>
      </p:sp>
      <p:sp>
        <p:nvSpPr>
          <p:cNvPr id="390" name="Google Shape;390;g1424c60633b_0_1914"/>
          <p:cNvSpPr/>
          <p:nvPr/>
        </p:nvSpPr>
        <p:spPr>
          <a:xfrm>
            <a:off x="5227400" y="4427650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836ED3"/>
                </a:solidFill>
              </a:rPr>
              <a:t>CMAX</a:t>
            </a:r>
            <a:endParaRPr sz="1800" i="0" u="none" strike="noStrike" cap="none">
              <a:solidFill>
                <a:srgbClr val="836ED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424c60633b_0_112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POSTGRESQL MVCC DML</a:t>
            </a:r>
            <a:endParaRPr/>
          </a:p>
        </p:txBody>
      </p:sp>
      <p:sp>
        <p:nvSpPr>
          <p:cNvPr id="396" name="Google Shape;396;g1424c60633b_0_112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397" name="Google Shape;397;g1424c60633b_0_1128"/>
          <p:cNvSpPr/>
          <p:nvPr/>
        </p:nvSpPr>
        <p:spPr>
          <a:xfrm>
            <a:off x="1725850" y="1533700"/>
            <a:ext cx="7962600" cy="1109700"/>
          </a:xfrm>
          <a:prstGeom prst="roundRect">
            <a:avLst>
              <a:gd name="adj" fmla="val 11900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Добавляется новая запись с xmin=txid_current() и xmax=0</a:t>
            </a:r>
            <a:endParaRPr/>
          </a:p>
        </p:txBody>
      </p:sp>
      <p:sp>
        <p:nvSpPr>
          <p:cNvPr id="398" name="Google Shape;398;g1424c60633b_0_1128"/>
          <p:cNvSpPr/>
          <p:nvPr/>
        </p:nvSpPr>
        <p:spPr>
          <a:xfrm>
            <a:off x="1882900" y="1656725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1B4EFC"/>
                </a:solidFill>
              </a:rPr>
              <a:t>INSERT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99" name="Google Shape;399;g1424c60633b_0_1128"/>
          <p:cNvSpPr/>
          <p:nvPr/>
        </p:nvSpPr>
        <p:spPr>
          <a:xfrm>
            <a:off x="1725850" y="2874150"/>
            <a:ext cx="7962600" cy="1427700"/>
          </a:xfrm>
          <a:prstGeom prst="roundRect">
            <a:avLst>
              <a:gd name="adj" fmla="val 11626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 старой версии записи xmax=txid_current(), то есть делается delete добавляется новая запись с xmin=txid_current() и xmax=0, то есть делается insert</a:t>
            </a:r>
            <a:endParaRPr/>
          </a:p>
        </p:txBody>
      </p:sp>
      <p:sp>
        <p:nvSpPr>
          <p:cNvPr id="400" name="Google Shape;400;g1424c60633b_0_1128"/>
          <p:cNvSpPr/>
          <p:nvPr/>
        </p:nvSpPr>
        <p:spPr>
          <a:xfrm>
            <a:off x="1882900" y="2997175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chemeClr val="accent5"/>
                </a:solidFill>
              </a:rPr>
              <a:t>UPDATE</a:t>
            </a:r>
            <a:endParaRPr sz="1800" i="0" u="none" strike="noStrike" cap="none">
              <a:solidFill>
                <a:schemeClr val="accent5"/>
              </a:solidFill>
            </a:endParaRPr>
          </a:p>
        </p:txBody>
      </p:sp>
      <p:sp>
        <p:nvSpPr>
          <p:cNvPr id="401" name="Google Shape;401;g1424c60633b_0_1128"/>
          <p:cNvSpPr/>
          <p:nvPr/>
        </p:nvSpPr>
        <p:spPr>
          <a:xfrm>
            <a:off x="1725850" y="4532600"/>
            <a:ext cx="7962600" cy="1109700"/>
          </a:xfrm>
          <a:prstGeom prst="roundRect">
            <a:avLst>
              <a:gd name="adj" fmla="val 15270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 старой версии записи xmax=txid_current()</a:t>
            </a:r>
            <a:endParaRPr/>
          </a:p>
        </p:txBody>
      </p:sp>
      <p:sp>
        <p:nvSpPr>
          <p:cNvPr id="402" name="Google Shape;402;g1424c60633b_0_1128"/>
          <p:cNvSpPr/>
          <p:nvPr/>
        </p:nvSpPr>
        <p:spPr>
          <a:xfrm>
            <a:off x="1882900" y="4655625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836ED3"/>
                </a:solidFill>
              </a:rPr>
              <a:t>DELETE</a:t>
            </a:r>
            <a:endParaRPr sz="1800" i="0" u="none" strike="noStrike" cap="none">
              <a:solidFill>
                <a:srgbClr val="836ED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424c60633b_0_113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MVCC</a:t>
            </a:r>
            <a:endParaRPr/>
          </a:p>
        </p:txBody>
      </p:sp>
      <p:sp>
        <p:nvSpPr>
          <p:cNvPr id="408" name="Google Shape;408;g1424c60633b_0_113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pic>
        <p:nvPicPr>
          <p:cNvPr id="409" name="Google Shape;409;g1424c60633b_0_1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025" y="1871663"/>
            <a:ext cx="1026795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424c60633b_0_114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MVCC</a:t>
            </a:r>
            <a:endParaRPr/>
          </a:p>
        </p:txBody>
      </p:sp>
      <p:sp>
        <p:nvSpPr>
          <p:cNvPr id="415" name="Google Shape;415;g1424c60633b_0_114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416" name="Google Shape;416;g1424c60633b_0_1143"/>
          <p:cNvSpPr txBox="1">
            <a:spLocks noGrp="1"/>
          </p:cNvSpPr>
          <p:nvPr>
            <p:ph type="body" idx="1"/>
          </p:nvPr>
        </p:nvSpPr>
        <p:spPr>
          <a:xfrm>
            <a:off x="1725850" y="1951350"/>
            <a:ext cx="75444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Дополнительные атрибуты строки: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infomask</a:t>
            </a:r>
            <a:r>
              <a:rPr lang="ru-RU">
                <a:solidFill>
                  <a:schemeClr val="dk1"/>
                </a:solidFill>
              </a:rPr>
              <a:t> содержит ряд битов, определяющих свойства данной версии.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xmin_commited, xmin_aborted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xmax_commited, xmax_aborted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ctid </a:t>
            </a:r>
            <a:r>
              <a:rPr lang="ru-RU">
                <a:solidFill>
                  <a:schemeClr val="dk1"/>
                </a:solidFill>
              </a:rPr>
              <a:t>является ссылкой на следующую, более новую, версию той же строки.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У самой новой, актуальной, версии строки ctid ссылается на саму эту версию.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Номера </a:t>
            </a:r>
            <a:r>
              <a:rPr lang="ru-RU">
                <a:solidFill>
                  <a:schemeClr val="dk2"/>
                </a:solidFill>
              </a:rPr>
              <a:t>ctid</a:t>
            </a:r>
            <a:r>
              <a:rPr lang="ru-RU">
                <a:solidFill>
                  <a:schemeClr val="dk1"/>
                </a:solidFill>
              </a:rPr>
              <a:t> имеют вид (x,y): здесь x — номер страницы, y —порядковый номер указателя в массиве.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Посмотрим на практике.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24c60633b_0_179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УРОВНИ ИЗОЛЯЦИИ ТРАНЗАКЦИЙ</a:t>
            </a:r>
            <a:endParaRPr/>
          </a:p>
        </p:txBody>
      </p:sp>
      <p:sp>
        <p:nvSpPr>
          <p:cNvPr id="422" name="Google Shape;422;g1424c60633b_0_179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423" name="Google Shape;423;g1424c60633b_0_1796"/>
          <p:cNvSpPr/>
          <p:nvPr/>
        </p:nvSpPr>
        <p:spPr>
          <a:xfrm>
            <a:off x="1725850" y="2657288"/>
            <a:ext cx="8380200" cy="1200600"/>
          </a:xfrm>
          <a:prstGeom prst="roundRect">
            <a:avLst>
              <a:gd name="adj" fmla="val 6305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«Грязное» чтение </a:t>
            </a:r>
            <a:r>
              <a:rPr lang="ru-RU" sz="1600">
                <a:solidFill>
                  <a:schemeClr val="dk2"/>
                </a:solidFill>
              </a:rPr>
              <a:t>(dirty read)</a:t>
            </a:r>
            <a:r>
              <a:rPr lang="ru-RU" sz="1600">
                <a:solidFill>
                  <a:schemeClr val="dk1"/>
                </a:solidFill>
              </a:rPr>
              <a:t>. Транзакция T1 может читать строки измененные, но еще не зафиксированные, транзакцией T2. Отмена изменений (ROLLBACK) в T2 приведет к тому, что T1 прочитает данные, которых никогда не существовало.</a:t>
            </a:r>
            <a:endParaRPr/>
          </a:p>
        </p:txBody>
      </p:sp>
      <p:sp>
        <p:nvSpPr>
          <p:cNvPr id="424" name="Google Shape;424;g1424c60633b_0_1796"/>
          <p:cNvSpPr/>
          <p:nvPr/>
        </p:nvSpPr>
        <p:spPr>
          <a:xfrm>
            <a:off x="1738750" y="4016413"/>
            <a:ext cx="8354400" cy="1200600"/>
          </a:xfrm>
          <a:prstGeom prst="roundRect">
            <a:avLst>
              <a:gd name="adj" fmla="val 5231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Неповторяющееся чтение (non-repeatable read). После того, как транзакция T1 прочитала строку, транзакция T2 изменила или удалила эту строку и зафиксировала изменения</a:t>
            </a:r>
            <a:r>
              <a:rPr lang="ru-RU" sz="1600">
                <a:solidFill>
                  <a:schemeClr val="accent5"/>
                </a:solidFill>
              </a:rPr>
              <a:t> (COMMIT)</a:t>
            </a:r>
            <a:r>
              <a:rPr lang="ru-RU" sz="1600">
                <a:solidFill>
                  <a:schemeClr val="dk1"/>
                </a:solidFill>
              </a:rPr>
              <a:t>. При повторном чтении этой же строки транзакция T1 видит, что строка изменена или удалена.</a:t>
            </a:r>
            <a:endParaRPr/>
          </a:p>
        </p:txBody>
      </p:sp>
      <p:sp>
        <p:nvSpPr>
          <p:cNvPr id="425" name="Google Shape;425;g1424c60633b_0_1796"/>
          <p:cNvSpPr txBox="1">
            <a:spLocks noGrp="1"/>
          </p:cNvSpPr>
          <p:nvPr>
            <p:ph type="body" idx="1"/>
          </p:nvPr>
        </p:nvSpPr>
        <p:spPr>
          <a:xfrm>
            <a:off x="1725850" y="1640988"/>
            <a:ext cx="754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Стандарт SQL допускает четыре уровня изоляции, которые определяются в </a:t>
            </a:r>
            <a:r>
              <a:rPr lang="ru-RU">
                <a:solidFill>
                  <a:schemeClr val="dk2"/>
                </a:solidFill>
              </a:rPr>
              <a:t>терминах аномалий</a:t>
            </a:r>
            <a:r>
              <a:rPr lang="ru-RU">
                <a:solidFill>
                  <a:schemeClr val="dk1"/>
                </a:solidFill>
              </a:rPr>
              <a:t>, которые допускаются при конкурентном выполнении транзакций на этом уровне: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424c60633b_0_189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УРОВНИ ИЗОЛЯЦИИ ТРАНЗАКЦИЙ</a:t>
            </a:r>
            <a:endParaRPr/>
          </a:p>
        </p:txBody>
      </p:sp>
      <p:sp>
        <p:nvSpPr>
          <p:cNvPr id="431" name="Google Shape;431;g1424c60633b_0_189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432" name="Google Shape;432;g1424c60633b_0_1895"/>
          <p:cNvSpPr/>
          <p:nvPr/>
        </p:nvSpPr>
        <p:spPr>
          <a:xfrm>
            <a:off x="1725850" y="2049389"/>
            <a:ext cx="8380200" cy="1359000"/>
          </a:xfrm>
          <a:prstGeom prst="roundRect">
            <a:avLst>
              <a:gd name="adj" fmla="val 6305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Фантомное чтение </a:t>
            </a:r>
            <a:r>
              <a:rPr lang="ru-RU" sz="1600">
                <a:solidFill>
                  <a:schemeClr val="accent6"/>
                </a:solidFill>
              </a:rPr>
              <a:t>(phantom read)</a:t>
            </a:r>
            <a:r>
              <a:rPr lang="ru-RU" sz="1600">
                <a:solidFill>
                  <a:schemeClr val="dk1"/>
                </a:solidFill>
              </a:rPr>
              <a:t>. Транзакция T1 прочитала набор строк по некоторому условию. Затем транзакция T2 добавила строки, также удовлетворяющие этому условию. Если транзакция T1 повторит запрос, она получит другую выборку строк.</a:t>
            </a:r>
            <a:endParaRPr/>
          </a:p>
        </p:txBody>
      </p:sp>
      <p:sp>
        <p:nvSpPr>
          <p:cNvPr id="433" name="Google Shape;433;g1424c60633b_0_1895"/>
          <p:cNvSpPr/>
          <p:nvPr/>
        </p:nvSpPr>
        <p:spPr>
          <a:xfrm>
            <a:off x="1738750" y="3608000"/>
            <a:ext cx="8354400" cy="1200600"/>
          </a:xfrm>
          <a:prstGeom prst="roundRect">
            <a:avLst>
              <a:gd name="adj" fmla="val 5231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2C2FD"/>
                </a:solidFill>
              </a:rPr>
              <a:t>Аномалия сериализации</a:t>
            </a:r>
            <a:r>
              <a:rPr lang="ru-RU" sz="1600">
                <a:solidFill>
                  <a:schemeClr val="dk1"/>
                </a:solidFill>
              </a:rPr>
              <a:t> — результат успешной фиксации группы транзакций оказывается несогласованным при всевозможных вариантах исполнения этих транзакций по очереди.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424c60633b_0_70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УРОВНИ ИЗОЛЯЦИИ ТРАНЗАКЦИЙ</a:t>
            </a:r>
            <a:endParaRPr/>
          </a:p>
        </p:txBody>
      </p:sp>
      <p:sp>
        <p:nvSpPr>
          <p:cNvPr id="439" name="Google Shape;439;g1424c60633b_0_70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440" name="Google Shape;440;g1424c60633b_0_701"/>
          <p:cNvSpPr txBox="1">
            <a:spLocks noGrp="1"/>
          </p:cNvSpPr>
          <p:nvPr>
            <p:ph type="body" idx="1"/>
          </p:nvPr>
        </p:nvSpPr>
        <p:spPr>
          <a:xfrm>
            <a:off x="1774825" y="4825525"/>
            <a:ext cx="7544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на всех уровнях не допускается потеря зафиксированных изменений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https://habr.com/ru/company/otus/blog/501294/</a:t>
            </a:r>
            <a:r>
              <a:rPr lang="ru-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4"/>
              </a:rPr>
              <a:t>https://postgrespro.ru/docs/postgrespro/13/transaction-iso</a:t>
            </a:r>
            <a:r>
              <a:rPr lang="ru-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441" name="Google Shape;441;g1424c60633b_0_701"/>
          <p:cNvGraphicFramePr/>
          <p:nvPr/>
        </p:nvGraphicFramePr>
        <p:xfrm>
          <a:off x="1774825" y="168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{1825E2FA-D609-421E-BACF-321489D2B3F9}</a:tableStyleId>
              </a:tblPr>
              <a:tblGrid>
                <a:gridCol w="177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u="none" strike="noStrike" cap="none"/>
                        <a:t>«грязное»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чтение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u="none" strike="noStrike" cap="none"/>
                        <a:t>неповторяю-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щееся чтение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u="none" strike="noStrike" cap="none"/>
                        <a:t>фантомное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чтение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u="none" strike="noStrike" cap="none"/>
                        <a:t>аномалия сериализации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Read Uncommitted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Допускается, но не в PG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>
                          <a:solidFill>
                            <a:schemeClr val="dk2"/>
                          </a:solidFill>
                        </a:rPr>
                        <a:t>Read Сommitted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Repeatable Read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Допускается, но не в PG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да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Serializable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600" u="none" strike="noStrike" cap="none"/>
                        <a:t>-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424c60633b_0_49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447" name="Google Shape;447;g1424c60633b_0_49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448" name="Google Shape;448;g1424c60633b_0_497"/>
          <p:cNvSpPr/>
          <p:nvPr/>
        </p:nvSpPr>
        <p:spPr>
          <a:xfrm>
            <a:off x="1703400" y="2393222"/>
            <a:ext cx="2714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Поняли различие разных уровней изоляции транзакций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1424c60633b_0_497"/>
          <p:cNvSpPr/>
          <p:nvPr/>
        </p:nvSpPr>
        <p:spPr>
          <a:xfrm>
            <a:off x="4738875" y="2393222"/>
            <a:ext cx="27141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Поняли работу системы многоверсионности MVCC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g1424c60633b_0_497"/>
          <p:cNvSpPr/>
          <p:nvPr/>
        </p:nvSpPr>
        <p:spPr>
          <a:xfrm>
            <a:off x="7774375" y="2393222"/>
            <a:ext cx="2714100" cy="2095500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Узнали как подключиться и проверить как настроены уровни изоляции транзакций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1" name="Google Shape;451;g1424c60633b_0_4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1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1424c60633b_0_4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099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1424c60633b_0_4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025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424c60633b_0_59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ЗАДАНИЕ ДЛЯ САМОПРОВЕРКИ</a:t>
            </a:r>
            <a:endParaRPr/>
          </a:p>
        </p:txBody>
      </p:sp>
      <p:sp>
        <p:nvSpPr>
          <p:cNvPr id="459" name="Google Shape;459;g1424c60633b_0_59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sp>
        <p:nvSpPr>
          <p:cNvPr id="460" name="Google Shape;460;g1424c60633b_0_598"/>
          <p:cNvSpPr txBox="1">
            <a:spLocks noGrp="1"/>
          </p:cNvSpPr>
          <p:nvPr>
            <p:ph type="body" idx="1"/>
          </p:nvPr>
        </p:nvSpPr>
        <p:spPr>
          <a:xfrm>
            <a:off x="1725850" y="2392475"/>
            <a:ext cx="754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Цель задания: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проверить на практике работу с уровнями изоляции транзакций и увидеть разницу в их работе с данными из разных пользовательских сессий. 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461" name="Google Shape;461;g1424c60633b_0_598"/>
          <p:cNvSpPr/>
          <p:nvPr/>
        </p:nvSpPr>
        <p:spPr>
          <a:xfrm>
            <a:off x="1725850" y="3474325"/>
            <a:ext cx="6830400" cy="9912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Постарайтесь выполнить задание самостоятельно, если какой-то пункт не получится, в материалах к уроку приложена полная инструкция по выполнению работы.</a:t>
            </a:r>
            <a:endParaRPr i="1"/>
          </a:p>
        </p:txBody>
      </p:sp>
      <p:pic>
        <p:nvPicPr>
          <p:cNvPr id="462" name="Google Shape;462;g1424c60633b_0_5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025" y="3640825"/>
            <a:ext cx="385661" cy="38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424c60633b_0_1610"/>
          <p:cNvSpPr txBox="1">
            <a:spLocks noGrp="1"/>
          </p:cNvSpPr>
          <p:nvPr>
            <p:ph type="title"/>
          </p:nvPr>
        </p:nvSpPr>
        <p:spPr>
          <a:xfrm>
            <a:off x="1027575" y="1337900"/>
            <a:ext cx="34767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ЗАДАНИЕ ДЛЯ САМОПРОВЕРКИ. ПОШАГОВАЯ ИНСТРУКЦИЯ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(Ч. 1)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8" name="Google Shape;468;g1424c60633b_0_161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sp>
        <p:nvSpPr>
          <p:cNvPr id="469" name="Google Shape;469;g1424c60633b_0_1610"/>
          <p:cNvSpPr txBox="1"/>
          <p:nvPr/>
        </p:nvSpPr>
        <p:spPr>
          <a:xfrm>
            <a:off x="5074925" y="1337900"/>
            <a:ext cx="558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Открыть консоль из под пользователя Линукс postgres (если мы открыли новую консоль под student выполнить sudo su postgres)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470" name="Google Shape;470;g1424c60633b_0_1610"/>
          <p:cNvSpPr txBox="1"/>
          <p:nvPr/>
        </p:nvSpPr>
        <p:spPr>
          <a:xfrm>
            <a:off x="5074925" y="2481188"/>
            <a:ext cx="558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Открыть вторую консоль из под пользователя Линукс postgres зажав кнопку shift и нажать на иконку консоли (выполнить sudo su postgres)</a:t>
            </a:r>
            <a:endParaRPr/>
          </a:p>
        </p:txBody>
      </p:sp>
      <p:sp>
        <p:nvSpPr>
          <p:cNvPr id="471" name="Google Shape;471;g1424c60633b_0_1610"/>
          <p:cNvSpPr txBox="1"/>
          <p:nvPr/>
        </p:nvSpPr>
        <p:spPr>
          <a:xfrm>
            <a:off x="5074925" y="3624475"/>
            <a:ext cx="558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Запустить везде psql из под пользователя postgres</a:t>
            </a:r>
            <a:endParaRPr/>
          </a:p>
        </p:txBody>
      </p:sp>
      <p:sp>
        <p:nvSpPr>
          <p:cNvPr id="472" name="Google Shape;472;g1424c60633b_0_1610"/>
          <p:cNvSpPr txBox="1"/>
          <p:nvPr/>
        </p:nvSpPr>
        <p:spPr>
          <a:xfrm>
            <a:off x="5074925" y="4275463"/>
            <a:ext cx="558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Сделать в первой сессии новую таблицу и наполнить ее данными</a:t>
            </a:r>
            <a:endParaRPr/>
          </a:p>
        </p:txBody>
      </p:sp>
      <p:sp>
        <p:nvSpPr>
          <p:cNvPr id="473" name="Google Shape;473;g1424c60633b_0_1610"/>
          <p:cNvSpPr txBox="1"/>
          <p:nvPr/>
        </p:nvSpPr>
        <p:spPr>
          <a:xfrm>
            <a:off x="5074925" y="5203200"/>
            <a:ext cx="558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Посмотреть текущий уровень изоляции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4" name="Google Shape;474;g1424c60633b_0_1610"/>
          <p:cNvSpPr/>
          <p:nvPr/>
        </p:nvSpPr>
        <p:spPr>
          <a:xfrm>
            <a:off x="4504125" y="1584050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5" name="Google Shape;475;g1424c60633b_0_1610"/>
          <p:cNvSpPr/>
          <p:nvPr/>
        </p:nvSpPr>
        <p:spPr>
          <a:xfrm>
            <a:off x="4504125" y="2727338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i="0" u="none" strike="noStrike" cap="non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6" name="Google Shape;476;g1424c60633b_0_1610"/>
          <p:cNvSpPr/>
          <p:nvPr/>
        </p:nvSpPr>
        <p:spPr>
          <a:xfrm>
            <a:off x="4504125" y="3624475"/>
            <a:ext cx="446100" cy="4311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 i="0" u="none" strike="noStrike" cap="none">
              <a:solidFill>
                <a:schemeClr val="accent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7" name="Google Shape;477;g1424c60633b_0_1610"/>
          <p:cNvSpPr/>
          <p:nvPr/>
        </p:nvSpPr>
        <p:spPr>
          <a:xfrm>
            <a:off x="4504125" y="4398463"/>
            <a:ext cx="446100" cy="4311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02C2FD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2000" i="0" u="none" strike="noStrike" cap="none">
              <a:solidFill>
                <a:srgbClr val="02C2F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78" name="Google Shape;478;g1424c60633b_0_1610"/>
          <p:cNvSpPr/>
          <p:nvPr/>
        </p:nvSpPr>
        <p:spPr>
          <a:xfrm>
            <a:off x="4504125" y="5203200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424c60633b_0_1638"/>
          <p:cNvSpPr txBox="1">
            <a:spLocks noGrp="1"/>
          </p:cNvSpPr>
          <p:nvPr>
            <p:ph type="title"/>
          </p:nvPr>
        </p:nvSpPr>
        <p:spPr>
          <a:xfrm>
            <a:off x="1027575" y="1337900"/>
            <a:ext cx="34767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ЗАДАНИЕ ДЛЯ САМОПРОВЕРКИ. ПОШАГОВАЯ ИНСТРУКЦИЯ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(Ч. 2)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4" name="Google Shape;484;g1424c60633b_0_163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sp>
        <p:nvSpPr>
          <p:cNvPr id="485" name="Google Shape;485;g1424c60633b_0_1638"/>
          <p:cNvSpPr txBox="1"/>
          <p:nvPr/>
        </p:nvSpPr>
        <p:spPr>
          <a:xfrm>
            <a:off x="5299325" y="1297775"/>
            <a:ext cx="4950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Начать новую транзакцию в обоих сессиях с дефолтным (не меняя) уровнем изоляции. В первой сессии добавить новую запись. Сделать запрос на выбор всех записей во второй сессии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486" name="Google Shape;486;g1424c60633b_0_1638"/>
          <p:cNvSpPr/>
          <p:nvPr/>
        </p:nvSpPr>
        <p:spPr>
          <a:xfrm>
            <a:off x="4716100" y="1447400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2000" i="0" u="none" strike="noStrike" cap="none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7" name="Google Shape;487;g1424c60633b_0_1638"/>
          <p:cNvSpPr/>
          <p:nvPr/>
        </p:nvSpPr>
        <p:spPr>
          <a:xfrm>
            <a:off x="4716100" y="2985342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8" name="Google Shape;488;g1424c60633b_0_1638"/>
          <p:cNvSpPr/>
          <p:nvPr/>
        </p:nvSpPr>
        <p:spPr>
          <a:xfrm>
            <a:off x="4716100" y="4883125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9" name="Google Shape;489;g1424c60633b_0_1638"/>
          <p:cNvSpPr/>
          <p:nvPr/>
        </p:nvSpPr>
        <p:spPr>
          <a:xfrm>
            <a:off x="4716100" y="4057308"/>
            <a:ext cx="446100" cy="4311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sz="2000" i="0" u="none" strike="noStrike" cap="none">
              <a:solidFill>
                <a:schemeClr val="accent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0" name="Google Shape;490;g1424c60633b_0_1638"/>
          <p:cNvSpPr txBox="1"/>
          <p:nvPr/>
        </p:nvSpPr>
        <p:spPr>
          <a:xfrm>
            <a:off x="5299325" y="2739192"/>
            <a:ext cx="4950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2"/>
                </a:solidFill>
              </a:rPr>
              <a:t>Видите ли вы новую запись и если да то почему? После задания можете сверить правильный ответ с эталонным</a:t>
            </a:r>
            <a:endParaRPr/>
          </a:p>
        </p:txBody>
      </p:sp>
      <p:sp>
        <p:nvSpPr>
          <p:cNvPr id="491" name="Google Shape;491;g1424c60633b_0_1638"/>
          <p:cNvSpPr txBox="1"/>
          <p:nvPr/>
        </p:nvSpPr>
        <p:spPr>
          <a:xfrm>
            <a:off x="5299325" y="3934308"/>
            <a:ext cx="4950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Завершить транзакцию в первом окне. Сделать запрос на выбор всех записей второй сессии. </a:t>
            </a:r>
            <a:endParaRPr/>
          </a:p>
        </p:txBody>
      </p:sp>
      <p:sp>
        <p:nvSpPr>
          <p:cNvPr id="492" name="Google Shape;492;g1424c60633b_0_1638"/>
          <p:cNvSpPr txBox="1"/>
          <p:nvPr/>
        </p:nvSpPr>
        <p:spPr>
          <a:xfrm>
            <a:off x="5299325" y="4883125"/>
            <a:ext cx="495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2"/>
                </a:solidFill>
              </a:rPr>
              <a:t>Видите ли вы новую запись и если да то почему?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424c60633b_0_1655"/>
          <p:cNvSpPr txBox="1">
            <a:spLocks noGrp="1"/>
          </p:cNvSpPr>
          <p:nvPr>
            <p:ph type="title"/>
          </p:nvPr>
        </p:nvSpPr>
        <p:spPr>
          <a:xfrm>
            <a:off x="1027575" y="1337900"/>
            <a:ext cx="32400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ЗАДАНИЕ ДЛЯ САМОПРОВЕРКИ. ПОШАГОВАЯ ИНСТРУКЦИЯ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(Ч. 3)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8" name="Google Shape;498;g1424c60633b_0_165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sp>
        <p:nvSpPr>
          <p:cNvPr id="499" name="Google Shape;499;g1424c60633b_0_1655"/>
          <p:cNvSpPr txBox="1"/>
          <p:nvPr/>
        </p:nvSpPr>
        <p:spPr>
          <a:xfrm>
            <a:off x="5162350" y="1337900"/>
            <a:ext cx="4962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Завершите транзакцию во второй сессии. Начать новые транзакции, но уже на уровне repeatable read в ОБЕИХ сессиях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500" name="Google Shape;500;g1424c60633b_0_1655"/>
          <p:cNvSpPr/>
          <p:nvPr/>
        </p:nvSpPr>
        <p:spPr>
          <a:xfrm>
            <a:off x="4504275" y="1584050"/>
            <a:ext cx="446100" cy="4311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02C2FD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sz="2000" i="0" u="none" strike="noStrike" cap="none">
              <a:solidFill>
                <a:srgbClr val="02C2F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1" name="Google Shape;501;g1424c60633b_0_1655"/>
          <p:cNvSpPr/>
          <p:nvPr/>
        </p:nvSpPr>
        <p:spPr>
          <a:xfrm>
            <a:off x="4504275" y="3468254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2" name="Google Shape;502;g1424c60633b_0_1655"/>
          <p:cNvSpPr/>
          <p:nvPr/>
        </p:nvSpPr>
        <p:spPr>
          <a:xfrm>
            <a:off x="4504275" y="5083663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3" name="Google Shape;503;g1424c60633b_0_1655"/>
          <p:cNvSpPr/>
          <p:nvPr/>
        </p:nvSpPr>
        <p:spPr>
          <a:xfrm>
            <a:off x="4504275" y="4269856"/>
            <a:ext cx="446400" cy="4320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000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sz="1000" i="0" u="none" strike="noStrike" cap="none">
              <a:solidFill>
                <a:schemeClr val="accent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04" name="Google Shape;504;g1424c60633b_0_1655"/>
          <p:cNvSpPr txBox="1"/>
          <p:nvPr/>
        </p:nvSpPr>
        <p:spPr>
          <a:xfrm>
            <a:off x="5162350" y="2520569"/>
            <a:ext cx="4962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 первой сессии добавить новую запись. Сделать запрос на выбор всех записей во второй сессии. </a:t>
            </a:r>
            <a:endParaRPr/>
          </a:p>
        </p:txBody>
      </p:sp>
      <p:sp>
        <p:nvSpPr>
          <p:cNvPr id="505" name="Google Shape;505;g1424c60633b_0_1655"/>
          <p:cNvSpPr txBox="1"/>
          <p:nvPr/>
        </p:nvSpPr>
        <p:spPr>
          <a:xfrm>
            <a:off x="5162350" y="3456938"/>
            <a:ext cx="496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2"/>
                </a:solidFill>
              </a:rPr>
              <a:t>Видите ли вы новую запись и если да то почему?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6" name="Google Shape;506;g1424c60633b_0_1655"/>
          <p:cNvSpPr txBox="1"/>
          <p:nvPr/>
        </p:nvSpPr>
        <p:spPr>
          <a:xfrm>
            <a:off x="5162350" y="4147306"/>
            <a:ext cx="4962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Завершить транзакцию в первом окне. Сделать запрос во выбор всех записей второй сессии. </a:t>
            </a:r>
            <a:endParaRPr/>
          </a:p>
        </p:txBody>
      </p:sp>
      <p:sp>
        <p:nvSpPr>
          <p:cNvPr id="507" name="Google Shape;507;g1424c60633b_0_1655"/>
          <p:cNvSpPr txBox="1"/>
          <p:nvPr/>
        </p:nvSpPr>
        <p:spPr>
          <a:xfrm>
            <a:off x="5162350" y="5083675"/>
            <a:ext cx="496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ru-RU" sz="1600">
                <a:solidFill>
                  <a:schemeClr val="dk2"/>
                </a:solidFill>
              </a:rPr>
              <a:t>Видите ли вы новую запись и если да то почему?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8" name="Google Shape;508;g1424c60633b_0_1655"/>
          <p:cNvSpPr/>
          <p:nvPr/>
        </p:nvSpPr>
        <p:spPr>
          <a:xfrm>
            <a:off x="4504275" y="2643569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sz="2000" i="0" u="none" strike="noStrike" cap="none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424c60633b_0_30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514" name="Google Shape;514;g1424c60633b_0_30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На следующем занятии мы рассмотрим тему:</a:t>
            </a:r>
            <a:endParaRPr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/>
              <a:t>Вакуум и автовакуум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Широкоэкранный</PresentationFormat>
  <Paragraphs>225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 Black</vt:lpstr>
      <vt:lpstr>Helvetica Neue</vt:lpstr>
      <vt:lpstr>Courier New</vt:lpstr>
      <vt:lpstr>Arial</vt:lpstr>
      <vt:lpstr>Calibri</vt:lpstr>
      <vt:lpstr>Тема Office</vt:lpstr>
      <vt:lpstr>Template_StepUP</vt:lpstr>
      <vt:lpstr>Template_StepUP</vt:lpstr>
      <vt:lpstr>ИЗОЛЯЦИЯ И МНОГОВЕРСИОННОСТЬ</vt:lpstr>
      <vt:lpstr>ЦЕЛЬ УРОКА</vt:lpstr>
      <vt:lpstr>СОДЕРЖАНИЕ УРОКА</vt:lpstr>
      <vt:lpstr>МНОЖЕСТВЕННАЯ ПАРАЛЛЕЛЬНАЯ НАГРУЗКА</vt:lpstr>
      <vt:lpstr>ACID</vt:lpstr>
      <vt:lpstr>ACID — А ГДЕ ЖЕ НАДЕЖНОСТЬ?</vt:lpstr>
      <vt:lpstr>POSTGRESQL MVCC</vt:lpstr>
      <vt:lpstr>POSTGRESQL MVCC, XMIN &amp; XMAX, CMIN &amp; CMAX</vt:lpstr>
      <vt:lpstr>POSTGRESQL MVCC DML</vt:lpstr>
      <vt:lpstr>MVCC</vt:lpstr>
      <vt:lpstr>MVCC</vt:lpstr>
      <vt:lpstr>УРОВНИ ИЗОЛЯЦИИ ТРАНЗАКЦИЙ</vt:lpstr>
      <vt:lpstr>УРОВНИ ИЗОЛЯЦИИ ТРАНЗАКЦИЙ</vt:lpstr>
      <vt:lpstr>УРОВНИ ИЗОЛЯЦИИ ТРАНЗАКЦИЙ</vt:lpstr>
      <vt:lpstr>ИТОГИ ЗАНЯТИЯ</vt:lpstr>
      <vt:lpstr>ЗАДАНИЕ ДЛЯ САМОПРОВЕРКИ</vt:lpstr>
      <vt:lpstr>ЗАДАНИЕ ДЛЯ САМОПРОВЕРКИ. ПОШАГОВАЯ ИНСТРУКЦИЯ (Ч. 1)</vt:lpstr>
      <vt:lpstr>ЗАДАНИЕ ДЛЯ САМОПРОВЕРКИ. ПОШАГОВАЯ ИНСТРУКЦИЯ (Ч. 2)</vt:lpstr>
      <vt:lpstr>ЗАДАНИЕ ДЛЯ САМОПРОВЕРКИ. ПОШАГОВАЯ ИНСТРУКЦИЯ (Ч. 3)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ИЗОЛЯЦИЯ И МНОГОВЕРСИОННОСТЬ</dc:title>
  <dc:creator>Трошин Алексей Валентинович</dc:creator>
  <cp:lastModifiedBy>Кузьмичев Даниил Михайлович</cp:lastModifiedBy>
  <cp:revision>1</cp:revision>
  <dcterms:created xsi:type="dcterms:W3CDTF">2022-02-28T08:51:36Z</dcterms:created>
  <dcterms:modified xsi:type="dcterms:W3CDTF">2022-09-15T09:47:42Z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A3CABEB6-9801-44A9-9F71-DC183518BDEA</vt:lpwstr>
  </property>
  <property fmtid="{D5CDD505-2E9C-101B-9397-08002B2CF9AE}" pid="3" name="ArticulatePath">
    <vt:lpwstr>Spark_</vt:lpwstr>
  </property>
</Properties>
</file>