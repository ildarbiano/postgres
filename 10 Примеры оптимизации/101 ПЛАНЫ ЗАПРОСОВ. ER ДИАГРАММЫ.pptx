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Arial Black" panose="020B0A0402010202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gs" Target="tags/tag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df4830f7a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fdf4830f7a_0_2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fdf4830f7a_0_2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fdf4830f7a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fdf4830f7a_0_2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fdf4830f7a_0_2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fdf4830f7a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fdf4830f7a_0_3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fdf4830f7a_0_3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df4830f7a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fdf4830f7a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fdf4830f7a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fdf4830f7a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fdf4830f7a_0_2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gfdf4830f7a_0_2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fdf4830f7a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fdf4830f7a_0_3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gfdf4830f7a_0_3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fdf4830f7a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fdf4830f7a_0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gfdf4830f7a_0_3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fdf4830f7a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fdf4830f7a_0_4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fdf4830f7a_0_4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df4830f7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fdf4830f7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gfdf4830f7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fdf4830f7a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fdf4830f7a_0_4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gfdf4830f7a_0_4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fdf4830f7a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fdf4830f7a_0_6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gfdf4830f7a_0_6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fdf4830f7a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fdf4830f7a_0_6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gfdf4830f7a_0_6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11" Type="http://schemas.openxmlformats.org/officeDocument/2006/relationships/hyperlink" Target="https://postgrespro.ru/docs/postgrespro/14/sql-explain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hyperlink" Target="https://tatiyants.com/pev/#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habr.com/ru/post/275851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ru.wikipedia.org/wiki/%D0%9A%D0%BE%D0%BD%D1%86%D0%B5%D0%BF%D1%82%D1%83%D0%B0%D0%BB%D1%8C%D0%BD%D0%B0%D1%8F_%D1%81%D1%85%D0%B5%D0%BC%D0%B0" TargetMode="External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12" Type="http://schemas.openxmlformats.org/officeDocument/2006/relationships/hyperlink" Target="https://ru.wikipedia.org/wiki/%D0%9C%D0%BE%D0%B4%D0%B5%D0%BB%D1%8C_%D0%B4%D0%B0%D0%BD%D0%BD%D1%8B%D1%85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11" Type="http://schemas.openxmlformats.org/officeDocument/2006/relationships/hyperlink" Target="https://ru.wikipedia.org/wiki/%D0%A1%D1%83%D1%89%D0%BD%D0%BE%D1%81%D1%82%D1%8C_(%D0%B8%D0%BD%D1%84%D0%BE%D1%80%D0%BC%D0%B0%D1%82%D0%B8%D0%BA%D0%B0)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s://ru.wikipedia.org/wiki/ER-%D0%BC%D0%BE%D0%B4%D0%B5%D0%BB%D1%8C" TargetMode="External"/><Relationship Id="rId10" Type="http://schemas.openxmlformats.org/officeDocument/2006/relationships/hyperlink" Target="https://ru.wikipedia.org/wiki/%D0%90%D0%BD%D0%B3%D0%BB%D0%B8%D0%B9%D1%81%D0%BA%D0%B8%D0%B9_%D1%8F%D0%B7%D1%8B%D0%BA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14" Type="http://schemas.openxmlformats.org/officeDocument/2006/relationships/hyperlink" Target="https://ru.wikipedia.org/wiki/%D0%9F%D1%80%D0%B5%D0%B4%D0%BC%D0%B5%D1%82%D0%BD%D0%B0%D1%8F_%D0%BE%D0%B1%D0%BB%D0%B0%D1%81%D1%82%D1%8C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postgresql.org/docs/14/tutorial-fk.html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302E76F6-031A-4F6F-8438-A4EF4C063228}"/>
              </a:ext>
            </a:extLst>
          </p:cNvPr>
          <p:cNvSpPr txBox="1">
            <a:spLocks/>
          </p:cNvSpPr>
          <p:nvPr/>
        </p:nvSpPr>
        <p:spPr>
          <a:xfrm>
            <a:off x="1631720" y="2371464"/>
            <a:ext cx="63088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11. ПРИЕМЫ ОПТИМИЗАЦИИ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3496F68C-0B7A-4620-827B-6F8104310731}"/>
              </a:ext>
            </a:extLst>
          </p:cNvPr>
          <p:cNvSpPr txBox="1">
            <a:spLocks/>
          </p:cNvSpPr>
          <p:nvPr/>
        </p:nvSpPr>
        <p:spPr>
          <a:xfrm>
            <a:off x="1619250" y="3038656"/>
            <a:ext cx="835824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ПЛАНЫ ЗАПРОСОВ. ER ДИАГРАММЫ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36193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1A29C0B7-4CC3-4096-A1A4-CBDCC43E7263}"/>
              </a:ext>
            </a:extLst>
          </p:cNvPr>
          <p:cNvSpPr/>
          <p:nvPr/>
        </p:nvSpPr>
        <p:spPr>
          <a:xfrm>
            <a:off x="1719852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план запроса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C53FD600-CF1D-40B7-9ADD-DBF78FF494DD}"/>
              </a:ext>
            </a:extLst>
          </p:cNvPr>
          <p:cNvSpPr/>
          <p:nvPr/>
        </p:nvSpPr>
        <p:spPr>
          <a:xfrm>
            <a:off x="5249348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как его правильно читать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DDC49FBD-987D-4D12-B984-BFB5D1EC91E0}"/>
              </a:ext>
            </a:extLst>
          </p:cNvPr>
          <p:cNvSpPr/>
          <p:nvPr/>
        </p:nvSpPr>
        <p:spPr>
          <a:xfrm>
            <a:off x="5915310" y="3499359"/>
            <a:ext cx="316194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Построить на практике </a:t>
            </a:r>
            <a:r>
              <a:rPr lang="en-US" sz="1800" dirty="0">
                <a:solidFill>
                  <a:schemeClr val="dk1"/>
                </a:solidFill>
              </a:rPr>
              <a:t>ER-</a:t>
            </a:r>
            <a:r>
              <a:rPr lang="ru-RU" sz="1800" dirty="0">
                <a:solidFill>
                  <a:schemeClr val="dk1"/>
                </a:solidFill>
              </a:rPr>
              <a:t>диаграмму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F1470D43-C676-4035-9122-8D847A12D0ED}"/>
              </a:ext>
            </a:extLst>
          </p:cNvPr>
          <p:cNvSpPr/>
          <p:nvPr/>
        </p:nvSpPr>
        <p:spPr>
          <a:xfrm>
            <a:off x="1719849" y="3499359"/>
            <a:ext cx="3915628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Узнать, что такое ER диаграмма и как ее построить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3A4C5CD6-F1D7-428E-9A10-2D6236920A07}"/>
              </a:ext>
            </a:extLst>
          </p:cNvPr>
          <p:cNvSpPr/>
          <p:nvPr/>
        </p:nvSpPr>
        <p:spPr>
          <a:xfrm>
            <a:off x="1902732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CDBAA882-873C-4A3C-AF5E-1902F1EC6D6B}"/>
              </a:ext>
            </a:extLst>
          </p:cNvPr>
          <p:cNvSpPr/>
          <p:nvPr/>
        </p:nvSpPr>
        <p:spPr>
          <a:xfrm>
            <a:off x="5432234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574718C6-42F6-40E5-A668-9171B9CB0381}"/>
              </a:ext>
            </a:extLst>
          </p:cNvPr>
          <p:cNvSpPr/>
          <p:nvPr/>
        </p:nvSpPr>
        <p:spPr>
          <a:xfrm>
            <a:off x="6098198" y="360396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7C3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07C3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EB4AE7FF-DFE9-4BAA-99CA-4FE0DC5D0209}"/>
              </a:ext>
            </a:extLst>
          </p:cNvPr>
          <p:cNvSpPr/>
          <p:nvPr/>
        </p:nvSpPr>
        <p:spPr>
          <a:xfrm>
            <a:off x="1902732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99"/>
                <a:ext cx="1511701" cy="976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0374D256-7CA3-4C16-9BA4-761993256F02}"/>
              </a:ext>
            </a:extLst>
          </p:cNvPr>
          <p:cNvSpPr/>
          <p:nvPr/>
        </p:nvSpPr>
        <p:spPr>
          <a:xfrm>
            <a:off x="2863612" y="3429000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Утилита для работы </a:t>
            </a:r>
          </a:p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с планами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E8967A5F-3625-4271-AB1F-9F19CFD3697B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ER-диаграммы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C3A57A21-9E1B-4A37-9585-42F4B87725A8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E2DAB885-9168-4B33-BD1F-BF6750B49FA6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54E984C0-67BA-40A5-8710-B1184F19A97D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505DE267-0B81-486D-9B05-301E16C5869C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Планы запросов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F5255398-F687-480C-92C6-3D61D87348CA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6C7F1CD6-F538-4DC9-B984-6BEE7588B464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606118B4-69AA-470F-9C5C-32DCB0AA1DC6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ПЛАНЫ ЗАПРОСОВ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3" name="Google Shape;163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70" name="Google Shape;170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2" name="Google Shape;172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5FF857-92B6-4287-92F2-1F71078DA17B}"/>
              </a:ext>
            </a:extLst>
          </p:cNvPr>
          <p:cNvSpPr/>
          <p:nvPr/>
        </p:nvSpPr>
        <p:spPr>
          <a:xfrm>
            <a:off x="2318619" y="2819344"/>
            <a:ext cx="797556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План выполнения показывает, как будут сканироваться таблицы, затрагиваемые оператором — просто последовательно, по индексу и т. д. — а если запрос связывает несколько </a:t>
            </a:r>
            <a:r>
              <a:rPr lang="ru-RU" sz="1600" dirty="0" err="1">
                <a:solidFill>
                  <a:schemeClr val="dk1"/>
                </a:solidFill>
              </a:rPr>
              <a:t>таблиц,план</a:t>
            </a:r>
            <a:r>
              <a:rPr lang="ru-RU" sz="1600" dirty="0">
                <a:solidFill>
                  <a:schemeClr val="dk1"/>
                </a:solidFill>
              </a:rPr>
              <a:t> запросов покажет какой алгоритм соединения будет выбран для объединения считанных из них строк.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5AF3632B-B5D1-4EFE-866C-A7943775BCF2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8F78E00E-9EE1-4233-B213-78EBB9F373BD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Google Shape;373;p43">
            <a:extLst>
              <a:ext uri="{FF2B5EF4-FFF2-40B4-BE49-F238E27FC236}">
                <a16:creationId xmlns:a16="http://schemas.microsoft.com/office/drawing/2014/main" id="{9429E215-63F3-4740-A734-9E59D35BDBD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6079" y="3092749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КОМАНДА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EXPLAIN</a:t>
            </a:r>
            <a:endParaRPr lang="en-US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2" name="Google Shape;182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5" name="Google Shape;185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" name="Google Shape;188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89" name="Google Shape;189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1" name="Google Shape;191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5498EC-C06E-4DF6-A965-9E9A991BD4AF}"/>
              </a:ext>
            </a:extLst>
          </p:cNvPr>
          <p:cNvSpPr txBox="1"/>
          <p:nvPr/>
        </p:nvSpPr>
        <p:spPr>
          <a:xfrm>
            <a:off x="1723053" y="1748543"/>
            <a:ext cx="6207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Показывает план выполнения запроса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EXPLAIN [ ( </a:t>
            </a:r>
            <a:r>
              <a:rPr lang="ru-RU" sz="1600" b="1" dirty="0">
                <a:solidFill>
                  <a:schemeClr val="dk1"/>
                </a:solidFill>
              </a:rPr>
              <a:t>параметр</a:t>
            </a:r>
            <a:r>
              <a:rPr lang="ru-RU" sz="1600" dirty="0">
                <a:solidFill>
                  <a:schemeClr val="dk1"/>
                </a:solidFill>
              </a:rPr>
              <a:t> [, ...] ) ] </a:t>
            </a:r>
            <a:r>
              <a:rPr lang="ru-RU" sz="1600" b="1" dirty="0">
                <a:solidFill>
                  <a:schemeClr val="dk1"/>
                </a:solidFill>
              </a:rPr>
              <a:t>оператор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7CD27C-8465-4D04-B106-9E46C8F8F7BC}"/>
              </a:ext>
            </a:extLst>
          </p:cNvPr>
          <p:cNvSpPr/>
          <p:nvPr/>
        </p:nvSpPr>
        <p:spPr>
          <a:xfrm>
            <a:off x="1723053" y="315554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Основные параметры: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ANALYZE [ </a:t>
            </a:r>
            <a:r>
              <a:rPr lang="ru-RU" sz="1600" b="1" dirty="0" err="1">
                <a:solidFill>
                  <a:schemeClr val="dk1"/>
                </a:solidFill>
              </a:rPr>
              <a:t>boolean</a:t>
            </a:r>
            <a:r>
              <a:rPr lang="ru-RU" sz="1600" dirty="0">
                <a:solidFill>
                  <a:schemeClr val="dk1"/>
                </a:solidFill>
              </a:rPr>
              <a:t> ] - также кроме демонстрации плана, выполняет запрос и показывает реальный результат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ru-RU" sz="1600" dirty="0">
                <a:solidFill>
                  <a:schemeClr val="dk1"/>
                </a:solidFill>
              </a:rPr>
              <a:t>FORMAT { TEXT | XML | JSON | YAML } - если указать, например, JSON, то выведет более подробную статистику, также можно передать по внешние утилиты</a:t>
            </a: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B9C536A6-0C4B-429A-B201-8D1FFB9197A5}"/>
              </a:ext>
            </a:extLst>
          </p:cNvPr>
          <p:cNvCxnSpPr/>
          <p:nvPr/>
        </p:nvCxnSpPr>
        <p:spPr>
          <a:xfrm>
            <a:off x="1774825" y="288782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25;p11">
            <a:extLst>
              <a:ext uri="{FF2B5EF4-FFF2-40B4-BE49-F238E27FC236}">
                <a16:creationId xmlns:a16="http://schemas.microsoft.com/office/drawing/2014/main" id="{43766DDC-3312-4C69-917B-5EB3B25C10D4}"/>
              </a:ext>
            </a:extLst>
          </p:cNvPr>
          <p:cNvSpPr/>
          <p:nvPr/>
        </p:nvSpPr>
        <p:spPr>
          <a:xfrm>
            <a:off x="1651000" y="1041346"/>
            <a:ext cx="8680731" cy="4973789"/>
          </a:xfrm>
          <a:prstGeom prst="roundRect">
            <a:avLst>
              <a:gd name="adj" fmla="val 3384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ПРИМЕР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EXPLAIN</a:t>
            </a:r>
            <a:endParaRPr lang="en-US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1" name="Google Shape;201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" name="Google Shape;207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08" name="Google Shape;208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0" name="Google Shape;210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09447" y="1261391"/>
            <a:ext cx="3748681" cy="450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16574" y="1261391"/>
            <a:ext cx="4107532" cy="450979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25;p11">
            <a:extLst>
              <a:ext uri="{FF2B5EF4-FFF2-40B4-BE49-F238E27FC236}">
                <a16:creationId xmlns:a16="http://schemas.microsoft.com/office/drawing/2014/main" id="{ABDBB916-08FD-4FC3-93A1-CCB388FD2E41}"/>
              </a:ext>
            </a:extLst>
          </p:cNvPr>
          <p:cNvSpPr/>
          <p:nvPr/>
        </p:nvSpPr>
        <p:spPr>
          <a:xfrm>
            <a:off x="1651000" y="1575226"/>
            <a:ext cx="8680731" cy="3266074"/>
          </a:xfrm>
          <a:prstGeom prst="roundRect">
            <a:avLst>
              <a:gd name="adj" fmla="val 5289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0" name="Google Shape;220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3" name="Google Shape;223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" name="Google Shape;226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27" name="Google Shape;227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9" name="Google Shape;229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1654628" y="359177"/>
            <a:ext cx="774440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СТАНДАРТНОЕ ВИЗУАЛЬНОЕ ИЗОБРАЖЕНИЕ </a:t>
            </a:r>
            <a:r>
              <a:rPr lang="en-US" dirty="0">
                <a:sym typeface="Avenir"/>
              </a:rPr>
              <a:t>EXPLAIN</a:t>
            </a:r>
          </a:p>
        </p:txBody>
      </p:sp>
      <p:pic>
        <p:nvPicPr>
          <p:cNvPr id="238" name="Google Shape;238;p22" descr="PostgreSQL EXPLAIN Explain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61652" y="1841428"/>
            <a:ext cx="6059425" cy="2733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1699942" y="5353847"/>
            <a:ext cx="921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План читаем снизу вверх </a:t>
            </a:r>
            <a:r>
              <a:rPr lang="ru-RU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https://postgrespro.ru/docs/postgrespro/1</a:t>
            </a:r>
            <a:r>
              <a:rPr lang="ru-RU" sz="1600" u="sng" dirty="0">
                <a:solidFill>
                  <a:schemeClr val="hlink"/>
                </a:solidFill>
                <a:hlinkClick r:id="rId11"/>
              </a:rPr>
              <a:t>4</a:t>
            </a:r>
            <a:r>
              <a:rPr lang="ru-RU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/sql-explain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7" name="Google Shape;247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3" name="Google Shape;253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4" name="Google Shape;254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" name="Google Shape;255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6" name="Google Shape;256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1698170" y="359177"/>
            <a:ext cx="7974565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УТИЛИТА ДЛЯ ВИЗУАЛЬНОГО ПРОСМОТРА EXPLAIN</a:t>
            </a:r>
          </a:p>
        </p:txBody>
      </p:sp>
      <p:sp>
        <p:nvSpPr>
          <p:cNvPr id="265" name="Google Shape;265;p23"/>
          <p:cNvSpPr/>
          <p:nvPr/>
        </p:nvSpPr>
        <p:spPr>
          <a:xfrm>
            <a:off x="1698170" y="3070433"/>
            <a:ext cx="231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https://tatiyants.com/pev/#/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04809" y="1735851"/>
            <a:ext cx="5860014" cy="328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25;p11">
            <a:extLst>
              <a:ext uri="{FF2B5EF4-FFF2-40B4-BE49-F238E27FC236}">
                <a16:creationId xmlns:a16="http://schemas.microsoft.com/office/drawing/2014/main" id="{5C99F964-76DC-4397-919D-CB063F795FA5}"/>
              </a:ext>
            </a:extLst>
          </p:cNvPr>
          <p:cNvSpPr/>
          <p:nvPr/>
        </p:nvSpPr>
        <p:spPr>
          <a:xfrm>
            <a:off x="4698514" y="1575225"/>
            <a:ext cx="6274286" cy="3656137"/>
          </a:xfrm>
          <a:prstGeom prst="roundRect">
            <a:avLst>
              <a:gd name="adj" fmla="val 5289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1651000" y="336950"/>
            <a:ext cx="3953588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ПРАКТИКА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EXPLAIN</a:t>
            </a:r>
            <a:endParaRPr lang="en-US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74" name="Google Shape;274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75" name="Google Shape;275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8" name="Google Shape;278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" name="Google Shape;281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82" name="Google Shape;282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84" name="Google Shape;284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/>
          <p:nvPr/>
        </p:nvSpPr>
        <p:spPr>
          <a:xfrm>
            <a:off x="1689100" y="2911069"/>
            <a:ext cx="8445600" cy="76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Используем 2 таблицы с урока по </a:t>
            </a:r>
            <a:r>
              <a:rPr lang="ru-RU" sz="1800" dirty="0" err="1">
                <a:solidFill>
                  <a:schemeClr val="dk1"/>
                </a:solidFill>
              </a:rPr>
              <a:t>Джойнам</a:t>
            </a:r>
            <a:r>
              <a:rPr lang="ru-RU" sz="1800" dirty="0">
                <a:solidFill>
                  <a:schemeClr val="dk1"/>
                </a:solidFill>
              </a:rPr>
              <a:t>, сделаем EXPLAIN и загрузим его в утилиту для визуального просмотра</a:t>
            </a:r>
            <a:endParaRPr sz="1800" dirty="0">
              <a:solidFill>
                <a:schemeClr val="dk1"/>
              </a:solidFill>
            </a:endParaRPr>
          </a:p>
        </p:txBody>
      </p:sp>
      <p:cxnSp>
        <p:nvCxnSpPr>
          <p:cNvPr id="16" name="Google Shape;163;p7">
            <a:extLst>
              <a:ext uri="{FF2B5EF4-FFF2-40B4-BE49-F238E27FC236}">
                <a16:creationId xmlns:a16="http://schemas.microsoft.com/office/drawing/2014/main" id="{BF16D338-3F1A-49DC-B6AF-B9BA955EF21C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4EA55044-EFE7-4639-A016-12B909169230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БОЛЕЕ ГЛУБОКОЕ ПОНИМАНИЕ </a:t>
            </a:r>
            <a:r>
              <a:rPr lang="en-US" sz="2500" dirty="0">
                <a:solidFill>
                  <a:srgbClr val="030124"/>
                </a:solidFill>
                <a:latin typeface="Arial Black"/>
                <a:sym typeface="Arial Black"/>
              </a:rPr>
              <a:t>EXPLAIN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endParaRPr lang="en-US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94" name="Google Shape;294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7" name="Google Shape;297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0" name="Google Shape;300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01" name="Google Shape;301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" name="Google Shape;302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3" name="Google Shape;303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/>
          <p:nvPr/>
        </p:nvSpPr>
        <p:spPr>
          <a:xfrm>
            <a:off x="1689100" y="2271564"/>
            <a:ext cx="8445600" cy="2246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Цикл статей на </a:t>
            </a:r>
            <a:r>
              <a:rPr lang="ru-RU" sz="1600" dirty="0" err="1">
                <a:solidFill>
                  <a:schemeClr val="dk1"/>
                </a:solidFill>
              </a:rPr>
              <a:t>Хабр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Объясняя необъяснимое / </a:t>
            </a:r>
            <a:r>
              <a:rPr lang="ru-RU" sz="1600" u="sng" dirty="0" err="1">
                <a:solidFill>
                  <a:schemeClr val="hlink"/>
                </a:solidFill>
                <a:hlinkClick r:id="rId10"/>
              </a:rPr>
              <a:t>Хабр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</a:rPr>
              <a:t>Где объясняется: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что такое “попугаи”</a:t>
            </a:r>
            <a:endParaRPr sz="1600" dirty="0">
              <a:solidFill>
                <a:schemeClr val="dk1"/>
              </a:solidFill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почему иногда полное сканирование, а не индексное </a:t>
            </a:r>
            <a:endParaRPr sz="1600" dirty="0">
              <a:solidFill>
                <a:schemeClr val="dk1"/>
              </a:solidFill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какие параметры влияют на план запроса</a:t>
            </a:r>
            <a:endParaRPr sz="1600" dirty="0">
              <a:solidFill>
                <a:schemeClr val="dk1"/>
              </a:solidFill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и многое другое</a:t>
            </a: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16" name="Google Shape;163;p7">
            <a:extLst>
              <a:ext uri="{FF2B5EF4-FFF2-40B4-BE49-F238E27FC236}">
                <a16:creationId xmlns:a16="http://schemas.microsoft.com/office/drawing/2014/main" id="{5D5F268E-85F2-43FD-82A6-FC7FDE2D22C7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44878016-B163-4931-A759-A9627DC7D279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en-US" sz="2500" dirty="0">
                <a:solidFill>
                  <a:srgbClr val="030124"/>
                </a:solidFill>
                <a:latin typeface="Arial Black"/>
                <a:sym typeface="Arial Black"/>
              </a:rPr>
              <a:t>ER-</a:t>
            </a: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МОДЕЛЬ</a:t>
            </a:r>
          </a:p>
        </p:txBody>
      </p:sp>
      <p:grpSp>
        <p:nvGrpSpPr>
          <p:cNvPr id="312" name="Google Shape;312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13" name="Google Shape;313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16" name="Google Shape;316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9" name="Google Shape;319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20" name="Google Shape;320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" name="Google Shape;321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22" name="Google Shape;322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/>
          <p:nvPr/>
        </p:nvSpPr>
        <p:spPr>
          <a:xfrm>
            <a:off x="1689099" y="2372723"/>
            <a:ext cx="9084647" cy="211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</a:rPr>
              <a:t>ER-модель</a:t>
            </a:r>
            <a:r>
              <a:rPr lang="ru-RU" sz="1600" dirty="0">
                <a:solidFill>
                  <a:schemeClr val="dk1"/>
                </a:solidFill>
              </a:rPr>
              <a:t> (от</a:t>
            </a:r>
            <a:r>
              <a:rPr lang="ru-RU" sz="1600" dirty="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англ.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Entity-Relationship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model</a:t>
            </a:r>
            <a:r>
              <a:rPr lang="ru-RU" sz="1600" dirty="0">
                <a:solidFill>
                  <a:schemeClr val="dk1"/>
                </a:solidFill>
              </a:rPr>
              <a:t>, модель «</a:t>
            </a:r>
            <a:r>
              <a:rPr lang="ru-RU" sz="1600" u="sng" dirty="0">
                <a:solidFill>
                  <a:schemeClr val="hlink"/>
                </a:solidFill>
                <a:hlinkClick r:id="rId11"/>
              </a:rPr>
              <a:t>сущность</a:t>
            </a:r>
            <a:r>
              <a:rPr lang="ru-RU" sz="1600" dirty="0">
                <a:solidFill>
                  <a:schemeClr val="dk1"/>
                </a:solidFill>
              </a:rPr>
              <a:t> — связь</a:t>
            </a:r>
            <a:r>
              <a:rPr lang="ru-RU" sz="1600" i="1" dirty="0">
                <a:solidFill>
                  <a:schemeClr val="dk1"/>
                </a:solidFill>
              </a:rPr>
              <a:t>»</a:t>
            </a:r>
            <a:r>
              <a:rPr lang="ru-RU" sz="1600" dirty="0">
                <a:solidFill>
                  <a:schemeClr val="dk1"/>
                </a:solidFill>
              </a:rPr>
              <a:t>) —</a:t>
            </a:r>
            <a:r>
              <a:rPr lang="ru-RU" sz="1600" dirty="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2"/>
              </a:rPr>
              <a:t>модель данных</a:t>
            </a:r>
            <a:r>
              <a:rPr lang="ru-RU" sz="1600" dirty="0">
                <a:solidFill>
                  <a:schemeClr val="dk1"/>
                </a:solidFill>
              </a:rPr>
              <a:t>, позволяющая описывать</a:t>
            </a:r>
            <a:r>
              <a:rPr lang="ru-RU" sz="1600" dirty="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3"/>
              </a:rPr>
              <a:t>концептуальные схемы</a:t>
            </a:r>
            <a:r>
              <a:rPr lang="ru-RU" sz="1600" dirty="0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4"/>
              </a:rPr>
              <a:t>предметной области</a:t>
            </a:r>
            <a:r>
              <a:rPr lang="ru-RU" sz="1600" dirty="0">
                <a:solidFill>
                  <a:schemeClr val="dk1"/>
                </a:solidFill>
              </a:rPr>
              <a:t>.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5"/>
              </a:rPr>
              <a:t>ER-модель — Википедия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Иными словами, </a:t>
            </a:r>
            <a:r>
              <a:rPr lang="ru-RU" sz="1600" dirty="0">
                <a:solidFill>
                  <a:srgbClr val="3F3F3F"/>
                </a:solidFill>
              </a:rPr>
              <a:t>она определяет сущности и связи между сущностями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16" name="Google Shape;163;p7">
            <a:extLst>
              <a:ext uri="{FF2B5EF4-FFF2-40B4-BE49-F238E27FC236}">
                <a16:creationId xmlns:a16="http://schemas.microsoft.com/office/drawing/2014/main" id="{D62171C1-6009-4BA1-9B9A-D2B85055EA80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62CD5BC5-C4F4-48DE-9AAF-01388C61DB39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31" name="Google Shape;331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" name="Google Shape;333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34" name="Google Shape;334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7" name="Google Shape;337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38" name="Google Shape;338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" name="Google Shape;339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40" name="Google Shape;340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7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СОСТАВ </a:t>
            </a:r>
            <a:r>
              <a:rPr lang="en-US" dirty="0">
                <a:sym typeface="Open Sans"/>
              </a:rPr>
              <a:t>ER-</a:t>
            </a:r>
            <a:r>
              <a:rPr lang="ru-RU" dirty="0">
                <a:sym typeface="Open Sans"/>
              </a:rPr>
              <a:t>МОДЕЛИ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D395A-B459-40ED-A952-B8E2D4B827D8}"/>
              </a:ext>
            </a:extLst>
          </p:cNvPr>
          <p:cNvSpPr txBox="1"/>
          <p:nvPr/>
        </p:nvSpPr>
        <p:spPr>
          <a:xfrm>
            <a:off x="1667068" y="1199998"/>
            <a:ext cx="8956916" cy="457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Сущность (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entity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– это реальный или представляемый тип объекта, информация о котором должна сохраняться и быть доступна.</a:t>
            </a:r>
          </a:p>
          <a:p>
            <a:pPr lvl="0" algn="just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Связь (</a:t>
            </a:r>
            <a:r>
              <a:rPr lang="ru-RU" sz="1600" b="1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relationship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– это графически изображаемая ассоциация, устанавливаемая между двумя сущностями. Связь может существовать между двумя разными сущностями или между сущностью и ей же самой (рекурсивная связь). Возможны связи на основе отношений:</a:t>
            </a:r>
          </a:p>
          <a:p>
            <a:pPr lvl="0" algn="just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endParaRPr lang="ru-RU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285750" lvl="0" indent="-28575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один-к-одному - на 1 запись первой таблицы соответствует 1 запись второй (не используется практически)</a:t>
            </a:r>
          </a:p>
          <a:p>
            <a:pPr marL="285750" lvl="0" indent="-28575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один-ко-многим - на 1 первой - много во второй (справочник)</a:t>
            </a:r>
          </a:p>
          <a:p>
            <a:pPr marL="285750" lvl="0" indent="-28575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многие-ко-многим - промежуточная таблица, совмещающая варианты соединений (авторы и книги)</a:t>
            </a:r>
          </a:p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Связь обычно задается ограничением в виде 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FOREIGN KEY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u="sng" dirty="0">
                <a:solidFill>
                  <a:schemeClr val="hlink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  <a:hlinkClick r:id="rId10"/>
              </a:rPr>
              <a:t>https://www.postgresql.org/docs/14/tutorial-fk.html</a:t>
            </a:r>
            <a:r>
              <a:rPr lang="ru-RU" sz="1600" dirty="0">
                <a:solidFill>
                  <a:srgbClr val="3F3F3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ПРИМЕР 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ER-</a:t>
            </a: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МОДЕЛИ</a:t>
            </a: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58" name="Google Shape;358;p2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2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61" name="Google Shape;361;p2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2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4" name="Google Shape;364;p2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65" name="Google Shape;365;p2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6" name="Google Shape;366;p2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67" name="Google Shape;367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66799" y="1199730"/>
            <a:ext cx="7524597" cy="462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25;p11">
            <a:extLst>
              <a:ext uri="{FF2B5EF4-FFF2-40B4-BE49-F238E27FC236}">
                <a16:creationId xmlns:a16="http://schemas.microsoft.com/office/drawing/2014/main" id="{D451B21E-23B6-41DF-9E01-7A533CE29CA8}"/>
              </a:ext>
            </a:extLst>
          </p:cNvPr>
          <p:cNvSpPr/>
          <p:nvPr/>
        </p:nvSpPr>
        <p:spPr>
          <a:xfrm>
            <a:off x="1651000" y="1032588"/>
            <a:ext cx="8680731" cy="4976326"/>
          </a:xfrm>
          <a:prstGeom prst="roundRect">
            <a:avLst>
              <a:gd name="adj" fmla="val 3414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76" name="Google Shape;376;p2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" name="Google Shape;378;p2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79" name="Google Shape;379;p2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2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2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2" name="Google Shape;382;p2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83" name="Google Shape;383;p2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4" name="Google Shape;384;p2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85" name="Google Shape;385;p2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9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ПОСТРОИМ </a:t>
            </a:r>
            <a:r>
              <a:rPr lang="en-US" dirty="0">
                <a:sym typeface="Open Sans"/>
              </a:rPr>
              <a:t>ER-</a:t>
            </a:r>
            <a:r>
              <a:rPr lang="ru-RU" dirty="0">
                <a:sym typeface="Open Sans"/>
              </a:rPr>
              <a:t>МОДЕЛЬ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9E9F2-C92C-4B65-B858-6A6E37A2896F}"/>
              </a:ext>
            </a:extLst>
          </p:cNvPr>
          <p:cNvSpPr txBox="1"/>
          <p:nvPr/>
        </p:nvSpPr>
        <p:spPr>
          <a:xfrm>
            <a:off x="1667068" y="2346650"/>
            <a:ext cx="8708573" cy="166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rgbClr val="3F3F3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План работы: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endParaRPr lang="ru-RU" sz="1600" b="1" dirty="0">
              <a:solidFill>
                <a:srgbClr val="3F3F3F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5560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rgbClr val="3F3F3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Создадим 2 таблицы с товарами и продажами, свяжем по внешнему ключу продажи с товарами</a:t>
            </a:r>
          </a:p>
          <a:p>
            <a:pPr marL="457200" lvl="0" indent="-355600">
              <a:lnSpc>
                <a:spcPct val="115000"/>
              </a:lnSpc>
              <a:buClr>
                <a:srgbClr val="3F3F3F"/>
              </a:buClr>
              <a:buSzPct val="100000"/>
              <a:buFont typeface="Open Sans"/>
              <a:buAutoNum type="arabicPeriod"/>
            </a:pPr>
            <a:r>
              <a:rPr lang="ru-RU" sz="1600" dirty="0">
                <a:solidFill>
                  <a:srgbClr val="3F3F3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Построим ER-диаграмму в </a:t>
            </a:r>
            <a:r>
              <a:rPr lang="ru-RU" sz="1600" dirty="0" err="1">
                <a:solidFill>
                  <a:srgbClr val="3F3F3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DBeaver</a:t>
            </a:r>
            <a:endParaRPr lang="ru-RU" sz="1600" dirty="0">
              <a:solidFill>
                <a:srgbClr val="3F3F3F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2D4C8673-BFA2-4710-87C2-A88519BC76B6}"/>
              </a:ext>
            </a:extLst>
          </p:cNvPr>
          <p:cNvCxnSpPr/>
          <p:nvPr/>
        </p:nvCxnSpPr>
        <p:spPr>
          <a:xfrm>
            <a:off x="1774825" y="288782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25;p11">
            <a:extLst>
              <a:ext uri="{FF2B5EF4-FFF2-40B4-BE49-F238E27FC236}">
                <a16:creationId xmlns:a16="http://schemas.microsoft.com/office/drawing/2014/main" id="{424D6C86-00BC-4B9A-BC4B-0F7555857E05}"/>
              </a:ext>
            </a:extLst>
          </p:cNvPr>
          <p:cNvSpPr/>
          <p:nvPr/>
        </p:nvSpPr>
        <p:spPr>
          <a:xfrm>
            <a:off x="1651000" y="1032588"/>
            <a:ext cx="8680731" cy="4976326"/>
          </a:xfrm>
          <a:prstGeom prst="roundRect">
            <a:avLst>
              <a:gd name="adj" fmla="val 3414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3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402" name="Google Shape;402;p3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3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3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405" name="Google Shape;405;p3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3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3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8" name="Google Shape;408;p3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409" name="Google Shape;409;p3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0" name="Google Shape;410;p3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411" name="Google Shape;411;p3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ПРИМЕР </a:t>
            </a:r>
            <a:r>
              <a:rPr lang="en-US" dirty="0">
                <a:sym typeface="Open Sans"/>
              </a:rPr>
              <a:t>ER-</a:t>
            </a:r>
            <a:r>
              <a:rPr lang="ru-RU" dirty="0">
                <a:sym typeface="Open Sans"/>
              </a:rPr>
              <a:t>МОДЕЛЬ ИЗ </a:t>
            </a:r>
            <a:r>
              <a:rPr lang="en-US" dirty="0">
                <a:sym typeface="Open Sans"/>
              </a:rPr>
              <a:t>DBEAVER</a:t>
            </a:r>
          </a:p>
        </p:txBody>
      </p:sp>
      <p:pic>
        <p:nvPicPr>
          <p:cNvPr id="420" name="Google Shape;4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05061" y="1125576"/>
            <a:ext cx="5381878" cy="469983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1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31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428" name="Google Shape;428;p31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29" name="Google Shape;429;p31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31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31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31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31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1"/>
            <p:cNvSpPr txBox="1"/>
            <p:nvPr/>
          </p:nvSpPr>
          <p:spPr>
            <a:xfrm>
              <a:off x="3260998" y="544530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42" name="Google Shape;442;p32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443" name="Google Shape;443;p3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3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5" name="Google Shape;445;p32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446" name="Google Shape;446;p3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3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3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9" name="Google Shape;449;p3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450" name="Google Shape;450;p3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32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452" name="Google Shape;452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5429D732-BF47-4854-9B7B-3473454B6362}"/>
              </a:ext>
            </a:extLst>
          </p:cNvPr>
          <p:cNvSpPr/>
          <p:nvPr/>
        </p:nvSpPr>
        <p:spPr>
          <a:xfrm>
            <a:off x="1725839" y="1720676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Поняли, что такое план запроса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23AF1FFC-089B-42B5-884C-1CBBD47F0195}"/>
              </a:ext>
            </a:extLst>
          </p:cNvPr>
          <p:cNvSpPr/>
          <p:nvPr/>
        </p:nvSpPr>
        <p:spPr>
          <a:xfrm>
            <a:off x="4761325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Поняли, как его правильно читать</a:t>
            </a:r>
          </a:p>
        </p:txBody>
      </p:sp>
      <p:sp>
        <p:nvSpPr>
          <p:cNvPr id="18" name="Google Shape;533;g142b2dfbfff_0_351">
            <a:extLst>
              <a:ext uri="{FF2B5EF4-FFF2-40B4-BE49-F238E27FC236}">
                <a16:creationId xmlns:a16="http://schemas.microsoft.com/office/drawing/2014/main" id="{C46E1E50-1B25-4A90-8658-79A79E057F5D}"/>
              </a:ext>
            </a:extLst>
          </p:cNvPr>
          <p:cNvSpPr/>
          <p:nvPr/>
        </p:nvSpPr>
        <p:spPr>
          <a:xfrm>
            <a:off x="5571950" y="3578940"/>
            <a:ext cx="28950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Построили на практике </a:t>
            </a:r>
            <a:r>
              <a:rPr lang="en-US" sz="1800" dirty="0">
                <a:solidFill>
                  <a:schemeClr val="dk1"/>
                </a:solidFill>
              </a:rPr>
              <a:t>ER-</a:t>
            </a:r>
            <a:r>
              <a:rPr lang="ru-RU" sz="1800" dirty="0">
                <a:solidFill>
                  <a:schemeClr val="dk1"/>
                </a:solidFill>
              </a:rPr>
              <a:t>диаграмму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78CCFA5C-BDB9-4A1D-849A-8153FD0E221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656D6D57-7BD0-4642-9D1E-E0CBB671D40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36;g142b2dfbfff_0_351">
            <a:extLst>
              <a:ext uri="{FF2B5EF4-FFF2-40B4-BE49-F238E27FC236}">
                <a16:creationId xmlns:a16="http://schemas.microsoft.com/office/drawing/2014/main" id="{10938DDC-F3F1-4B8A-98CE-692DD72EDBA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5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1208EA3B-26C9-4FF2-8650-C56DBF4B21A6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Узнали, что такое ER диаграмма и как ее построить</a:t>
            </a: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4FAC389B-E67F-466D-A09B-6D636504BB9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67500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0" name="Google Shape;460;p3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3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3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3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Секционирование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464" name="Google Shape;464;p33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3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3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3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468" name="Google Shape;468;p33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3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470" name="Google Shape;470;p33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552</Words>
  <Application>Microsoft Office PowerPoint</Application>
  <PresentationFormat>Широкоэкранный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Proxima Nova</vt:lpstr>
      <vt:lpstr>Arial Black</vt:lpstr>
      <vt:lpstr>Avenir</vt:lpstr>
      <vt:lpstr>Open Sans</vt:lpstr>
      <vt:lpstr>Helvetica Neue</vt:lpstr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11</cp:revision>
  <dcterms:modified xsi:type="dcterms:W3CDTF">2022-08-29T22:47:19Z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CB4AEF79-C273-4F12-AF12-96472A46CF6B</vt:lpwstr>
  </property>
  <property fmtid="{D5CDD505-2E9C-101B-9397-08002B2CF9AE}" pid="3" name="ArticulatePath">
    <vt:lpwstr>37 Планы запросов. ER диаграммы</vt:lpwstr>
  </property>
</Properties>
</file>