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6"/>
  </p:notes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Arial Black" panose="020B0A04020102020204" pitchFamily="34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Proxima Nova" panose="020B0604020202020204" charset="0"/>
      <p:regular r:id="rId35"/>
      <p:bold r:id="rId36"/>
      <p:italic r:id="rId37"/>
      <p:boldItalic r:id="rId38"/>
    </p:embeddedFont>
    <p:embeddedFont>
      <p:font typeface="Source Code Pro" panose="020B0604020202020204" charset="0"/>
      <p:regular r:id="rId39"/>
      <p:bold r:id="rId40"/>
      <p:italic r:id="rId41"/>
      <p:boldItalic r:id="rId42"/>
    </p:embeddedFont>
  </p:embeddedFontLst>
  <p:custDataLst>
    <p:tags r:id="rId4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theme" Target="theme/theme1.xml"/><Relationship Id="rId20" Type="http://schemas.openxmlformats.org/officeDocument/2006/relationships/font" Target="fonts/font4.fntdata"/><Relationship Id="rId41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453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df0324c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fdf0324c0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fdf0324c0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402e914f6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14402e914f6_0_1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14402e914f6_0_1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402e914f6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4402e914f6_0_2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g14402e914f6_0_2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4402e914f6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4402e914f6_0_4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14402e914f6_0_4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4402e914f6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4402e914f6_0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g14402e914f6_0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4402e914f6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14402e914f6_0_4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g14402e914f6_0_4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4402e914f6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14402e914f6_0_5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g14402e914f6_0_5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4E840084-BE71-4D24-ADC4-C02BEEF278FC}"/>
              </a:ext>
            </a:extLst>
          </p:cNvPr>
          <p:cNvSpPr txBox="1">
            <a:spLocks/>
          </p:cNvSpPr>
          <p:nvPr/>
        </p:nvSpPr>
        <p:spPr>
          <a:xfrm>
            <a:off x="1631720" y="2601619"/>
            <a:ext cx="63088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sz="2800" dirty="0"/>
              <a:t>БЛОК 11. ПРИЕМЫ ОПТИМИЗАЦИИ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F414A273-3B17-4D96-A750-6BC33B49CB35}"/>
              </a:ext>
            </a:extLst>
          </p:cNvPr>
          <p:cNvSpPr txBox="1">
            <a:spLocks/>
          </p:cNvSpPr>
          <p:nvPr/>
        </p:nvSpPr>
        <p:spPr>
          <a:xfrm>
            <a:off x="1619250" y="3268811"/>
            <a:ext cx="835824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СЕКЦИОНИРОВАНИЕ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47730" y="379035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39BD7F45-1A1C-4BA3-8621-34FE42D38C33}"/>
              </a:ext>
            </a:extLst>
          </p:cNvPr>
          <p:cNvSpPr/>
          <p:nvPr/>
        </p:nvSpPr>
        <p:spPr>
          <a:xfrm>
            <a:off x="1719852" y="1434098"/>
            <a:ext cx="329933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что такое секционирование таблиц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26D79B62-2397-4948-A9E7-139DE05B2EFE}"/>
              </a:ext>
            </a:extLst>
          </p:cNvPr>
          <p:cNvSpPr/>
          <p:nvPr/>
        </p:nvSpPr>
        <p:spPr>
          <a:xfrm>
            <a:off x="5249348" y="1434109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 зачем оно нужно</a:t>
            </a:r>
          </a:p>
        </p:txBody>
      </p:sp>
      <p:sp>
        <p:nvSpPr>
          <p:cNvPr id="22" name="Google Shape;284;p2">
            <a:extLst>
              <a:ext uri="{FF2B5EF4-FFF2-40B4-BE49-F238E27FC236}">
                <a16:creationId xmlns:a16="http://schemas.microsoft.com/office/drawing/2014/main" id="{E493D6C1-5BD2-4D9A-BEE4-E92D7BEFC39C}"/>
              </a:ext>
            </a:extLst>
          </p:cNvPr>
          <p:cNvSpPr/>
          <p:nvPr/>
        </p:nvSpPr>
        <p:spPr>
          <a:xfrm>
            <a:off x="5915310" y="3499359"/>
            <a:ext cx="3161945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секционировать таблицу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209E4A88-69BD-44B9-9FAB-A06824553A7A}"/>
              </a:ext>
            </a:extLst>
          </p:cNvPr>
          <p:cNvSpPr/>
          <p:nvPr/>
        </p:nvSpPr>
        <p:spPr>
          <a:xfrm>
            <a:off x="1719849" y="3499359"/>
            <a:ext cx="3915628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как секционировать таблицу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7A42668D-B6C7-4D28-B958-5F81E655C4C4}"/>
              </a:ext>
            </a:extLst>
          </p:cNvPr>
          <p:cNvSpPr/>
          <p:nvPr/>
        </p:nvSpPr>
        <p:spPr>
          <a:xfrm>
            <a:off x="1902732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7E0AD962-5376-46E9-A604-E85F8481A700}"/>
              </a:ext>
            </a:extLst>
          </p:cNvPr>
          <p:cNvSpPr/>
          <p:nvPr/>
        </p:nvSpPr>
        <p:spPr>
          <a:xfrm>
            <a:off x="5432234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90;p2">
            <a:extLst>
              <a:ext uri="{FF2B5EF4-FFF2-40B4-BE49-F238E27FC236}">
                <a16:creationId xmlns:a16="http://schemas.microsoft.com/office/drawing/2014/main" id="{59C02FBE-4790-42B8-AFB2-E9E2F557332C}"/>
              </a:ext>
            </a:extLst>
          </p:cNvPr>
          <p:cNvSpPr/>
          <p:nvPr/>
        </p:nvSpPr>
        <p:spPr>
          <a:xfrm>
            <a:off x="6098198" y="360396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7C3FD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07C3F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078EC0B5-26D1-47BF-AB4D-30B76A1B5E15}"/>
              </a:ext>
            </a:extLst>
          </p:cNvPr>
          <p:cNvSpPr/>
          <p:nvPr/>
        </p:nvSpPr>
        <p:spPr>
          <a:xfrm>
            <a:off x="1902732" y="3645805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26DD3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826D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F911ADFD-0F2E-4397-A34A-2AC767B69D36}"/>
              </a:ext>
            </a:extLst>
          </p:cNvPr>
          <p:cNvSpPr/>
          <p:nvPr/>
        </p:nvSpPr>
        <p:spPr>
          <a:xfrm>
            <a:off x="2863612" y="3582888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Виды секционирования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F67C030C-37F6-488F-A1F1-E87A6EF3AAC8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Практика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73B5F133-2404-4C82-9AEE-D61FC6F16E98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F96F88B6-D689-4C53-81B1-74520468689A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EBC2F4CA-ADEB-44B4-9293-2C7838943D0E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87144178-647E-406B-8841-FB7798A8BF58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Секционирование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5AE3B16B-8D7F-452E-B84E-CE7DBD8F0259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CFD8D0FB-BB23-43C7-A211-E79D4D4764E8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F4FFB768-8EF7-4B6C-8B44-A5436E8813E5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998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25;p11">
            <a:extLst>
              <a:ext uri="{FF2B5EF4-FFF2-40B4-BE49-F238E27FC236}">
                <a16:creationId xmlns:a16="http://schemas.microsoft.com/office/drawing/2014/main" id="{B2DF60E4-4470-48ED-B010-C973CEE4F769}"/>
              </a:ext>
            </a:extLst>
          </p:cNvPr>
          <p:cNvSpPr/>
          <p:nvPr/>
        </p:nvSpPr>
        <p:spPr>
          <a:xfrm>
            <a:off x="1684106" y="2120925"/>
            <a:ext cx="8486261" cy="1827927"/>
          </a:xfrm>
          <a:prstGeom prst="roundRect">
            <a:avLst>
              <a:gd name="adj" fmla="val 7127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1667068" y="359177"/>
            <a:ext cx="980519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СЕКЦИОНИРОВАНИЕ</a:t>
            </a:r>
          </a:p>
        </p:txBody>
      </p:sp>
      <p:pic>
        <p:nvPicPr>
          <p:cNvPr id="181" name="Google Shape;181;p1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5878" y="2251578"/>
            <a:ext cx="3105475" cy="15527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A85C70-5501-4A19-A145-87A32E8A761E}"/>
              </a:ext>
            </a:extLst>
          </p:cNvPr>
          <p:cNvSpPr txBox="1"/>
          <p:nvPr/>
        </p:nvSpPr>
        <p:spPr>
          <a:xfrm>
            <a:off x="1667069" y="1211759"/>
            <a:ext cx="8503298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u-RU" dirty="0">
                <a:solidFill>
                  <a:schemeClr val="dk1"/>
                </a:solidFill>
              </a:rPr>
              <a:t>Секционированием данных называется разбиение одной большой логической таблицы на несколько меньших физических секций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5B54592-D340-4C8D-9B40-B7C0F6B74A43}"/>
              </a:ext>
            </a:extLst>
          </p:cNvPr>
          <p:cNvSpPr/>
          <p:nvPr/>
        </p:nvSpPr>
        <p:spPr>
          <a:xfrm>
            <a:off x="1667067" y="4077353"/>
            <a:ext cx="7184573" cy="1991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u-RU" b="1" dirty="0">
                <a:solidFill>
                  <a:schemeClr val="dk1"/>
                </a:solidFill>
              </a:rPr>
              <a:t>Зачем, спросите вы?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Уменьшается выборка при последовательном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сканировании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Индексы меньше</a:t>
            </a:r>
          </a:p>
          <a:p>
            <a:pPr lvl="0">
              <a:lnSpc>
                <a:spcPct val="150000"/>
              </a:lnSpc>
            </a:pPr>
            <a:endParaRPr lang="ru-RU" dirty="0">
              <a:solidFill>
                <a:schemeClr val="dk1"/>
              </a:solidFill>
            </a:endParaRPr>
          </a:p>
          <a:p>
            <a:pPr lvl="0">
              <a:lnSpc>
                <a:spcPct val="150000"/>
              </a:lnSpc>
            </a:pPr>
            <a:r>
              <a:rPr lang="ru-RU" dirty="0">
                <a:solidFill>
                  <a:schemeClr val="dk1"/>
                </a:solidFill>
              </a:rPr>
              <a:t>Соответственно скорость работы вырастает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9" name="Google Shape;189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92" name="Google Shape;192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" name="Google Shape;195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6" name="Google Shape;196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" name="Google Shape;197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8" name="Google Shape;198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1667068" y="359177"/>
            <a:ext cx="7246777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/>
              <a:t>СИНТАКСИС ДЛЯ СЕКЦИОНИРОВАНИЯ ТАБЛИЦЫ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80D52-CE04-443F-A180-99B942900174}"/>
              </a:ext>
            </a:extLst>
          </p:cNvPr>
          <p:cNvSpPr txBox="1"/>
          <p:nvPr/>
        </p:nvSpPr>
        <p:spPr>
          <a:xfrm>
            <a:off x="1667069" y="2171944"/>
            <a:ext cx="8602826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</a:rPr>
              <a:t>PARTITION BY { RANGE | LIST | HASH } ( { </a:t>
            </a:r>
            <a:r>
              <a:rPr lang="ru-RU" dirty="0" err="1">
                <a:solidFill>
                  <a:schemeClr val="dk1"/>
                </a:solidFill>
              </a:rPr>
              <a:t>имя_столбца</a:t>
            </a:r>
            <a:r>
              <a:rPr lang="ru-RU" dirty="0">
                <a:solidFill>
                  <a:schemeClr val="dk1"/>
                </a:solidFill>
              </a:rPr>
              <a:t> | ( выражение ) } [ </a:t>
            </a:r>
            <a:r>
              <a:rPr lang="en-US" dirty="0">
                <a:solidFill>
                  <a:schemeClr val="dk1"/>
                </a:solidFill>
              </a:rPr>
              <a:t>COLLATE </a:t>
            </a:r>
            <a:r>
              <a:rPr lang="ru-RU" dirty="0" err="1">
                <a:solidFill>
                  <a:schemeClr val="dk1"/>
                </a:solidFill>
              </a:rPr>
              <a:t>правило_сортировки</a:t>
            </a:r>
            <a:r>
              <a:rPr lang="ru-RU" dirty="0">
                <a:solidFill>
                  <a:schemeClr val="dk1"/>
                </a:solidFill>
              </a:rPr>
              <a:t> ] </a:t>
            </a:r>
          </a:p>
          <a:p>
            <a:pPr lvl="0">
              <a:lnSpc>
                <a:spcPct val="150000"/>
              </a:lnSpc>
            </a:pPr>
            <a:r>
              <a:rPr lang="ru-RU" dirty="0">
                <a:solidFill>
                  <a:schemeClr val="dk1"/>
                </a:solidFill>
              </a:rPr>
              <a:t>[ </a:t>
            </a:r>
            <a:r>
              <a:rPr lang="ru-RU" dirty="0" err="1">
                <a:solidFill>
                  <a:schemeClr val="dk1"/>
                </a:solidFill>
              </a:rPr>
              <a:t>класс_операторов</a:t>
            </a:r>
            <a:r>
              <a:rPr lang="ru-RU" dirty="0">
                <a:solidFill>
                  <a:schemeClr val="dk1"/>
                </a:solidFill>
              </a:rPr>
              <a:t> ] [, ... ] )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</a:rPr>
              <a:t>CREATE TABLE </a:t>
            </a:r>
            <a:r>
              <a:rPr lang="en-US" dirty="0" err="1">
                <a:solidFill>
                  <a:schemeClr val="dk1"/>
                </a:solidFill>
              </a:rPr>
              <a:t>section_name</a:t>
            </a:r>
            <a:r>
              <a:rPr lang="en-US" dirty="0">
                <a:solidFill>
                  <a:schemeClr val="dk1"/>
                </a:solidFill>
              </a:rPr>
              <a:t> PARTITION OF </a:t>
            </a:r>
            <a:r>
              <a:rPr lang="en-US" dirty="0" err="1">
                <a:solidFill>
                  <a:schemeClr val="dk1"/>
                </a:solidFill>
              </a:rPr>
              <a:t>table_name</a:t>
            </a:r>
            <a:r>
              <a:rPr lang="en-US" dirty="0">
                <a:solidFill>
                  <a:schemeClr val="dk1"/>
                </a:solidFill>
              </a:rPr>
              <a:t> FOR VALUES FROM ('2006-02-01') TO ('2006-03-01');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chemeClr val="dk1"/>
              </a:solidFill>
            </a:endParaRPr>
          </a:p>
          <a:p>
            <a:pPr lvl="0">
              <a:lnSpc>
                <a:spcPct val="150000"/>
              </a:lnSpc>
            </a:pPr>
            <a:r>
              <a:rPr lang="ru-RU" dirty="0">
                <a:solidFill>
                  <a:schemeClr val="dk1"/>
                </a:solidFill>
              </a:rPr>
              <a:t>Удаление </a:t>
            </a:r>
            <a:r>
              <a:rPr lang="ru-RU" dirty="0" err="1">
                <a:solidFill>
                  <a:schemeClr val="dk1"/>
                </a:solidFill>
              </a:rPr>
              <a:t>партиции</a:t>
            </a:r>
            <a:r>
              <a:rPr lang="ru-RU" dirty="0">
                <a:solidFill>
                  <a:schemeClr val="dk1"/>
                </a:solidFill>
              </a:rPr>
              <a:t> – </a:t>
            </a:r>
            <a:r>
              <a:rPr lang="en-US" dirty="0">
                <a:solidFill>
                  <a:schemeClr val="dk1"/>
                </a:solidFill>
              </a:rPr>
              <a:t>DROP TABLE </a:t>
            </a:r>
            <a:r>
              <a:rPr lang="en-US" dirty="0" err="1">
                <a:solidFill>
                  <a:schemeClr val="dk1"/>
                </a:solidFill>
              </a:rPr>
              <a:t>section_name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lang="en-US" sz="2000" dirty="0">
              <a:solidFill>
                <a:schemeClr val="dk1"/>
              </a:solidFill>
            </a:endParaRPr>
          </a:p>
        </p:txBody>
      </p:sp>
      <p:cxnSp>
        <p:nvCxnSpPr>
          <p:cNvPr id="24" name="Google Shape;163;p7">
            <a:extLst>
              <a:ext uri="{FF2B5EF4-FFF2-40B4-BE49-F238E27FC236}">
                <a16:creationId xmlns:a16="http://schemas.microsoft.com/office/drawing/2014/main" id="{7F79062A-4E7A-46D1-9980-5D1F95027B12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163;p7">
            <a:extLst>
              <a:ext uri="{FF2B5EF4-FFF2-40B4-BE49-F238E27FC236}">
                <a16:creationId xmlns:a16="http://schemas.microsoft.com/office/drawing/2014/main" id="{E2A7B453-F299-45C9-B90B-33C19A79EFF2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650999" y="336950"/>
            <a:ext cx="7971971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14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ДЛЯ ЧЕГО НУЖНО СЕКЦИОНИРОВАНИЕ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1400"/>
            </a:pPr>
            <a:endParaRPr lang="ru-RU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  <p:grpSp>
        <p:nvGrpSpPr>
          <p:cNvPr id="215" name="Google Shape;215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16" name="Google Shape;216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19" name="Google Shape;219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23" name="Google Shape;223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4" name="Google Shape;224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25" name="Google Shape;225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CF7025-9DB2-4C7B-A022-9F803982FA4A}"/>
              </a:ext>
            </a:extLst>
          </p:cNvPr>
          <p:cNvSpPr/>
          <p:nvPr/>
        </p:nvSpPr>
        <p:spPr>
          <a:xfrm>
            <a:off x="1592423" y="1492537"/>
            <a:ext cx="311642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Увеличивает быстродействие, особенно когда большой процент часто запрашиваемых строк таблицы относится к одной или лишь нескольким секциям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6F1BD1-EF09-40A8-8323-BA2F485139C6}"/>
              </a:ext>
            </a:extLst>
          </p:cNvPr>
          <p:cNvSpPr/>
          <p:nvPr/>
        </p:nvSpPr>
        <p:spPr>
          <a:xfrm>
            <a:off x="5648131" y="1492538"/>
            <a:ext cx="55423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Когда в выборке или изменении данных задействована большая часть одной секции, производительность может возрасти, если будет выполняться последовательное сканирование этой секции, а не поиск по индексу, сопровождаемый произвольным чтением данных, разбросанных по всей таблице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82CF9B-5F32-4E1F-B502-5D82AFB595F2}"/>
              </a:ext>
            </a:extLst>
          </p:cNvPr>
          <p:cNvSpPr/>
          <p:nvPr/>
        </p:nvSpPr>
        <p:spPr>
          <a:xfrm>
            <a:off x="1592422" y="3389817"/>
            <a:ext cx="352697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Массовую загрузку и удаление данных можно осуществлять, добавляя и удаляя секции, если такой вариант использования был предусмотрен при проектировании секций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1DF9B6-9FE9-445C-914A-1C4A7BA11192}"/>
              </a:ext>
            </a:extLst>
          </p:cNvPr>
          <p:cNvSpPr/>
          <p:nvPr/>
        </p:nvSpPr>
        <p:spPr>
          <a:xfrm>
            <a:off x="1592424" y="5259685"/>
            <a:ext cx="3626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Удаление отдельной секции командой DROP TABLE и действие ALTER TABLE DETACH PARTITION выполняются гораздо быстрее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081A9B1-69D1-4054-881B-F9F9E9F72517}"/>
              </a:ext>
            </a:extLst>
          </p:cNvPr>
          <p:cNvSpPr/>
          <p:nvPr/>
        </p:nvSpPr>
        <p:spPr>
          <a:xfrm>
            <a:off x="5648131" y="3393811"/>
            <a:ext cx="322528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0">
              <a:spcBef>
                <a:spcPts val="600"/>
              </a:spcBef>
              <a:buClr>
                <a:schemeClr val="dk1"/>
              </a:buClr>
              <a:buSzPct val="100000"/>
            </a:pPr>
            <a:r>
              <a:rPr lang="ru-RU" dirty="0">
                <a:solidFill>
                  <a:schemeClr val="dk1"/>
                </a:solidFill>
              </a:rPr>
              <a:t>Редко используемые данные можно перенести на более дешёвые и медленные носители</a:t>
            </a:r>
          </a:p>
        </p:txBody>
      </p:sp>
      <p:sp>
        <p:nvSpPr>
          <p:cNvPr id="21" name="Google Shape;288;p2">
            <a:extLst>
              <a:ext uri="{FF2B5EF4-FFF2-40B4-BE49-F238E27FC236}">
                <a16:creationId xmlns:a16="http://schemas.microsoft.com/office/drawing/2014/main" id="{8FEC460F-8925-4CDE-B04B-8105341E6B07}"/>
              </a:ext>
            </a:extLst>
          </p:cNvPr>
          <p:cNvSpPr/>
          <p:nvPr/>
        </p:nvSpPr>
        <p:spPr>
          <a:xfrm>
            <a:off x="1774825" y="94737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" name="Google Shape;288;p2">
            <a:extLst>
              <a:ext uri="{FF2B5EF4-FFF2-40B4-BE49-F238E27FC236}">
                <a16:creationId xmlns:a16="http://schemas.microsoft.com/office/drawing/2014/main" id="{B0E1A463-4188-4FB6-80BC-1E7E38E2A9CB}"/>
              </a:ext>
            </a:extLst>
          </p:cNvPr>
          <p:cNvSpPr/>
          <p:nvPr/>
        </p:nvSpPr>
        <p:spPr>
          <a:xfrm>
            <a:off x="1762429" y="293609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88;p2">
            <a:extLst>
              <a:ext uri="{FF2B5EF4-FFF2-40B4-BE49-F238E27FC236}">
                <a16:creationId xmlns:a16="http://schemas.microsoft.com/office/drawing/2014/main" id="{18D14E4E-FC9A-4D14-9330-E213F306463D}"/>
              </a:ext>
            </a:extLst>
          </p:cNvPr>
          <p:cNvSpPr/>
          <p:nvPr/>
        </p:nvSpPr>
        <p:spPr>
          <a:xfrm>
            <a:off x="1762429" y="47434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FC1921F2-8EED-4BF7-B200-29C2BFE7B2E8}"/>
              </a:ext>
            </a:extLst>
          </p:cNvPr>
          <p:cNvSpPr/>
          <p:nvPr/>
        </p:nvSpPr>
        <p:spPr>
          <a:xfrm>
            <a:off x="5824166" y="94737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8;p2">
            <a:extLst>
              <a:ext uri="{FF2B5EF4-FFF2-40B4-BE49-F238E27FC236}">
                <a16:creationId xmlns:a16="http://schemas.microsoft.com/office/drawing/2014/main" id="{3DBCD4D1-C42E-4937-BA11-78D686DA00D7}"/>
              </a:ext>
            </a:extLst>
          </p:cNvPr>
          <p:cNvSpPr/>
          <p:nvPr/>
        </p:nvSpPr>
        <p:spPr>
          <a:xfrm>
            <a:off x="5824166" y="293609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05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14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ВИДЫ СЕКЦИОНИРОВАНИЯ</a:t>
            </a:r>
          </a:p>
        </p:txBody>
      </p:sp>
      <p:grpSp>
        <p:nvGrpSpPr>
          <p:cNvPr id="234" name="Google Shape;234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35" name="Google Shape;235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" name="Google Shape;237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38" name="Google Shape;238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" name="Google Shape;241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42" name="Google Shape;242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3" name="Google Shape;243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44" name="Google Shape;244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570D36-673C-43AB-BCB1-DA050B1423DA}"/>
              </a:ext>
            </a:extLst>
          </p:cNvPr>
          <p:cNvSpPr txBox="1"/>
          <p:nvPr/>
        </p:nvSpPr>
        <p:spPr>
          <a:xfrm>
            <a:off x="1700764" y="2064061"/>
            <a:ext cx="7241389" cy="254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Секционирование по диапазонам -  по ключевому столбцу или набору столбцов, и не пересекающимся друг с другом</a:t>
            </a:r>
          </a:p>
          <a:p>
            <a:pPr marL="457200" lvl="0" indent="-342900">
              <a:lnSpc>
                <a:spcPct val="115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Секционирование по списку - с помощью списка, явно указывающего, какие значения ключа должны относиться к каждой секции.</a:t>
            </a:r>
          </a:p>
          <a:p>
            <a:pPr marL="457200" lvl="0" indent="-342900">
              <a:lnSpc>
                <a:spcPct val="115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</a:rPr>
              <a:t>Секционирование по </a:t>
            </a:r>
            <a:r>
              <a:rPr lang="ru-RU" sz="1600" dirty="0" err="1">
                <a:solidFill>
                  <a:schemeClr val="dk1"/>
                </a:solidFill>
              </a:rPr>
              <a:t>хешу</a:t>
            </a:r>
            <a:r>
              <a:rPr lang="ru-RU" sz="1600" dirty="0">
                <a:solidFill>
                  <a:schemeClr val="dk1"/>
                </a:solidFill>
              </a:rPr>
              <a:t> - по определённым модулям и остаткам, которые указываются для каждой секции</a:t>
            </a:r>
          </a:p>
          <a:p>
            <a:pPr lvl="0">
              <a:lnSpc>
                <a:spcPct val="115000"/>
              </a:lnSpc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lnSpc>
                <a:spcPct val="115000"/>
              </a:lnSpc>
            </a:pPr>
            <a:r>
              <a:rPr lang="ru-RU" sz="1600" b="1" dirty="0">
                <a:solidFill>
                  <a:schemeClr val="dk1"/>
                </a:solidFill>
              </a:rPr>
              <a:t>Рассмотрим каждый тип более подробно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6B20294B-A279-4637-A3C6-66A62A57D588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76E09A5E-A703-4F99-B6FC-ABB6B2BBCF7A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225;p11">
            <a:extLst>
              <a:ext uri="{FF2B5EF4-FFF2-40B4-BE49-F238E27FC236}">
                <a16:creationId xmlns:a16="http://schemas.microsoft.com/office/drawing/2014/main" id="{33C7C6CC-4572-4782-8E75-88D770C00B54}"/>
              </a:ext>
            </a:extLst>
          </p:cNvPr>
          <p:cNvSpPr/>
          <p:nvPr/>
        </p:nvSpPr>
        <p:spPr>
          <a:xfrm>
            <a:off x="1684106" y="4487026"/>
            <a:ext cx="8647625" cy="1014517"/>
          </a:xfrm>
          <a:prstGeom prst="roundRect">
            <a:avLst>
              <a:gd name="adj" fmla="val 9707"/>
            </a:avLst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53" name="Google Shape;253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" name="Google Shape;255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56" name="Google Shape;256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9" name="Google Shape;259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60" name="Google Shape;260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1" name="Google Shape;261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62" name="Google Shape;262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673290" y="359177"/>
            <a:ext cx="859075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95000"/>
              </a:lnSpc>
              <a:buClr>
                <a:schemeClr val="dk1"/>
              </a:buClr>
              <a:buSzPts val="1400"/>
              <a:defRPr sz="2500">
                <a:solidFill>
                  <a:srgbClr val="030124"/>
                </a:solidFill>
                <a:latin typeface="Arial Black"/>
              </a:defRPr>
            </a:lvl1pPr>
          </a:lstStyle>
          <a:p>
            <a:r>
              <a:rPr lang="ru-RU" dirty="0"/>
              <a:t>СЕКЦИОНИРОВАНИЕ ПО СПИСКУ ЗНАЧЕНИЙ</a:t>
            </a:r>
            <a:endParaRPr lang="ru-RU" dirty="0">
              <a:sym typeface="Avenir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719668" y="1720734"/>
            <a:ext cx="470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2237C92-5918-4513-BEFC-7E66A334CFDC}"/>
              </a:ext>
            </a:extLst>
          </p:cNvPr>
          <p:cNvGrpSpPr/>
          <p:nvPr/>
        </p:nvGrpSpPr>
        <p:grpSpPr>
          <a:xfrm>
            <a:off x="2115010" y="1767649"/>
            <a:ext cx="8589763" cy="1826751"/>
            <a:chOff x="1900844" y="2825443"/>
            <a:chExt cx="8589763" cy="1826751"/>
          </a:xfrm>
        </p:grpSpPr>
        <p:sp>
          <p:nvSpPr>
            <p:cNvPr id="272" name="Google Shape;272;p23"/>
            <p:cNvSpPr/>
            <p:nvPr/>
          </p:nvSpPr>
          <p:spPr>
            <a:xfrm>
              <a:off x="4696691" y="2859578"/>
              <a:ext cx="981000" cy="3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164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4443151" y="2825443"/>
              <a:ext cx="2510400" cy="3129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table_partition_by_city</a:t>
              </a:r>
              <a:endParaRPr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1900844" y="3860501"/>
              <a:ext cx="1947900" cy="3129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city in (‘Moscow’)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4364182" y="3843079"/>
              <a:ext cx="2668500" cy="3129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city in (‘Saint-Petersburg’)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3"/>
            <p:cNvSpPr/>
            <p:nvPr/>
          </p:nvSpPr>
          <p:spPr>
            <a:xfrm>
              <a:off x="7733607" y="3704579"/>
              <a:ext cx="2757000" cy="5901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city in (‘Yekaterinburg’, ‘Murmansk’)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3"/>
            <p:cNvSpPr txBox="1"/>
            <p:nvPr/>
          </p:nvSpPr>
          <p:spPr>
            <a:xfrm>
              <a:off x="2335876" y="4335533"/>
              <a:ext cx="920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partition1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3"/>
            <p:cNvSpPr txBox="1"/>
            <p:nvPr/>
          </p:nvSpPr>
          <p:spPr>
            <a:xfrm>
              <a:off x="5238151" y="4336082"/>
              <a:ext cx="920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partition2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3"/>
            <p:cNvSpPr txBox="1"/>
            <p:nvPr/>
          </p:nvSpPr>
          <p:spPr>
            <a:xfrm>
              <a:off x="8651911" y="4344394"/>
              <a:ext cx="920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partition3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" name="Google Shape;280;p23"/>
            <p:cNvCxnSpPr>
              <a:stCxn id="273" idx="2"/>
              <a:endCxn id="274" idx="0"/>
            </p:cNvCxnSpPr>
            <p:nvPr/>
          </p:nvCxnSpPr>
          <p:spPr>
            <a:xfrm flipH="1">
              <a:off x="2874751" y="3138343"/>
              <a:ext cx="2823600" cy="72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1" name="Google Shape;281;p23"/>
            <p:cNvCxnSpPr>
              <a:stCxn id="273" idx="2"/>
              <a:endCxn id="275" idx="0"/>
            </p:cNvCxnSpPr>
            <p:nvPr/>
          </p:nvCxnSpPr>
          <p:spPr>
            <a:xfrm>
              <a:off x="5698351" y="3138343"/>
              <a:ext cx="0" cy="70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2" name="Google Shape;282;p23"/>
            <p:cNvCxnSpPr>
              <a:stCxn id="273" idx="2"/>
              <a:endCxn id="276" idx="0"/>
            </p:cNvCxnSpPr>
            <p:nvPr/>
          </p:nvCxnSpPr>
          <p:spPr>
            <a:xfrm>
              <a:off x="5698351" y="3138343"/>
              <a:ext cx="3413700" cy="566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83" name="Google Shape;283;p23"/>
          <p:cNvSpPr/>
          <p:nvPr/>
        </p:nvSpPr>
        <p:spPr>
          <a:xfrm>
            <a:off x="1857044" y="4697947"/>
            <a:ext cx="660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CREATE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TABLE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0" i="0" u="none" strike="noStrike" cap="none" dirty="0" err="1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city_moscow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PARTITION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OF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0" i="0" u="none" strike="noStrike" cap="none" dirty="0" err="1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city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FOR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VALUES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IN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(‘</a:t>
            </a:r>
            <a:r>
              <a:rPr lang="ru-RU" sz="1600" b="0" i="0" u="none" strike="noStrike" cap="none" dirty="0" err="1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Moscow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');</a:t>
            </a:r>
            <a:endParaRPr sz="1600" b="0" i="0" u="none" strike="noStrike" cap="none" dirty="0">
              <a:solidFill>
                <a:schemeClr val="bg1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36" name="Google Shape;225;p11">
            <a:extLst>
              <a:ext uri="{FF2B5EF4-FFF2-40B4-BE49-F238E27FC236}">
                <a16:creationId xmlns:a16="http://schemas.microsoft.com/office/drawing/2014/main" id="{2468DE75-8BF7-44B3-931D-C1836B7FABEC}"/>
              </a:ext>
            </a:extLst>
          </p:cNvPr>
          <p:cNvSpPr/>
          <p:nvPr/>
        </p:nvSpPr>
        <p:spPr>
          <a:xfrm>
            <a:off x="1684106" y="1356645"/>
            <a:ext cx="9339459" cy="2540501"/>
          </a:xfrm>
          <a:prstGeom prst="roundRect">
            <a:avLst>
              <a:gd name="adj" fmla="val 7127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225;p11">
            <a:extLst>
              <a:ext uri="{FF2B5EF4-FFF2-40B4-BE49-F238E27FC236}">
                <a16:creationId xmlns:a16="http://schemas.microsoft.com/office/drawing/2014/main" id="{995C4660-24FF-482B-AD32-791BE29AF17C}"/>
              </a:ext>
            </a:extLst>
          </p:cNvPr>
          <p:cNvSpPr/>
          <p:nvPr/>
        </p:nvSpPr>
        <p:spPr>
          <a:xfrm>
            <a:off x="1684106" y="1356645"/>
            <a:ext cx="9339459" cy="2540501"/>
          </a:xfrm>
          <a:prstGeom prst="roundRect">
            <a:avLst>
              <a:gd name="adj" fmla="val 7127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91" name="Google Shape;291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4" name="Google Shape;294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7" name="Google Shape;297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8" name="Google Shape;298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" name="Google Shape;299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00" name="Google Shape;300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1648590" y="359177"/>
            <a:ext cx="7935924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5000"/>
              </a:lnSpc>
              <a:buClr>
                <a:schemeClr val="dk1"/>
              </a:buClr>
              <a:buSzPts val="1400"/>
              <a:defRPr sz="2500">
                <a:solidFill>
                  <a:srgbClr val="030124"/>
                </a:solidFill>
                <a:latin typeface="Arial Black"/>
              </a:defRPr>
            </a:lvl1pPr>
          </a:lstStyle>
          <a:p>
            <a:r>
              <a:rPr lang="ru-RU" dirty="0"/>
              <a:t>СЕКЦИОНИРОВАНИЕ ПО ДИАПАЗОНУ ЗНАЧЕНИЙ</a:t>
            </a:r>
            <a:endParaRPr lang="ru-RU" dirty="0">
              <a:sym typeface="Avenir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719668" y="1720734"/>
            <a:ext cx="517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0758A1E-1DD8-4290-A556-7F0863EB0DCE}"/>
              </a:ext>
            </a:extLst>
          </p:cNvPr>
          <p:cNvGrpSpPr/>
          <p:nvPr/>
        </p:nvGrpSpPr>
        <p:grpSpPr>
          <a:xfrm>
            <a:off x="1866112" y="1583595"/>
            <a:ext cx="8792709" cy="1953043"/>
            <a:chOff x="792850" y="2812603"/>
            <a:chExt cx="9906025" cy="2238906"/>
          </a:xfrm>
        </p:grpSpPr>
        <p:sp>
          <p:nvSpPr>
            <p:cNvPr id="310" name="Google Shape;310;p24"/>
            <p:cNvSpPr/>
            <p:nvPr/>
          </p:nvSpPr>
          <p:spPr>
            <a:xfrm>
              <a:off x="4696691" y="2859578"/>
              <a:ext cx="981000" cy="3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164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4286596" y="2812603"/>
              <a:ext cx="2824200" cy="3129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table_partition_by_months</a:t>
              </a:r>
              <a:endParaRPr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792850" y="3843075"/>
              <a:ext cx="2772600" cy="7173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table_202</a:t>
              </a:r>
              <a:r>
                <a:rPr lang="ru-RU" sz="1200" dirty="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_02</a:t>
              </a:r>
              <a:endParaRPr sz="12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352"/>
                </a:spcBef>
                <a:spcAft>
                  <a:spcPts val="0"/>
                </a:spcAft>
                <a:buNone/>
              </a:pPr>
              <a:r>
                <a:rPr lang="ru-RU"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202</a:t>
              </a:r>
              <a:r>
                <a:rPr lang="ru-RU" sz="1200" dirty="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.0</a:t>
              </a:r>
              <a:r>
                <a:rPr lang="ru-RU" sz="1200" dirty="0">
                  <a:solidFill>
                    <a:schemeClr val="dk1"/>
                  </a:solidFill>
                </a:rPr>
                <a:t>2</a:t>
              </a:r>
              <a:r>
                <a:rPr lang="ru-RU"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.01 – 202</a:t>
              </a:r>
              <a:r>
                <a:rPr lang="ru-RU" sz="1200" dirty="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.02.29</a:t>
              </a:r>
              <a:endParaRPr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4152225" y="3817400"/>
              <a:ext cx="3093000" cy="7431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table_202</a:t>
              </a:r>
              <a:r>
                <a:rPr lang="ru-RU" sz="120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_03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52"/>
                </a:spcBef>
                <a:spcAft>
                  <a:spcPts val="0"/>
                </a:spcAft>
                <a:buNone/>
              </a:pP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202</a:t>
              </a:r>
              <a:r>
                <a:rPr lang="ru-RU" sz="120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.03.01 – 202</a:t>
              </a:r>
              <a:r>
                <a:rPr lang="ru-RU" sz="120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.03.31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7732475" y="3843075"/>
              <a:ext cx="2966400" cy="7431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7825" tIns="17825" rIns="17825" bIns="17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table_202</a:t>
              </a:r>
              <a:r>
                <a:rPr lang="ru-RU" sz="120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_04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52"/>
                </a:spcBef>
                <a:spcAft>
                  <a:spcPts val="0"/>
                </a:spcAft>
                <a:buNone/>
              </a:pP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202</a:t>
              </a:r>
              <a:r>
                <a:rPr lang="ru-RU" sz="120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.04.01 – 202</a:t>
              </a:r>
              <a:r>
                <a:rPr lang="ru-RU" sz="1200">
                  <a:solidFill>
                    <a:schemeClr val="dk1"/>
                  </a:solidFill>
                </a:rPr>
                <a:t>1</a:t>
              </a:r>
              <a:r>
                <a:rPr lang="ru-RU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.04.30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 txBox="1"/>
            <p:nvPr/>
          </p:nvSpPr>
          <p:spPr>
            <a:xfrm>
              <a:off x="1718930" y="4743698"/>
              <a:ext cx="920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partition1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4"/>
            <p:cNvSpPr txBox="1"/>
            <p:nvPr/>
          </p:nvSpPr>
          <p:spPr>
            <a:xfrm>
              <a:off x="5185395" y="4743709"/>
              <a:ext cx="920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partition2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 txBox="1"/>
            <p:nvPr/>
          </p:nvSpPr>
          <p:spPr>
            <a:xfrm>
              <a:off x="8755460" y="4743709"/>
              <a:ext cx="920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partition3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8" name="Google Shape;318;p24"/>
            <p:cNvCxnSpPr>
              <a:stCxn id="311" idx="2"/>
              <a:endCxn id="312" idx="0"/>
            </p:cNvCxnSpPr>
            <p:nvPr/>
          </p:nvCxnSpPr>
          <p:spPr>
            <a:xfrm flipH="1">
              <a:off x="2179096" y="3125503"/>
              <a:ext cx="3519600" cy="717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19" name="Google Shape;319;p24"/>
            <p:cNvCxnSpPr>
              <a:stCxn id="311" idx="2"/>
              <a:endCxn id="313" idx="0"/>
            </p:cNvCxnSpPr>
            <p:nvPr/>
          </p:nvCxnSpPr>
          <p:spPr>
            <a:xfrm>
              <a:off x="5698696" y="3125503"/>
              <a:ext cx="0" cy="69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20" name="Google Shape;320;p24"/>
            <p:cNvCxnSpPr>
              <a:stCxn id="311" idx="2"/>
              <a:endCxn id="314" idx="0"/>
            </p:cNvCxnSpPr>
            <p:nvPr/>
          </p:nvCxnSpPr>
          <p:spPr>
            <a:xfrm>
              <a:off x="5698696" y="3125503"/>
              <a:ext cx="3516900" cy="717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37" name="Google Shape;225;p11">
            <a:extLst>
              <a:ext uri="{FF2B5EF4-FFF2-40B4-BE49-F238E27FC236}">
                <a16:creationId xmlns:a16="http://schemas.microsoft.com/office/drawing/2014/main" id="{C377449E-DF45-4F3B-BF86-CBDBF6182D3F}"/>
              </a:ext>
            </a:extLst>
          </p:cNvPr>
          <p:cNvSpPr/>
          <p:nvPr/>
        </p:nvSpPr>
        <p:spPr>
          <a:xfrm>
            <a:off x="1684106" y="4487026"/>
            <a:ext cx="8647625" cy="1014517"/>
          </a:xfrm>
          <a:prstGeom prst="roundRect">
            <a:avLst>
              <a:gd name="adj" fmla="val 9707"/>
            </a:avLst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860269" y="4712815"/>
            <a:ext cx="8324946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CREATE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TABLE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table_2020_02 PARTITION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OF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0" i="0" u="none" strike="noStrike" cap="none" dirty="0" err="1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table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FOR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VALUES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FROM 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(‘2020-02-01’) TO (‘2020-03-01’)</a:t>
            </a:r>
            <a:endParaRPr sz="1600" b="0" i="0" u="none" strike="noStrike" cap="none" dirty="0">
              <a:solidFill>
                <a:schemeClr val="bg1"/>
              </a:solidFill>
              <a:latin typeface="Consolas" panose="020B0609020204030204" pitchFamily="49" charset="0"/>
              <a:sym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25;p11">
            <a:extLst>
              <a:ext uri="{FF2B5EF4-FFF2-40B4-BE49-F238E27FC236}">
                <a16:creationId xmlns:a16="http://schemas.microsoft.com/office/drawing/2014/main" id="{5024188A-29AF-4B66-8CE1-A2B4780992FC}"/>
              </a:ext>
            </a:extLst>
          </p:cNvPr>
          <p:cNvSpPr/>
          <p:nvPr/>
        </p:nvSpPr>
        <p:spPr>
          <a:xfrm>
            <a:off x="1684106" y="4487026"/>
            <a:ext cx="8647625" cy="1014517"/>
          </a:xfrm>
          <a:prstGeom prst="roundRect">
            <a:avLst>
              <a:gd name="adj" fmla="val 9707"/>
            </a:avLst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8" name="Google Shape;328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29" name="Google Shape;329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1" name="Google Shape;331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32" name="Google Shape;332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5" name="Google Shape;335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36" name="Google Shape;336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7" name="Google Shape;337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38" name="Google Shape;338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5"/>
          <p:cNvSpPr txBox="1"/>
          <p:nvPr/>
        </p:nvSpPr>
        <p:spPr>
          <a:xfrm>
            <a:off x="1675288" y="359177"/>
            <a:ext cx="7155013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5000"/>
              </a:lnSpc>
              <a:buClr>
                <a:schemeClr val="dk1"/>
              </a:buClr>
              <a:buSzPts val="1400"/>
              <a:defRPr sz="2500">
                <a:solidFill>
                  <a:srgbClr val="030124"/>
                </a:solidFill>
                <a:latin typeface="Arial Black"/>
              </a:defRPr>
            </a:lvl1pPr>
          </a:lstStyle>
          <a:p>
            <a:r>
              <a:rPr lang="ru-RU" dirty="0"/>
              <a:t>ЗАЧЕМ НУЖНО СЕКЦИОНИРОВАНИЕ ПО ХЭШУ</a:t>
            </a:r>
            <a:endParaRPr lang="ru-RU" dirty="0">
              <a:sym typeface="Avenir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719668" y="1720734"/>
            <a:ext cx="334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4696691" y="2859578"/>
            <a:ext cx="981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825" tIns="17825" rIns="17825" bIns="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64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1860269" y="4714157"/>
            <a:ext cx="7834114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CREATE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TABLE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table_p1 PARTITION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OF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0" i="0" u="none" strike="noStrike" cap="none" dirty="0" err="1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table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FOR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VALUES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 </a:t>
            </a:r>
            <a:r>
              <a:rPr lang="ru-RU" sz="16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WITH 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(MODULUS 5, REMAINDER 0);</a:t>
            </a:r>
            <a:endParaRPr sz="1600" b="0" i="0" u="none" strike="noStrike" cap="none" dirty="0">
              <a:solidFill>
                <a:schemeClr val="bg1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1732294" y="1741577"/>
            <a:ext cx="70410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Когда необходимо равномерное распределение</a:t>
            </a:r>
            <a:endParaRPr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Параллелизация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операций</a:t>
            </a:r>
            <a:endParaRPr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явного ключа, по которому можно разбить таблицу</a:t>
            </a:r>
            <a:endParaRPr sz="16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равномерного распределения необходимо уникальное или почти уникальное поле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163;p7">
            <a:extLst>
              <a:ext uri="{FF2B5EF4-FFF2-40B4-BE49-F238E27FC236}">
                <a16:creationId xmlns:a16="http://schemas.microsoft.com/office/drawing/2014/main" id="{0287E457-2F16-461B-8CFE-93372F998A4C}"/>
              </a:ext>
            </a:extLst>
          </p:cNvPr>
          <p:cNvCxnSpPr/>
          <p:nvPr/>
        </p:nvCxnSpPr>
        <p:spPr>
          <a:xfrm>
            <a:off x="1774825" y="402976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26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358" name="Google Shape;358;p2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59" name="Google Shape;359;p2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6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26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26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26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26"/>
            <p:cNvSpPr txBox="1"/>
            <p:nvPr/>
          </p:nvSpPr>
          <p:spPr>
            <a:xfrm>
              <a:off x="3118544" y="5632856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72" name="Google Shape;372;p2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73" name="Google Shape;373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5" name="Google Shape;375;p2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76" name="Google Shape;376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9" name="Google Shape;379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80" name="Google Shape;380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" name="Google Shape;381;p2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82" name="Google Shape;382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F335B2FB-7899-4650-94F8-FA5D15A7000C}"/>
              </a:ext>
            </a:extLst>
          </p:cNvPr>
          <p:cNvSpPr/>
          <p:nvPr/>
        </p:nvSpPr>
        <p:spPr>
          <a:xfrm>
            <a:off x="1725839" y="1720676"/>
            <a:ext cx="271410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en-US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Поняли, что такое секционирование таблиц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96CDD1A6-CAEA-4B7B-876A-E06B7EE380FB}"/>
              </a:ext>
            </a:extLst>
          </p:cNvPr>
          <p:cNvSpPr/>
          <p:nvPr/>
        </p:nvSpPr>
        <p:spPr>
          <a:xfrm>
            <a:off x="4761325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en-US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 зачем оно нужно</a:t>
            </a:r>
          </a:p>
        </p:txBody>
      </p:sp>
      <p:sp>
        <p:nvSpPr>
          <p:cNvPr id="18" name="Google Shape;533;g142b2dfbfff_0_351">
            <a:extLst>
              <a:ext uri="{FF2B5EF4-FFF2-40B4-BE49-F238E27FC236}">
                <a16:creationId xmlns:a16="http://schemas.microsoft.com/office/drawing/2014/main" id="{D743436F-8F37-4FD6-8EF1-B748904F920E}"/>
              </a:ext>
            </a:extLst>
          </p:cNvPr>
          <p:cNvSpPr/>
          <p:nvPr/>
        </p:nvSpPr>
        <p:spPr>
          <a:xfrm>
            <a:off x="5571950" y="3578940"/>
            <a:ext cx="28950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04</a:t>
            </a:r>
            <a:endParaRPr lang="en-US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Секционировали таблицу</a:t>
            </a: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0FB66647-52BD-4B4C-B50F-1CE017FD603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86591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DE8F7F96-9D2D-4C15-B70B-BC7D2DEC34B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4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536;g142b2dfbfff_0_351">
            <a:extLst>
              <a:ext uri="{FF2B5EF4-FFF2-40B4-BE49-F238E27FC236}">
                <a16:creationId xmlns:a16="http://schemas.microsoft.com/office/drawing/2014/main" id="{3FCE5378-6813-4DC0-B492-4BDC1898209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5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537;g142b2dfbfff_0_351">
            <a:extLst>
              <a:ext uri="{FF2B5EF4-FFF2-40B4-BE49-F238E27FC236}">
                <a16:creationId xmlns:a16="http://schemas.microsoft.com/office/drawing/2014/main" id="{0196B227-9C1B-40C2-9BDC-208EA7D782F0}"/>
              </a:ext>
            </a:extLst>
          </p:cNvPr>
          <p:cNvSpPr/>
          <p:nvPr/>
        </p:nvSpPr>
        <p:spPr>
          <a:xfrm>
            <a:off x="1725848" y="3578940"/>
            <a:ext cx="35406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en-US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 как секционировать таблицу</a:t>
            </a:r>
          </a:p>
        </p:txBody>
      </p:sp>
      <p:pic>
        <p:nvPicPr>
          <p:cNvPr id="23" name="Google Shape;538;g142b2dfbfff_0_351">
            <a:extLst>
              <a:ext uri="{FF2B5EF4-FFF2-40B4-BE49-F238E27FC236}">
                <a16:creationId xmlns:a16="http://schemas.microsoft.com/office/drawing/2014/main" id="{0BD395B1-59E8-4009-8DF7-894E148C23B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67500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91" name="Google Shape;391;p2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92" name="Google Shape;392;p2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2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4" name="Google Shape;394;p2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95" name="Google Shape;395;p2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2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2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8" name="Google Shape;398;p2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99" name="Google Shape;399;p2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" name="Google Shape;400;p2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en-US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401" name="Google Shape;401;p2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8"/>
          <p:cNvSpPr/>
          <p:nvPr/>
        </p:nvSpPr>
        <p:spPr>
          <a:xfrm>
            <a:off x="1650999" y="1022639"/>
            <a:ext cx="9437625" cy="76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Секционировать свою таблицу</a:t>
            </a: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6" name="Google Shape;402;p28">
            <a:extLst>
              <a:ext uri="{FF2B5EF4-FFF2-40B4-BE49-F238E27FC236}">
                <a16:creationId xmlns:a16="http://schemas.microsoft.com/office/drawing/2014/main" id="{AC370F63-0F4E-4CCD-AA83-D122BF03A96A}"/>
              </a:ext>
            </a:extLst>
          </p:cNvPr>
          <p:cNvSpPr/>
          <p:nvPr/>
        </p:nvSpPr>
        <p:spPr>
          <a:xfrm>
            <a:off x="1650999" y="2029013"/>
            <a:ext cx="9437625" cy="308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  <a:endParaRPr lang="en-US" sz="1600" b="1" dirty="0">
              <a:solidFill>
                <a:schemeClr val="dk1"/>
              </a:solidFill>
            </a:endParaRP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sz="1600" dirty="0">
                <a:solidFill>
                  <a:srgbClr val="3F3F3F"/>
                </a:solidFill>
              </a:rPr>
              <a:t>Создать секционированную таблицу с продажами по дате продажи помесячно (наименование продажи, дата продажи)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sz="1600" dirty="0">
                <a:solidFill>
                  <a:srgbClr val="3F3F3F"/>
                </a:solidFill>
              </a:rPr>
              <a:t>Заполнить 5-10 строк</a:t>
            </a:r>
          </a:p>
          <a:p>
            <a:pPr marL="457200" lvl="0" indent="-34290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AutoNum type="arabicPeriod"/>
            </a:pPr>
            <a:r>
              <a:rPr lang="ru-RU" sz="1600" dirty="0">
                <a:solidFill>
                  <a:srgbClr val="3F3F3F"/>
                </a:solidFill>
              </a:rPr>
              <a:t>Выполнить запрос по дате и убедиться, что используется только 1 секция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/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E5270A09-BE03-40AE-8069-87D29A37993E}"/>
              </a:ext>
            </a:extLst>
          </p:cNvPr>
          <p:cNvCxnSpPr/>
          <p:nvPr/>
        </p:nvCxnSpPr>
        <p:spPr>
          <a:xfrm>
            <a:off x="1774825" y="179382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9" name="Google Shape;409;p29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9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9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9"/>
          <p:cNvSpPr txBox="1"/>
          <p:nvPr/>
        </p:nvSpPr>
        <p:spPr>
          <a:xfrm>
            <a:off x="1721050" y="2554761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СТЕ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413" name="Google Shape;413;p29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9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9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" name="Google Shape;416;p29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417" name="Google Shape;417;p29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29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419" name="Google Shape;419;p29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9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581</Words>
  <Application>Microsoft Office PowerPoint</Application>
  <PresentationFormat>Широкоэкранный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Source Code Pro</vt:lpstr>
      <vt:lpstr>Calibri</vt:lpstr>
      <vt:lpstr>Arial Black</vt:lpstr>
      <vt:lpstr>Consolas</vt:lpstr>
      <vt:lpstr>Proxima Nova</vt:lpstr>
      <vt:lpstr>Avenir</vt:lpstr>
      <vt:lpstr>Open Sans</vt:lpstr>
      <vt:lpstr>Helvetica Neue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10</cp:revision>
  <dcterms:modified xsi:type="dcterms:W3CDTF">2022-08-30T05:55:26Z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F35E2BF8-2F8E-4E4B-9693-093CDE444EFE</vt:lpwstr>
  </property>
  <property fmtid="{D5CDD505-2E9C-101B-9397-08002B2CF9AE}" pid="3" name="ArticulatePath">
    <vt:lpwstr>38 Секционирование</vt:lpwstr>
  </property>
</Properties>
</file>