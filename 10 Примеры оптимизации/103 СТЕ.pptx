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Arial Black" panose="020B0A04020102020204" pitchFamily="3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275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402e917a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402e917ad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402e917ad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402e917a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4402e917ad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14402e917ad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402e917a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14402e917ad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14402e917ad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402e917a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402e917ad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14402e917ad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11" Type="http://schemas.openxmlformats.org/officeDocument/2006/relationships/hyperlink" Target="https://postgrespro.ru/docs/postgresql/14/queries-with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habr.com/ru/post/440576/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5975342F-06DA-429E-AB17-E0EFC0E632D6}"/>
              </a:ext>
            </a:extLst>
          </p:cNvPr>
          <p:cNvSpPr txBox="1">
            <a:spLocks/>
          </p:cNvSpPr>
          <p:nvPr/>
        </p:nvSpPr>
        <p:spPr>
          <a:xfrm>
            <a:off x="1631720" y="2675274"/>
            <a:ext cx="63088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11. ПРИЕМЫ ОПТИМИЗАЦИИ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590F7F15-2204-44B6-B4CF-8B5337601267}"/>
              </a:ext>
            </a:extLst>
          </p:cNvPr>
          <p:cNvSpPr txBox="1">
            <a:spLocks/>
          </p:cNvSpPr>
          <p:nvPr/>
        </p:nvSpPr>
        <p:spPr>
          <a:xfrm>
            <a:off x="1619250" y="3342466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СТЕ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8525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8D677FC3-D8D6-4CDF-9DBD-9077C2962073}"/>
              </a:ext>
            </a:extLst>
          </p:cNvPr>
          <p:cNvSpPr/>
          <p:nvPr/>
        </p:nvSpPr>
        <p:spPr>
          <a:xfrm>
            <a:off x="1719852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СТЕ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2E8FDD7F-66A3-467F-9471-2BD13DB814BC}"/>
              </a:ext>
            </a:extLst>
          </p:cNvPr>
          <p:cNvSpPr/>
          <p:nvPr/>
        </p:nvSpPr>
        <p:spPr>
          <a:xfrm>
            <a:off x="5249348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их структуру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35E31AA5-2A2D-4F2A-AA3B-10A2349E476D}"/>
              </a:ext>
            </a:extLst>
          </p:cNvPr>
          <p:cNvSpPr/>
          <p:nvPr/>
        </p:nvSpPr>
        <p:spPr>
          <a:xfrm>
            <a:off x="5915310" y="3499359"/>
            <a:ext cx="316194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писать свое СТЕ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1751DFF8-ED4D-4201-8D46-15C66CF178F2}"/>
              </a:ext>
            </a:extLst>
          </p:cNvPr>
          <p:cNvSpPr/>
          <p:nvPr/>
        </p:nvSpPr>
        <p:spPr>
          <a:xfrm>
            <a:off x="1719849" y="3499359"/>
            <a:ext cx="3915628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для чего они нужны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0200CDCA-53FE-4998-92EE-1DE027023A19}"/>
              </a:ext>
            </a:extLst>
          </p:cNvPr>
          <p:cNvSpPr/>
          <p:nvPr/>
        </p:nvSpPr>
        <p:spPr>
          <a:xfrm>
            <a:off x="1902732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0AFC3498-7AFC-43B6-B852-E6A81332D5A4}"/>
              </a:ext>
            </a:extLst>
          </p:cNvPr>
          <p:cNvSpPr/>
          <p:nvPr/>
        </p:nvSpPr>
        <p:spPr>
          <a:xfrm>
            <a:off x="5432234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E8182CC5-371B-4794-8714-1D501BDD6B94}"/>
              </a:ext>
            </a:extLst>
          </p:cNvPr>
          <p:cNvSpPr/>
          <p:nvPr/>
        </p:nvSpPr>
        <p:spPr>
          <a:xfrm>
            <a:off x="6098198" y="360396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7C3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07C3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3ED97297-7FF7-461E-9873-3F741734062D}"/>
              </a:ext>
            </a:extLst>
          </p:cNvPr>
          <p:cNvSpPr/>
          <p:nvPr/>
        </p:nvSpPr>
        <p:spPr>
          <a:xfrm>
            <a:off x="1902732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DE253A9E-99BA-4A15-A5D9-0471C4979218}"/>
              </a:ext>
            </a:extLst>
          </p:cNvPr>
          <p:cNvSpPr/>
          <p:nvPr/>
        </p:nvSpPr>
        <p:spPr>
          <a:xfrm>
            <a:off x="2863612" y="3582888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Задачи </a:t>
            </a:r>
            <a:r>
              <a:rPr lang="en-US" sz="2000" dirty="0">
                <a:solidFill>
                  <a:schemeClr val="dk1"/>
                </a:solidFill>
              </a:rPr>
              <a:t>CTE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3D53DDD4-6F1E-4BE5-B681-781068A5705C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Практика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5B7D39DB-5CCF-414E-9F6D-1A9010538840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0E778309-C237-46CC-BB2D-C42DD20C07A5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DA283353-DF80-4894-A4C5-27C718546745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A6FE3E43-744E-4A27-BB49-8FAB1C4B0A37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CTE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20694EF1-7AB0-465C-9264-BE3CA18A5EED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4109EDE2-94EF-449A-8BD1-2EBEB98E58D5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E413B062-70FD-4C3F-A5D6-24C7FC677A4A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01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5;p11">
            <a:extLst>
              <a:ext uri="{FF2B5EF4-FFF2-40B4-BE49-F238E27FC236}">
                <a16:creationId xmlns:a16="http://schemas.microsoft.com/office/drawing/2014/main" id="{E01C6493-CFFF-45C2-AF93-AC6907CD0170}"/>
              </a:ext>
            </a:extLst>
          </p:cNvPr>
          <p:cNvSpPr/>
          <p:nvPr/>
        </p:nvSpPr>
        <p:spPr>
          <a:xfrm>
            <a:off x="1651000" y="1318727"/>
            <a:ext cx="8680731" cy="4497355"/>
          </a:xfrm>
          <a:prstGeom prst="roundRect">
            <a:avLst>
              <a:gd name="adj" fmla="val 3384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1651000" y="336950"/>
            <a:ext cx="657238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СТЕ - ОБОБЩЕННЫЕ ТАБЛИЧНЫЕ ВЫРАЖЕНИЯ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3" name="Google Shape;163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70" name="Google Shape;170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2" name="Google Shape;172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95630" y="1781291"/>
            <a:ext cx="5577697" cy="36837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СТЕ ЗАДАЧИ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2" name="Google Shape;182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5" name="Google Shape;185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" name="Google Shape;188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89" name="Google Shape;189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1" name="Google Shape;191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1577132" y="1210191"/>
            <a:ext cx="8445600" cy="313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WITH предоставляет способ записывать дополнительные операторы для применения в больших запросах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можно делать несколько СТЕ и из последующего вызывать предыдущее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значительно упрощает чтение/восприятие синтаксиса запроса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можно представить как определения временных таблиц, существующих только для одного запроса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они вычисляются только раз для всего родительского запроса, даже если этот запрос или соседние запросы WITH обращаются к ним неоднократно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есть возможность не материализовывать (использовать временную таблицу - долго)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https://habr.com/ru/post/440576/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0CF956A-C8F7-4A37-87FD-FED4403B22A0}"/>
              </a:ext>
            </a:extLst>
          </p:cNvPr>
          <p:cNvSpPr/>
          <p:nvPr/>
        </p:nvSpPr>
        <p:spPr>
          <a:xfrm>
            <a:off x="1689100" y="4762066"/>
            <a:ext cx="7877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schemeClr val="dk1"/>
                </a:solidFill>
              </a:rPr>
              <a:t>Таким образом, сложные вычисления, результаты которых нужны в нескольких местах, можно выносить в запросы WITH в целях </a:t>
            </a:r>
            <a:r>
              <a:rPr lang="ru-RU" sz="1600" b="1" dirty="0">
                <a:solidFill>
                  <a:schemeClr val="dk1"/>
                </a:solidFill>
              </a:rPr>
              <a:t>оптимизации</a:t>
            </a:r>
          </a:p>
          <a:p>
            <a:pPr lvl="0"/>
            <a:r>
              <a:rPr lang="ru-RU" sz="1600" u="sng" dirty="0">
                <a:solidFill>
                  <a:schemeClr val="hlink"/>
                </a:solidFill>
                <a:hlinkClick r:id="rId11"/>
              </a:rPr>
              <a:t>https://postgrespro.ru/docs/postgresql/14/queries-with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D9877514-5A0B-45E8-87A4-DB41959BC924}"/>
              </a:ext>
            </a:extLst>
          </p:cNvPr>
          <p:cNvCxnSpPr/>
          <p:nvPr/>
        </p:nvCxnSpPr>
        <p:spPr>
          <a:xfrm>
            <a:off x="1774825" y="4510826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5;p11">
            <a:extLst>
              <a:ext uri="{FF2B5EF4-FFF2-40B4-BE49-F238E27FC236}">
                <a16:creationId xmlns:a16="http://schemas.microsoft.com/office/drawing/2014/main" id="{14D4AB43-160A-40DA-9665-7568DEE99907}"/>
              </a:ext>
            </a:extLst>
          </p:cNvPr>
          <p:cNvSpPr/>
          <p:nvPr/>
        </p:nvSpPr>
        <p:spPr>
          <a:xfrm>
            <a:off x="1651000" y="1501370"/>
            <a:ext cx="8680731" cy="3901662"/>
          </a:xfrm>
          <a:prstGeom prst="roundRect">
            <a:avLst>
              <a:gd name="adj" fmla="val 3384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ПРИМЕР СТЕ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1" name="Google Shape;201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4" name="Google Shape;204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" name="Google Shape;207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08" name="Google Shape;208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0" name="Google Shape;210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54319" y="1799115"/>
            <a:ext cx="8074091" cy="325976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СТЕ НА ПРАКТИКЕ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0" name="Google Shape;220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3" name="Google Shape;223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" name="Google Shape;226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27" name="Google Shape;227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9" name="Google Shape;229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D15DAB-CC05-4EFC-A024-1717A4F85C0F}"/>
              </a:ext>
            </a:extLst>
          </p:cNvPr>
          <p:cNvSpPr txBox="1"/>
          <p:nvPr/>
        </p:nvSpPr>
        <p:spPr>
          <a:xfrm>
            <a:off x="1586204" y="2954693"/>
            <a:ext cx="67233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Создадим таблицу с продажами в регионах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Создадим СТЕ для итогов по продажам только для передовых регионов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E4610480-6B47-4136-A934-7211C3F5FAEE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46AD922F-B58D-4C6A-8530-581BC75D5C35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3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38" name="Google Shape;238;p23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39" name="Google Shape;239;p23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3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3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3"/>
            <p:cNvSpPr txBox="1"/>
            <p:nvPr/>
          </p:nvSpPr>
          <p:spPr>
            <a:xfrm>
              <a:off x="3118544" y="5605514"/>
              <a:ext cx="16917839" cy="3098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2" name="Google Shape;252;p24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53" name="Google Shape;253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24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56" name="Google Shape;256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9" name="Google Shape;259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60" name="Google Shape;260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1" name="Google Shape;261;p24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62" name="Google Shape;262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45C96550-C113-48AB-B018-E32E2D6E5BA0}"/>
              </a:ext>
            </a:extLst>
          </p:cNvPr>
          <p:cNvSpPr/>
          <p:nvPr/>
        </p:nvSpPr>
        <p:spPr>
          <a:xfrm>
            <a:off x="1725838" y="1720676"/>
            <a:ext cx="3605051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что такое обобщенные табличные выражения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3AEF72ED-A51E-408B-BE7E-0F10AEFF16A1}"/>
              </a:ext>
            </a:extLst>
          </p:cNvPr>
          <p:cNvSpPr/>
          <p:nvPr/>
        </p:nvSpPr>
        <p:spPr>
          <a:xfrm>
            <a:off x="5591389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их структуру</a:t>
            </a:r>
          </a:p>
        </p:txBody>
      </p:sp>
      <p:sp>
        <p:nvSpPr>
          <p:cNvPr id="18" name="Google Shape;533;g142b2dfbfff_0_351">
            <a:extLst>
              <a:ext uri="{FF2B5EF4-FFF2-40B4-BE49-F238E27FC236}">
                <a16:creationId xmlns:a16="http://schemas.microsoft.com/office/drawing/2014/main" id="{3B214B5A-27C7-4995-A98C-0EEB35C23584}"/>
              </a:ext>
            </a:extLst>
          </p:cNvPr>
          <p:cNvSpPr/>
          <p:nvPr/>
        </p:nvSpPr>
        <p:spPr>
          <a:xfrm>
            <a:off x="5571949" y="3578940"/>
            <a:ext cx="3725339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Написали свое СТЕ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0126F558-4400-4C88-A646-DFA6A85A473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3669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1AF15CF5-8792-4F89-BA06-7C449636050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24638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36;g142b2dfbfff_0_351">
            <a:extLst>
              <a:ext uri="{FF2B5EF4-FFF2-40B4-BE49-F238E27FC236}">
                <a16:creationId xmlns:a16="http://schemas.microsoft.com/office/drawing/2014/main" id="{DBCDAA27-4C2F-490B-BAD9-93BB57309FD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24638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008B5496-5005-418C-925B-FF26AF86CA27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для чего они нужны</a:t>
            </a: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A6D8ABDF-D575-4CA7-960C-F9FF4246F04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86626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0" name="Google Shape;270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721050" y="2335458"/>
            <a:ext cx="7480200" cy="174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следующий блок Миграция данных и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Проблемы и решения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274" name="Google Shape;274;p25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25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278" name="Google Shape;278;p25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5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280" name="Google Shape;280;p25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249</Words>
  <Application>Microsoft Office PowerPoint</Application>
  <PresentationFormat>Широкоэкранный</PresentationFormat>
  <Paragraphs>70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Arial Black</vt:lpstr>
      <vt:lpstr>Proxima Nova</vt:lpstr>
      <vt:lpstr>Open Sans</vt:lpstr>
      <vt:lpstr>Helvetica Neue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7</cp:revision>
  <dcterms:modified xsi:type="dcterms:W3CDTF">2022-08-30T06:05:23Z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E23C26F1-E6CD-418A-B3C5-E6CD9862109F</vt:lpwstr>
  </property>
  <property fmtid="{D5CDD505-2E9C-101B-9397-08002B2CF9AE}" pid="3" name="ArticulatePath">
    <vt:lpwstr>39 СТЕ</vt:lpwstr>
  </property>
</Properties>
</file>