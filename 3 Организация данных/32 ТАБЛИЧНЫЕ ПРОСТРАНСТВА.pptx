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7" r:id="rId1"/>
    <p:sldMasterId id="2147483708" r:id="rId2"/>
    <p:sldMasterId id="2147483709" r:id="rId3"/>
    <p:sldMasterId id="2147483710" r:id="rId4"/>
    <p:sldMasterId id="2147483711" r:id="rId5"/>
    <p:sldMasterId id="2147483712" r:id="rId6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embeddedFontLst>
    <p:embeddedFont>
      <p:font typeface="Arial Black" panose="020B0A04020102020204" pitchFamily="34" charset="0"/>
      <p:regular r:id="rId19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Helvetica Neue" panose="020B0604020202020204" charset="0"/>
      <p:regular r:id="rId29"/>
      <p:bold r:id="rId30"/>
      <p:italic r:id="rId31"/>
      <p:boldItalic r:id="rId32"/>
    </p:embeddedFont>
    <p:embeddedFont>
      <p:font typeface="Helvetica Neue Light" panose="020B0604020202020204" charset="0"/>
      <p:regular r:id="rId33"/>
      <p:bold r:id="rId34"/>
      <p:italic r:id="rId35"/>
      <p:boldItalic r:id="rId36"/>
    </p:embeddedFont>
    <p:embeddedFont>
      <p:font typeface="Proxima Nova" panose="020B060402020202020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4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theme" Target="theme/theme1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fdf88b8286_0_103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1100"/>
              <a:t>Добрый день, приветствую Вас на обучающем курсе по основам безопасной разработки. Все вы опытные люди, не первый день работающие в сфере ИТ. </a:t>
            </a:r>
            <a:endParaRPr/>
          </a:p>
        </p:txBody>
      </p:sp>
      <p:sp>
        <p:nvSpPr>
          <p:cNvPr id="445" name="Google Shape;445;gfdf88b8286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fdf88b8286_0_295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1" name="Google Shape;451;gfdf88b8286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fdf88b8286_0_492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gfdf88b8286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fdf88b8286_0_1490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gfdf88b8286_0_1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fdf88b8286_0_1095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gfdf88b8286_0_10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fdf88b8286_0_1157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gfdf88b8286_0_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fdf88b8286_0_1298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gfdf88b8286_0_1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fdf88b8286_0_695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7" name="Google Shape;547;gfdf88b8286_0_6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fdf88b8286_0_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9" name="Google Shape;559;gfdf88b8286_0_79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fdf88b8286_0_931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gfdf88b8286_0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fdf88b8286_0_10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3" name="Google Shape;603;gfdf88b8286_0_106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pn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5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5.png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5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5.png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3" name="Google Shape;103;p17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16" name="Google Shape;116;p18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8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8" name="Google Shape;128;p19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1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0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5" name="Google Shape;145;p2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1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0" name="Google Shape;15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29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90" name="Google Shape;190;p29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9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9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29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01" name="Google Shape;201;p30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0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0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0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30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30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0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0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0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1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5" name="Google Shape;215;p31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1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1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1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31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1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31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1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1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2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2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2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29" name="Google Shape;22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3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2" name="Google Shape;232;p3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3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3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3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37" name="Google Shape;23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3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33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0" name="Google Shape;240;p3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1" name="Google Shape;241;p33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" name="Google Shape;244;p34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4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6" name="Google Shape;246;p3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7" name="Google Shape;247;p34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35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" name="Google Shape;253;p36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54" name="Google Shape;254;p36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55" name="Google Shape;255;p36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58" name="Google Shape;258;p37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1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43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81" name="Google Shape;281;p43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3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3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3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3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3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3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p43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4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4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45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96" name="Google Shape;296;p45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5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5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5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45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5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45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5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5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5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6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8" name="Google Shape;308;p46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46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10" name="Google Shape;310;p46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6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6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6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46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6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46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6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6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6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7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47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47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4" name="Google Shape;324;p4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25" name="Google Shape;325;p47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8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8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8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30" name="Google Shape;330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4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33" name="Google Shape;333;p48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49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9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9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38" name="Google Shape;338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9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49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1" name="Google Shape;341;p4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42" name="Google Shape;342;p49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0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5" name="Google Shape;345;p50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1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8" name="Google Shape;348;p51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9" name="Google Shape;349;p51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350" name="Google Shape;350;p51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2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353" name="Google Shape;353;p52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3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5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55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368" name="Google Shape;368;p55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55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55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55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5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5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5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p55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6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8" name="Google Shape;378;p5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5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7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57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83" name="Google Shape;383;p57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7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7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7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p5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7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p5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57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57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7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8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5" name="Google Shape;395;p58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58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97" name="Google Shape;397;p58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8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8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58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" name="Google Shape;401;p58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8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p58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58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58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58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59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9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9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11" name="Google Shape;411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5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14" name="Google Shape;414;p59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60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60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60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19" name="Google Shape;419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60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60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2" name="Google Shape;422;p6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23" name="Google Shape;423;p6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1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6" name="Google Shape;426;p61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61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8" name="Google Shape;428;p6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29" name="Google Shape;429;p61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2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2" name="Google Shape;432;p62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3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5" name="Google Shape;435;p63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6" name="Google Shape;436;p63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437" name="Google Shape;437;p63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4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440" name="Google Shape;440;p64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5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14.png"/><Relationship Id="rId10" Type="http://schemas.openxmlformats.org/officeDocument/2006/relationships/slideLayout" Target="../slideLayouts/slideLayout34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3.pn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image" Target="../media/image13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5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39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image" Target="../media/image14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image" Target="../media/image13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6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50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1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89" name="Google Shape;89;p1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176" name="Google Shape;176;p2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8" name="Google Shape;178;p27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9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>
            <a:spLocks noGrp="1"/>
          </p:cNvSpPr>
          <p:nvPr>
            <p:ph type="title"/>
          </p:nvPr>
        </p:nvSpPr>
        <p:spPr>
          <a:xfrm>
            <a:off x="1826683" y="979211"/>
            <a:ext cx="9753600" cy="12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5" name="Google Shape;265;p40"/>
          <p:cNvSpPr txBox="1">
            <a:spLocks noGrp="1"/>
          </p:cNvSpPr>
          <p:nvPr>
            <p:ph type="body" idx="1"/>
          </p:nvPr>
        </p:nvSpPr>
        <p:spPr>
          <a:xfrm>
            <a:off x="6805083" y="2229126"/>
            <a:ext cx="4775400" cy="4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6" name="Google Shape;266;p40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271" name="Google Shape;271;p4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73" name="Google Shape;273;p42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2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2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2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2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358" name="Google Shape;358;p5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5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60" name="Google Shape;360;p54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54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54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54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54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6"/>
          <p:cNvSpPr txBox="1">
            <a:spLocks noGrp="1"/>
          </p:cNvSpPr>
          <p:nvPr>
            <p:ph type="body" idx="1"/>
          </p:nvPr>
        </p:nvSpPr>
        <p:spPr>
          <a:xfrm>
            <a:off x="824176" y="2428863"/>
            <a:ext cx="6208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БЛОК 4. ОРГАНИЗАЦИЯ ДАННЫХ</a:t>
            </a:r>
            <a:endParaRPr/>
          </a:p>
        </p:txBody>
      </p:sp>
      <p:sp>
        <p:nvSpPr>
          <p:cNvPr id="448" name="Google Shape;448;p66"/>
          <p:cNvSpPr txBox="1">
            <a:spLocks noGrp="1"/>
          </p:cNvSpPr>
          <p:nvPr>
            <p:ph type="title"/>
          </p:nvPr>
        </p:nvSpPr>
        <p:spPr>
          <a:xfrm>
            <a:off x="824175" y="3016138"/>
            <a:ext cx="96123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5400"/>
              <a:t>ТАБЛИЧНЫЕ ПРОСТРАНСТВА</a:t>
            </a:r>
            <a:endParaRPr sz="5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7"/>
          <p:cNvSpPr/>
          <p:nvPr/>
        </p:nvSpPr>
        <p:spPr>
          <a:xfrm>
            <a:off x="1725850" y="1078100"/>
            <a:ext cx="6942900" cy="14757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Понять как устроены табличные пространства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67"/>
          <p:cNvSpPr/>
          <p:nvPr/>
        </p:nvSpPr>
        <p:spPr>
          <a:xfrm>
            <a:off x="1725850" y="2905400"/>
            <a:ext cx="6942900" cy="1475700"/>
          </a:xfrm>
          <a:prstGeom prst="roundRect">
            <a:avLst>
              <a:gd name="adj" fmla="val 6634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Знать варианты оптимизации хранения данных, используя табличные пространства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5" name="Google Shape;455;p6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ЦЕЛЬ УРОКА</a:t>
            </a:r>
            <a:endParaRPr/>
          </a:p>
        </p:txBody>
      </p:sp>
      <p:sp>
        <p:nvSpPr>
          <p:cNvPr id="456" name="Google Shape;456;p6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457" name="Google Shape;457;p67"/>
          <p:cNvSpPr/>
          <p:nvPr/>
        </p:nvSpPr>
        <p:spPr>
          <a:xfrm>
            <a:off x="1908732" y="12589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8" name="Google Shape;458;p67"/>
          <p:cNvSpPr/>
          <p:nvPr/>
        </p:nvSpPr>
        <p:spPr>
          <a:xfrm>
            <a:off x="1908735" y="30862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9" name="Google Shape;459;p67"/>
          <p:cNvSpPr/>
          <p:nvPr/>
        </p:nvSpPr>
        <p:spPr>
          <a:xfrm>
            <a:off x="1712600" y="4732700"/>
            <a:ext cx="6942900" cy="1475700"/>
          </a:xfrm>
          <a:prstGeom prst="roundRect">
            <a:avLst>
              <a:gd name="adj" fmla="val 6634"/>
            </a:avLst>
          </a:prstGeom>
          <a:solidFill>
            <a:srgbClr val="D9D2E9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Научиться создавать табличное пространство и БД в нем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0" name="Google Shape;460;p67"/>
          <p:cNvSpPr/>
          <p:nvPr/>
        </p:nvSpPr>
        <p:spPr>
          <a:xfrm>
            <a:off x="1895485" y="49135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rgbClr val="B4A7D6"/>
                </a:solidFill>
              </a:rPr>
              <a:t>3</a:t>
            </a:r>
            <a:endParaRPr sz="1500" b="0" i="0" u="none" strike="noStrike" cap="none">
              <a:solidFill>
                <a:srgbClr val="B4A7D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СОДЕРЖАНИЕ УРОКА</a:t>
            </a:r>
            <a:endParaRPr/>
          </a:p>
        </p:txBody>
      </p:sp>
      <p:sp>
        <p:nvSpPr>
          <p:cNvPr id="466" name="Google Shape;466;p6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467" name="Google Shape;467;p68"/>
          <p:cNvSpPr/>
          <p:nvPr/>
        </p:nvSpPr>
        <p:spPr>
          <a:xfrm>
            <a:off x="1719852" y="1361364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8" name="Google Shape;468;p68"/>
          <p:cNvSpPr/>
          <p:nvPr/>
        </p:nvSpPr>
        <p:spPr>
          <a:xfrm>
            <a:off x="1719852" y="3129109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9" name="Google Shape;469;p68"/>
          <p:cNvSpPr/>
          <p:nvPr/>
        </p:nvSpPr>
        <p:spPr>
          <a:xfrm>
            <a:off x="1719852" y="4896852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70" name="Google Shape;470;p68"/>
          <p:cNvCxnSpPr/>
          <p:nvPr/>
        </p:nvCxnSpPr>
        <p:spPr>
          <a:xfrm rot="10800000">
            <a:off x="2183068" y="2395849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1" name="Google Shape;471;p68"/>
          <p:cNvCxnSpPr/>
          <p:nvPr/>
        </p:nvCxnSpPr>
        <p:spPr>
          <a:xfrm rot="10800000">
            <a:off x="2183068" y="4163594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2" name="Google Shape;472;p68"/>
          <p:cNvSpPr txBox="1"/>
          <p:nvPr/>
        </p:nvSpPr>
        <p:spPr>
          <a:xfrm>
            <a:off x="2860569" y="1547531"/>
            <a:ext cx="2570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Табличные пространства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73" name="Google Shape;473;p68"/>
          <p:cNvSpPr txBox="1"/>
          <p:nvPr/>
        </p:nvSpPr>
        <p:spPr>
          <a:xfrm>
            <a:off x="2860569" y="3176659"/>
            <a:ext cx="2289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Устройство табличных пространств</a:t>
            </a: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474" name="Google Shape;474;p68"/>
          <p:cNvSpPr txBox="1"/>
          <p:nvPr/>
        </p:nvSpPr>
        <p:spPr>
          <a:xfrm>
            <a:off x="2860569" y="5221452"/>
            <a:ext cx="257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Варианты оптимизации</a:t>
            </a: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475" name="Google Shape;475;p68"/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ТАБЛИЧНОЕ ПРОСТРАНСТВО (ТП)</a:t>
            </a:r>
            <a:endParaRPr/>
          </a:p>
        </p:txBody>
      </p:sp>
      <p:sp>
        <p:nvSpPr>
          <p:cNvPr id="481" name="Google Shape;481;p6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482" name="Google Shape;482;p69"/>
          <p:cNvSpPr/>
          <p:nvPr/>
        </p:nvSpPr>
        <p:spPr>
          <a:xfrm>
            <a:off x="1662400" y="1305488"/>
            <a:ext cx="7771800" cy="15504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684000" tIns="108000" rIns="180000" bIns="108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Табличное пространство: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ru-RU" sz="1800">
                <a:solidFill>
                  <a:schemeClr val="dk1"/>
                </a:solidFill>
              </a:rPr>
              <a:t>отдельный каталог с точки зрения файловой системы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ru-RU" sz="1800">
                <a:solidFill>
                  <a:schemeClr val="dk1"/>
                </a:solidFill>
              </a:rPr>
              <a:t>одно табличное пространство может использоваться несколькими базами данных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483" name="Google Shape;48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5575" y="1471987"/>
            <a:ext cx="385661" cy="384901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69"/>
          <p:cNvSpPr/>
          <p:nvPr/>
        </p:nvSpPr>
        <p:spPr>
          <a:xfrm>
            <a:off x="1662400" y="3565338"/>
            <a:ext cx="7771800" cy="12348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ru-RU" sz="1600" b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select * from pg_tablespace;</a:t>
            </a:r>
            <a:endParaRPr sz="1600" b="1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• pg_default - $PGDATA/base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• pg_global - $PGDATA/global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5" name="Google Shape;485;p69"/>
          <p:cNvSpPr txBox="1"/>
          <p:nvPr/>
        </p:nvSpPr>
        <p:spPr>
          <a:xfrm>
            <a:off x="1662400" y="3085143"/>
            <a:ext cx="2451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 умолчанию: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69"/>
          <p:cNvSpPr txBox="1"/>
          <p:nvPr/>
        </p:nvSpPr>
        <p:spPr>
          <a:xfrm>
            <a:off x="1662400" y="5102313"/>
            <a:ext cx="7771800" cy="8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3F3F3F"/>
                </a:solidFill>
              </a:rPr>
              <a:t>Новые табличные пространства:</a:t>
            </a:r>
            <a:endParaRPr sz="1800">
              <a:solidFill>
                <a:srgbClr val="3F3F3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lang="ru-RU" sz="1800">
                <a:solidFill>
                  <a:srgbClr val="3F3F3F"/>
                </a:solidFill>
              </a:rPr>
              <a:t>создаются в $PGDATA/pg_tblspc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7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УСТРОЙСТВО ТП</a:t>
            </a:r>
            <a:endParaRPr/>
          </a:p>
        </p:txBody>
      </p:sp>
      <p:sp>
        <p:nvSpPr>
          <p:cNvPr id="492" name="Google Shape;492;p7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493" name="Google Shape;493;p70"/>
          <p:cNvSpPr/>
          <p:nvPr/>
        </p:nvSpPr>
        <p:spPr>
          <a:xfrm>
            <a:off x="958000" y="1077500"/>
            <a:ext cx="10450200" cy="5715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Табличное пространство pg_global</a:t>
            </a:r>
            <a:endParaRPr/>
          </a:p>
        </p:txBody>
      </p:sp>
      <p:sp>
        <p:nvSpPr>
          <p:cNvPr id="494" name="Google Shape;494;p70"/>
          <p:cNvSpPr/>
          <p:nvPr/>
        </p:nvSpPr>
        <p:spPr>
          <a:xfrm>
            <a:off x="2264300" y="2220500"/>
            <a:ext cx="3415500" cy="3796500"/>
          </a:xfrm>
          <a:prstGeom prst="roundRect">
            <a:avLst>
              <a:gd name="adj" fmla="val 16667"/>
            </a:avLst>
          </a:prstGeom>
          <a:solidFill>
            <a:srgbClr val="CBF2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70"/>
          <p:cNvSpPr/>
          <p:nvPr/>
        </p:nvSpPr>
        <p:spPr>
          <a:xfrm>
            <a:off x="6645800" y="2234100"/>
            <a:ext cx="4313400" cy="3728400"/>
          </a:xfrm>
          <a:prstGeom prst="roundRect">
            <a:avLst>
              <a:gd name="adj" fmla="val 16667"/>
            </a:avLst>
          </a:prstGeom>
          <a:solidFill>
            <a:srgbClr val="00C391">
              <a:alpha val="2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70"/>
          <p:cNvSpPr txBox="1"/>
          <p:nvPr/>
        </p:nvSpPr>
        <p:spPr>
          <a:xfrm>
            <a:off x="2800100" y="2261325"/>
            <a:ext cx="2343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БД “POSTGRES”</a:t>
            </a:r>
            <a:endParaRPr/>
          </a:p>
        </p:txBody>
      </p:sp>
      <p:sp>
        <p:nvSpPr>
          <p:cNvPr id="497" name="Google Shape;497;p70"/>
          <p:cNvSpPr txBox="1"/>
          <p:nvPr/>
        </p:nvSpPr>
        <p:spPr>
          <a:xfrm>
            <a:off x="8094950" y="2297100"/>
            <a:ext cx="141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БД “APP”</a:t>
            </a:r>
            <a:endParaRPr/>
          </a:p>
        </p:txBody>
      </p:sp>
      <p:sp>
        <p:nvSpPr>
          <p:cNvPr id="498" name="Google Shape;498;p70"/>
          <p:cNvSpPr/>
          <p:nvPr/>
        </p:nvSpPr>
        <p:spPr>
          <a:xfrm>
            <a:off x="2726925" y="2628700"/>
            <a:ext cx="1074900" cy="3211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70"/>
          <p:cNvSpPr/>
          <p:nvPr/>
        </p:nvSpPr>
        <p:spPr>
          <a:xfrm>
            <a:off x="4142075" y="2642325"/>
            <a:ext cx="1074900" cy="3211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70"/>
          <p:cNvSpPr/>
          <p:nvPr/>
        </p:nvSpPr>
        <p:spPr>
          <a:xfrm>
            <a:off x="6947875" y="2642325"/>
            <a:ext cx="1074900" cy="3211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70"/>
          <p:cNvSpPr/>
          <p:nvPr/>
        </p:nvSpPr>
        <p:spPr>
          <a:xfrm>
            <a:off x="8265050" y="2642325"/>
            <a:ext cx="1074900" cy="3211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70"/>
          <p:cNvSpPr txBox="1"/>
          <p:nvPr/>
        </p:nvSpPr>
        <p:spPr>
          <a:xfrm>
            <a:off x="2658825" y="5237925"/>
            <a:ext cx="1211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схема pg_catalog</a:t>
            </a:r>
            <a:endParaRPr/>
          </a:p>
        </p:txBody>
      </p:sp>
      <p:sp>
        <p:nvSpPr>
          <p:cNvPr id="503" name="Google Shape;503;p70"/>
          <p:cNvSpPr txBox="1"/>
          <p:nvPr/>
        </p:nvSpPr>
        <p:spPr>
          <a:xfrm>
            <a:off x="4073975" y="5237925"/>
            <a:ext cx="121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схема public</a:t>
            </a:r>
            <a:endParaRPr/>
          </a:p>
        </p:txBody>
      </p:sp>
      <p:sp>
        <p:nvSpPr>
          <p:cNvPr id="504" name="Google Shape;504;p70"/>
          <p:cNvSpPr txBox="1"/>
          <p:nvPr/>
        </p:nvSpPr>
        <p:spPr>
          <a:xfrm>
            <a:off x="6839000" y="5237925"/>
            <a:ext cx="1211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схема pg_catalog</a:t>
            </a:r>
            <a:endParaRPr/>
          </a:p>
        </p:txBody>
      </p:sp>
      <p:sp>
        <p:nvSpPr>
          <p:cNvPr id="505" name="Google Shape;505;p70"/>
          <p:cNvSpPr txBox="1"/>
          <p:nvPr/>
        </p:nvSpPr>
        <p:spPr>
          <a:xfrm>
            <a:off x="8210613" y="5237925"/>
            <a:ext cx="121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схема public</a:t>
            </a:r>
            <a:endParaRPr/>
          </a:p>
        </p:txBody>
      </p:sp>
      <p:sp>
        <p:nvSpPr>
          <p:cNvPr id="506" name="Google Shape;506;p70"/>
          <p:cNvSpPr/>
          <p:nvPr/>
        </p:nvSpPr>
        <p:spPr>
          <a:xfrm>
            <a:off x="958000" y="3730836"/>
            <a:ext cx="10521000" cy="571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ТП pg_default</a:t>
            </a:r>
            <a:endParaRPr/>
          </a:p>
        </p:txBody>
      </p:sp>
      <p:sp>
        <p:nvSpPr>
          <p:cNvPr id="507" name="Google Shape;507;p70"/>
          <p:cNvSpPr/>
          <p:nvPr/>
        </p:nvSpPr>
        <p:spPr>
          <a:xfrm>
            <a:off x="958000" y="4565011"/>
            <a:ext cx="10521000" cy="571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ТП my_ts</a:t>
            </a:r>
            <a:endParaRPr/>
          </a:p>
        </p:txBody>
      </p:sp>
      <p:sp>
        <p:nvSpPr>
          <p:cNvPr id="508" name="Google Shape;508;p70"/>
          <p:cNvSpPr/>
          <p:nvPr/>
        </p:nvSpPr>
        <p:spPr>
          <a:xfrm>
            <a:off x="5421150" y="1111513"/>
            <a:ext cx="979725" cy="503475"/>
          </a:xfrm>
          <a:prstGeom prst="flowChartInternalStorag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глобал.</a:t>
            </a:r>
            <a:r>
              <a:rPr lang="ru-RU"/>
              <a:t>объект </a:t>
            </a:r>
            <a:endParaRPr/>
          </a:p>
        </p:txBody>
      </p:sp>
      <p:sp>
        <p:nvSpPr>
          <p:cNvPr id="509" name="Google Shape;509;p70"/>
          <p:cNvSpPr/>
          <p:nvPr/>
        </p:nvSpPr>
        <p:spPr>
          <a:xfrm>
            <a:off x="2774513" y="3816475"/>
            <a:ext cx="979725" cy="400200"/>
          </a:xfrm>
          <a:prstGeom prst="flowChartInternalStorag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объект1</a:t>
            </a:r>
            <a:endParaRPr/>
          </a:p>
        </p:txBody>
      </p:sp>
      <p:sp>
        <p:nvSpPr>
          <p:cNvPr id="510" name="Google Shape;510;p70"/>
          <p:cNvSpPr/>
          <p:nvPr/>
        </p:nvSpPr>
        <p:spPr>
          <a:xfrm>
            <a:off x="4189650" y="3816475"/>
            <a:ext cx="979725" cy="400200"/>
          </a:xfrm>
          <a:prstGeom prst="flowChartInternalStorag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объект2</a:t>
            </a:r>
            <a:endParaRPr/>
          </a:p>
        </p:txBody>
      </p:sp>
      <p:sp>
        <p:nvSpPr>
          <p:cNvPr id="511" name="Google Shape;511;p70"/>
          <p:cNvSpPr/>
          <p:nvPr/>
        </p:nvSpPr>
        <p:spPr>
          <a:xfrm>
            <a:off x="4189638" y="4650650"/>
            <a:ext cx="979725" cy="400200"/>
          </a:xfrm>
          <a:prstGeom prst="flowChartInternalStorag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объект3</a:t>
            </a:r>
            <a:endParaRPr/>
          </a:p>
        </p:txBody>
      </p:sp>
      <p:sp>
        <p:nvSpPr>
          <p:cNvPr id="512" name="Google Shape;512;p70"/>
          <p:cNvSpPr/>
          <p:nvPr/>
        </p:nvSpPr>
        <p:spPr>
          <a:xfrm>
            <a:off x="2774525" y="2906900"/>
            <a:ext cx="979725" cy="537188"/>
          </a:xfrm>
          <a:prstGeom prst="flowChartInternalStorag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глобал.</a:t>
            </a:r>
            <a:r>
              <a:rPr lang="ru-RU"/>
              <a:t>объект</a:t>
            </a:r>
            <a:endParaRPr/>
          </a:p>
        </p:txBody>
      </p:sp>
      <p:sp>
        <p:nvSpPr>
          <p:cNvPr id="513" name="Google Shape;513;p70"/>
          <p:cNvSpPr/>
          <p:nvPr/>
        </p:nvSpPr>
        <p:spPr>
          <a:xfrm>
            <a:off x="6995463" y="2906900"/>
            <a:ext cx="979725" cy="400200"/>
          </a:xfrm>
          <a:prstGeom prst="flowChartInternalStorag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глобал.</a:t>
            </a:r>
            <a:r>
              <a:rPr lang="ru-RU"/>
              <a:t>объект</a:t>
            </a:r>
            <a:endParaRPr/>
          </a:p>
        </p:txBody>
      </p:sp>
      <p:cxnSp>
        <p:nvCxnSpPr>
          <p:cNvPr id="514" name="Google Shape;514;p70"/>
          <p:cNvCxnSpPr>
            <a:stCxn id="508" idx="1"/>
            <a:endCxn id="512" idx="0"/>
          </p:cNvCxnSpPr>
          <p:nvPr/>
        </p:nvCxnSpPr>
        <p:spPr>
          <a:xfrm flipH="1">
            <a:off x="3264450" y="1363250"/>
            <a:ext cx="2156700" cy="15438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5" name="Google Shape;515;p70"/>
          <p:cNvCxnSpPr>
            <a:stCxn id="508" idx="3"/>
            <a:endCxn id="513" idx="0"/>
          </p:cNvCxnSpPr>
          <p:nvPr/>
        </p:nvCxnSpPr>
        <p:spPr>
          <a:xfrm>
            <a:off x="6400875" y="1363250"/>
            <a:ext cx="1084500" cy="15438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6" name="Google Shape;516;p70"/>
          <p:cNvSpPr/>
          <p:nvPr/>
        </p:nvSpPr>
        <p:spPr>
          <a:xfrm>
            <a:off x="6995450" y="4638061"/>
            <a:ext cx="979725" cy="400200"/>
          </a:xfrm>
          <a:prstGeom prst="flowChartInternalStorag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объект1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1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ТАБЛИЧНОЕ ПРОСТРАНСТВО. ГДЕ ФАЙЛЫ?</a:t>
            </a:r>
            <a:endParaRPr/>
          </a:p>
        </p:txBody>
      </p:sp>
      <p:sp>
        <p:nvSpPr>
          <p:cNvPr id="522" name="Google Shape;522;p7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523" name="Google Shape;523;p71"/>
          <p:cNvSpPr/>
          <p:nvPr/>
        </p:nvSpPr>
        <p:spPr>
          <a:xfrm>
            <a:off x="892300" y="1428875"/>
            <a:ext cx="10450200" cy="571500"/>
          </a:xfrm>
          <a:prstGeom prst="roundRect">
            <a:avLst>
              <a:gd name="adj" fmla="val 16667"/>
            </a:avLst>
          </a:prstGeom>
          <a:solidFill>
            <a:srgbClr val="CEE6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Табличное пространство pg_global</a:t>
            </a:r>
            <a:endParaRPr/>
          </a:p>
        </p:txBody>
      </p:sp>
      <p:sp>
        <p:nvSpPr>
          <p:cNvPr id="524" name="Google Shape;524;p71"/>
          <p:cNvSpPr/>
          <p:nvPr/>
        </p:nvSpPr>
        <p:spPr>
          <a:xfrm>
            <a:off x="2198600" y="2571875"/>
            <a:ext cx="1333500" cy="3796500"/>
          </a:xfrm>
          <a:prstGeom prst="roundRect">
            <a:avLst>
              <a:gd name="adj" fmla="val 16667"/>
            </a:avLst>
          </a:prstGeom>
          <a:solidFill>
            <a:srgbClr val="CBF2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71"/>
          <p:cNvSpPr/>
          <p:nvPr/>
        </p:nvSpPr>
        <p:spPr>
          <a:xfrm>
            <a:off x="9342350" y="2585475"/>
            <a:ext cx="1551000" cy="3728400"/>
          </a:xfrm>
          <a:prstGeom prst="roundRect">
            <a:avLst>
              <a:gd name="adj" fmla="val 16667"/>
            </a:avLst>
          </a:prstGeom>
          <a:solidFill>
            <a:srgbClr val="00C391">
              <a:alpha val="2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71"/>
          <p:cNvSpPr txBox="1"/>
          <p:nvPr/>
        </p:nvSpPr>
        <p:spPr>
          <a:xfrm>
            <a:off x="2198600" y="2841200"/>
            <a:ext cx="1333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БД “POSTGRES”</a:t>
            </a:r>
            <a:endParaRPr/>
          </a:p>
        </p:txBody>
      </p:sp>
      <p:sp>
        <p:nvSpPr>
          <p:cNvPr id="527" name="Google Shape;527;p71"/>
          <p:cNvSpPr txBox="1"/>
          <p:nvPr/>
        </p:nvSpPr>
        <p:spPr>
          <a:xfrm>
            <a:off x="9512300" y="2884013"/>
            <a:ext cx="121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БД “APP”</a:t>
            </a:r>
            <a:endParaRPr/>
          </a:p>
        </p:txBody>
      </p:sp>
      <p:sp>
        <p:nvSpPr>
          <p:cNvPr id="528" name="Google Shape;528;p71"/>
          <p:cNvSpPr/>
          <p:nvPr/>
        </p:nvSpPr>
        <p:spPr>
          <a:xfrm>
            <a:off x="892300" y="4082211"/>
            <a:ext cx="10521000" cy="571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ТП pg_default</a:t>
            </a:r>
            <a:endParaRPr/>
          </a:p>
        </p:txBody>
      </p:sp>
      <p:sp>
        <p:nvSpPr>
          <p:cNvPr id="529" name="Google Shape;529;p71"/>
          <p:cNvSpPr/>
          <p:nvPr/>
        </p:nvSpPr>
        <p:spPr>
          <a:xfrm>
            <a:off x="892300" y="4916386"/>
            <a:ext cx="10521000" cy="571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ТП my_ts</a:t>
            </a:r>
            <a:endParaRPr/>
          </a:p>
        </p:txBody>
      </p:sp>
      <p:sp>
        <p:nvSpPr>
          <p:cNvPr id="530" name="Google Shape;530;p71"/>
          <p:cNvSpPr/>
          <p:nvPr/>
        </p:nvSpPr>
        <p:spPr>
          <a:xfrm>
            <a:off x="5355450" y="1462888"/>
            <a:ext cx="979725" cy="503475"/>
          </a:xfrm>
          <a:prstGeom prst="flowChartInternalStorag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глобал.</a:t>
            </a:r>
            <a:r>
              <a:rPr lang="ru-RU"/>
              <a:t>объект </a:t>
            </a:r>
            <a:endParaRPr/>
          </a:p>
        </p:txBody>
      </p:sp>
      <p:sp>
        <p:nvSpPr>
          <p:cNvPr id="531" name="Google Shape;531;p71"/>
          <p:cNvSpPr/>
          <p:nvPr/>
        </p:nvSpPr>
        <p:spPr>
          <a:xfrm>
            <a:off x="2355000" y="4167850"/>
            <a:ext cx="979725" cy="400200"/>
          </a:xfrm>
          <a:prstGeom prst="flowChartInternalStorag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объект2</a:t>
            </a:r>
            <a:endParaRPr/>
          </a:p>
        </p:txBody>
      </p:sp>
      <p:sp>
        <p:nvSpPr>
          <p:cNvPr id="532" name="Google Shape;532;p71"/>
          <p:cNvSpPr/>
          <p:nvPr/>
        </p:nvSpPr>
        <p:spPr>
          <a:xfrm>
            <a:off x="2354988" y="5002025"/>
            <a:ext cx="979725" cy="400200"/>
          </a:xfrm>
          <a:prstGeom prst="flowChartInternalStorag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объект3</a:t>
            </a:r>
            <a:endParaRPr/>
          </a:p>
        </p:txBody>
      </p:sp>
      <p:sp>
        <p:nvSpPr>
          <p:cNvPr id="533" name="Google Shape;533;p71"/>
          <p:cNvSpPr/>
          <p:nvPr/>
        </p:nvSpPr>
        <p:spPr>
          <a:xfrm>
            <a:off x="9591416" y="4167861"/>
            <a:ext cx="979725" cy="400200"/>
          </a:xfrm>
          <a:prstGeom prst="flowChartInternalStorag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объект2</a:t>
            </a:r>
            <a:endParaRPr/>
          </a:p>
        </p:txBody>
      </p:sp>
      <p:sp>
        <p:nvSpPr>
          <p:cNvPr id="534" name="Google Shape;534;p71"/>
          <p:cNvSpPr/>
          <p:nvPr/>
        </p:nvSpPr>
        <p:spPr>
          <a:xfrm>
            <a:off x="9564125" y="5002036"/>
            <a:ext cx="979725" cy="400200"/>
          </a:xfrm>
          <a:prstGeom prst="flowChartInternalStorag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объект4</a:t>
            </a:r>
            <a:endParaRPr/>
          </a:p>
        </p:txBody>
      </p:sp>
      <p:sp>
        <p:nvSpPr>
          <p:cNvPr id="535" name="Google Shape;535;p71"/>
          <p:cNvSpPr txBox="1"/>
          <p:nvPr/>
        </p:nvSpPr>
        <p:spPr>
          <a:xfrm>
            <a:off x="7240100" y="1514525"/>
            <a:ext cx="348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$PGDATA/global</a:t>
            </a:r>
            <a:endParaRPr/>
          </a:p>
        </p:txBody>
      </p:sp>
      <p:sp>
        <p:nvSpPr>
          <p:cNvPr id="536" name="Google Shape;536;p71"/>
          <p:cNvSpPr txBox="1"/>
          <p:nvPr/>
        </p:nvSpPr>
        <p:spPr>
          <a:xfrm>
            <a:off x="4089975" y="4163900"/>
            <a:ext cx="472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$PGDATA/base/OID(db)</a:t>
            </a:r>
            <a:endParaRPr/>
          </a:p>
        </p:txBody>
      </p:sp>
      <p:sp>
        <p:nvSpPr>
          <p:cNvPr id="537" name="Google Shape;537;p71"/>
          <p:cNvSpPr txBox="1"/>
          <p:nvPr/>
        </p:nvSpPr>
        <p:spPr>
          <a:xfrm>
            <a:off x="3947963" y="5002025"/>
            <a:ext cx="497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$PGDATA/pg_tblspc/OID(ts)/путь_к_каталогу/vеr/OID(db)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/>
              <a:t>ТАБЛИЧНОЕ ПРОСТРАНСТВО. ОПТИМИЗАЦИЯ</a:t>
            </a:r>
            <a:endParaRPr/>
          </a:p>
        </p:txBody>
      </p:sp>
      <p:sp>
        <p:nvSpPr>
          <p:cNvPr id="543" name="Google Shape;543;p7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544" name="Google Shape;544;p72"/>
          <p:cNvSpPr txBox="1"/>
          <p:nvPr/>
        </p:nvSpPr>
        <p:spPr>
          <a:xfrm>
            <a:off x="1725850" y="1849100"/>
            <a:ext cx="7332300" cy="31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lang="ru-RU" sz="1800">
                <a:solidFill>
                  <a:srgbClr val="3F3F3F"/>
                </a:solidFill>
              </a:rPr>
              <a:t>отдельные объекты (БД, таблицы) размещаем в разных ТП, расположенных на разных дисках, дисковых массивах - таким образом распараллеливаем нагрузку</a:t>
            </a:r>
            <a:endParaRPr sz="1800">
              <a:solidFill>
                <a:srgbClr val="3F3F3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lang="ru-RU" sz="1800">
                <a:solidFill>
                  <a:srgbClr val="3F3F3F"/>
                </a:solidFill>
              </a:rPr>
              <a:t>можно из оперативной памяти часть смонтировать как файловую систему, создать ТП и держать там, например, материализованные представления, временные таблицы, индексы</a:t>
            </a:r>
            <a:endParaRPr sz="1800">
              <a:solidFill>
                <a:srgbClr val="3F3F3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lang="ru-RU" sz="1800">
                <a:solidFill>
                  <a:srgbClr val="3F3F3F"/>
                </a:solidFill>
              </a:rPr>
              <a:t>вариант установить локально на сервер ssd диск под такие же некритичные данные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3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ИТОГИ ЗАНЯТИЯ</a:t>
            </a:r>
            <a:endParaRPr/>
          </a:p>
        </p:txBody>
      </p:sp>
      <p:sp>
        <p:nvSpPr>
          <p:cNvPr id="550" name="Google Shape;550;p7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551" name="Google Shape;551;p73"/>
          <p:cNvSpPr/>
          <p:nvPr/>
        </p:nvSpPr>
        <p:spPr>
          <a:xfrm>
            <a:off x="1170000" y="2393222"/>
            <a:ext cx="2714100" cy="2095500"/>
          </a:xfrm>
          <a:prstGeom prst="roundRect">
            <a:avLst>
              <a:gd name="adj" fmla="val 5760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Поняли как устроены табличные пространства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73"/>
          <p:cNvSpPr/>
          <p:nvPr/>
        </p:nvSpPr>
        <p:spPr>
          <a:xfrm>
            <a:off x="4205475" y="2393225"/>
            <a:ext cx="3800700" cy="2095500"/>
          </a:xfrm>
          <a:prstGeom prst="roundRect">
            <a:avLst>
              <a:gd name="adj" fmla="val 5215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Узнали варианты оптимизации хранения данных используя табличные пространства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53" name="Google Shape;553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0741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7666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73"/>
          <p:cNvSpPr/>
          <p:nvPr/>
        </p:nvSpPr>
        <p:spPr>
          <a:xfrm>
            <a:off x="8327550" y="2393225"/>
            <a:ext cx="2928900" cy="2095500"/>
          </a:xfrm>
          <a:prstGeom prst="roundRect">
            <a:avLst>
              <a:gd name="adj" fmla="val 5215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2800">
                <a:solidFill>
                  <a:schemeClr val="accent5"/>
                </a:solidFill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Научились создавать табличное пространство и БД в нем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56" name="Google Shape;556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5341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74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74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74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74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65" name="Google Shape;565;p74"/>
          <p:cNvGrpSpPr/>
          <p:nvPr/>
        </p:nvGrpSpPr>
        <p:grpSpPr>
          <a:xfrm>
            <a:off x="10565800" y="0"/>
            <a:ext cx="1636800" cy="6858000"/>
            <a:chOff x="21132640" y="0"/>
            <a:chExt cx="3273600" cy="13716000"/>
          </a:xfrm>
        </p:grpSpPr>
        <p:sp>
          <p:nvSpPr>
            <p:cNvPr id="566" name="Google Shape;566;p74"/>
            <p:cNvSpPr/>
            <p:nvPr/>
          </p:nvSpPr>
          <p:spPr>
            <a:xfrm>
              <a:off x="21132640" y="0"/>
              <a:ext cx="3273600" cy="13716000"/>
            </a:xfrm>
            <a:prstGeom prst="rect">
              <a:avLst/>
            </a:prstGeom>
            <a:solidFill>
              <a:srgbClr val="1400C1"/>
            </a:solidFill>
            <a:ln>
              <a:noFill/>
            </a:ln>
          </p:spPr>
          <p:txBody>
            <a:bodyPr spcFirstLastPara="1" wrap="square" lIns="35725" tIns="35725" rIns="35725" bIns="3572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Helvetica Neue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567" name="Google Shape;567;p74" descr="Logo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916292" y="987426"/>
              <a:ext cx="1769700" cy="12042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8" name="Google Shape;568;p74"/>
          <p:cNvSpPr/>
          <p:nvPr/>
        </p:nvSpPr>
        <p:spPr>
          <a:xfrm>
            <a:off x="8945629" y="3632200"/>
            <a:ext cx="3240300" cy="3240300"/>
          </a:xfrm>
          <a:prstGeom prst="rect">
            <a:avLst/>
          </a:prstGeom>
          <a:blipFill rotWithShape="1">
            <a:blip r:embed="rId6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9" name="Google Shape;569;p74"/>
          <p:cNvSpPr txBox="1"/>
          <p:nvPr/>
        </p:nvSpPr>
        <p:spPr>
          <a:xfrm>
            <a:off x="1715258" y="2280384"/>
            <a:ext cx="8119200" cy="16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ПРОВЕРОЧНОЕ</a:t>
            </a:r>
            <a:endParaRPr sz="700"/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</a:t>
            </a:r>
            <a:endParaRPr sz="700"/>
          </a:p>
        </p:txBody>
      </p:sp>
      <p:sp>
        <p:nvSpPr>
          <p:cNvPr id="570" name="Google Shape;570;p74"/>
          <p:cNvSpPr/>
          <p:nvPr/>
        </p:nvSpPr>
        <p:spPr>
          <a:xfrm>
            <a:off x="8954911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1" name="Google Shape;571;p74"/>
          <p:cNvSpPr txBox="1"/>
          <p:nvPr/>
        </p:nvSpPr>
        <p:spPr>
          <a:xfrm>
            <a:off x="8985748" y="6301922"/>
            <a:ext cx="756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None/>
            </a:pPr>
            <a:r>
              <a:rPr lang="ru-RU" sz="15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begin</a:t>
            </a: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2" name="Google Shape;572;p74"/>
          <p:cNvSpPr/>
          <p:nvPr/>
        </p:nvSpPr>
        <p:spPr>
          <a:xfrm>
            <a:off x="10572632" y="4444819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73" name="Google Shape;573;p74"/>
          <p:cNvGrpSpPr/>
          <p:nvPr/>
        </p:nvGrpSpPr>
        <p:grpSpPr>
          <a:xfrm>
            <a:off x="10715067" y="4596847"/>
            <a:ext cx="515245" cy="456900"/>
            <a:chOff x="21456284" y="9198597"/>
            <a:chExt cx="1030489" cy="913800"/>
          </a:xfrm>
        </p:grpSpPr>
        <p:sp>
          <p:nvSpPr>
            <p:cNvPr id="574" name="Google Shape;574;p74"/>
            <p:cNvSpPr txBox="1"/>
            <p:nvPr/>
          </p:nvSpPr>
          <p:spPr>
            <a:xfrm>
              <a:off x="21456284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74"/>
            <p:cNvSpPr txBox="1"/>
            <p:nvPr/>
          </p:nvSpPr>
          <p:spPr>
            <a:xfrm>
              <a:off x="22127673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6" name="Google Shape;576;p74"/>
          <p:cNvSpPr/>
          <p:nvPr/>
        </p:nvSpPr>
        <p:spPr>
          <a:xfrm>
            <a:off x="11405843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9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7" name="Google Shape;577;p74"/>
          <p:cNvSpPr/>
          <p:nvPr/>
        </p:nvSpPr>
        <p:spPr>
          <a:xfrm>
            <a:off x="2944" y="0"/>
            <a:ext cx="1619100" cy="1619100"/>
          </a:xfrm>
          <a:prstGeom prst="rect">
            <a:avLst/>
          </a:prstGeom>
          <a:blipFill rotWithShape="1">
            <a:blip r:embed="rId10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8" name="Google Shape;578;p74"/>
          <p:cNvSpPr txBox="1"/>
          <p:nvPr/>
        </p:nvSpPr>
        <p:spPr>
          <a:xfrm>
            <a:off x="1715259" y="3938927"/>
            <a:ext cx="53292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b="1">
                <a:solidFill>
                  <a:schemeClr val="lt1"/>
                </a:solidFill>
              </a:rPr>
              <a:t>Цель задания: </a:t>
            </a:r>
            <a:r>
              <a:rPr lang="ru-RU" sz="1800">
                <a:solidFill>
                  <a:schemeClr val="lt1"/>
                </a:solidFill>
              </a:rPr>
              <a:t>научиться создавать своё табличное пространство</a:t>
            </a:r>
            <a:endParaRPr sz="18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ЗАДАНИЕ НА САМОПРОВЕРКУ</a:t>
            </a:r>
            <a:endParaRPr/>
          </a:p>
        </p:txBody>
      </p:sp>
      <p:sp>
        <p:nvSpPr>
          <p:cNvPr id="584" name="Google Shape;584;p75"/>
          <p:cNvSpPr txBox="1"/>
          <p:nvPr/>
        </p:nvSpPr>
        <p:spPr>
          <a:xfrm>
            <a:off x="1695375" y="2357291"/>
            <a:ext cx="2451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Создать каталог в домашнем каталоге пользователя postgres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75"/>
          <p:cNvSpPr txBox="1"/>
          <p:nvPr/>
        </p:nvSpPr>
        <p:spPr>
          <a:xfrm>
            <a:off x="4764100" y="2357291"/>
            <a:ext cx="2647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Создать табличное пространство, указав этот каталог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75"/>
          <p:cNvSpPr txBox="1"/>
          <p:nvPr/>
        </p:nvSpPr>
        <p:spPr>
          <a:xfrm>
            <a:off x="8260569" y="2357291"/>
            <a:ext cx="2309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Создать базу данных с этим табличным пространством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75"/>
          <p:cNvSpPr txBox="1"/>
          <p:nvPr/>
        </p:nvSpPr>
        <p:spPr>
          <a:xfrm>
            <a:off x="1695375" y="4200681"/>
            <a:ext cx="2451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Переключиться в эту базу данных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75"/>
          <p:cNvSpPr txBox="1"/>
          <p:nvPr/>
        </p:nvSpPr>
        <p:spPr>
          <a:xfrm>
            <a:off x="4764100" y="4200681"/>
            <a:ext cx="2647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Создать таблицу в ней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75"/>
          <p:cNvSpPr txBox="1"/>
          <p:nvPr/>
        </p:nvSpPr>
        <p:spPr>
          <a:xfrm>
            <a:off x="1695376" y="1829222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75"/>
          <p:cNvSpPr txBox="1"/>
          <p:nvPr/>
        </p:nvSpPr>
        <p:spPr>
          <a:xfrm>
            <a:off x="4775976" y="1827615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75"/>
          <p:cNvSpPr txBox="1"/>
          <p:nvPr/>
        </p:nvSpPr>
        <p:spPr>
          <a:xfrm>
            <a:off x="8260569" y="1826006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75"/>
          <p:cNvSpPr txBox="1"/>
          <p:nvPr/>
        </p:nvSpPr>
        <p:spPr>
          <a:xfrm>
            <a:off x="1695376" y="3641678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75"/>
          <p:cNvSpPr txBox="1"/>
          <p:nvPr/>
        </p:nvSpPr>
        <p:spPr>
          <a:xfrm>
            <a:off x="4775976" y="3640070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4" name="Google Shape;594;p75"/>
          <p:cNvCxnSpPr/>
          <p:nvPr/>
        </p:nvCxnSpPr>
        <p:spPr>
          <a:xfrm rot="10800000">
            <a:off x="2307762" y="2089239"/>
            <a:ext cx="22206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5" name="Google Shape;595;p75"/>
          <p:cNvCxnSpPr/>
          <p:nvPr/>
        </p:nvCxnSpPr>
        <p:spPr>
          <a:xfrm rot="10800000">
            <a:off x="5478283" y="2089239"/>
            <a:ext cx="25533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6" name="Google Shape;596;p75"/>
          <p:cNvCxnSpPr/>
          <p:nvPr/>
        </p:nvCxnSpPr>
        <p:spPr>
          <a:xfrm rot="10800000">
            <a:off x="2307762" y="3889820"/>
            <a:ext cx="22206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7" name="Google Shape;597;p75"/>
          <p:cNvCxnSpPr/>
          <p:nvPr/>
        </p:nvCxnSpPr>
        <p:spPr>
          <a:xfrm rot="10800000">
            <a:off x="8872901" y="2089239"/>
            <a:ext cx="16077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8" name="Google Shape;598;p75"/>
          <p:cNvSpPr txBox="1"/>
          <p:nvPr/>
        </p:nvSpPr>
        <p:spPr>
          <a:xfrm>
            <a:off x="8260569" y="4200681"/>
            <a:ext cx="2309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Убедиться, что таблица создалась в нужном табличном пространстве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599" name="Google Shape;599;p75"/>
          <p:cNvSpPr txBox="1"/>
          <p:nvPr/>
        </p:nvSpPr>
        <p:spPr>
          <a:xfrm>
            <a:off x="8260569" y="3640070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4"/>
                </a:solidFill>
              </a:rPr>
              <a:t>6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0" name="Google Shape;600;p75"/>
          <p:cNvCxnSpPr/>
          <p:nvPr/>
        </p:nvCxnSpPr>
        <p:spPr>
          <a:xfrm rot="10800000">
            <a:off x="5478283" y="3889820"/>
            <a:ext cx="25533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76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76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76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76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09" name="Google Shape;609;p76"/>
          <p:cNvGrpSpPr/>
          <p:nvPr/>
        </p:nvGrpSpPr>
        <p:grpSpPr>
          <a:xfrm>
            <a:off x="10565800" y="0"/>
            <a:ext cx="1636800" cy="6858000"/>
            <a:chOff x="21132640" y="0"/>
            <a:chExt cx="3273600" cy="13716000"/>
          </a:xfrm>
        </p:grpSpPr>
        <p:sp>
          <p:nvSpPr>
            <p:cNvPr id="610" name="Google Shape;610;p76"/>
            <p:cNvSpPr/>
            <p:nvPr/>
          </p:nvSpPr>
          <p:spPr>
            <a:xfrm>
              <a:off x="21132640" y="0"/>
              <a:ext cx="3273600" cy="13716000"/>
            </a:xfrm>
            <a:prstGeom prst="rect">
              <a:avLst/>
            </a:prstGeom>
            <a:solidFill>
              <a:srgbClr val="1400C1"/>
            </a:solidFill>
            <a:ln>
              <a:noFill/>
            </a:ln>
          </p:spPr>
          <p:txBody>
            <a:bodyPr spcFirstLastPara="1" wrap="square" lIns="35725" tIns="35725" rIns="35725" bIns="3572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Helvetica Neue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611" name="Google Shape;611;p76" descr="Logo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916292" y="987426"/>
              <a:ext cx="1769700" cy="12042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2" name="Google Shape;612;p76"/>
          <p:cNvSpPr/>
          <p:nvPr/>
        </p:nvSpPr>
        <p:spPr>
          <a:xfrm>
            <a:off x="8945629" y="3632200"/>
            <a:ext cx="3240300" cy="3240300"/>
          </a:xfrm>
          <a:prstGeom prst="rect">
            <a:avLst/>
          </a:prstGeom>
          <a:blipFill rotWithShape="1">
            <a:blip r:embed="rId6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3" name="Google Shape;613;p76"/>
          <p:cNvSpPr txBox="1"/>
          <p:nvPr/>
        </p:nvSpPr>
        <p:spPr>
          <a:xfrm>
            <a:off x="1634961" y="3121413"/>
            <a:ext cx="7346400" cy="8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СПАСИБО</a:t>
            </a:r>
            <a:endParaRPr sz="700"/>
          </a:p>
        </p:txBody>
      </p:sp>
      <p:sp>
        <p:nvSpPr>
          <p:cNvPr id="614" name="Google Shape;614;p76"/>
          <p:cNvSpPr/>
          <p:nvPr/>
        </p:nvSpPr>
        <p:spPr>
          <a:xfrm>
            <a:off x="8954911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5" name="Google Shape;615;p76"/>
          <p:cNvSpPr txBox="1"/>
          <p:nvPr/>
        </p:nvSpPr>
        <p:spPr>
          <a:xfrm>
            <a:off x="8985748" y="6301922"/>
            <a:ext cx="756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None/>
            </a:pPr>
            <a:r>
              <a:rPr lang="ru-RU" sz="15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End</a:t>
            </a: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6" name="Google Shape;616;p76"/>
          <p:cNvSpPr/>
          <p:nvPr/>
        </p:nvSpPr>
        <p:spPr>
          <a:xfrm>
            <a:off x="10572632" y="4444819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17" name="Google Shape;617;p76"/>
          <p:cNvGrpSpPr/>
          <p:nvPr/>
        </p:nvGrpSpPr>
        <p:grpSpPr>
          <a:xfrm>
            <a:off x="10715067" y="4596847"/>
            <a:ext cx="515245" cy="456900"/>
            <a:chOff x="21456284" y="9198597"/>
            <a:chExt cx="1030489" cy="913800"/>
          </a:xfrm>
        </p:grpSpPr>
        <p:sp>
          <p:nvSpPr>
            <p:cNvPr id="618" name="Google Shape;618;p76"/>
            <p:cNvSpPr txBox="1"/>
            <p:nvPr/>
          </p:nvSpPr>
          <p:spPr>
            <a:xfrm>
              <a:off x="21456284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76"/>
            <p:cNvSpPr txBox="1"/>
            <p:nvPr/>
          </p:nvSpPr>
          <p:spPr>
            <a:xfrm>
              <a:off x="22127673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0" name="Google Shape;620;p76"/>
          <p:cNvSpPr/>
          <p:nvPr/>
        </p:nvSpPr>
        <p:spPr>
          <a:xfrm>
            <a:off x="11405843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9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1" name="Google Shape;621;p76"/>
          <p:cNvSpPr/>
          <p:nvPr/>
        </p:nvSpPr>
        <p:spPr>
          <a:xfrm>
            <a:off x="2944" y="0"/>
            <a:ext cx="1619100" cy="1619100"/>
          </a:xfrm>
          <a:prstGeom prst="rect">
            <a:avLst/>
          </a:prstGeom>
          <a:blipFill rotWithShape="1">
            <a:blip r:embed="rId10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2" name="Google Shape;622;p76"/>
          <p:cNvSpPr txBox="1"/>
          <p:nvPr/>
        </p:nvSpPr>
        <p:spPr>
          <a:xfrm>
            <a:off x="1622061" y="4145782"/>
            <a:ext cx="7372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FFFFFF"/>
                </a:solidFill>
              </a:rPr>
              <a:t>На следующем занятии мы рассмотрим тему:</a:t>
            </a:r>
            <a:endParaRPr sz="1800">
              <a:solidFill>
                <a:srgbClr val="FFFFFF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ru-RU" sz="1800">
                <a:solidFill>
                  <a:srgbClr val="FFFFFF"/>
                </a:solidFill>
              </a:rPr>
              <a:t>Физическое устройство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D6D5D5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</Words>
  <Application>Microsoft Office PowerPoint</Application>
  <PresentationFormat>Широкоэкранный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6</vt:i4>
      </vt:variant>
      <vt:variant>
        <vt:lpstr>Заголовки слайдов</vt:lpstr>
      </vt:variant>
      <vt:variant>
        <vt:i4>11</vt:i4>
      </vt:variant>
    </vt:vector>
  </HeadingPairs>
  <TitlesOfParts>
    <vt:vector size="25" baseType="lpstr">
      <vt:lpstr>Helvetica Neue</vt:lpstr>
      <vt:lpstr>Helvetica Neue Light</vt:lpstr>
      <vt:lpstr>Arial</vt:lpstr>
      <vt:lpstr>Calibri</vt:lpstr>
      <vt:lpstr>Arial Black</vt:lpstr>
      <vt:lpstr>Consolas</vt:lpstr>
      <vt:lpstr>Proxima Nova</vt:lpstr>
      <vt:lpstr>Courier New</vt:lpstr>
      <vt:lpstr>Тема Office</vt:lpstr>
      <vt:lpstr>Template_StepUP</vt:lpstr>
      <vt:lpstr>Template_StepUP</vt:lpstr>
      <vt:lpstr>White</vt:lpstr>
      <vt:lpstr>Template_StepUP</vt:lpstr>
      <vt:lpstr>Template_StepUP</vt:lpstr>
      <vt:lpstr>ТАБЛИЧНЫЕ ПРОСТРАНСТВА</vt:lpstr>
      <vt:lpstr>ЦЕЛЬ УРОКА</vt:lpstr>
      <vt:lpstr>СОДЕРЖАНИЕ УРОКА</vt:lpstr>
      <vt:lpstr>ТАБЛИЧНОЕ ПРОСТРАНСТВО (ТП)</vt:lpstr>
      <vt:lpstr>УСТРОЙСТВО ТП</vt:lpstr>
      <vt:lpstr>ТАБЛИЧНОЕ ПРОСТРАНСТВО. ГДЕ ФАЙЛЫ?</vt:lpstr>
      <vt:lpstr>ТАБЛИЧНОЕ ПРОСТРАНСТВО. ОПТИМИЗАЦИЯ</vt:lpstr>
      <vt:lpstr>ИТОГИ ЗАНЯТИЯ</vt:lpstr>
      <vt:lpstr>Презентация PowerPoint</vt:lpstr>
      <vt:lpstr>ЗАДАНИЕ НА САМОПРОВЕРКУ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ТАБЛИЧНЫЕ ПРОСТРАНСТВА</dc:title>
  <cp:lastModifiedBy>Бондарь Илья Викторович</cp:lastModifiedBy>
  <cp:revision>1</cp:revision>
  <dcterms:modified xsi:type="dcterms:W3CDTF">2025-12-27T17:32:46Z</dcterms:modified>
</cp:coreProperties>
</file>