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7" r:id="rId1"/>
    <p:sldMasterId id="2147483708" r:id="rId2"/>
    <p:sldMasterId id="2147483709" r:id="rId3"/>
    <p:sldMasterId id="2147483710" r:id="rId4"/>
    <p:sldMasterId id="2147483711" r:id="rId5"/>
    <p:sldMasterId id="2147483712" r:id="rId6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6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embeddedFontLst>
    <p:embeddedFont>
      <p:font typeface="Arial Black" panose="020B0A04020102020204" pitchFamily="34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Helvetica Neue" panose="020B0604020202020204" charset="0"/>
      <p:regular r:id="rId29"/>
      <p:bold r:id="rId30"/>
      <p:italic r:id="rId31"/>
      <p:boldItalic r:id="rId32"/>
    </p:embeddedFont>
    <p:embeddedFont>
      <p:font typeface="Helvetica Neue Light" panose="020B0604020202020204" charset="0"/>
      <p:regular r:id="rId33"/>
      <p:bold r:id="rId34"/>
      <p:italic r:id="rId35"/>
      <p:boldItalic r:id="rId36"/>
    </p:embeddedFont>
    <p:embeddedFont>
      <p:font typeface="Proxima Nova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C2F4"/>
    <a:srgbClr val="FFE5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270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4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43f49afda8_1_72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445" name="Google Shape;445;g143f49afda8_1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43e2d79c53_1_10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g143e2d79c53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43e2d79c53_1_29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143e2d79c53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43f49afda8_1_91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143f49afda8_1_9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43e2d79c53_1_39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g143e2d79c53_1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43f49afda8_1_101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143f49afda8_1_1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43f49afda8_1_52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5" name="Google Shape;545;g143f49afda8_1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43f49afda8_1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143f49afda8_1_1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43f49afda8_1_31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g143f49afda8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43f49afda8_1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g143f49afda8_1_106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p1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16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8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1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8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1" name="Google Shape;201;p3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5" name="Google Shape;215;p3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0" name="Google Shape;230;p3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3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3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3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5" name="Google Shape;23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8" name="Google Shape;238;p3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4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4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3" name="Google Shape;24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p3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77" name="Google Shape;277;p4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41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2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8" name="Google Shape;288;p4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4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3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02" name="Google Shape;302;p4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4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6" name="Google Shape;31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4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9" name="Google Shape;319;p4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5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24" name="Google Shape;32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4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4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8" name="Google Shape;328;p4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4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4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4" name="Google Shape;334;p4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48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1" name="Google Shape;341;p48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2" name="Google Shape;342;p48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5" name="Google Shape;345;p49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1" name="Google Shape;361;p5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62" name="Google Shape;362;p5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53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2" name="Google Shape;372;p5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5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55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77" name="Google Shape;377;p5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5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5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5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9" name="Google Shape;389;p5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56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1" name="Google Shape;391;p5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5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5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7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7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5" name="Google Shape;405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5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8" name="Google Shape;408;p5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58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8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3" name="Google Shape;413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8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58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5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7" name="Google Shape;417;p5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5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5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2" name="Google Shape;422;p5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3" name="Google Shape;423;p5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6" name="Google Shape;426;p60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9" name="Google Shape;429;p61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0" name="Google Shape;430;p61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1" name="Google Shape;431;p61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2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4" name="Google Shape;434;p62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5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45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image" Target="../media/image14.pn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63" name="Google Shape;263;p3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5" name="Google Shape;265;p39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9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9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52" name="Google Shape;352;p5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4" name="Google Shape;354;p52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2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2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2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2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4"/>
          <p:cNvSpPr txBox="1">
            <a:spLocks noGrp="1"/>
          </p:cNvSpPr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9" name="Google Shape;439;p64"/>
          <p:cNvSpPr txBox="1">
            <a:spLocks noGrp="1"/>
          </p:cNvSpPr>
          <p:nvPr>
            <p:ph type="body" idx="1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0" name="Google Shape;440;p64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6"/>
          <p:cNvSpPr txBox="1">
            <a:spLocks noGrp="1"/>
          </p:cNvSpPr>
          <p:nvPr>
            <p:ph type="body" idx="1"/>
          </p:nvPr>
        </p:nvSpPr>
        <p:spPr>
          <a:xfrm>
            <a:off x="824176" y="2428863"/>
            <a:ext cx="620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4. ОРГАНИЗАЦИЯ ДАННЫХ</a:t>
            </a:r>
            <a:endParaRPr/>
          </a:p>
        </p:txBody>
      </p:sp>
      <p:sp>
        <p:nvSpPr>
          <p:cNvPr id="448" name="Google Shape;448;p66"/>
          <p:cNvSpPr txBox="1">
            <a:spLocks noGrp="1"/>
          </p:cNvSpPr>
          <p:nvPr>
            <p:ph type="title"/>
          </p:nvPr>
        </p:nvSpPr>
        <p:spPr>
          <a:xfrm>
            <a:off x="824175" y="3016138"/>
            <a:ext cx="96123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ФИЗИЧЕСКОЕ УСТРОЙСТВО</a:t>
            </a:r>
            <a:endParaRPr sz="5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7"/>
          <p:cNvSpPr/>
          <p:nvPr/>
        </p:nvSpPr>
        <p:spPr>
          <a:xfrm>
            <a:off x="1725850" y="1078100"/>
            <a:ext cx="6942900" cy="14757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Понять как физически устроен Постгрес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7"/>
          <p:cNvSpPr/>
          <p:nvPr/>
        </p:nvSpPr>
        <p:spPr>
          <a:xfrm>
            <a:off x="1725850" y="2905400"/>
            <a:ext cx="6942900" cy="1475700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Узнать, где расположены файлы с данными, настройками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5" name="Google Shape;455;p6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456" name="Google Shape;456;p6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457" name="Google Shape;457;p67"/>
          <p:cNvSpPr/>
          <p:nvPr/>
        </p:nvSpPr>
        <p:spPr>
          <a:xfrm>
            <a:off x="1908732" y="11827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p67"/>
          <p:cNvSpPr/>
          <p:nvPr/>
        </p:nvSpPr>
        <p:spPr>
          <a:xfrm>
            <a:off x="1908735" y="30100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67"/>
          <p:cNvSpPr/>
          <p:nvPr/>
        </p:nvSpPr>
        <p:spPr>
          <a:xfrm>
            <a:off x="1725850" y="4734200"/>
            <a:ext cx="6942900" cy="1475700"/>
          </a:xfrm>
          <a:prstGeom prst="roundRect">
            <a:avLst>
              <a:gd name="adj" fmla="val 6634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Научиться создавать таблицу, найти её на диске, наполнить данными и посмотреть ее размер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460" name="Google Shape;460;p67"/>
          <p:cNvSpPr/>
          <p:nvPr/>
        </p:nvSpPr>
        <p:spPr>
          <a:xfrm>
            <a:off x="1908735" y="48388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rgbClr val="B4A7D6"/>
                </a:solidFill>
              </a:rPr>
              <a:t>3</a:t>
            </a:r>
            <a:endParaRPr sz="1500" b="0" i="0" u="none" strike="noStrike" cap="none">
              <a:solidFill>
                <a:srgbClr val="B4A7D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466" name="Google Shape;466;p6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467" name="Google Shape;467;p68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p68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p68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70" name="Google Shape;470;p68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1" name="Google Shape;471;p68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2" name="Google Shape;472;p68"/>
          <p:cNvSpPr txBox="1"/>
          <p:nvPr/>
        </p:nvSpPr>
        <p:spPr>
          <a:xfrm>
            <a:off x="2860569" y="1547531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Конфигурационные файлы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3" name="Google Shape;473;p68"/>
          <p:cNvSpPr txBox="1"/>
          <p:nvPr/>
        </p:nvSpPr>
        <p:spPr>
          <a:xfrm>
            <a:off x="2860569" y="3176659"/>
            <a:ext cx="2289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Физическое устройство PostgreSQL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74" name="Google Shape;474;p68"/>
          <p:cNvSpPr txBox="1"/>
          <p:nvPr/>
        </p:nvSpPr>
        <p:spPr>
          <a:xfrm>
            <a:off x="2860569" y="5221452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Практика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75" name="Google Shape;475;p68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КОНФИГУРАЦИОННЫЕ ФАЙЛЫ POSTGRESQL</a:t>
            </a:r>
            <a:endParaRPr/>
          </a:p>
        </p:txBody>
      </p:sp>
      <p:sp>
        <p:nvSpPr>
          <p:cNvPr id="481" name="Google Shape;481;p6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482" name="Google Shape;482;p69"/>
          <p:cNvSpPr/>
          <p:nvPr/>
        </p:nvSpPr>
        <p:spPr>
          <a:xfrm>
            <a:off x="1725849" y="1854505"/>
            <a:ext cx="7771800" cy="8013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show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hba_file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show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config_file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69"/>
          <p:cNvSpPr txBox="1"/>
          <p:nvPr/>
        </p:nvSpPr>
        <p:spPr>
          <a:xfrm>
            <a:off x="1725849" y="1390350"/>
            <a:ext cx="723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Как посмотреть конфигурационные файлы?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84" name="Google Shape;484;p69"/>
          <p:cNvSpPr/>
          <p:nvPr/>
        </p:nvSpPr>
        <p:spPr>
          <a:xfrm>
            <a:off x="1725849" y="3306915"/>
            <a:ext cx="7771800" cy="8013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etc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postgresql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/14/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pg_hba.conf</a:t>
            </a:r>
            <a:b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etc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postgresql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/14/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ru-RU" sz="16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16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postgresql.conf</a:t>
            </a:r>
            <a:endParaRPr sz="16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5" name="Google Shape;485;p69"/>
          <p:cNvSpPr txBox="1"/>
          <p:nvPr/>
        </p:nvSpPr>
        <p:spPr>
          <a:xfrm>
            <a:off x="1725849" y="2842760"/>
            <a:ext cx="723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В Ubuntu они расположены: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86" name="Google Shape;486;p69"/>
          <p:cNvSpPr txBox="1"/>
          <p:nvPr/>
        </p:nvSpPr>
        <p:spPr>
          <a:xfrm>
            <a:off x="1725849" y="4295170"/>
            <a:ext cx="7232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И в postgresql.conf мы как раз указываем, где физически хранятся данные.</a:t>
            </a:r>
            <a:br>
              <a:rPr lang="ru-RU" sz="1800">
                <a:solidFill>
                  <a:schemeClr val="dk2"/>
                </a:solidFill>
              </a:rPr>
            </a:br>
            <a:r>
              <a:rPr lang="ru-RU" sz="1800">
                <a:solidFill>
                  <a:schemeClr val="dk1"/>
                </a:solidFill>
              </a:rPr>
              <a:t>Выполним команду прямо из оболочки psql используя \! 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7" name="Google Shape;487;p69"/>
          <p:cNvSpPr/>
          <p:nvPr/>
        </p:nvSpPr>
        <p:spPr>
          <a:xfrm>
            <a:off x="1725849" y="5396525"/>
            <a:ext cx="7771800" cy="6339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lt1"/>
                </a:solidFill>
              </a:rPr>
              <a:t>\! nano /etc/postgresql/14/main/postgresql.conf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Соответствие физического и логического уровней PostgreSQL</a:t>
            </a:r>
            <a:endParaRPr/>
          </a:p>
        </p:txBody>
      </p:sp>
      <p:sp>
        <p:nvSpPr>
          <p:cNvPr id="493" name="Google Shape;493;p7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494" name="Google Shape;494;p70"/>
          <p:cNvSpPr/>
          <p:nvPr/>
        </p:nvSpPr>
        <p:spPr>
          <a:xfrm>
            <a:off x="1725850" y="1559750"/>
            <a:ext cx="4007400" cy="45720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70"/>
          <p:cNvSpPr txBox="1"/>
          <p:nvPr/>
        </p:nvSpPr>
        <p:spPr>
          <a:xfrm>
            <a:off x="2436457" y="1583375"/>
            <a:ext cx="155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/>
              <a:t>Logical</a:t>
            </a:r>
            <a:r>
              <a:rPr lang="ru-RU" sz="1600" dirty="0"/>
              <a:t> </a:t>
            </a:r>
            <a:r>
              <a:rPr lang="ru-RU" sz="1600" dirty="0" err="1"/>
              <a:t>layer</a:t>
            </a:r>
            <a:endParaRPr sz="1600" dirty="0"/>
          </a:p>
        </p:txBody>
      </p:sp>
      <p:sp>
        <p:nvSpPr>
          <p:cNvPr id="496" name="Google Shape;496;p70"/>
          <p:cNvSpPr/>
          <p:nvPr/>
        </p:nvSpPr>
        <p:spPr>
          <a:xfrm>
            <a:off x="2042963" y="2226500"/>
            <a:ext cx="1551300" cy="36330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70"/>
          <p:cNvSpPr/>
          <p:nvPr/>
        </p:nvSpPr>
        <p:spPr>
          <a:xfrm>
            <a:off x="2151863" y="2702750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70"/>
          <p:cNvSpPr txBox="1"/>
          <p:nvPr/>
        </p:nvSpPr>
        <p:spPr>
          <a:xfrm>
            <a:off x="2383163" y="2648300"/>
            <a:ext cx="8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Schema</a:t>
            </a:r>
            <a:endParaRPr/>
          </a:p>
        </p:txBody>
      </p:sp>
      <p:sp>
        <p:nvSpPr>
          <p:cNvPr id="500" name="Google Shape;500;p70"/>
          <p:cNvSpPr/>
          <p:nvPr/>
        </p:nvSpPr>
        <p:spPr>
          <a:xfrm>
            <a:off x="2240363" y="3015700"/>
            <a:ext cx="1156500" cy="5004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Relation</a:t>
            </a:r>
            <a:endParaRPr/>
          </a:p>
        </p:txBody>
      </p:sp>
      <p:sp>
        <p:nvSpPr>
          <p:cNvPr id="501" name="Google Shape;501;p70"/>
          <p:cNvSpPr/>
          <p:nvPr/>
        </p:nvSpPr>
        <p:spPr>
          <a:xfrm>
            <a:off x="2151863" y="4270275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70"/>
          <p:cNvSpPr txBox="1"/>
          <p:nvPr/>
        </p:nvSpPr>
        <p:spPr>
          <a:xfrm>
            <a:off x="2383163" y="4215825"/>
            <a:ext cx="8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Schema</a:t>
            </a:r>
            <a:endParaRPr/>
          </a:p>
        </p:txBody>
      </p:sp>
      <p:sp>
        <p:nvSpPr>
          <p:cNvPr id="503" name="Google Shape;503;p70"/>
          <p:cNvSpPr/>
          <p:nvPr/>
        </p:nvSpPr>
        <p:spPr>
          <a:xfrm>
            <a:off x="2240363" y="4583225"/>
            <a:ext cx="1156500" cy="5004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Relation</a:t>
            </a:r>
            <a:endParaRPr/>
          </a:p>
        </p:txBody>
      </p:sp>
      <p:sp>
        <p:nvSpPr>
          <p:cNvPr id="504" name="Google Shape;504;p70"/>
          <p:cNvSpPr/>
          <p:nvPr/>
        </p:nvSpPr>
        <p:spPr>
          <a:xfrm>
            <a:off x="3864813" y="1954904"/>
            <a:ext cx="1551300" cy="3904596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70"/>
          <p:cNvSpPr txBox="1"/>
          <p:nvPr/>
        </p:nvSpPr>
        <p:spPr>
          <a:xfrm>
            <a:off x="4001800" y="1912484"/>
            <a:ext cx="1224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OID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Database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16637 “app”</a:t>
            </a:r>
            <a:endParaRPr dirty="0"/>
          </a:p>
        </p:txBody>
      </p:sp>
      <p:sp>
        <p:nvSpPr>
          <p:cNvPr id="506" name="Google Shape;506;p70"/>
          <p:cNvSpPr/>
          <p:nvPr/>
        </p:nvSpPr>
        <p:spPr>
          <a:xfrm>
            <a:off x="3973713" y="2702750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70"/>
          <p:cNvSpPr txBox="1"/>
          <p:nvPr/>
        </p:nvSpPr>
        <p:spPr>
          <a:xfrm>
            <a:off x="4205013" y="2648300"/>
            <a:ext cx="8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Schema</a:t>
            </a:r>
            <a:endParaRPr/>
          </a:p>
        </p:txBody>
      </p:sp>
      <p:sp>
        <p:nvSpPr>
          <p:cNvPr id="508" name="Google Shape;508;p70"/>
          <p:cNvSpPr/>
          <p:nvPr/>
        </p:nvSpPr>
        <p:spPr>
          <a:xfrm>
            <a:off x="4062213" y="3015700"/>
            <a:ext cx="1156500" cy="5004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Relation</a:t>
            </a:r>
            <a:endParaRPr/>
          </a:p>
        </p:txBody>
      </p:sp>
      <p:sp>
        <p:nvSpPr>
          <p:cNvPr id="509" name="Google Shape;509;p70"/>
          <p:cNvSpPr/>
          <p:nvPr/>
        </p:nvSpPr>
        <p:spPr>
          <a:xfrm>
            <a:off x="3973713" y="4270275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70"/>
          <p:cNvSpPr txBox="1"/>
          <p:nvPr/>
        </p:nvSpPr>
        <p:spPr>
          <a:xfrm>
            <a:off x="4205013" y="4215825"/>
            <a:ext cx="87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Schema</a:t>
            </a:r>
            <a:endParaRPr/>
          </a:p>
        </p:txBody>
      </p:sp>
      <p:sp>
        <p:nvSpPr>
          <p:cNvPr id="511" name="Google Shape;511;p70"/>
          <p:cNvSpPr/>
          <p:nvPr/>
        </p:nvSpPr>
        <p:spPr>
          <a:xfrm>
            <a:off x="4062213" y="4583225"/>
            <a:ext cx="1156500" cy="5004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Relation</a:t>
            </a:r>
            <a:endParaRPr/>
          </a:p>
        </p:txBody>
      </p:sp>
      <p:sp>
        <p:nvSpPr>
          <p:cNvPr id="512" name="Google Shape;512;p70"/>
          <p:cNvSpPr/>
          <p:nvPr/>
        </p:nvSpPr>
        <p:spPr>
          <a:xfrm>
            <a:off x="6006500" y="1559750"/>
            <a:ext cx="3786300" cy="45720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70"/>
          <p:cNvSpPr txBox="1"/>
          <p:nvPr/>
        </p:nvSpPr>
        <p:spPr>
          <a:xfrm>
            <a:off x="7014988" y="1523804"/>
            <a:ext cx="155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/>
              <a:t>Physical</a:t>
            </a:r>
            <a:r>
              <a:rPr lang="ru-RU" sz="1600" dirty="0"/>
              <a:t> </a:t>
            </a:r>
            <a:r>
              <a:rPr lang="ru-RU" sz="1600" dirty="0" err="1"/>
              <a:t>layer</a:t>
            </a:r>
            <a:endParaRPr sz="1600" dirty="0"/>
          </a:p>
        </p:txBody>
      </p:sp>
      <p:sp>
        <p:nvSpPr>
          <p:cNvPr id="514" name="Google Shape;514;p70"/>
          <p:cNvSpPr/>
          <p:nvPr/>
        </p:nvSpPr>
        <p:spPr>
          <a:xfrm>
            <a:off x="6239338" y="2226500"/>
            <a:ext cx="1551300" cy="36330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70"/>
          <p:cNvSpPr txBox="1"/>
          <p:nvPr/>
        </p:nvSpPr>
        <p:spPr>
          <a:xfrm>
            <a:off x="6387763" y="2153864"/>
            <a:ext cx="1224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OID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Tablespace</a:t>
            </a:r>
            <a:endParaRPr dirty="0"/>
          </a:p>
        </p:txBody>
      </p:sp>
      <p:sp>
        <p:nvSpPr>
          <p:cNvPr id="516" name="Google Shape;516;p70"/>
          <p:cNvSpPr/>
          <p:nvPr/>
        </p:nvSpPr>
        <p:spPr>
          <a:xfrm>
            <a:off x="6348238" y="2702750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70"/>
          <p:cNvSpPr txBox="1"/>
          <p:nvPr/>
        </p:nvSpPr>
        <p:spPr>
          <a:xfrm>
            <a:off x="6463888" y="2648300"/>
            <a:ext cx="110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Database</a:t>
            </a:r>
            <a:endParaRPr/>
          </a:p>
        </p:txBody>
      </p:sp>
      <p:sp>
        <p:nvSpPr>
          <p:cNvPr id="518" name="Google Shape;518;p70"/>
          <p:cNvSpPr/>
          <p:nvPr/>
        </p:nvSpPr>
        <p:spPr>
          <a:xfrm>
            <a:off x="6436738" y="3015700"/>
            <a:ext cx="1156500" cy="5004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Files</a:t>
            </a:r>
            <a:endParaRPr/>
          </a:p>
        </p:txBody>
      </p:sp>
      <p:sp>
        <p:nvSpPr>
          <p:cNvPr id="519" name="Google Shape;519;p70"/>
          <p:cNvSpPr/>
          <p:nvPr/>
        </p:nvSpPr>
        <p:spPr>
          <a:xfrm>
            <a:off x="6348238" y="4270275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70"/>
          <p:cNvSpPr txBox="1"/>
          <p:nvPr/>
        </p:nvSpPr>
        <p:spPr>
          <a:xfrm>
            <a:off x="6504088" y="4215825"/>
            <a:ext cx="102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Database</a:t>
            </a:r>
            <a:endParaRPr/>
          </a:p>
        </p:txBody>
      </p:sp>
      <p:sp>
        <p:nvSpPr>
          <p:cNvPr id="521" name="Google Shape;521;p70"/>
          <p:cNvSpPr/>
          <p:nvPr/>
        </p:nvSpPr>
        <p:spPr>
          <a:xfrm>
            <a:off x="6436738" y="4583225"/>
            <a:ext cx="1156500" cy="5004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Files</a:t>
            </a:r>
            <a:endParaRPr/>
          </a:p>
        </p:txBody>
      </p:sp>
      <p:sp>
        <p:nvSpPr>
          <p:cNvPr id="522" name="Google Shape;522;p70"/>
          <p:cNvSpPr/>
          <p:nvPr/>
        </p:nvSpPr>
        <p:spPr>
          <a:xfrm>
            <a:off x="8008663" y="1912484"/>
            <a:ext cx="1551300" cy="3947016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70"/>
          <p:cNvSpPr/>
          <p:nvPr/>
        </p:nvSpPr>
        <p:spPr>
          <a:xfrm>
            <a:off x="8117563" y="2702750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70"/>
          <p:cNvSpPr/>
          <p:nvPr/>
        </p:nvSpPr>
        <p:spPr>
          <a:xfrm>
            <a:off x="8206063" y="3429000"/>
            <a:ext cx="1156500" cy="282408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Files</a:t>
            </a:r>
            <a:endParaRPr/>
          </a:p>
        </p:txBody>
      </p:sp>
      <p:sp>
        <p:nvSpPr>
          <p:cNvPr id="527" name="Google Shape;527;p70"/>
          <p:cNvSpPr/>
          <p:nvPr/>
        </p:nvSpPr>
        <p:spPr>
          <a:xfrm>
            <a:off x="8117563" y="4270275"/>
            <a:ext cx="1333500" cy="10749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70"/>
          <p:cNvSpPr txBox="1"/>
          <p:nvPr/>
        </p:nvSpPr>
        <p:spPr>
          <a:xfrm>
            <a:off x="8273413" y="4215825"/>
            <a:ext cx="102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Database</a:t>
            </a:r>
            <a:endParaRPr/>
          </a:p>
        </p:txBody>
      </p:sp>
      <p:sp>
        <p:nvSpPr>
          <p:cNvPr id="529" name="Google Shape;529;p70"/>
          <p:cNvSpPr/>
          <p:nvPr/>
        </p:nvSpPr>
        <p:spPr>
          <a:xfrm>
            <a:off x="8206063" y="4583225"/>
            <a:ext cx="1156500" cy="5004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Files</a:t>
            </a:r>
            <a:endParaRPr/>
          </a:p>
        </p:txBody>
      </p:sp>
      <p:sp>
        <p:nvSpPr>
          <p:cNvPr id="40" name="Google Shape;515;p70">
            <a:extLst>
              <a:ext uri="{FF2B5EF4-FFF2-40B4-BE49-F238E27FC236}">
                <a16:creationId xmlns:a16="http://schemas.microsoft.com/office/drawing/2014/main" id="{70AEA5D2-C9A4-4362-9330-FA07BDFE7EFF}"/>
              </a:ext>
            </a:extLst>
          </p:cNvPr>
          <p:cNvSpPr txBox="1"/>
          <p:nvPr/>
        </p:nvSpPr>
        <p:spPr>
          <a:xfrm>
            <a:off x="8154050" y="1899442"/>
            <a:ext cx="1224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OID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Tablespace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16636 “</a:t>
            </a:r>
            <a:r>
              <a:rPr lang="en-US" dirty="0" err="1"/>
              <a:t>tc</a:t>
            </a:r>
            <a:r>
              <a:rPr lang="en-US" dirty="0"/>
              <a:t>”</a:t>
            </a:r>
            <a:endParaRPr dirty="0"/>
          </a:p>
        </p:txBody>
      </p:sp>
      <p:sp>
        <p:nvSpPr>
          <p:cNvPr id="42" name="Google Shape;505;p70">
            <a:extLst>
              <a:ext uri="{FF2B5EF4-FFF2-40B4-BE49-F238E27FC236}">
                <a16:creationId xmlns:a16="http://schemas.microsoft.com/office/drawing/2014/main" id="{85749B33-938E-4B30-95FA-F937973954F9}"/>
              </a:ext>
            </a:extLst>
          </p:cNvPr>
          <p:cNvSpPr txBox="1"/>
          <p:nvPr/>
        </p:nvSpPr>
        <p:spPr>
          <a:xfrm>
            <a:off x="2236620" y="2163533"/>
            <a:ext cx="1224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OID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Database</a:t>
            </a:r>
            <a:endParaRPr dirty="0"/>
          </a:p>
        </p:txBody>
      </p:sp>
      <p:sp>
        <p:nvSpPr>
          <p:cNvPr id="43" name="Google Shape;505;p70">
            <a:extLst>
              <a:ext uri="{FF2B5EF4-FFF2-40B4-BE49-F238E27FC236}">
                <a16:creationId xmlns:a16="http://schemas.microsoft.com/office/drawing/2014/main" id="{8196EC92-710B-4128-8084-AF4179CDB271}"/>
              </a:ext>
            </a:extLst>
          </p:cNvPr>
          <p:cNvSpPr txBox="1"/>
          <p:nvPr/>
        </p:nvSpPr>
        <p:spPr>
          <a:xfrm>
            <a:off x="8137963" y="2644386"/>
            <a:ext cx="1224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OID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Database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16637 “app”</a:t>
            </a:r>
            <a:endParaRPr dirty="0"/>
          </a:p>
        </p:txBody>
      </p:sp>
      <p:sp>
        <p:nvSpPr>
          <p:cNvPr id="2" name="Выноска: линия 1">
            <a:extLst>
              <a:ext uri="{FF2B5EF4-FFF2-40B4-BE49-F238E27FC236}">
                <a16:creationId xmlns:a16="http://schemas.microsoft.com/office/drawing/2014/main" id="{7DB5ED25-2294-4F52-91E9-F2AD00D34E93}"/>
              </a:ext>
            </a:extLst>
          </p:cNvPr>
          <p:cNvSpPr/>
          <p:nvPr/>
        </p:nvSpPr>
        <p:spPr>
          <a:xfrm>
            <a:off x="9777988" y="3110344"/>
            <a:ext cx="2414012" cy="311112"/>
          </a:xfrm>
          <a:prstGeom prst="borderCallout1">
            <a:avLst>
              <a:gd name="adj1" fmla="val 60132"/>
              <a:gd name="adj2" fmla="val -233"/>
              <a:gd name="adj3" fmla="val 56759"/>
              <a:gd name="adj4" fmla="val -20346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highlight>
                  <a:srgbClr val="000000"/>
                </a:highlight>
              </a:rPr>
              <a:t>/var/lib/postgresql/14/main/base/16637</a:t>
            </a:r>
            <a:endParaRPr lang="ru-RU" sz="1000" dirty="0">
              <a:highlight>
                <a:srgbClr val="000000"/>
              </a:highlight>
            </a:endParaRPr>
          </a:p>
        </p:txBody>
      </p:sp>
      <p:sp>
        <p:nvSpPr>
          <p:cNvPr id="41" name="Выноска: линия 40">
            <a:extLst>
              <a:ext uri="{FF2B5EF4-FFF2-40B4-BE49-F238E27FC236}">
                <a16:creationId xmlns:a16="http://schemas.microsoft.com/office/drawing/2014/main" id="{341805C6-03E1-4728-BDF7-041C5FBD61C2}"/>
              </a:ext>
            </a:extLst>
          </p:cNvPr>
          <p:cNvSpPr/>
          <p:nvPr/>
        </p:nvSpPr>
        <p:spPr>
          <a:xfrm>
            <a:off x="9559963" y="1822527"/>
            <a:ext cx="2632037" cy="311112"/>
          </a:xfrm>
          <a:prstGeom prst="borderCallout1">
            <a:avLst>
              <a:gd name="adj1" fmla="val 84625"/>
              <a:gd name="adj2" fmla="val 162"/>
              <a:gd name="adj3" fmla="val 188407"/>
              <a:gd name="adj4" fmla="val -7375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/var/lib/postgresql/14/main/pg_tblspc/16636</a:t>
            </a:r>
            <a:endParaRPr lang="ru-RU" sz="1000" dirty="0">
              <a:highlight>
                <a:srgbClr val="000000"/>
              </a:highlight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FB26C43-1AFB-4460-B3FF-DB9548EAF16F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9295213" y="3265900"/>
            <a:ext cx="482775" cy="1074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лачко с текстом: прямоугольное 4">
            <a:extLst>
              <a:ext uri="{FF2B5EF4-FFF2-40B4-BE49-F238E27FC236}">
                <a16:creationId xmlns:a16="http://schemas.microsoft.com/office/drawing/2014/main" id="{E34021BA-25DB-4094-9316-A7289EEEAAB3}"/>
              </a:ext>
            </a:extLst>
          </p:cNvPr>
          <p:cNvSpPr/>
          <p:nvPr/>
        </p:nvSpPr>
        <p:spPr>
          <a:xfrm>
            <a:off x="7566087" y="6071525"/>
            <a:ext cx="4574611" cy="726975"/>
          </a:xfrm>
          <a:prstGeom prst="wedgeRectCallout">
            <a:avLst>
              <a:gd name="adj1" fmla="val -20967"/>
              <a:gd name="adj2" fmla="val -107215"/>
            </a:avLst>
          </a:prstGeom>
          <a:solidFill>
            <a:srgbClr val="A4C2F4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rgbClr val="FF0000"/>
                </a:solidFill>
              </a:rPr>
              <a:t>неправильно говорить, что "база данных находится в </a:t>
            </a:r>
            <a:r>
              <a:rPr lang="ru-RU" sz="1000" dirty="0" err="1">
                <a:solidFill>
                  <a:srgbClr val="FF0000"/>
                </a:solidFill>
              </a:rPr>
              <a:t>tablespace</a:t>
            </a:r>
            <a:r>
              <a:rPr lang="ru-RU" sz="1000" dirty="0">
                <a:solidFill>
                  <a:srgbClr val="FF0000"/>
                </a:solidFill>
              </a:rPr>
              <a:t>". </a:t>
            </a:r>
            <a:endParaRPr lang="en-US" sz="1000" dirty="0">
              <a:solidFill>
                <a:srgbClr val="FF0000"/>
              </a:solidFill>
            </a:endParaRPr>
          </a:p>
          <a:p>
            <a:pPr algn="ctr"/>
            <a:r>
              <a:rPr lang="ru-RU" sz="1000" dirty="0"/>
              <a:t>Правильно</a:t>
            </a:r>
            <a:r>
              <a:rPr lang="en-US" sz="1000" dirty="0"/>
              <a:t> </a:t>
            </a:r>
            <a:r>
              <a:rPr lang="ru-RU" sz="1000" dirty="0"/>
              <a:t>говорить, что: </a:t>
            </a:r>
          </a:p>
          <a:p>
            <a:r>
              <a:rPr lang="ru-RU" sz="1000" dirty="0"/>
              <a:t>"база данных ИМЕЕТ ОБЪЕКТЫ в </a:t>
            </a:r>
            <a:r>
              <a:rPr lang="ru-RU" sz="1000" dirty="0" err="1"/>
              <a:t>tablespace</a:t>
            </a:r>
            <a:r>
              <a:rPr lang="ru-RU" sz="1000" dirty="0"/>
              <a:t>" или</a:t>
            </a:r>
            <a:endParaRPr lang="en-US" sz="1000" dirty="0"/>
          </a:p>
          <a:p>
            <a:r>
              <a:rPr lang="ru-RU" sz="1000" dirty="0"/>
              <a:t>"база данных ИСПОЛЬЗУЕТ </a:t>
            </a:r>
            <a:r>
              <a:rPr lang="ru-RU" sz="1000" dirty="0" err="1"/>
              <a:t>tablespace</a:t>
            </a:r>
            <a:r>
              <a:rPr lang="ru-RU" sz="1000" dirty="0"/>
              <a:t> как пространство по умолчанию".</a:t>
            </a:r>
          </a:p>
        </p:txBody>
      </p:sp>
      <p:sp>
        <p:nvSpPr>
          <p:cNvPr id="6" name="Облачко с текстом: прямоугольное 5">
            <a:extLst>
              <a:ext uri="{FF2B5EF4-FFF2-40B4-BE49-F238E27FC236}">
                <a16:creationId xmlns:a16="http://schemas.microsoft.com/office/drawing/2014/main" id="{9F7D972E-950E-4027-A895-8CFE337D0049}"/>
              </a:ext>
            </a:extLst>
          </p:cNvPr>
          <p:cNvSpPr/>
          <p:nvPr/>
        </p:nvSpPr>
        <p:spPr>
          <a:xfrm>
            <a:off x="9777988" y="3577012"/>
            <a:ext cx="2414012" cy="2015920"/>
          </a:xfrm>
          <a:prstGeom prst="wedgeRectCallout">
            <a:avLst>
              <a:gd name="adj1" fmla="val -68574"/>
              <a:gd name="adj2" fmla="val -9215"/>
            </a:avLst>
          </a:prstGeom>
          <a:solidFill>
            <a:srgbClr val="FFE599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>
                <a:solidFill>
                  <a:schemeClr val="tx1"/>
                </a:solidFill>
              </a:rPr>
              <a:t>База данных — это логическая структура (каталог объектов), а не физическое расположение файлов. Она "размазана" по разным </a:t>
            </a:r>
            <a:r>
              <a:rPr lang="ru-RU" sz="1000" dirty="0" err="1">
                <a:solidFill>
                  <a:schemeClr val="tx1"/>
                </a:solidFill>
              </a:rPr>
              <a:t>tablespace</a:t>
            </a:r>
            <a:r>
              <a:rPr lang="ru-RU" sz="1000" dirty="0">
                <a:solidFill>
                  <a:schemeClr val="tx1"/>
                </a:solidFill>
              </a:rPr>
              <a:t>.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ru-RU" sz="1000" dirty="0">
                <a:solidFill>
                  <a:schemeClr val="tx1"/>
                </a:solidFill>
              </a:rPr>
              <a:t>У БД есть </a:t>
            </a:r>
            <a:r>
              <a:rPr lang="ru-RU" sz="1000" dirty="0" err="1">
                <a:solidFill>
                  <a:schemeClr val="tx1"/>
                </a:solidFill>
              </a:rPr>
              <a:t>default</a:t>
            </a:r>
            <a:r>
              <a:rPr lang="ru-RU" sz="1000" dirty="0">
                <a:solidFill>
                  <a:schemeClr val="tx1"/>
                </a:solidFill>
              </a:rPr>
              <a:t> </a:t>
            </a:r>
            <a:r>
              <a:rPr lang="ru-RU" sz="1000" dirty="0" err="1">
                <a:solidFill>
                  <a:schemeClr val="tx1"/>
                </a:solidFill>
              </a:rPr>
              <a:t>tablespace</a:t>
            </a:r>
            <a:r>
              <a:rPr lang="ru-RU" sz="1000" dirty="0">
                <a:solidFill>
                  <a:schemeClr val="tx1"/>
                </a:solidFill>
              </a:rPr>
              <a:t> (какой </a:t>
            </a:r>
            <a:r>
              <a:rPr lang="ru-RU" sz="1000" dirty="0" err="1">
                <a:solidFill>
                  <a:schemeClr val="tx1"/>
                </a:solidFill>
              </a:rPr>
              <a:t>tablespace</a:t>
            </a:r>
            <a:r>
              <a:rPr lang="ru-RU" sz="1000" dirty="0">
                <a:solidFill>
                  <a:schemeClr val="tx1"/>
                </a:solidFill>
              </a:rPr>
              <a:t> использовать для новых объектов), но сама БД </a:t>
            </a:r>
            <a:r>
              <a:rPr lang="ru-RU" sz="1000" dirty="0">
                <a:solidFill>
                  <a:srgbClr val="FF0000"/>
                </a:solidFill>
              </a:rPr>
              <a:t>не</a:t>
            </a:r>
            <a:r>
              <a:rPr lang="ru-RU" sz="1000" dirty="0">
                <a:solidFill>
                  <a:schemeClr val="tx1"/>
                </a:solidFill>
              </a:rPr>
              <a:t> "находится" физически в одном месте.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51930D4-15CE-42BA-B53A-627FD4E4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Правильная терминология: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A3D96A7-DD69-4E01-9935-E9A18D181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06322"/>
              </p:ext>
            </p:extLst>
          </p:nvPr>
        </p:nvGraphicFramePr>
        <p:xfrm>
          <a:off x="1725849" y="1357672"/>
          <a:ext cx="812800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281308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26719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err="1">
                          <a:highlight>
                            <a:srgbClr val="FF0000"/>
                          </a:highlight>
                        </a:rPr>
                        <a:t>НЕправильно</a:t>
                      </a:r>
                      <a:endParaRPr lang="ru-RU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Правильная терминология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174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БД находится в </a:t>
                      </a:r>
                      <a:r>
                        <a:rPr lang="en-US" dirty="0"/>
                        <a:t>tablespace"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"БД использует </a:t>
                      </a:r>
                      <a:r>
                        <a:rPr lang="ru-RU" dirty="0" err="1"/>
                        <a:t>tablespace</a:t>
                      </a:r>
                      <a:r>
                        <a:rPr lang="ru-RU" dirty="0"/>
                        <a:t> как пространство по умолчанию"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59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"БД переместили в другой </a:t>
                      </a:r>
                      <a:r>
                        <a:rPr lang="ru-RU" dirty="0" err="1"/>
                        <a:t>tablespace</a:t>
                      </a:r>
                      <a:r>
                        <a:rPr lang="ru-RU" dirty="0"/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"Изменили </a:t>
                      </a:r>
                      <a:r>
                        <a:rPr lang="en-US" dirty="0"/>
                        <a:t>default tablespace </a:t>
                      </a:r>
                      <a:r>
                        <a:rPr lang="ru-RU" dirty="0"/>
                        <a:t>для БД"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906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"Файлы БД в </a:t>
                      </a:r>
                      <a:r>
                        <a:rPr lang="en-US" dirty="0"/>
                        <a:t>tablespace"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"Объекты БД хранятся в </a:t>
                      </a:r>
                      <a:r>
                        <a:rPr lang="ru-RU" dirty="0" err="1"/>
                        <a:t>tablespace</a:t>
                      </a:r>
                      <a:r>
                        <a:rPr lang="ru-RU" dirty="0"/>
                        <a:t>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2945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2FC67C-7FC8-4CC7-8D2B-2A0C8AFD2EB2}"/>
              </a:ext>
            </a:extLst>
          </p:cNvPr>
          <p:cNvSpPr txBox="1"/>
          <p:nvPr/>
        </p:nvSpPr>
        <p:spPr>
          <a:xfrm>
            <a:off x="1725849" y="3238500"/>
            <a:ext cx="812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БД </a:t>
            </a:r>
            <a:r>
              <a:rPr lang="en-US" dirty="0"/>
              <a:t>‘</a:t>
            </a:r>
            <a:r>
              <a:rPr lang="ru-RU" dirty="0" err="1"/>
              <a:t>app</a:t>
            </a:r>
            <a:r>
              <a:rPr lang="en-US" dirty="0"/>
              <a:t>’</a:t>
            </a:r>
            <a:r>
              <a:rPr lang="ru-RU" dirty="0"/>
              <a:t> использует </a:t>
            </a:r>
            <a:r>
              <a:rPr lang="en-US" dirty="0"/>
              <a:t>‘</a:t>
            </a:r>
            <a:r>
              <a:rPr lang="ru-RU" dirty="0" err="1"/>
              <a:t>ts</a:t>
            </a:r>
            <a:r>
              <a:rPr lang="en-US" dirty="0"/>
              <a:t>’</a:t>
            </a:r>
            <a:r>
              <a:rPr lang="ru-RU" dirty="0"/>
              <a:t> как </a:t>
            </a:r>
            <a:r>
              <a:rPr lang="ru-RU" dirty="0" err="1"/>
              <a:t>tablespace</a:t>
            </a:r>
            <a:r>
              <a:rPr lang="ru-RU" dirty="0"/>
              <a:t> по</a:t>
            </a:r>
            <a:r>
              <a:rPr lang="en-US" dirty="0"/>
              <a:t>-</a:t>
            </a:r>
            <a:r>
              <a:rPr lang="ru-RU" dirty="0"/>
              <a:t>умолчанию</a:t>
            </a:r>
          </a:p>
          <a:p>
            <a:endParaRPr lang="ru-RU" dirty="0"/>
          </a:p>
          <a:p>
            <a:r>
              <a:rPr lang="ru-RU" dirty="0"/>
              <a:t>Но имеет директории в </a:t>
            </a:r>
            <a:r>
              <a:rPr lang="ru-RU" dirty="0">
                <a:solidFill>
                  <a:srgbClr val="FF0000"/>
                </a:solidFill>
              </a:rPr>
              <a:t>обоих</a:t>
            </a:r>
            <a:r>
              <a:rPr lang="ru-RU" dirty="0"/>
              <a:t> </a:t>
            </a:r>
            <a:r>
              <a:rPr lang="ru-RU" dirty="0" err="1"/>
              <a:t>tablespace</a:t>
            </a:r>
            <a:r>
              <a:rPr lang="ru-RU" dirty="0"/>
              <a:t>:</a:t>
            </a:r>
          </a:p>
          <a:p>
            <a:r>
              <a:rPr lang="ru-RU" dirty="0" err="1"/>
              <a:t>base</a:t>
            </a:r>
            <a:r>
              <a:rPr lang="ru-RU" dirty="0"/>
              <a:t>/16637/ </a:t>
            </a:r>
            <a:r>
              <a:rPr lang="en-US" dirty="0"/>
              <a:t>		</a:t>
            </a:r>
            <a:r>
              <a:rPr lang="ru-RU" dirty="0"/>
              <a:t>— в</a:t>
            </a:r>
            <a:r>
              <a:rPr lang="en-US" dirty="0"/>
              <a:t> </a:t>
            </a:r>
            <a:r>
              <a:rPr lang="ru-RU" dirty="0" err="1"/>
              <a:t>tablespace</a:t>
            </a:r>
            <a:r>
              <a:rPr lang="ru-RU" dirty="0"/>
              <a:t> </a:t>
            </a:r>
            <a:r>
              <a:rPr lang="en-US" dirty="0"/>
              <a:t>‘</a:t>
            </a:r>
            <a:r>
              <a:rPr lang="ru-RU" dirty="0" err="1"/>
              <a:t>pg_default</a:t>
            </a:r>
            <a:r>
              <a:rPr lang="en-US" dirty="0"/>
              <a:t>’. C</a:t>
            </a:r>
            <a:r>
              <a:rPr lang="ru-RU" dirty="0" err="1"/>
              <a:t>истемные</a:t>
            </a:r>
            <a:r>
              <a:rPr lang="ru-RU" dirty="0"/>
              <a:t> объекты 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 err="1"/>
              <a:t>pg_tblspc</a:t>
            </a:r>
            <a:r>
              <a:rPr lang="ru-RU" dirty="0"/>
              <a:t>/16636/.../16637/ </a:t>
            </a:r>
            <a:r>
              <a:rPr lang="en-US" dirty="0"/>
              <a:t>	</a:t>
            </a:r>
            <a:r>
              <a:rPr lang="ru-RU" dirty="0"/>
              <a:t>— в </a:t>
            </a:r>
            <a:r>
              <a:rPr lang="ru-RU" dirty="0" err="1"/>
              <a:t>tablespace</a:t>
            </a:r>
            <a:r>
              <a:rPr lang="ru-RU" dirty="0"/>
              <a:t> </a:t>
            </a:r>
            <a:r>
              <a:rPr lang="en-US" dirty="0"/>
              <a:t>‘</a:t>
            </a:r>
            <a:r>
              <a:rPr lang="ru-RU" dirty="0" err="1"/>
              <a:t>ts</a:t>
            </a:r>
            <a:r>
              <a:rPr lang="en-US" dirty="0"/>
              <a:t>’. </a:t>
            </a:r>
            <a:r>
              <a:rPr lang="ru-RU" dirty="0"/>
              <a:t>Большинство объектов 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ru-RU" dirty="0"/>
              <a:t>Большинство объектов вероятно в </a:t>
            </a:r>
            <a:r>
              <a:rPr lang="en-US" dirty="0"/>
              <a:t>‘</a:t>
            </a:r>
            <a:r>
              <a:rPr lang="ru-RU" dirty="0" err="1"/>
              <a:t>ts</a:t>
            </a:r>
            <a:r>
              <a:rPr lang="en-US" dirty="0"/>
              <a:t>’</a:t>
            </a:r>
            <a:endParaRPr lang="ru-RU" dirty="0"/>
          </a:p>
          <a:p>
            <a:r>
              <a:rPr lang="ru-RU" dirty="0"/>
              <a:t>Некоторые системные объекты могут быть в </a:t>
            </a:r>
            <a:r>
              <a:rPr lang="en-US" dirty="0"/>
              <a:t>‘</a:t>
            </a:r>
            <a:r>
              <a:rPr lang="ru-RU" dirty="0" err="1"/>
              <a:t>pg_default</a:t>
            </a:r>
            <a:r>
              <a:rPr lang="en-US" dirty="0"/>
              <a:t>’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2846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ФИЗИЧЕСКАЯ СТРУКТУРА ДАННЫХ</a:t>
            </a:r>
            <a:endParaRPr/>
          </a:p>
        </p:txBody>
      </p:sp>
      <p:sp>
        <p:nvSpPr>
          <p:cNvPr id="535" name="Google Shape;535;p7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536" name="Google Shape;536;p71"/>
          <p:cNvSpPr txBox="1"/>
          <p:nvPr/>
        </p:nvSpPr>
        <p:spPr>
          <a:xfrm>
            <a:off x="1725849" y="1242238"/>
            <a:ext cx="72321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PostgreSQL работает с данными на дисках только через файловую систему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EXT3/4 и XFS наиболее популярны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Raw devices не поддерживаются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Best practices: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37" name="Google Shape;537;p71"/>
          <p:cNvSpPr/>
          <p:nvPr/>
        </p:nvSpPr>
        <p:spPr>
          <a:xfrm>
            <a:off x="2500975" y="3013138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8" name="Google Shape;538;p71"/>
          <p:cNvSpPr/>
          <p:nvPr/>
        </p:nvSpPr>
        <p:spPr>
          <a:xfrm>
            <a:off x="2500975" y="3857250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836ED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 i="0" u="none" strike="noStrike" cap="none">
              <a:solidFill>
                <a:srgbClr val="836ED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9" name="Google Shape;539;p71"/>
          <p:cNvSpPr/>
          <p:nvPr/>
        </p:nvSpPr>
        <p:spPr>
          <a:xfrm>
            <a:off x="2500975" y="4701363"/>
            <a:ext cx="446100" cy="4311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00C39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2000" i="0" u="none" strike="noStrike" cap="none">
              <a:solidFill>
                <a:srgbClr val="00C39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0" name="Google Shape;540;p71"/>
          <p:cNvSpPr txBox="1"/>
          <p:nvPr/>
        </p:nvSpPr>
        <p:spPr>
          <a:xfrm>
            <a:off x="3228350" y="3013138"/>
            <a:ext cx="51273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не хранить данные в корневой файловой системе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41" name="Google Shape;541;p71"/>
          <p:cNvSpPr txBox="1"/>
          <p:nvPr/>
        </p:nvSpPr>
        <p:spPr>
          <a:xfrm>
            <a:off x="3228350" y="3828238"/>
            <a:ext cx="47988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rgbClr val="3F3F3F"/>
                </a:solidFill>
              </a:rPr>
              <a:t>отдельная файловая система для каждого табличного пространства</a:t>
            </a:r>
            <a:endParaRPr sz="1800"/>
          </a:p>
        </p:txBody>
      </p:sp>
      <p:sp>
        <p:nvSpPr>
          <p:cNvPr id="542" name="Google Shape;542;p71"/>
          <p:cNvSpPr txBox="1"/>
          <p:nvPr/>
        </p:nvSpPr>
        <p:spPr>
          <a:xfrm>
            <a:off x="3228350" y="4701363"/>
            <a:ext cx="5127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rgbClr val="3F3F3F"/>
                </a:solidFill>
              </a:rPr>
              <a:t>в случае внешнего файлового хранилища </a:t>
            </a:r>
            <a:r>
              <a:rPr lang="ru-RU" sz="1800">
                <a:solidFill>
                  <a:schemeClr val="dk1"/>
                </a:solidFill>
              </a:rPr>
              <a:t>—</a:t>
            </a:r>
            <a:r>
              <a:rPr lang="ru-RU" sz="1050">
                <a:solidFill>
                  <a:schemeClr val="dk1"/>
                </a:solidFill>
              </a:rPr>
              <a:t> </a:t>
            </a:r>
            <a:r>
              <a:rPr lang="ru-RU" sz="1800">
                <a:solidFill>
                  <a:srgbClr val="3F3F3F"/>
                </a:solidFill>
              </a:rPr>
              <a:t>отдельный каталог для каждого табличного пространства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548" name="Google Shape;548;p7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549" name="Google Shape;549;p72"/>
          <p:cNvSpPr/>
          <p:nvPr/>
        </p:nvSpPr>
        <p:spPr>
          <a:xfrm>
            <a:off x="1703400" y="2393222"/>
            <a:ext cx="27141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Поняли как физически устроен Постгрес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2"/>
          <p:cNvSpPr/>
          <p:nvPr/>
        </p:nvSpPr>
        <p:spPr>
          <a:xfrm>
            <a:off x="4738875" y="2393225"/>
            <a:ext cx="38007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Узнали, где расположены файлы с данными, настройками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1" name="Google Shape;551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14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359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73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73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73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73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61" name="Google Shape;561;p73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562" name="Google Shape;562;p73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63" name="Google Shape;563;p73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4" name="Google Shape;564;p73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p73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566" name="Google Shape;566;p73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73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8" name="Google Shape;568;p73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69" name="Google Shape;569;p73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570" name="Google Shape;570;p73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73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73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3" name="Google Shape;573;p73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4" name="Google Shape;574;p73"/>
          <p:cNvSpPr txBox="1"/>
          <p:nvPr/>
        </p:nvSpPr>
        <p:spPr>
          <a:xfrm>
            <a:off x="1715259" y="3938927"/>
            <a:ext cx="53292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lt1"/>
                </a:solidFill>
              </a:rPr>
              <a:t>Цель задания:</a:t>
            </a:r>
            <a:r>
              <a:rPr lang="ru-RU" sz="1800">
                <a:solidFill>
                  <a:schemeClr val="lt1"/>
                </a:solidFill>
              </a:rPr>
              <a:t> Создать свою таблицу и уметь физически найти её на диске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580" name="Google Shape;580;p74"/>
          <p:cNvSpPr txBox="1"/>
          <p:nvPr/>
        </p:nvSpPr>
        <p:spPr>
          <a:xfrm>
            <a:off x="1695375" y="2366591"/>
            <a:ext cx="2451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Создать таблицу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74"/>
          <p:cNvSpPr txBox="1"/>
          <p:nvPr/>
        </p:nvSpPr>
        <p:spPr>
          <a:xfrm>
            <a:off x="4764100" y="2366591"/>
            <a:ext cx="2647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Посмотреть путь к ней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4"/>
          <p:cNvSpPr txBox="1"/>
          <p:nvPr/>
        </p:nvSpPr>
        <p:spPr>
          <a:xfrm>
            <a:off x="8260569" y="2366591"/>
            <a:ext cx="230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Найти её на диске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74"/>
          <p:cNvSpPr txBox="1"/>
          <p:nvPr/>
        </p:nvSpPr>
        <p:spPr>
          <a:xfrm>
            <a:off x="1695375" y="4209981"/>
            <a:ext cx="2451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Наполнить данными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74"/>
          <p:cNvSpPr txBox="1"/>
          <p:nvPr/>
        </p:nvSpPr>
        <p:spPr>
          <a:xfrm>
            <a:off x="4764100" y="4209981"/>
            <a:ext cx="2647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Посмотреть как она увеличивается в размере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74"/>
          <p:cNvSpPr txBox="1"/>
          <p:nvPr/>
        </p:nvSpPr>
        <p:spPr>
          <a:xfrm>
            <a:off x="1695376" y="183852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74"/>
          <p:cNvSpPr txBox="1"/>
          <p:nvPr/>
        </p:nvSpPr>
        <p:spPr>
          <a:xfrm>
            <a:off x="4775976" y="183691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74"/>
          <p:cNvSpPr txBox="1"/>
          <p:nvPr/>
        </p:nvSpPr>
        <p:spPr>
          <a:xfrm>
            <a:off x="8260569" y="183530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74"/>
          <p:cNvSpPr txBox="1"/>
          <p:nvPr/>
        </p:nvSpPr>
        <p:spPr>
          <a:xfrm>
            <a:off x="1695376" y="3650978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74"/>
          <p:cNvSpPr txBox="1"/>
          <p:nvPr/>
        </p:nvSpPr>
        <p:spPr>
          <a:xfrm>
            <a:off x="4775976" y="3649370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p74"/>
          <p:cNvCxnSpPr/>
          <p:nvPr/>
        </p:nvCxnSpPr>
        <p:spPr>
          <a:xfrm rot="10800000">
            <a:off x="2307762" y="2098539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1" name="Google Shape;591;p74"/>
          <p:cNvCxnSpPr/>
          <p:nvPr/>
        </p:nvCxnSpPr>
        <p:spPr>
          <a:xfrm rot="10800000">
            <a:off x="5478283" y="2098539"/>
            <a:ext cx="25533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2" name="Google Shape;592;p74"/>
          <p:cNvCxnSpPr/>
          <p:nvPr/>
        </p:nvCxnSpPr>
        <p:spPr>
          <a:xfrm rot="10800000">
            <a:off x="2307762" y="3899120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3" name="Google Shape;593;p74"/>
          <p:cNvCxnSpPr/>
          <p:nvPr/>
        </p:nvCxnSpPr>
        <p:spPr>
          <a:xfrm rot="10800000">
            <a:off x="8872901" y="2098539"/>
            <a:ext cx="16077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75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5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75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5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02" name="Google Shape;602;p75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03" name="Google Shape;603;p75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604" name="Google Shape;604;p75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5" name="Google Shape;605;p75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6" name="Google Shape;606;p75"/>
          <p:cNvSpPr txBox="1"/>
          <p:nvPr/>
        </p:nvSpPr>
        <p:spPr>
          <a:xfrm>
            <a:off x="1634961" y="3121413"/>
            <a:ext cx="73464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</a:t>
            </a:r>
            <a:endParaRPr sz="700"/>
          </a:p>
        </p:txBody>
      </p:sp>
      <p:sp>
        <p:nvSpPr>
          <p:cNvPr id="607" name="Google Shape;607;p75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8" name="Google Shape;608;p75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End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9" name="Google Shape;609;p75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10" name="Google Shape;610;p75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611" name="Google Shape;611;p75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75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3" name="Google Shape;613;p75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4" name="Google Shape;614;p75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75"/>
          <p:cNvSpPr txBox="1"/>
          <p:nvPr/>
        </p:nvSpPr>
        <p:spPr>
          <a:xfrm>
            <a:off x="1622061" y="4145782"/>
            <a:ext cx="7372200" cy="13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</a:rPr>
              <a:t>На следующем занятии мы переходим к следующему разделу Задачи администрирования, где рассмотрим темы: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ru-RU" sz="1800">
                <a:solidFill>
                  <a:srgbClr val="FFFFFF"/>
                </a:solidFill>
              </a:rPr>
              <a:t>Мониторинг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ru-RU" sz="1800">
                <a:solidFill>
                  <a:srgbClr val="FFFFFF"/>
                </a:solidFill>
              </a:rPr>
              <a:t>Профилирование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595</Words>
  <Application>Microsoft Office PowerPoint</Application>
  <PresentationFormat>Широкоэкранный</PresentationFormat>
  <Paragraphs>128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11</vt:i4>
      </vt:variant>
    </vt:vector>
  </HeadingPairs>
  <TitlesOfParts>
    <vt:vector size="25" baseType="lpstr">
      <vt:lpstr>Arial</vt:lpstr>
      <vt:lpstr>Calibri</vt:lpstr>
      <vt:lpstr>Arial Black</vt:lpstr>
      <vt:lpstr>Helvetica Neue</vt:lpstr>
      <vt:lpstr>Helvetica Neue Light</vt:lpstr>
      <vt:lpstr>Consolas</vt:lpstr>
      <vt:lpstr>Proxima Nova</vt:lpstr>
      <vt:lpstr>Courier New</vt:lpstr>
      <vt:lpstr>Тема Office</vt:lpstr>
      <vt:lpstr>Template_StepUP</vt:lpstr>
      <vt:lpstr>Template_StepUP</vt:lpstr>
      <vt:lpstr>Template_StepUP</vt:lpstr>
      <vt:lpstr>Template_StepUP</vt:lpstr>
      <vt:lpstr>White</vt:lpstr>
      <vt:lpstr>ФИЗИЧЕСКОЕ УСТРОЙСТВО</vt:lpstr>
      <vt:lpstr>ЦЕЛЬ УРОКА</vt:lpstr>
      <vt:lpstr>СОДЕРЖАНИЕ УРОКА</vt:lpstr>
      <vt:lpstr>КОНФИГУРАЦИОННЫЕ ФАЙЛЫ POSTGRESQL</vt:lpstr>
      <vt:lpstr>Соответствие физического и логического уровней PostgreSQL</vt:lpstr>
      <vt:lpstr>Правильная терминология:</vt:lpstr>
      <vt:lpstr>ФИЗИЧЕСКАЯ СТРУКТУРА ДАННЫХ</vt:lpstr>
      <vt:lpstr>ИТОГИ ЗАНЯТИЯ</vt:lpstr>
      <vt:lpstr>Презентация PowerPoint</vt:lpstr>
      <vt:lpstr>ЗАДАНИЕ НА САМОПРОВЕРКУ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ФИЗИЧЕСКОЕ УСТРОЙСТВО</dc:title>
  <cp:lastModifiedBy>Бондарь Илья Викторович</cp:lastModifiedBy>
  <cp:revision>9</cp:revision>
  <dcterms:modified xsi:type="dcterms:W3CDTF">2025-12-29T09:40:01Z</dcterms:modified>
</cp:coreProperties>
</file>