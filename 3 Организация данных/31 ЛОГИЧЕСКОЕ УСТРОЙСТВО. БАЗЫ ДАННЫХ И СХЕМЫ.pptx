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72" r:id="rId3"/>
    <p:sldMasterId id="2147483684" r:id="rId4"/>
    <p:sldMasterId id="2147483686" r:id="rId5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embeddedFontLst>
    <p:embeddedFont>
      <p:font typeface="Arial Black" panose="020B0A04020102020204" pitchFamily="34" charset="0"/>
      <p:regular r:id="rId23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Helvetica Neue" panose="020B0604020202020204" charset="0"/>
      <p:regular r:id="rId33"/>
      <p:bold r:id="rId34"/>
      <p:italic r:id="rId35"/>
      <p:boldItalic r:id="rId36"/>
    </p:embeddedFont>
    <p:embeddedFont>
      <p:font typeface="Helvetica Neue Light" panose="020B0604020202020204" charset="0"/>
      <p:regular r:id="rId37"/>
      <p:bold r:id="rId38"/>
      <p:italic r:id="rId39"/>
      <p:boldItalic r:id="rId40"/>
    </p:embeddedFont>
    <p:embeddedFont>
      <p:font typeface="Proxima Nova" panose="020B060402020202020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i21p56PfcGXIAL8gOP3TPr0Lwx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16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font" Target="fonts/font7.fntdata"/><Relationship Id="rId11" Type="http://schemas.openxmlformats.org/officeDocument/2006/relationships/slide" Target="slides/slide6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customschemas.google.com/relationships/presentationmetadata" Target="meta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100"/>
              <a:t>Добрый день, приветствую Вас на обучающем курсе по основам безопасной разработки. Все вы опытные люди, не первый день работающие в сфере ИТ. </a:t>
            </a:r>
            <a:endParaRPr/>
          </a:p>
        </p:txBody>
      </p:sp>
      <p:sp>
        <p:nvSpPr>
          <p:cNvPr id="360" name="Google Shape;3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1524000"/>
            <a:ext cx="30861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1524000"/>
            <a:ext cx="30861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2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:notes"/>
          <p:cNvSpPr txBox="1">
            <a:spLocks noGrp="1"/>
          </p:cNvSpPr>
          <p:nvPr>
            <p:ph type="sldNum" idx="12"/>
          </p:nvPr>
        </p:nvSpPr>
        <p:spPr>
          <a:xfrm>
            <a:off x="2185095" y="11580284"/>
            <a:ext cx="1671600" cy="6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1" name="Google Shape;3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1524000"/>
            <a:ext cx="30861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6" name="Google Shape;3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1524000"/>
            <a:ext cx="30861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0" name="Google Shape;4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1524000"/>
            <a:ext cx="30861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4" name="Google Shape;4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1524000"/>
            <a:ext cx="30861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3" name="Google Shape;4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1524000"/>
            <a:ext cx="30861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8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0" name="Google Shape;4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1524000"/>
            <a:ext cx="30861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9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0" name="Google Shape;4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1524000"/>
            <a:ext cx="30861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1" name="Google Shape;4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1524000"/>
            <a:ext cx="30861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1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0" name="Google Shape;4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1524000"/>
            <a:ext cx="30861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2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9" name="Google Shape;4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3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0" name="Google Shape;5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1524000"/>
            <a:ext cx="30861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5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4" name="Google Shape;53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1524000"/>
            <a:ext cx="30861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3" name="Google Shape;553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1" name="Google Shape;21;p18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8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18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6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6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6" name="Google Shape;36;p46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6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6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6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46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6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46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6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6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6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7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47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7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0" name="Google Shape;50;p47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7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7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7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4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7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4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7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7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7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48"/>
          <p:cNvPicPr preferRelativeResize="0"/>
          <p:nvPr/>
        </p:nvPicPr>
        <p:blipFill rotWithShape="1">
          <a:blip r:embed="rId2">
            <a:alphaModFix/>
          </a:blip>
          <a:srcRect r="35291" b="427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8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8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4" name="Google Shape;6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7" name="Google Shape;67;p48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49"/>
          <p:cNvPicPr preferRelativeResize="0"/>
          <p:nvPr/>
        </p:nvPicPr>
        <p:blipFill rotWithShape="1">
          <a:blip r:embed="rId2">
            <a:alphaModFix/>
          </a:blip>
          <a:srcRect r="35291" b="427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9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9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2" name="Google Shape;7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9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9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4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6" name="Google Shape;76;p49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0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50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0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5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2" name="Google Shape;82;p5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1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51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2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52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9" name="Google Shape;89;p52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90" name="Google Shape;90;p52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3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53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4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26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12" name="Google Shape;112;p26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6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6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6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6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6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6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6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3" name="Google Shape;123;p27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7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7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2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7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2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7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7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7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7" name="Google Shape;137;p28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8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2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8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2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9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1" name="Google Shape;151;p2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2" name="Google Shape;152;p29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0"/>
          <p:cNvPicPr preferRelativeResize="0"/>
          <p:nvPr/>
        </p:nvPicPr>
        <p:blipFill rotWithShape="1">
          <a:blip r:embed="rId2">
            <a:alphaModFix/>
          </a:blip>
          <a:srcRect r="35291" b="427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0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7" name="Google Shape;15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0" name="Google Shape;160;p3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1"/>
          <p:cNvPicPr preferRelativeResize="0"/>
          <p:nvPr/>
        </p:nvPicPr>
        <p:blipFill rotWithShape="1">
          <a:blip r:embed="rId2">
            <a:alphaModFix/>
          </a:blip>
          <a:srcRect r="35291" b="427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1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1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5" name="Google Shape;16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1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1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" name="Google Shape;168;p3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9" name="Google Shape;169;p3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" name="Google Shape;172;p32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" name="Google Shape;175;p33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76" name="Google Shape;176;p33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77" name="Google Shape;177;p33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80" name="Google Shape;180;p34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" name="Google Shape;198;p36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99" name="Google Shape;199;p36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6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6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6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6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6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6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36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37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0" name="Google Shape;210;p37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7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7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7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7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3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7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7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7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" name="Google Shape;222;p3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38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24" name="Google Shape;224;p38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8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3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8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3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9"/>
          <p:cNvPicPr preferRelativeResize="0"/>
          <p:nvPr/>
        </p:nvPicPr>
        <p:blipFill rotWithShape="1">
          <a:blip r:embed="rId2">
            <a:alphaModFix/>
          </a:blip>
          <a:srcRect r="35291" b="427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9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9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38" name="Google Shape;238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3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1" name="Google Shape;241;p39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40"/>
          <p:cNvPicPr preferRelativeResize="0"/>
          <p:nvPr/>
        </p:nvPicPr>
        <p:blipFill rotWithShape="1">
          <a:blip r:embed="rId2">
            <a:alphaModFix/>
          </a:blip>
          <a:srcRect r="35291" b="427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0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0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46" name="Google Shape;246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0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40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" name="Google Shape;249;p4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0" name="Google Shape;250;p4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" name="Google Shape;253;p41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41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" name="Google Shape;255;p4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6" name="Google Shape;256;p4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" name="Google Shape;259;p42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" name="Google Shape;262;p43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3" name="Google Shape;263;p43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64" name="Google Shape;264;p43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67" name="Google Shape;267;p44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5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5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5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3" name="Google Shape;293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5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6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6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6" name="Google Shape;306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6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2" name="Google Shape;312;p6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3" name="Google Shape;313;p6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4" name="Google Shape;314;p6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6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30" name="Google Shape;330;p6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31" name="Google Shape;331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6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6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38" name="Google Shape;338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6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6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0" name="Google Shape;350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9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6" name="Google Shape;356;p6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6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11" name="Google Shape;11;p1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" name="Google Shape;13;p17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7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7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7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7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185" name="Google Shape;185;p2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 txBox="1">
            <a:spLocks noGrp="1"/>
          </p:cNvSpPr>
          <p:nvPr>
            <p:ph type="title"/>
          </p:nvPr>
        </p:nvSpPr>
        <p:spPr>
          <a:xfrm>
            <a:off x="1826683" y="979211"/>
            <a:ext cx="9753600" cy="12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2" name="Google Shape;272;p24"/>
          <p:cNvSpPr txBox="1">
            <a:spLocks noGrp="1"/>
          </p:cNvSpPr>
          <p:nvPr>
            <p:ph type="body" idx="1"/>
          </p:nvPr>
        </p:nvSpPr>
        <p:spPr>
          <a:xfrm>
            <a:off x="6805083" y="2229126"/>
            <a:ext cx="4775400" cy="4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3" name="Google Shape;273;p24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9" name="Google Shape;279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0" name="Google Shape;280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1" name="Google Shape;281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ostgrespro.ru/docs/postgresql/14/sql-createdatabas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hyperlink" Target="https://postgrespro.ru/docs/postgresql/14/locale" TargetMode="Externa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ostgrespro.ru/docs/postgresql/14/sql-createschem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ostgrespro.ru/docs/postgresql/14/sql-createtabl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14/catalog-pg-class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"/>
          <p:cNvSpPr txBox="1">
            <a:spLocks noGrp="1"/>
          </p:cNvSpPr>
          <p:nvPr>
            <p:ph type="body" idx="1"/>
          </p:nvPr>
        </p:nvSpPr>
        <p:spPr>
          <a:xfrm>
            <a:off x="824176" y="2428863"/>
            <a:ext cx="620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БЛОК 4. ОРГАНИЗАЦИЯ ДАННЫХ</a:t>
            </a:r>
            <a:endParaRPr/>
          </a:p>
        </p:txBody>
      </p:sp>
      <p:sp>
        <p:nvSpPr>
          <p:cNvPr id="363" name="Google Shape;363;p1"/>
          <p:cNvSpPr txBox="1">
            <a:spLocks noGrp="1"/>
          </p:cNvSpPr>
          <p:nvPr>
            <p:ph type="title"/>
          </p:nvPr>
        </p:nvSpPr>
        <p:spPr>
          <a:xfrm>
            <a:off x="824175" y="3016138"/>
            <a:ext cx="9612300" cy="21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5400"/>
              <a:t>ЛОГИЧЕСКОЕ УСТРОЙСТВО. БАЗЫ ДАННЫХ И СХЕМЫ</a:t>
            </a:r>
            <a:endParaRPr sz="5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ЦЕЛЬ УРОКА</a:t>
            </a:r>
            <a:endParaRPr/>
          </a:p>
        </p:txBody>
      </p:sp>
      <p:sp>
        <p:nvSpPr>
          <p:cNvPr id="370" name="Google Shape;370;p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371" name="Google Shape;371;p2"/>
          <p:cNvSpPr/>
          <p:nvPr/>
        </p:nvSpPr>
        <p:spPr>
          <a:xfrm>
            <a:off x="1719852" y="2395182"/>
            <a:ext cx="1033800" cy="10338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ru-RU" sz="3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2" name="Google Shape;372;p2"/>
          <p:cNvSpPr/>
          <p:nvPr/>
        </p:nvSpPr>
        <p:spPr>
          <a:xfrm>
            <a:off x="4654361" y="2395182"/>
            <a:ext cx="1033800" cy="1033800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lang="ru-RU" sz="36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3" name="Google Shape;373;p2"/>
          <p:cNvSpPr/>
          <p:nvPr/>
        </p:nvSpPr>
        <p:spPr>
          <a:xfrm>
            <a:off x="7535863" y="2395182"/>
            <a:ext cx="1033800" cy="1033800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r>
              <a:rPr lang="ru-RU" sz="36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4" name="Google Shape;374;p2"/>
          <p:cNvSpPr txBox="1"/>
          <p:nvPr/>
        </p:nvSpPr>
        <p:spPr>
          <a:xfrm>
            <a:off x="1719852" y="3583202"/>
            <a:ext cx="2570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Понять логическое устройство Постгреса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" name="Google Shape;375;p2"/>
          <p:cNvCxnSpPr/>
          <p:nvPr/>
        </p:nvCxnSpPr>
        <p:spPr>
          <a:xfrm rot="10800000">
            <a:off x="5857832" y="2912091"/>
            <a:ext cx="14820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6" name="Google Shape;376;p2"/>
          <p:cNvSpPr txBox="1"/>
          <p:nvPr/>
        </p:nvSpPr>
        <p:spPr>
          <a:xfrm>
            <a:off x="4671575" y="3583200"/>
            <a:ext cx="2068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Понять устройство базы, схемы, таблицы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"/>
          <p:cNvSpPr txBox="1"/>
          <p:nvPr/>
        </p:nvSpPr>
        <p:spPr>
          <a:xfrm>
            <a:off x="7535875" y="3583200"/>
            <a:ext cx="2068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Узнать какие еще существуют отношения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78" name="Google Shape;378;p2"/>
          <p:cNvCxnSpPr/>
          <p:nvPr/>
        </p:nvCxnSpPr>
        <p:spPr>
          <a:xfrm rot="10800000">
            <a:off x="2949827" y="2912091"/>
            <a:ext cx="14820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СОДЕРЖАНИЕ УРОКА</a:t>
            </a:r>
            <a:endParaRPr/>
          </a:p>
        </p:txBody>
      </p:sp>
      <p:sp>
        <p:nvSpPr>
          <p:cNvPr id="384" name="Google Shape;384;p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385" name="Google Shape;385;p3"/>
          <p:cNvSpPr/>
          <p:nvPr/>
        </p:nvSpPr>
        <p:spPr>
          <a:xfrm>
            <a:off x="1719852" y="1361364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6" name="Google Shape;386;p3"/>
          <p:cNvSpPr/>
          <p:nvPr/>
        </p:nvSpPr>
        <p:spPr>
          <a:xfrm>
            <a:off x="1719852" y="3129109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7" name="Google Shape;387;p3"/>
          <p:cNvSpPr/>
          <p:nvPr/>
        </p:nvSpPr>
        <p:spPr>
          <a:xfrm>
            <a:off x="1719852" y="4896852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88" name="Google Shape;388;p3"/>
          <p:cNvCxnSpPr/>
          <p:nvPr/>
        </p:nvCxnSpPr>
        <p:spPr>
          <a:xfrm rot="10800000">
            <a:off x="2183068" y="2395849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9" name="Google Shape;389;p3"/>
          <p:cNvCxnSpPr/>
          <p:nvPr/>
        </p:nvCxnSpPr>
        <p:spPr>
          <a:xfrm rot="10800000">
            <a:off x="2183068" y="4163594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0" name="Google Shape;390;p3"/>
          <p:cNvSpPr txBox="1"/>
          <p:nvPr/>
        </p:nvSpPr>
        <p:spPr>
          <a:xfrm>
            <a:off x="2860569" y="1547531"/>
            <a:ext cx="2570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Логическое устройство PostgreSQL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"/>
          <p:cNvSpPr txBox="1"/>
          <p:nvPr/>
        </p:nvSpPr>
        <p:spPr>
          <a:xfrm>
            <a:off x="2860569" y="3315259"/>
            <a:ext cx="2289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Базы данных и схемы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"/>
          <p:cNvSpPr txBox="1"/>
          <p:nvPr/>
        </p:nvSpPr>
        <p:spPr>
          <a:xfrm>
            <a:off x="2860569" y="5083002"/>
            <a:ext cx="2570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Таблицы и другие отношения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"/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ЛОГИЧЕСКОЕ УСТРОЙСТВО POSTGRESQL</a:t>
            </a:r>
            <a:endParaRPr/>
          </a:p>
        </p:txBody>
      </p:sp>
      <p:sp>
        <p:nvSpPr>
          <p:cNvPr id="399" name="Google Shape;399;p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400" name="Google Shape;400;p4"/>
          <p:cNvSpPr/>
          <p:nvPr/>
        </p:nvSpPr>
        <p:spPr>
          <a:xfrm>
            <a:off x="1725850" y="1430125"/>
            <a:ext cx="4327200" cy="45720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"/>
          <p:cNvSpPr txBox="1"/>
          <p:nvPr/>
        </p:nvSpPr>
        <p:spPr>
          <a:xfrm>
            <a:off x="3113800" y="1607000"/>
            <a:ext cx="155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Logical layer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4"/>
          <p:cNvSpPr/>
          <p:nvPr/>
        </p:nvSpPr>
        <p:spPr>
          <a:xfrm>
            <a:off x="2052400" y="2096875"/>
            <a:ext cx="1551300" cy="3633000"/>
          </a:xfrm>
          <a:prstGeom prst="roundRect">
            <a:avLst>
              <a:gd name="adj" fmla="val 16667"/>
            </a:avLst>
          </a:prstGeom>
          <a:solidFill>
            <a:srgbClr val="FFE599">
              <a:alpha val="8352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"/>
          <p:cNvSpPr txBox="1"/>
          <p:nvPr/>
        </p:nvSpPr>
        <p:spPr>
          <a:xfrm>
            <a:off x="2215750" y="2192125"/>
            <a:ext cx="122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"/>
          <p:cNvSpPr/>
          <p:nvPr/>
        </p:nvSpPr>
        <p:spPr>
          <a:xfrm>
            <a:off x="2161300" y="2573125"/>
            <a:ext cx="1333500" cy="1074900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"/>
          <p:cNvSpPr txBox="1"/>
          <p:nvPr/>
        </p:nvSpPr>
        <p:spPr>
          <a:xfrm>
            <a:off x="2392600" y="2518675"/>
            <a:ext cx="870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"/>
          <p:cNvSpPr/>
          <p:nvPr/>
        </p:nvSpPr>
        <p:spPr>
          <a:xfrm>
            <a:off x="2249800" y="2886075"/>
            <a:ext cx="1156500" cy="500400"/>
          </a:xfrm>
          <a:prstGeom prst="rect">
            <a:avLst/>
          </a:prstGeom>
          <a:solidFill>
            <a:srgbClr val="00C391">
              <a:alpha val="63921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"/>
          <p:cNvSpPr/>
          <p:nvPr/>
        </p:nvSpPr>
        <p:spPr>
          <a:xfrm>
            <a:off x="2161300" y="4140650"/>
            <a:ext cx="1333500" cy="1074900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"/>
          <p:cNvSpPr txBox="1"/>
          <p:nvPr/>
        </p:nvSpPr>
        <p:spPr>
          <a:xfrm>
            <a:off x="2392600" y="4086200"/>
            <a:ext cx="870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"/>
          <p:cNvSpPr/>
          <p:nvPr/>
        </p:nvSpPr>
        <p:spPr>
          <a:xfrm>
            <a:off x="2249800" y="4453600"/>
            <a:ext cx="1156500" cy="500400"/>
          </a:xfrm>
          <a:prstGeom prst="rect">
            <a:avLst/>
          </a:prstGeom>
          <a:solidFill>
            <a:srgbClr val="00C391">
              <a:alpha val="63921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"/>
          <p:cNvSpPr/>
          <p:nvPr/>
        </p:nvSpPr>
        <p:spPr>
          <a:xfrm>
            <a:off x="4137025" y="2096875"/>
            <a:ext cx="1551300" cy="3633000"/>
          </a:xfrm>
          <a:prstGeom prst="roundRect">
            <a:avLst>
              <a:gd name="adj" fmla="val 16667"/>
            </a:avLst>
          </a:prstGeom>
          <a:solidFill>
            <a:srgbClr val="FFE599">
              <a:alpha val="8352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"/>
          <p:cNvSpPr txBox="1"/>
          <p:nvPr/>
        </p:nvSpPr>
        <p:spPr>
          <a:xfrm>
            <a:off x="4300375" y="2192125"/>
            <a:ext cx="122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"/>
          <p:cNvSpPr/>
          <p:nvPr/>
        </p:nvSpPr>
        <p:spPr>
          <a:xfrm>
            <a:off x="4245925" y="2573125"/>
            <a:ext cx="1333500" cy="1074900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"/>
          <p:cNvSpPr txBox="1"/>
          <p:nvPr/>
        </p:nvSpPr>
        <p:spPr>
          <a:xfrm>
            <a:off x="4477225" y="2518675"/>
            <a:ext cx="870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"/>
          <p:cNvSpPr/>
          <p:nvPr/>
        </p:nvSpPr>
        <p:spPr>
          <a:xfrm>
            <a:off x="4334425" y="2886075"/>
            <a:ext cx="1156500" cy="500400"/>
          </a:xfrm>
          <a:prstGeom prst="rect">
            <a:avLst/>
          </a:prstGeom>
          <a:solidFill>
            <a:srgbClr val="18C095">
              <a:alpha val="55686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"/>
          <p:cNvSpPr/>
          <p:nvPr/>
        </p:nvSpPr>
        <p:spPr>
          <a:xfrm>
            <a:off x="4245925" y="4140650"/>
            <a:ext cx="1333500" cy="1074900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"/>
          <p:cNvSpPr txBox="1"/>
          <p:nvPr/>
        </p:nvSpPr>
        <p:spPr>
          <a:xfrm>
            <a:off x="4477225" y="4086200"/>
            <a:ext cx="870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"/>
          <p:cNvSpPr/>
          <p:nvPr/>
        </p:nvSpPr>
        <p:spPr>
          <a:xfrm>
            <a:off x="4334425" y="4453600"/>
            <a:ext cx="1156500" cy="500400"/>
          </a:xfrm>
          <a:prstGeom prst="rect">
            <a:avLst/>
          </a:prstGeom>
          <a:solidFill>
            <a:srgbClr val="00C391">
              <a:alpha val="63921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DATABASE</a:t>
            </a:r>
            <a:endParaRPr/>
          </a:p>
        </p:txBody>
      </p:sp>
      <p:sp>
        <p:nvSpPr>
          <p:cNvPr id="423" name="Google Shape;423;p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424" name="Google Shape;424;p5"/>
          <p:cNvSpPr/>
          <p:nvPr/>
        </p:nvSpPr>
        <p:spPr>
          <a:xfrm>
            <a:off x="1725850" y="2727700"/>
            <a:ext cx="446100" cy="4311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 b="0" i="0" u="none" strike="noStrike" cap="none">
                <a:solidFill>
                  <a:srgbClr val="1B4EFC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20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5" name="Google Shape;425;p5"/>
          <p:cNvSpPr/>
          <p:nvPr/>
        </p:nvSpPr>
        <p:spPr>
          <a:xfrm>
            <a:off x="1725850" y="3377475"/>
            <a:ext cx="446100" cy="431100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 b="0" i="0" u="none" strike="noStrike" cap="none">
                <a:solidFill>
                  <a:srgbClr val="836ED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2000" b="0" i="0" u="none" strike="noStrike" cap="none">
              <a:solidFill>
                <a:srgbClr val="836ED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6" name="Google Shape;426;p5"/>
          <p:cNvSpPr/>
          <p:nvPr/>
        </p:nvSpPr>
        <p:spPr>
          <a:xfrm>
            <a:off x="1725850" y="4027250"/>
            <a:ext cx="446100" cy="431100"/>
          </a:xfrm>
          <a:prstGeom prst="ellipse">
            <a:avLst/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 b="0" i="0" u="none" strike="noStrike" cap="none">
                <a:solidFill>
                  <a:schemeClr val="accent5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2000" b="0" i="0" u="none" strike="noStrike" cap="none">
              <a:solidFill>
                <a:schemeClr val="accent5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7" name="Google Shape;427;p5"/>
          <p:cNvSpPr txBox="1"/>
          <p:nvPr/>
        </p:nvSpPr>
        <p:spPr>
          <a:xfrm>
            <a:off x="1725850" y="1706975"/>
            <a:ext cx="73323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Является контейнером самого верхнего уровня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 умолчанию в любом кластере есть как минимум 3 БД: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5"/>
          <p:cNvSpPr txBox="1"/>
          <p:nvPr/>
        </p:nvSpPr>
        <p:spPr>
          <a:xfrm>
            <a:off x="2453225" y="2804650"/>
            <a:ext cx="3000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postgres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5"/>
          <p:cNvSpPr txBox="1"/>
          <p:nvPr/>
        </p:nvSpPr>
        <p:spPr>
          <a:xfrm>
            <a:off x="1725850" y="4873825"/>
            <a:ext cx="687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Присутствует на логическом и физическом уровне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"/>
          <p:cNvSpPr txBox="1"/>
          <p:nvPr/>
        </p:nvSpPr>
        <p:spPr>
          <a:xfrm>
            <a:off x="2453225" y="3454425"/>
            <a:ext cx="3000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"/>
          <p:cNvSpPr txBox="1"/>
          <p:nvPr/>
        </p:nvSpPr>
        <p:spPr>
          <a:xfrm>
            <a:off x="2453225" y="4104200"/>
            <a:ext cx="3000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"/>
          <p:cNvSpPr txBox="1">
            <a:spLocks noGrp="1"/>
          </p:cNvSpPr>
          <p:nvPr>
            <p:ph type="title"/>
          </p:nvPr>
        </p:nvSpPr>
        <p:spPr>
          <a:xfrm>
            <a:off x="1652174" y="881955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TEMPLATE0</a:t>
            </a:r>
            <a:endParaRPr/>
          </a:p>
        </p:txBody>
      </p:sp>
      <p:sp>
        <p:nvSpPr>
          <p:cNvPr id="437" name="Google Shape;437;p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438" name="Google Shape;438;p6"/>
          <p:cNvSpPr txBox="1">
            <a:spLocks noGrp="1"/>
          </p:cNvSpPr>
          <p:nvPr>
            <p:ph type="body" idx="1"/>
          </p:nvPr>
        </p:nvSpPr>
        <p:spPr>
          <a:xfrm>
            <a:off x="1652174" y="1660438"/>
            <a:ext cx="6103500" cy="12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для восстановления из резервной копии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по умолчанию даже нет прав на connect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лучше всего не создавать в ней никаких объектов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а еще лучше про нее забыть и не вспоминать ;)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39" name="Google Shape;439;p6"/>
          <p:cNvSpPr txBox="1"/>
          <p:nvPr/>
        </p:nvSpPr>
        <p:spPr>
          <a:xfrm>
            <a:off x="1652174" y="3921038"/>
            <a:ext cx="7473900" cy="20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используется как шаблон для создания новых баз данных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нем имеет смысл делать некие действия, которые не хочется делать каждый раз при создании новых баз данных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например create extension или create schema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 (как мне кажется) лучше не создавать объектов, так как для других пользователей это будет неочевидно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6"/>
          <p:cNvSpPr txBox="1">
            <a:spLocks noGrp="1"/>
          </p:cNvSpPr>
          <p:nvPr>
            <p:ph type="title"/>
          </p:nvPr>
        </p:nvSpPr>
        <p:spPr>
          <a:xfrm>
            <a:off x="1652174" y="3367730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TEMPLATE1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POSTGRES</a:t>
            </a:r>
            <a:endParaRPr/>
          </a:p>
        </p:txBody>
      </p:sp>
      <p:sp>
        <p:nvSpPr>
          <p:cNvPr id="446" name="Google Shape;446;p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447" name="Google Shape;447;p7"/>
          <p:cNvSpPr txBox="1"/>
          <p:nvPr/>
        </p:nvSpPr>
        <p:spPr>
          <a:xfrm>
            <a:off x="1725850" y="1849100"/>
            <a:ext cx="7332300" cy="18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первая база данных для регулярной работы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создается по умолчанию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хорошая практика - также не использовать, но и не удалять - иногда нужна для различных утилит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ШАБЛОНЫ БД</a:t>
            </a:r>
            <a:endParaRPr/>
          </a:p>
        </p:txBody>
      </p:sp>
      <p:sp>
        <p:nvSpPr>
          <p:cNvPr id="453" name="Google Shape;453;p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454" name="Google Shape;454;p8"/>
          <p:cNvSpPr/>
          <p:nvPr/>
        </p:nvSpPr>
        <p:spPr>
          <a:xfrm>
            <a:off x="1662400" y="3049350"/>
            <a:ext cx="7771800" cy="11367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684000" tIns="108000" rIns="180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DATABASE will fail if any other connection exists when it starts; otherwise, new connections to the template database are locked out until CREATE DATABASE completes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" name="Google Shape;45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9275" y="3236538"/>
            <a:ext cx="385661" cy="3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8"/>
          <p:cNvSpPr txBox="1"/>
          <p:nvPr/>
        </p:nvSpPr>
        <p:spPr>
          <a:xfrm>
            <a:off x="1725850" y="1587838"/>
            <a:ext cx="7332300" cy="12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качестве шаблона для создания БД можно использовать любую другую БД - при этом возникает соблазн использовать </a:t>
            </a:r>
            <a:r>
              <a:rPr lang="ru-RU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create database with template</a:t>
            </a: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для копирования БД. Так делать </a:t>
            </a:r>
            <a:r>
              <a:rPr lang="ru-RU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не рекомендовано</a:t>
            </a: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Вот выдержка из документации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8"/>
          <p:cNvSpPr txBox="1"/>
          <p:nvPr/>
        </p:nvSpPr>
        <p:spPr>
          <a:xfrm>
            <a:off x="1662400" y="4381563"/>
            <a:ext cx="7332300" cy="8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Используйте штатные методы бэкапов или репликации. </a:t>
            </a:r>
            <a:r>
              <a:rPr lang="ru-RU" sz="1800">
                <a:solidFill>
                  <a:schemeClr val="dk1"/>
                </a:solidFill>
              </a:rPr>
              <a:t>О</a:t>
            </a: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бсудим на соответствующих темах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CREATE DATABASE</a:t>
            </a:r>
            <a:endParaRPr/>
          </a:p>
        </p:txBody>
      </p:sp>
      <p:sp>
        <p:nvSpPr>
          <p:cNvPr id="463" name="Google Shape;463;p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464" name="Google Shape;464;p9"/>
          <p:cNvSpPr/>
          <p:nvPr/>
        </p:nvSpPr>
        <p:spPr>
          <a:xfrm>
            <a:off x="1725850" y="4608000"/>
            <a:ext cx="7771800" cy="7179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684000" tIns="108000" rIns="180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https://postgrespro.ru/docs/postgresql/14/sql-createdatabase</a:t>
            </a:r>
            <a:r>
              <a:rPr lang="ru-RU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5" name="Google Shape;46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9025" y="4774500"/>
            <a:ext cx="385661" cy="3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9"/>
          <p:cNvSpPr/>
          <p:nvPr/>
        </p:nvSpPr>
        <p:spPr>
          <a:xfrm>
            <a:off x="1725851" y="5470975"/>
            <a:ext cx="7771800" cy="717900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684000" tIns="108000" rIns="180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Список диалектов и правил сортировки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sng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https://postgrespro.ru/docs/postgresql/14/locale</a:t>
            </a:r>
            <a:r>
              <a:rPr lang="ru-RU" sz="1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7" name="Google Shape;467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75825" y="5637475"/>
            <a:ext cx="385650" cy="384899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9"/>
          <p:cNvSpPr/>
          <p:nvPr/>
        </p:nvSpPr>
        <p:spPr>
          <a:xfrm>
            <a:off x="1725850" y="1127888"/>
            <a:ext cx="7771800" cy="32277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CREATE DATABASE </a:t>
            </a:r>
            <a:r>
              <a:rPr lang="ru-RU" sz="16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имя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[ [ WITH ] [ OWNER [=] </a:t>
            </a:r>
            <a:r>
              <a:rPr lang="ru-RU" sz="16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имя_пользователя</a:t>
            </a: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]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[ TEMPLATE [=] </a:t>
            </a:r>
            <a:r>
              <a:rPr lang="ru-RU" sz="16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шаблон</a:t>
            </a: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]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[ ENCODING [=] </a:t>
            </a:r>
            <a:r>
              <a:rPr lang="ru-RU" sz="16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кодировка</a:t>
            </a: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]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[ LOCALE [=] </a:t>
            </a:r>
            <a:r>
              <a:rPr lang="ru-RU" sz="16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локаль</a:t>
            </a: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[@</a:t>
            </a:r>
            <a:r>
              <a:rPr lang="ru-RU" sz="16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провайдер</a:t>
            </a: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] ]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[ LC_COLLATE [=] </a:t>
            </a:r>
            <a:r>
              <a:rPr lang="ru-RU" sz="16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категория_сортировки</a:t>
            </a: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[@</a:t>
            </a:r>
            <a:r>
              <a:rPr lang="ru-RU" sz="16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провайдер</a:t>
            </a: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] ]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[ LC_CTYPE [=] </a:t>
            </a:r>
            <a:r>
              <a:rPr lang="ru-RU" sz="16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категория_типов_символов</a:t>
            </a: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]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[ TABLESPACE [=] </a:t>
            </a:r>
            <a:r>
              <a:rPr lang="ru-RU" sz="16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табл_пространство</a:t>
            </a: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]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[ ALLOW_CONNECTIONS [=] </a:t>
            </a:r>
            <a:r>
              <a:rPr lang="ru-RU" sz="16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разр_подключения</a:t>
            </a: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]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[ CONNECTION LIMIT [=] </a:t>
            </a:r>
            <a:r>
              <a:rPr lang="ru-RU" sz="16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предел_подключений</a:t>
            </a: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]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[ IS_TEMPLATE [=] </a:t>
            </a:r>
            <a:r>
              <a:rPr lang="ru-RU" sz="16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это_шаблон</a:t>
            </a: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] ]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CREATE SCHEMA</a:t>
            </a:r>
            <a:endParaRPr/>
          </a:p>
        </p:txBody>
      </p:sp>
      <p:sp>
        <p:nvSpPr>
          <p:cNvPr id="474" name="Google Shape;474;p1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475" name="Google Shape;475;p10"/>
          <p:cNvSpPr/>
          <p:nvPr/>
        </p:nvSpPr>
        <p:spPr>
          <a:xfrm>
            <a:off x="1725850" y="5202525"/>
            <a:ext cx="7771800" cy="7179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684000" tIns="108000" rIns="180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https://postgrespro.ru/docs/postgresql/14/sql-createschema</a:t>
            </a:r>
            <a:r>
              <a:rPr lang="ru-RU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9025" y="5369025"/>
            <a:ext cx="385661" cy="3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0"/>
          <p:cNvSpPr/>
          <p:nvPr/>
        </p:nvSpPr>
        <p:spPr>
          <a:xfrm>
            <a:off x="1725850" y="1174475"/>
            <a:ext cx="7771800" cy="37875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CREATE SCHEMA </a:t>
            </a:r>
            <a:r>
              <a:rPr lang="ru-RU" sz="14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имя_схемы</a:t>
            </a: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[ AUTHORIZATION </a:t>
            </a:r>
            <a:r>
              <a:rPr lang="ru-RU" sz="14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указание_роли</a:t>
            </a: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] [ </a:t>
            </a:r>
            <a:r>
              <a:rPr lang="ru-RU" sz="14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элемент_схемы</a:t>
            </a: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[ ... ] ]</a:t>
            </a:r>
            <a:endParaRPr sz="1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CREATE SCHEMA AUTHORIZATION </a:t>
            </a:r>
            <a:r>
              <a:rPr lang="ru-RU" sz="14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указание_роли</a:t>
            </a: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[ </a:t>
            </a:r>
            <a:r>
              <a:rPr lang="ru-RU" sz="14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элемент_схемы</a:t>
            </a: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[ ... ] ]</a:t>
            </a:r>
            <a:endParaRPr sz="1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CREATE SCHEMA </a:t>
            </a:r>
            <a:r>
              <a:rPr lang="ru-RU" sz="1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IF NOT EXISTS</a:t>
            </a: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-RU" sz="14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имя_схемы</a:t>
            </a: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[ AUTHORIZATION </a:t>
            </a:r>
            <a:r>
              <a:rPr lang="ru-RU" sz="14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указание_роли</a:t>
            </a: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]</a:t>
            </a:r>
            <a:endParaRPr sz="1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CREATE SCHEMA IF NOT EXISTS AUTHORIZATION </a:t>
            </a:r>
            <a:r>
              <a:rPr lang="ru-RU" sz="14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указание_роли</a:t>
            </a:r>
            <a:endParaRPr sz="1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Здесь </a:t>
            </a:r>
            <a:r>
              <a:rPr lang="ru-RU" sz="14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указание_роли</a:t>
            </a: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-RU" sz="14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имя_пользователя</a:t>
            </a:r>
            <a:endParaRPr sz="1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| CURRENT_USER</a:t>
            </a:r>
            <a:endParaRPr sz="1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| SESSION_USER</a:t>
            </a:r>
            <a:endParaRPr sz="1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CREATE TABLE</a:t>
            </a:r>
            <a:endParaRPr/>
          </a:p>
        </p:txBody>
      </p:sp>
      <p:sp>
        <p:nvSpPr>
          <p:cNvPr id="483" name="Google Shape;483;p1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  <p:sp>
        <p:nvSpPr>
          <p:cNvPr id="484" name="Google Shape;484;p11"/>
          <p:cNvSpPr/>
          <p:nvPr/>
        </p:nvSpPr>
        <p:spPr>
          <a:xfrm>
            <a:off x="1662400" y="4142438"/>
            <a:ext cx="7771800" cy="7179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684000" tIns="108000" rIns="180000" bIns="1080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https://postgrespro.ru/docs/postgresql/14/sql-createtable</a:t>
            </a:r>
            <a:r>
              <a:rPr lang="ru-RU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Google Shape;48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40075" y="4308938"/>
            <a:ext cx="385661" cy="3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11"/>
          <p:cNvSpPr/>
          <p:nvPr/>
        </p:nvSpPr>
        <p:spPr>
          <a:xfrm>
            <a:off x="1662400" y="1997663"/>
            <a:ext cx="7771800" cy="17748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CREATE [ { TEMPORARY | TEMP } | UNLOGGED ] TABLE [ IF NOT EXISTS ] </a:t>
            </a:r>
            <a:r>
              <a:rPr lang="ru-RU" sz="18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имя_таблицы</a:t>
            </a:r>
            <a:r>
              <a:rPr lang="ru-RU" sz="18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( [</a:t>
            </a: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{ </a:t>
            </a:r>
            <a:r>
              <a:rPr lang="ru-RU" sz="18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имя_столбца</a:t>
            </a:r>
            <a:r>
              <a:rPr lang="ru-RU" sz="18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-RU" sz="18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тип_данных</a:t>
            </a:r>
            <a:r>
              <a:rPr lang="ru-RU" sz="18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[ </a:t>
            </a:r>
            <a:r>
              <a:rPr lang="ru-RU" sz="1800" b="0" i="1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ограничение_столбца</a:t>
            </a:r>
            <a:r>
              <a:rPr lang="ru-RU" sz="18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[ ... ] ]</a:t>
            </a:r>
            <a:endParaRPr sz="1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ВИДЫ ОТНОШЕНИЙ В БД</a:t>
            </a:r>
            <a:endParaRPr/>
          </a:p>
        </p:txBody>
      </p:sp>
      <p:sp>
        <p:nvSpPr>
          <p:cNvPr id="492" name="Google Shape;492;p1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sp>
        <p:nvSpPr>
          <p:cNvPr id="493" name="Google Shape;493;p12"/>
          <p:cNvSpPr txBox="1">
            <a:spLocks noGrp="1"/>
          </p:cNvSpPr>
          <p:nvPr>
            <p:ph type="body" idx="1"/>
          </p:nvPr>
        </p:nvSpPr>
        <p:spPr>
          <a:xfrm>
            <a:off x="2811125" y="1982263"/>
            <a:ext cx="52998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dirty="0">
                <a:solidFill>
                  <a:schemeClr val="dk2"/>
                </a:solidFill>
              </a:rPr>
              <a:t>r =</a:t>
            </a:r>
            <a:r>
              <a:rPr lang="ru-RU" sz="1800" dirty="0">
                <a:solidFill>
                  <a:schemeClr val="dk1"/>
                </a:solidFill>
              </a:rPr>
              <a:t> </a:t>
            </a:r>
            <a:r>
              <a:rPr lang="ru-RU" sz="1800" dirty="0" err="1">
                <a:solidFill>
                  <a:schemeClr val="dk1"/>
                </a:solidFill>
              </a:rPr>
              <a:t>ordinary</a:t>
            </a:r>
            <a:r>
              <a:rPr lang="ru-RU" sz="1800" dirty="0">
                <a:solidFill>
                  <a:schemeClr val="dk1"/>
                </a:solidFill>
              </a:rPr>
              <a:t> </a:t>
            </a:r>
            <a:r>
              <a:rPr lang="ru-RU" sz="1800" dirty="0" err="1">
                <a:solidFill>
                  <a:schemeClr val="dk1"/>
                </a:solidFill>
              </a:rPr>
              <a:t>table</a:t>
            </a:r>
            <a:r>
              <a:rPr lang="ru-RU" sz="1800" dirty="0">
                <a:solidFill>
                  <a:schemeClr val="dk1"/>
                </a:solidFill>
              </a:rPr>
              <a:t>,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dirty="0">
                <a:solidFill>
                  <a:schemeClr val="dk2"/>
                </a:solidFill>
              </a:rPr>
              <a:t>i =</a:t>
            </a:r>
            <a:r>
              <a:rPr lang="ru-RU" sz="1800" dirty="0">
                <a:solidFill>
                  <a:schemeClr val="dk1"/>
                </a:solidFill>
              </a:rPr>
              <a:t> </a:t>
            </a:r>
            <a:r>
              <a:rPr lang="ru-RU" sz="1800" dirty="0" err="1">
                <a:solidFill>
                  <a:schemeClr val="dk1"/>
                </a:solidFill>
              </a:rPr>
              <a:t>index</a:t>
            </a:r>
            <a:r>
              <a:rPr lang="ru-RU" sz="1800" dirty="0">
                <a:solidFill>
                  <a:schemeClr val="dk1"/>
                </a:solidFill>
              </a:rPr>
              <a:t>,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dirty="0">
                <a:solidFill>
                  <a:schemeClr val="dk2"/>
                </a:solidFill>
              </a:rPr>
              <a:t>S =</a:t>
            </a:r>
            <a:r>
              <a:rPr lang="ru-RU" sz="1800" dirty="0">
                <a:solidFill>
                  <a:schemeClr val="dk1"/>
                </a:solidFill>
              </a:rPr>
              <a:t> </a:t>
            </a:r>
            <a:r>
              <a:rPr lang="ru-RU" sz="1800" dirty="0" err="1">
                <a:solidFill>
                  <a:schemeClr val="dk1"/>
                </a:solidFill>
              </a:rPr>
              <a:t>sequence</a:t>
            </a:r>
            <a:r>
              <a:rPr lang="ru-RU" sz="1800" dirty="0">
                <a:solidFill>
                  <a:schemeClr val="dk1"/>
                </a:solidFill>
              </a:rPr>
              <a:t>,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dirty="0">
                <a:solidFill>
                  <a:schemeClr val="dk2"/>
                </a:solidFill>
              </a:rPr>
              <a:t>v =</a:t>
            </a:r>
            <a:r>
              <a:rPr lang="ru-RU" sz="1800" dirty="0">
                <a:solidFill>
                  <a:schemeClr val="dk1"/>
                </a:solidFill>
              </a:rPr>
              <a:t> </a:t>
            </a:r>
            <a:r>
              <a:rPr lang="ru-RU" sz="1800" dirty="0" err="1">
                <a:solidFill>
                  <a:schemeClr val="dk1"/>
                </a:solidFill>
              </a:rPr>
              <a:t>view</a:t>
            </a:r>
            <a:r>
              <a:rPr lang="ru-RU" sz="1800" dirty="0">
                <a:solidFill>
                  <a:schemeClr val="dk1"/>
                </a:solidFill>
              </a:rPr>
              <a:t>, 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dirty="0">
                <a:solidFill>
                  <a:schemeClr val="dk2"/>
                </a:solidFill>
              </a:rPr>
              <a:t>m =</a:t>
            </a:r>
            <a:r>
              <a:rPr lang="ru-RU" sz="1800" dirty="0">
                <a:solidFill>
                  <a:schemeClr val="dk1"/>
                </a:solidFill>
              </a:rPr>
              <a:t> </a:t>
            </a:r>
            <a:r>
              <a:rPr lang="ru-RU" sz="1800" dirty="0" err="1">
                <a:solidFill>
                  <a:schemeClr val="dk1"/>
                </a:solidFill>
              </a:rPr>
              <a:t>materialized</a:t>
            </a:r>
            <a:r>
              <a:rPr lang="ru-RU" sz="1800" dirty="0">
                <a:solidFill>
                  <a:schemeClr val="dk1"/>
                </a:solidFill>
              </a:rPr>
              <a:t> </a:t>
            </a:r>
            <a:r>
              <a:rPr lang="ru-RU" sz="1800" dirty="0" err="1">
                <a:solidFill>
                  <a:schemeClr val="dk1"/>
                </a:solidFill>
              </a:rPr>
              <a:t>view</a:t>
            </a:r>
            <a:r>
              <a:rPr lang="ru-RU" sz="1800" dirty="0">
                <a:solidFill>
                  <a:schemeClr val="dk1"/>
                </a:solidFill>
              </a:rPr>
              <a:t>, 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dirty="0">
                <a:solidFill>
                  <a:schemeClr val="dk2"/>
                </a:solidFill>
              </a:rPr>
              <a:t>c =</a:t>
            </a:r>
            <a:r>
              <a:rPr lang="ru-RU" sz="1800" dirty="0">
                <a:solidFill>
                  <a:schemeClr val="dk1"/>
                </a:solidFill>
              </a:rPr>
              <a:t> </a:t>
            </a:r>
            <a:r>
              <a:rPr lang="ru-RU" sz="1800" dirty="0" err="1">
                <a:solidFill>
                  <a:schemeClr val="dk1"/>
                </a:solidFill>
              </a:rPr>
              <a:t>composite</a:t>
            </a:r>
            <a:r>
              <a:rPr lang="ru-RU" sz="1800" dirty="0">
                <a:solidFill>
                  <a:schemeClr val="dk1"/>
                </a:solidFill>
              </a:rPr>
              <a:t> </a:t>
            </a:r>
            <a:r>
              <a:rPr lang="ru-RU" sz="1800" dirty="0" err="1">
                <a:solidFill>
                  <a:schemeClr val="dk1"/>
                </a:solidFill>
              </a:rPr>
              <a:t>type</a:t>
            </a:r>
            <a:r>
              <a:rPr lang="ru-RU" sz="1800" dirty="0">
                <a:solidFill>
                  <a:schemeClr val="dk1"/>
                </a:solidFill>
              </a:rPr>
              <a:t>, 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dirty="0">
                <a:solidFill>
                  <a:schemeClr val="dk2"/>
                </a:solidFill>
              </a:rPr>
              <a:t>t =</a:t>
            </a:r>
            <a:r>
              <a:rPr lang="ru-RU" sz="1800" dirty="0">
                <a:solidFill>
                  <a:schemeClr val="dk1"/>
                </a:solidFill>
              </a:rPr>
              <a:t> TOAST </a:t>
            </a:r>
            <a:r>
              <a:rPr lang="ru-RU" sz="1800" dirty="0" err="1">
                <a:solidFill>
                  <a:schemeClr val="dk1"/>
                </a:solidFill>
              </a:rPr>
              <a:t>table</a:t>
            </a:r>
            <a:r>
              <a:rPr lang="ru-RU" sz="1800" dirty="0">
                <a:solidFill>
                  <a:schemeClr val="dk1"/>
                </a:solidFill>
              </a:rPr>
              <a:t>,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endParaRPr sz="1800" dirty="0">
              <a:solidFill>
                <a:schemeClr val="dk1"/>
              </a:solidFill>
            </a:endParaRPr>
          </a:p>
          <a:p>
            <a:pPr marL="0" lvl="0" indent="0"/>
            <a:r>
              <a:rPr lang="ru-RU" sz="1800" dirty="0">
                <a:solidFill>
                  <a:schemeClr val="dk2"/>
                </a:solidFill>
              </a:rPr>
              <a:t>f =</a:t>
            </a:r>
            <a:r>
              <a:rPr lang="ru-RU" sz="1800" dirty="0">
                <a:solidFill>
                  <a:schemeClr val="dk1"/>
                </a:solidFill>
              </a:rPr>
              <a:t> </a:t>
            </a:r>
            <a:r>
              <a:rPr lang="ru-RU" sz="1800" dirty="0" err="1">
                <a:solidFill>
                  <a:schemeClr val="dk1"/>
                </a:solidFill>
              </a:rPr>
              <a:t>foreign</a:t>
            </a:r>
            <a:r>
              <a:rPr lang="ru-RU" sz="1800" dirty="0">
                <a:solidFill>
                  <a:schemeClr val="dk1"/>
                </a:solidFill>
              </a:rPr>
              <a:t> </a:t>
            </a:r>
            <a:r>
              <a:rPr lang="ru-RU" sz="1800" dirty="0" err="1">
                <a:solidFill>
                  <a:schemeClr val="dk1"/>
                </a:solidFill>
              </a:rPr>
              <a:t>table</a:t>
            </a:r>
            <a:r>
              <a:rPr lang="ru-RU" sz="1800">
                <a:solidFill>
                  <a:schemeClr val="dk1"/>
                </a:solidFill>
              </a:rPr>
              <a:t>, внешняя таблица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94" name="Google Shape;494;p12"/>
          <p:cNvSpPr txBox="1"/>
          <p:nvPr/>
        </p:nvSpPr>
        <p:spPr>
          <a:xfrm>
            <a:off x="1725850" y="4414038"/>
            <a:ext cx="709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https://www.postgresql.org/docs/14/catalog-pg-class.html</a:t>
            </a:r>
            <a:r>
              <a:rPr lang="ru-RU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5" name="Google Shape;495;p12"/>
          <p:cNvGrpSpPr/>
          <p:nvPr/>
        </p:nvGrpSpPr>
        <p:grpSpPr>
          <a:xfrm>
            <a:off x="1725850" y="1982263"/>
            <a:ext cx="582833" cy="200870"/>
            <a:chOff x="0" y="1270"/>
            <a:chExt cx="1466615" cy="505460"/>
          </a:xfrm>
        </p:grpSpPr>
        <p:sp>
          <p:nvSpPr>
            <p:cNvPr id="496" name="Google Shape;496;p12"/>
            <p:cNvSpPr/>
            <p:nvPr/>
          </p:nvSpPr>
          <p:spPr>
            <a:xfrm>
              <a:off x="0" y="215900"/>
              <a:ext cx="1170705" cy="76200"/>
            </a:xfrm>
            <a:custGeom>
              <a:avLst/>
              <a:gdLst/>
              <a:ahLst/>
              <a:cxnLst/>
              <a:rect l="l" t="t" r="r" b="b"/>
              <a:pathLst>
                <a:path w="1170705" h="76200" extrusionOk="0">
                  <a:moveTo>
                    <a:pt x="0" y="0"/>
                  </a:moveTo>
                  <a:lnTo>
                    <a:pt x="1170705" y="0"/>
                  </a:lnTo>
                  <a:lnTo>
                    <a:pt x="117070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97" name="Google Shape;497;p12"/>
            <p:cNvSpPr/>
            <p:nvPr/>
          </p:nvSpPr>
          <p:spPr>
            <a:xfrm>
              <a:off x="1091965" y="1270"/>
              <a:ext cx="374650" cy="505460"/>
            </a:xfrm>
            <a:custGeom>
              <a:avLst/>
              <a:gdLst/>
              <a:ahLst/>
              <a:cxnLst/>
              <a:rect l="l" t="t" r="r" b="b"/>
              <a:pathLst>
                <a:path w="374650" h="505460" extrusionOk="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ИТОГИ ЗАНЯТИЯ</a:t>
            </a:r>
            <a:endParaRPr/>
          </a:p>
        </p:txBody>
      </p:sp>
      <p:sp>
        <p:nvSpPr>
          <p:cNvPr id="503" name="Google Shape;503;p1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  <p:sp>
        <p:nvSpPr>
          <p:cNvPr id="504" name="Google Shape;504;p13"/>
          <p:cNvSpPr/>
          <p:nvPr/>
        </p:nvSpPr>
        <p:spPr>
          <a:xfrm>
            <a:off x="1703400" y="2393222"/>
            <a:ext cx="2714100" cy="2095500"/>
          </a:xfrm>
          <a:prstGeom prst="roundRect">
            <a:avLst>
              <a:gd name="adj" fmla="val 5760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Поняли логическое устройство Постгреса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4738875" y="2393222"/>
            <a:ext cx="2714100" cy="2095500"/>
          </a:xfrm>
          <a:prstGeom prst="roundRect">
            <a:avLst>
              <a:gd name="adj" fmla="val 521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Поняли устройство базы, схемы, таблицы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7774375" y="2393222"/>
            <a:ext cx="2714100" cy="2095500"/>
          </a:xfrm>
          <a:prstGeom prst="roundRect">
            <a:avLst>
              <a:gd name="adj" fmla="val 630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Узнали какие еще существуют отношения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07" name="Google Shape;50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141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6099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6025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14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14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14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14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18" name="Google Shape;518;p14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519" name="Google Shape;519;p14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spcFirstLastPara="1" wrap="square" lIns="35725" tIns="35725" rIns="35725" bIns="357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520" name="Google Shape;520;p14" descr="Logo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1" name="Google Shape;521;p14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2" name="Google Shape;522;p14"/>
          <p:cNvSpPr txBox="1"/>
          <p:nvPr/>
        </p:nvSpPr>
        <p:spPr>
          <a:xfrm>
            <a:off x="1715258" y="2280384"/>
            <a:ext cx="8119200" cy="16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ПРОВЕРОЧНОЕ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4" name="Google Shape;524;p14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lang="ru-RU" sz="15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begin</a:t>
            </a: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26" name="Google Shape;526;p14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527" name="Google Shape;527;p14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4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9" name="Google Shape;529;p14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1" name="Google Shape;531;p14"/>
          <p:cNvSpPr txBox="1"/>
          <p:nvPr/>
        </p:nvSpPr>
        <p:spPr>
          <a:xfrm>
            <a:off x="1715259" y="3938927"/>
            <a:ext cx="53292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Цель задания: </a:t>
            </a:r>
            <a:r>
              <a:rPr lang="ru-RU" sz="1800">
                <a:solidFill>
                  <a:srgbClr val="FFFFFF"/>
                </a:solidFill>
              </a:rPr>
              <a:t>с</a:t>
            </a:r>
            <a:r>
              <a:rPr lang="ru-RU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озда</a:t>
            </a:r>
            <a:r>
              <a:rPr lang="ru-RU" sz="1800">
                <a:solidFill>
                  <a:srgbClr val="FFFFFF"/>
                </a:solidFill>
              </a:rPr>
              <a:t>ть</a:t>
            </a:r>
            <a:r>
              <a:rPr lang="ru-RU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свои базы данных, схемы и таблицы</a:t>
            </a:r>
            <a:endParaRPr sz="1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ЗАДАНИЕ НА САМОПРОВЕРКУ</a:t>
            </a:r>
            <a:endParaRPr/>
          </a:p>
        </p:txBody>
      </p:sp>
      <p:sp>
        <p:nvSpPr>
          <p:cNvPr id="537" name="Google Shape;537;p15"/>
          <p:cNvSpPr txBox="1"/>
          <p:nvPr/>
        </p:nvSpPr>
        <p:spPr>
          <a:xfrm>
            <a:off x="1695375" y="2357291"/>
            <a:ext cx="2451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Создать свою БД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5"/>
          <p:cNvSpPr txBox="1"/>
          <p:nvPr/>
        </p:nvSpPr>
        <p:spPr>
          <a:xfrm>
            <a:off x="4764100" y="2357291"/>
            <a:ext cx="264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Переключиться на созданную БД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5"/>
          <p:cNvSpPr txBox="1"/>
          <p:nvPr/>
        </p:nvSpPr>
        <p:spPr>
          <a:xfrm>
            <a:off x="8260569" y="2357291"/>
            <a:ext cx="230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Создать схему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5"/>
          <p:cNvSpPr txBox="1"/>
          <p:nvPr/>
        </p:nvSpPr>
        <p:spPr>
          <a:xfrm>
            <a:off x="1695375" y="4200681"/>
            <a:ext cx="2451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Создать таблицу в созданной на 3 шаге схеме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5"/>
          <p:cNvSpPr txBox="1"/>
          <p:nvPr/>
        </p:nvSpPr>
        <p:spPr>
          <a:xfrm>
            <a:off x="4764100" y="4200681"/>
            <a:ext cx="2647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Убедиться, что таблица создалась в нужной схеме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5"/>
          <p:cNvSpPr txBox="1"/>
          <p:nvPr/>
        </p:nvSpPr>
        <p:spPr>
          <a:xfrm>
            <a:off x="1695376" y="1829222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5"/>
          <p:cNvSpPr txBox="1"/>
          <p:nvPr/>
        </p:nvSpPr>
        <p:spPr>
          <a:xfrm>
            <a:off x="4775976" y="1827615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5"/>
          <p:cNvSpPr txBox="1"/>
          <p:nvPr/>
        </p:nvSpPr>
        <p:spPr>
          <a:xfrm>
            <a:off x="8260569" y="1826006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5"/>
          <p:cNvSpPr txBox="1"/>
          <p:nvPr/>
        </p:nvSpPr>
        <p:spPr>
          <a:xfrm>
            <a:off x="1695376" y="3641678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5"/>
          <p:cNvSpPr txBox="1"/>
          <p:nvPr/>
        </p:nvSpPr>
        <p:spPr>
          <a:xfrm>
            <a:off x="4775976" y="3640070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7" name="Google Shape;547;p15"/>
          <p:cNvCxnSpPr/>
          <p:nvPr/>
        </p:nvCxnSpPr>
        <p:spPr>
          <a:xfrm rot="10800000">
            <a:off x="2307762" y="2089239"/>
            <a:ext cx="22206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8" name="Google Shape;548;p15"/>
          <p:cNvCxnSpPr/>
          <p:nvPr/>
        </p:nvCxnSpPr>
        <p:spPr>
          <a:xfrm rot="10800000">
            <a:off x="5478283" y="2089239"/>
            <a:ext cx="25533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9" name="Google Shape;549;p15"/>
          <p:cNvCxnSpPr/>
          <p:nvPr/>
        </p:nvCxnSpPr>
        <p:spPr>
          <a:xfrm rot="10800000">
            <a:off x="2307762" y="3889820"/>
            <a:ext cx="22206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0" name="Google Shape;550;p15"/>
          <p:cNvCxnSpPr/>
          <p:nvPr/>
        </p:nvCxnSpPr>
        <p:spPr>
          <a:xfrm rot="10800000">
            <a:off x="8872901" y="2089239"/>
            <a:ext cx="16077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p16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16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16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16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59" name="Google Shape;559;p16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560" name="Google Shape;560;p16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spcFirstLastPara="1" wrap="square" lIns="35725" tIns="35725" rIns="35725" bIns="357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561" name="Google Shape;561;p16" descr="Logo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2" name="Google Shape;562;p16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3" name="Google Shape;563;p16"/>
          <p:cNvSpPr txBox="1"/>
          <p:nvPr/>
        </p:nvSpPr>
        <p:spPr>
          <a:xfrm>
            <a:off x="1634961" y="3121413"/>
            <a:ext cx="7346400" cy="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СПАСИБО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6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5" name="Google Shape;565;p16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lang="ru-RU" sz="15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End</a:t>
            </a: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67" name="Google Shape;567;p16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568" name="Google Shape;568;p16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6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0" name="Google Shape;570;p16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2" name="Google Shape;572;p16"/>
          <p:cNvSpPr txBox="1"/>
          <p:nvPr/>
        </p:nvSpPr>
        <p:spPr>
          <a:xfrm>
            <a:off x="1622061" y="4145782"/>
            <a:ext cx="7372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 следующем занятии мы рассмотрим тему: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ru-RU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Табличные пространства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D6D5D5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</Words>
  <Application>Microsoft Office PowerPoint</Application>
  <PresentationFormat>Широкоэкранный</PresentationFormat>
  <Paragraphs>140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16</vt:i4>
      </vt:variant>
    </vt:vector>
  </HeadingPairs>
  <TitlesOfParts>
    <vt:vector size="29" baseType="lpstr">
      <vt:lpstr>Arial</vt:lpstr>
      <vt:lpstr>Calibri</vt:lpstr>
      <vt:lpstr>Arial Black</vt:lpstr>
      <vt:lpstr>Helvetica Neue</vt:lpstr>
      <vt:lpstr>Consolas</vt:lpstr>
      <vt:lpstr>Proxima Nova</vt:lpstr>
      <vt:lpstr>Courier New</vt:lpstr>
      <vt:lpstr>Helvetica Neue Light</vt:lpstr>
      <vt:lpstr>Template_StepUP</vt:lpstr>
      <vt:lpstr>Template_StepUP</vt:lpstr>
      <vt:lpstr>Template_StepUP</vt:lpstr>
      <vt:lpstr>White</vt:lpstr>
      <vt:lpstr>Тема Office</vt:lpstr>
      <vt:lpstr>ЛОГИЧЕСКОЕ УСТРОЙСТВО. БАЗЫ ДАННЫХ И СХЕМЫ</vt:lpstr>
      <vt:lpstr>ЦЕЛЬ УРОКА</vt:lpstr>
      <vt:lpstr>СОДЕРЖАНИЕ УРОКА</vt:lpstr>
      <vt:lpstr>ЛОГИЧЕСКОЕ УСТРОЙСТВО POSTGRESQL</vt:lpstr>
      <vt:lpstr>DATABASE</vt:lpstr>
      <vt:lpstr>TEMPLATE0</vt:lpstr>
      <vt:lpstr>POSTGRES</vt:lpstr>
      <vt:lpstr>ШАБЛОНЫ БД</vt:lpstr>
      <vt:lpstr>CREATE DATABASE</vt:lpstr>
      <vt:lpstr>CREATE SCHEMA</vt:lpstr>
      <vt:lpstr>CREATE TABLE</vt:lpstr>
      <vt:lpstr>ВИДЫ ОТНОШЕНИЙ В БД</vt:lpstr>
      <vt:lpstr>ИТОГИ ЗАНЯТИЯ</vt:lpstr>
      <vt:lpstr>Презентация PowerPoint</vt:lpstr>
      <vt:lpstr>ЗАДАНИЕ НА САМОПРОВЕРКУ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ЛОГИЧЕСКОЕ УСТРОЙСТВО. БАЗЫ ДАННЫХ И СХЕМЫ</dc:title>
  <cp:lastModifiedBy>Бондарь Илья Викторович</cp:lastModifiedBy>
  <cp:revision>1</cp:revision>
  <dcterms:modified xsi:type="dcterms:W3CDTF">2025-12-27T14:33:30Z</dcterms:modified>
</cp:coreProperties>
</file>