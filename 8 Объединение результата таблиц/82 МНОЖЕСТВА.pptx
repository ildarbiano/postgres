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13"/>
  </p:notesMasterIdLst>
  <p:sldIdLst>
    <p:sldId id="256" r:id="rId2"/>
    <p:sldId id="257" r:id="rId3"/>
    <p:sldId id="26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Arial Black" panose="020B0A04020102020204" pitchFamily="34" charset="0"/>
      <p:regular r:id="rId14"/>
      <p:bold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Helvetica Neue" panose="020B0604020202020204" charset="0"/>
      <p:regular r:id="rId20"/>
      <p:bold r:id="rId21"/>
      <p:italic r:id="rId22"/>
      <p:boldItalic r:id="rId23"/>
    </p:embeddedFont>
    <p:embeddedFont>
      <p:font typeface="Open Sans" panose="020B0606030504020204" pitchFamily="34" charset="0"/>
      <p:regular r:id="rId24"/>
      <p:bold r:id="rId25"/>
      <p:italic r:id="rId26"/>
      <p:boldItalic r:id="rId27"/>
    </p:embeddedFont>
    <p:embeddedFont>
      <p:font typeface="Proxima Nova" panose="020B0604020202020204" charset="0"/>
      <p:regular r:id="rId28"/>
      <p:bold r:id="rId29"/>
      <p:italic r:id="rId30"/>
      <p:boldItalic r:id="rId31"/>
    </p:embeddedFont>
  </p:embeddedFontLst>
  <p:custDataLst>
    <p:tags r:id="rId32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63">
          <p15:clr>
            <a:srgbClr val="A4A3A4"/>
          </p15:clr>
        </p15:guide>
        <p15:guide id="2" pos="1118">
          <p15:clr>
            <a:srgbClr val="A4A3A4"/>
          </p15:clr>
        </p15:guide>
        <p15:guide id="3" pos="7333">
          <p15:clr>
            <a:srgbClr val="A4A3A4"/>
          </p15:clr>
        </p15:guide>
        <p15:guide id="4" orient="horz" pos="278">
          <p15:clr>
            <a:srgbClr val="A4A3A4"/>
          </p15:clr>
        </p15:guide>
        <p15:guide id="5" orient="horz" pos="404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534" y="144"/>
      </p:cViewPr>
      <p:guideLst>
        <p:guide pos="3863"/>
        <p:guide pos="1118"/>
        <p:guide pos="7333"/>
        <p:guide orient="horz" pos="278"/>
        <p:guide orient="horz" pos="40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fdaf37af4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gfdaf37af43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gfdaf37af43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588049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422d59b049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g1422d59b049_0_1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8" name="Google Shape;158;g1422d59b049_0_1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42e7723348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g142e7723348_0_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142e7723348_0_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42e7723348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g142e7723348_0_1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5" name="Google Shape;205;g142e7723348_0_10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42e7723348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g142e7723348_0_1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g142e7723348_0_1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0" name="Google Shape;25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5" name="Google Shape;265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3e3b21b46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3" name="Google Shape;283;g13e3b21b463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4" name="Google Shape;284;g13e3b21b463_0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3" name="Google Shape;303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 1">
  <p:cSld name="Пустой слайд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 1">
  <p:cSld name="Заголовок и объект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677333" y="469564"/>
            <a:ext cx="90621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Open Sans"/>
              <a:buNone/>
              <a:defRPr sz="3600">
                <a:solidFill>
                  <a:schemeClr val="accent2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body" idx="1"/>
          </p:nvPr>
        </p:nvSpPr>
        <p:spPr>
          <a:xfrm>
            <a:off x="677334" y="1722475"/>
            <a:ext cx="8596800" cy="43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2000" b="0"/>
            </a:lvl1pPr>
            <a:lvl2pPr marL="914400" lvl="1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2pPr>
            <a:lvl3pPr marL="1371600" lvl="2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3pPr>
            <a:lvl4pPr marL="1828800" lvl="3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4pPr>
            <a:lvl5pPr marL="2286000" lvl="4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5pPr>
            <a:lvl6pPr marL="2743200" lvl="5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6pPr>
            <a:lvl7pPr marL="3200400" lvl="6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7pPr>
            <a:lvl8pPr marL="3657600" lvl="7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8pPr>
            <a:lvl9pPr marL="4114800" lvl="8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2.jp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7.png"/><Relationship Id="rId11" Type="http://schemas.openxmlformats.org/officeDocument/2006/relationships/image" Target="../media/image14.png"/><Relationship Id="rId5" Type="http://schemas.openxmlformats.org/officeDocument/2006/relationships/image" Target="../media/image5.png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0.png"/><Relationship Id="rId12" Type="http://schemas.openxmlformats.org/officeDocument/2006/relationships/hyperlink" Target="https://www.db-fiddle.com/f/qPC43WyZwSJT83EbgLApz7/3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7.png"/><Relationship Id="rId11" Type="http://schemas.openxmlformats.org/officeDocument/2006/relationships/hyperlink" Target="https://www.db-fiddle.com/f/qPC43WyZwSJT83EbgLApz7/2" TargetMode="External"/><Relationship Id="rId5" Type="http://schemas.openxmlformats.org/officeDocument/2006/relationships/image" Target="../media/image5.png"/><Relationship Id="rId10" Type="http://schemas.openxmlformats.org/officeDocument/2006/relationships/hyperlink" Target="https://www.db-fiddle.com/f/qPC43WyZwSJT83EbgLApz7/0" TargetMode="External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7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7.png"/><Relationship Id="rId11" Type="http://schemas.openxmlformats.org/officeDocument/2006/relationships/hyperlink" Target="https://www.db-fiddle.com/f/nT6dgVyFoYmXN7N5aZ67eZ/0" TargetMode="External"/><Relationship Id="rId5" Type="http://schemas.openxmlformats.org/officeDocument/2006/relationships/image" Target="../media/image5.png"/><Relationship Id="rId10" Type="http://schemas.openxmlformats.org/officeDocument/2006/relationships/hyperlink" Target="https://www.db-fiddle.com/f/qPC43WyZwSJT83EbgLApz7/0" TargetMode="External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10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6" descr="Shape, circle, rectang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 descr="Shape, circle, rectang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99951" y="52514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6" descr="Shape, circ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02549" y="3640932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" name="Google Shape;97;p16"/>
          <p:cNvGrpSpPr/>
          <p:nvPr/>
        </p:nvGrpSpPr>
        <p:grpSpPr>
          <a:xfrm>
            <a:off x="0" y="0"/>
            <a:ext cx="12202649" cy="6858000"/>
            <a:chOff x="0" y="0"/>
            <a:chExt cx="24405297" cy="13716000"/>
          </a:xfrm>
        </p:grpSpPr>
        <p:sp>
          <p:nvSpPr>
            <p:cNvPr id="98" name="Google Shape;98;p16"/>
            <p:cNvSpPr/>
            <p:nvPr/>
          </p:nvSpPr>
          <p:spPr>
            <a:xfrm>
              <a:off x="0" y="6670450"/>
              <a:ext cx="24382799" cy="375100"/>
            </a:xfrm>
            <a:prstGeom prst="rect">
              <a:avLst/>
            </a:prstGeom>
            <a:solidFill>
              <a:srgbClr val="170095"/>
            </a:solidFill>
            <a:ln>
              <a:noFill/>
            </a:ln>
          </p:spPr>
          <p:txBody>
            <a:bodyPr spcFirstLastPara="1" wrap="square" lIns="35700" tIns="35700" rIns="35700" bIns="3570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endParaRPr sz="75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99" name="Google Shape;99;p16" descr="Logo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1728929" y="834956"/>
              <a:ext cx="2146300" cy="146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16" descr="A picture containing shape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 rot="10800000">
              <a:off x="0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16" descr="Background pattern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7953697" y="7264400"/>
              <a:ext cx="6451600" cy="6451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3" name="Google Shape;103;p16"/>
          <p:cNvGrpSpPr/>
          <p:nvPr/>
        </p:nvGrpSpPr>
        <p:grpSpPr>
          <a:xfrm>
            <a:off x="8992643" y="6057900"/>
            <a:ext cx="800100" cy="800100"/>
            <a:chOff x="18033834" y="12096001"/>
            <a:chExt cx="1600200" cy="1600200"/>
          </a:xfrm>
        </p:grpSpPr>
        <p:pic>
          <p:nvPicPr>
            <p:cNvPr id="104" name="Google Shape;104;p16" descr="Shape, circle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8033834" y="12096001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16"/>
            <p:cNvSpPr txBox="1"/>
            <p:nvPr/>
          </p:nvSpPr>
          <p:spPr>
            <a:xfrm>
              <a:off x="18117946" y="12522493"/>
              <a:ext cx="1511670" cy="7290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00" tIns="35700" rIns="35700" bIns="3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ru-RU" sz="1900" b="0" i="0" u="none" strike="noStrike" cap="none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begin</a:t>
              </a:r>
              <a:endParaRPr sz="1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id="106" name="Google Shape;106;p16" descr="Shape, circle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599431" y="44513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6" descr="Shape, circle&#10;&#10;Description automatically generated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412708" y="6051550"/>
            <a:ext cx="8001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81;p1">
            <a:extLst>
              <a:ext uri="{FF2B5EF4-FFF2-40B4-BE49-F238E27FC236}">
                <a16:creationId xmlns:a16="http://schemas.microsoft.com/office/drawing/2014/main" id="{E8577511-E022-4EFB-B83E-E254CD979BCB}"/>
              </a:ext>
            </a:extLst>
          </p:cNvPr>
          <p:cNvSpPr txBox="1">
            <a:spLocks/>
          </p:cNvSpPr>
          <p:nvPr/>
        </p:nvSpPr>
        <p:spPr>
          <a:xfrm>
            <a:off x="1622193" y="2602552"/>
            <a:ext cx="6899765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marL="9144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2pPr>
            <a:lvl3pPr marL="13716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3pPr>
            <a:lvl4pPr marL="18288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4pPr>
            <a:lvl5pPr marL="22860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5pPr>
            <a:lvl6pPr marL="2743200" indent="-431164">
              <a:spcBef>
                <a:spcPts val="2950"/>
              </a:spcBef>
              <a:buSzPts val="3190"/>
              <a:buChar char="•"/>
              <a:defRPr sz="2200"/>
            </a:lvl6pPr>
            <a:lvl7pPr marL="3200400" indent="-431164">
              <a:spcBef>
                <a:spcPts val="2950"/>
              </a:spcBef>
              <a:buSzPts val="3190"/>
              <a:buChar char="•"/>
              <a:defRPr sz="2200"/>
            </a:lvl7pPr>
            <a:lvl8pPr marL="3657600" indent="-431164">
              <a:spcBef>
                <a:spcPts val="2950"/>
              </a:spcBef>
              <a:buSzPts val="3190"/>
              <a:buChar char="•"/>
              <a:defRPr sz="2200"/>
            </a:lvl8pPr>
            <a:lvl9pPr marL="4114800" indent="-431165">
              <a:spcBef>
                <a:spcPts val="2950"/>
              </a:spcBef>
              <a:buSzPts val="3190"/>
              <a:buChar char="•"/>
              <a:defRPr sz="2200"/>
            </a:lvl9pPr>
          </a:lstStyle>
          <a:p>
            <a:r>
              <a:rPr lang="ru-RU" dirty="0"/>
              <a:t>БЛОК 9. </a:t>
            </a:r>
            <a:r>
              <a:rPr lang="ru-RU" sz="2800" dirty="0"/>
              <a:t>РАЗЛИЧНЫЕ ВИДЫ ДЖОЙНОВ. ПРИМЕНЕНИЕ И ОПТИМИЗАЦИЯ</a:t>
            </a:r>
          </a:p>
          <a:p>
            <a:endParaRPr lang="ru-RU" dirty="0"/>
          </a:p>
        </p:txBody>
      </p:sp>
      <p:sp>
        <p:nvSpPr>
          <p:cNvPr id="18" name="Google Shape;82;p1">
            <a:extLst>
              <a:ext uri="{FF2B5EF4-FFF2-40B4-BE49-F238E27FC236}">
                <a16:creationId xmlns:a16="http://schemas.microsoft.com/office/drawing/2014/main" id="{66B3E2DF-0635-4A52-82AE-9702FB268C46}"/>
              </a:ext>
            </a:extLst>
          </p:cNvPr>
          <p:cNvSpPr txBox="1">
            <a:spLocks/>
          </p:cNvSpPr>
          <p:nvPr/>
        </p:nvSpPr>
        <p:spPr>
          <a:xfrm>
            <a:off x="1609724" y="3613832"/>
            <a:ext cx="8358240" cy="706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85000"/>
              </a:lnSpc>
              <a:buClr>
                <a:schemeClr val="lt1"/>
              </a:buClr>
              <a:buSzPts val="5400"/>
              <a:buFont typeface="Arial Black"/>
              <a:buNone/>
              <a:defRPr sz="54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r>
              <a:rPr lang="ru-RU" dirty="0"/>
              <a:t>МНОЖЕСТВА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/>
          <p:nvPr/>
        </p:nvSpPr>
        <p:spPr>
          <a:xfrm>
            <a:off x="1661148" y="391475"/>
            <a:ext cx="18453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2500" b="1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ЦЕЛЬ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11442668" y="6193270"/>
            <a:ext cx="27764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17"/>
          <p:cNvGrpSpPr/>
          <p:nvPr/>
        </p:nvGrpSpPr>
        <p:grpSpPr>
          <a:xfrm>
            <a:off x="0" y="0"/>
            <a:ext cx="1501503" cy="1501503"/>
            <a:chOff x="22497" y="0"/>
            <a:chExt cx="3238500" cy="3238500"/>
          </a:xfrm>
        </p:grpSpPr>
        <p:pic>
          <p:nvPicPr>
            <p:cNvPr id="119" name="Google Shape;119;p17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7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2" name="Google Shape;122;p17"/>
          <p:cNvGrpSpPr/>
          <p:nvPr/>
        </p:nvGrpSpPr>
        <p:grpSpPr>
          <a:xfrm>
            <a:off x="9945440" y="4637973"/>
            <a:ext cx="2246560" cy="2246816"/>
            <a:chOff x="19553897" y="8864600"/>
            <a:chExt cx="4851400" cy="4851952"/>
          </a:xfrm>
        </p:grpSpPr>
        <p:pic>
          <p:nvPicPr>
            <p:cNvPr id="123" name="Google Shape;123;p17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" name="Google Shape;124;p17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17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6" name="Google Shape;126;p17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27" name="Google Shape;127;p17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8" name="Google Shape;128;p17"/>
              <p:cNvSpPr txBox="1"/>
              <p:nvPr/>
            </p:nvSpPr>
            <p:spPr>
              <a:xfrm>
                <a:off x="21231326" y="12448438"/>
                <a:ext cx="1511670" cy="976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29" name="Google Shape;129;p1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82;p2">
            <a:extLst>
              <a:ext uri="{FF2B5EF4-FFF2-40B4-BE49-F238E27FC236}">
                <a16:creationId xmlns:a16="http://schemas.microsoft.com/office/drawing/2014/main" id="{0FDC39EA-CC1A-412F-8910-46B333B923A7}"/>
              </a:ext>
            </a:extLst>
          </p:cNvPr>
          <p:cNvSpPr/>
          <p:nvPr/>
        </p:nvSpPr>
        <p:spPr>
          <a:xfrm>
            <a:off x="1763395" y="2441804"/>
            <a:ext cx="4158300" cy="1822800"/>
          </a:xfrm>
          <a:prstGeom prst="roundRect">
            <a:avLst>
              <a:gd name="adj" fmla="val 7748"/>
            </a:avLst>
          </a:prstGeom>
          <a:solidFill>
            <a:srgbClr val="CEE6FF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Понять, какие существуют виды операций над множествами, их назначение</a:t>
            </a:r>
          </a:p>
        </p:txBody>
      </p:sp>
      <p:sp>
        <p:nvSpPr>
          <p:cNvPr id="21" name="Google Shape;283;p2">
            <a:extLst>
              <a:ext uri="{FF2B5EF4-FFF2-40B4-BE49-F238E27FC236}">
                <a16:creationId xmlns:a16="http://schemas.microsoft.com/office/drawing/2014/main" id="{60CEAAC7-7D36-4743-A188-179CBDBC7419}"/>
              </a:ext>
            </a:extLst>
          </p:cNvPr>
          <p:cNvSpPr/>
          <p:nvPr/>
        </p:nvSpPr>
        <p:spPr>
          <a:xfrm>
            <a:off x="6270305" y="2441815"/>
            <a:ext cx="4158300" cy="1822800"/>
          </a:xfrm>
          <a:prstGeom prst="roundRect">
            <a:avLst>
              <a:gd name="adj" fmla="val 6634"/>
            </a:avLst>
          </a:prstGeom>
          <a:solidFill>
            <a:srgbClr val="CCF3E9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Использовать на практике объединения множеств</a:t>
            </a:r>
          </a:p>
        </p:txBody>
      </p:sp>
      <p:sp>
        <p:nvSpPr>
          <p:cNvPr id="22" name="Google Shape;288;p2">
            <a:extLst>
              <a:ext uri="{FF2B5EF4-FFF2-40B4-BE49-F238E27FC236}">
                <a16:creationId xmlns:a16="http://schemas.microsoft.com/office/drawing/2014/main" id="{DF533BFF-19E8-42C2-B1D6-58EFDABD0CFA}"/>
              </a:ext>
            </a:extLst>
          </p:cNvPr>
          <p:cNvSpPr/>
          <p:nvPr/>
        </p:nvSpPr>
        <p:spPr>
          <a:xfrm>
            <a:off x="1946275" y="2546422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" name="Google Shape;289;p2">
            <a:extLst>
              <a:ext uri="{FF2B5EF4-FFF2-40B4-BE49-F238E27FC236}">
                <a16:creationId xmlns:a16="http://schemas.microsoft.com/office/drawing/2014/main" id="{F3A18168-C007-48D3-8A28-BF4DAC8430CE}"/>
              </a:ext>
            </a:extLst>
          </p:cNvPr>
          <p:cNvSpPr/>
          <p:nvPr/>
        </p:nvSpPr>
        <p:spPr>
          <a:xfrm>
            <a:off x="6453190" y="2546422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CC596"/>
                </a:solidFill>
                <a:sym typeface="Arial"/>
              </a:rPr>
              <a:t>02</a:t>
            </a:r>
            <a:endParaRPr sz="1500" b="0" i="0" u="none" strike="noStrike" cap="none" dirty="0">
              <a:solidFill>
                <a:srgbClr val="0CC59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1651000" y="336950"/>
            <a:ext cx="87024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СОДЕРЖАНИЕ УРОКА</a:t>
            </a:r>
            <a:endParaRPr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139" name="Google Shape;139;p18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40" name="Google Shape;140;p18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18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2" name="Google Shape;142;p18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43" name="Google Shape;143;p18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18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18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6" name="Google Shape;146;p18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47" name="Google Shape;147;p18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8" name="Google Shape;148;p18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3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49" name="Google Shape;149;p1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101;p3">
            <a:extLst>
              <a:ext uri="{FF2B5EF4-FFF2-40B4-BE49-F238E27FC236}">
                <a16:creationId xmlns:a16="http://schemas.microsoft.com/office/drawing/2014/main" id="{34AECDED-030A-4FC1-9C99-9B50B59E658E}"/>
              </a:ext>
            </a:extLst>
          </p:cNvPr>
          <p:cNvSpPr/>
          <p:nvPr/>
        </p:nvSpPr>
        <p:spPr>
          <a:xfrm>
            <a:off x="2863612" y="3517449"/>
            <a:ext cx="31455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Виды операций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102;p3">
            <a:extLst>
              <a:ext uri="{FF2B5EF4-FFF2-40B4-BE49-F238E27FC236}">
                <a16:creationId xmlns:a16="http://schemas.microsoft.com/office/drawing/2014/main" id="{C2EFCE7E-6D77-4EA6-AAA9-EDEAA8FFFF0E}"/>
              </a:ext>
            </a:extLst>
          </p:cNvPr>
          <p:cNvSpPr/>
          <p:nvPr/>
        </p:nvSpPr>
        <p:spPr>
          <a:xfrm>
            <a:off x="2863612" y="4955105"/>
            <a:ext cx="20645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chemeClr val="dk1"/>
              </a:buClr>
              <a:buSzPts val="2000"/>
            </a:pPr>
            <a:r>
              <a:rPr lang="ru-RU" sz="2000" dirty="0">
                <a:solidFill>
                  <a:schemeClr val="dk1"/>
                </a:solidFill>
              </a:rPr>
              <a:t>Практика</a:t>
            </a:r>
            <a:endParaRPr sz="4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103;p3">
            <a:extLst>
              <a:ext uri="{FF2B5EF4-FFF2-40B4-BE49-F238E27FC236}">
                <a16:creationId xmlns:a16="http://schemas.microsoft.com/office/drawing/2014/main" id="{05168BBF-5DA6-4FF0-A5AA-C6F95938FDF4}"/>
              </a:ext>
            </a:extLst>
          </p:cNvPr>
          <p:cNvSpPr/>
          <p:nvPr/>
        </p:nvSpPr>
        <p:spPr>
          <a:xfrm>
            <a:off x="1719852" y="1797011"/>
            <a:ext cx="876674" cy="876674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" name="Google Shape;104;p3">
            <a:extLst>
              <a:ext uri="{FF2B5EF4-FFF2-40B4-BE49-F238E27FC236}">
                <a16:creationId xmlns:a16="http://schemas.microsoft.com/office/drawing/2014/main" id="{740BEDE6-E1D4-4F07-9AF3-15E108F0D3F6}"/>
              </a:ext>
            </a:extLst>
          </p:cNvPr>
          <p:cNvSpPr/>
          <p:nvPr/>
        </p:nvSpPr>
        <p:spPr>
          <a:xfrm>
            <a:off x="1719852" y="3233001"/>
            <a:ext cx="876674" cy="876674"/>
          </a:xfrm>
          <a:prstGeom prst="ellipse">
            <a:avLst/>
          </a:prstGeom>
          <a:solidFill>
            <a:srgbClr val="CCF3E9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0C391"/>
                </a:solidFill>
                <a:sym typeface="Arial"/>
              </a:rPr>
              <a:t>2</a:t>
            </a:r>
            <a:endParaRPr sz="1500" b="0" i="0" u="none" strike="noStrike" cap="none" dirty="0">
              <a:solidFill>
                <a:srgbClr val="00C3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" name="Google Shape;105;p3">
            <a:extLst>
              <a:ext uri="{FF2B5EF4-FFF2-40B4-BE49-F238E27FC236}">
                <a16:creationId xmlns:a16="http://schemas.microsoft.com/office/drawing/2014/main" id="{D2F4866A-C14B-40E6-8D74-C0B576879D45}"/>
              </a:ext>
            </a:extLst>
          </p:cNvPr>
          <p:cNvSpPr/>
          <p:nvPr/>
        </p:nvSpPr>
        <p:spPr>
          <a:xfrm>
            <a:off x="1719852" y="4668990"/>
            <a:ext cx="876674" cy="876674"/>
          </a:xfrm>
          <a:prstGeom prst="ellipse">
            <a:avLst/>
          </a:prstGeom>
          <a:solidFill>
            <a:srgbClr val="E5E0F6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836ED3"/>
                </a:solidFill>
                <a:sym typeface="Arial"/>
              </a:rPr>
              <a:t>3</a:t>
            </a:r>
            <a:endParaRPr sz="1500" b="0" i="0" u="none" strike="noStrike" cap="none" dirty="0">
              <a:solidFill>
                <a:srgbClr val="836ED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" name="Google Shape;106;p3">
            <a:extLst>
              <a:ext uri="{FF2B5EF4-FFF2-40B4-BE49-F238E27FC236}">
                <a16:creationId xmlns:a16="http://schemas.microsoft.com/office/drawing/2014/main" id="{3D12C209-586E-4602-8DBD-8D0686BA152F}"/>
              </a:ext>
            </a:extLst>
          </p:cNvPr>
          <p:cNvSpPr txBox="1"/>
          <p:nvPr/>
        </p:nvSpPr>
        <p:spPr>
          <a:xfrm>
            <a:off x="2863612" y="2079793"/>
            <a:ext cx="322217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dirty="0">
                <a:solidFill>
                  <a:schemeClr val="dk1"/>
                </a:solidFill>
              </a:rPr>
              <a:t>Множества</a:t>
            </a:r>
            <a:endParaRPr sz="4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" name="Google Shape;107;p3">
            <a:extLst>
              <a:ext uri="{FF2B5EF4-FFF2-40B4-BE49-F238E27FC236}">
                <a16:creationId xmlns:a16="http://schemas.microsoft.com/office/drawing/2014/main" id="{2DB68F12-CB1C-4AF9-81E4-6629C1BF1D1A}"/>
              </a:ext>
            </a:extLst>
          </p:cNvPr>
          <p:cNvCxnSpPr/>
          <p:nvPr/>
        </p:nvCxnSpPr>
        <p:spPr>
          <a:xfrm rot="10800000">
            <a:off x="2158189" y="2770917"/>
            <a:ext cx="0" cy="384265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" name="Google Shape;108;p3">
            <a:extLst>
              <a:ext uri="{FF2B5EF4-FFF2-40B4-BE49-F238E27FC236}">
                <a16:creationId xmlns:a16="http://schemas.microsoft.com/office/drawing/2014/main" id="{7BC8B12A-7272-4708-AF14-2A2C44023AD5}"/>
              </a:ext>
            </a:extLst>
          </p:cNvPr>
          <p:cNvCxnSpPr/>
          <p:nvPr/>
        </p:nvCxnSpPr>
        <p:spPr>
          <a:xfrm rot="10800000">
            <a:off x="2158189" y="4209909"/>
            <a:ext cx="0" cy="384265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354;p41">
            <a:extLst>
              <a:ext uri="{FF2B5EF4-FFF2-40B4-BE49-F238E27FC236}">
                <a16:creationId xmlns:a16="http://schemas.microsoft.com/office/drawing/2014/main" id="{B077CB22-D96F-43AD-B8BA-35C12E5D02D0}"/>
              </a:ext>
            </a:extLst>
          </p:cNvPr>
          <p:cNvSpPr/>
          <p:nvPr/>
        </p:nvSpPr>
        <p:spPr>
          <a:xfrm>
            <a:off x="6632052" y="1361364"/>
            <a:ext cx="3643200" cy="4461900"/>
          </a:xfrm>
          <a:prstGeom prst="roundRect">
            <a:avLst>
              <a:gd name="adj" fmla="val 5294"/>
            </a:avLst>
          </a:pr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31592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" name="Google Shape;161;p19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62" name="Google Shape;162;p19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19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4" name="Google Shape;164;p19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65" name="Google Shape;165;p19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19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9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8" name="Google Shape;168;p19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69" name="Google Shape;169;p19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0" name="Google Shape;170;p19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4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71" name="Google Shape;171;p1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1689100" y="359176"/>
            <a:ext cx="5812712" cy="77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5000"/>
              </a:lnSpc>
              <a:buClr>
                <a:schemeClr val="dk1"/>
              </a:buClr>
              <a:buSzPts val="1400"/>
              <a:buNone/>
              <a:defRPr sz="2500">
                <a:solidFill>
                  <a:srgbClr val="030124"/>
                </a:solidFill>
                <a:latin typeface="Arial Black"/>
                <a:ea typeface="Arial Black"/>
                <a:cs typeface="Arial Black"/>
              </a:defRPr>
            </a:lvl1pPr>
          </a:lstStyle>
          <a:p>
            <a:r>
              <a:rPr lang="ru-RU" dirty="0">
                <a:sym typeface="Avenir"/>
              </a:rPr>
              <a:t>МНОЖЕСТВА ИЛИ СОЧЕТАНИЯ ЗАПРОСОВ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05CE09A-61D0-4BFA-B6D4-009BC75B6C98}"/>
              </a:ext>
            </a:extLst>
          </p:cNvPr>
          <p:cNvSpPr/>
          <p:nvPr/>
        </p:nvSpPr>
        <p:spPr>
          <a:xfrm>
            <a:off x="1689100" y="1634590"/>
            <a:ext cx="8922916" cy="1071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Bef>
                <a:spcPts val="1200"/>
              </a:spcBef>
            </a:pPr>
            <a:r>
              <a:rPr lang="ru-RU" sz="1600" dirty="0">
                <a:solidFill>
                  <a:schemeClr val="dk1"/>
                </a:solidFill>
              </a:rPr>
              <a:t>Результаты двух запросов можно обработать, используя операции над множествами: </a:t>
            </a:r>
            <a:r>
              <a:rPr lang="ru-RU" sz="1600" b="1" dirty="0">
                <a:solidFill>
                  <a:schemeClr val="dk1"/>
                </a:solidFill>
              </a:rPr>
              <a:t>объединение, пересечение и вычитание. </a:t>
            </a:r>
          </a:p>
          <a:p>
            <a:pPr lvl="0">
              <a:lnSpc>
                <a:spcPct val="115000"/>
              </a:lnSpc>
              <a:spcBef>
                <a:spcPts val="1200"/>
              </a:spcBef>
            </a:pPr>
            <a:r>
              <a:rPr lang="ru-RU" sz="1600" dirty="0">
                <a:solidFill>
                  <a:schemeClr val="dk1"/>
                </a:solidFill>
              </a:rPr>
              <a:t>Эти операции записываются соответственно так: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F6884C1-559F-48F6-9CAF-D27EA9DC13B7}"/>
              </a:ext>
            </a:extLst>
          </p:cNvPr>
          <p:cNvSpPr/>
          <p:nvPr/>
        </p:nvSpPr>
        <p:spPr>
          <a:xfrm>
            <a:off x="1689100" y="2855510"/>
            <a:ext cx="6096000" cy="892552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spcBef>
                <a:spcPts val="600"/>
              </a:spcBef>
            </a:pPr>
            <a:r>
              <a:rPr lang="ru-RU" dirty="0">
                <a:solidFill>
                  <a:schemeClr val="dk1"/>
                </a:solidFill>
              </a:rPr>
              <a:t>запрос1 </a:t>
            </a:r>
            <a:r>
              <a:rPr lang="en-US" dirty="0">
                <a:solidFill>
                  <a:schemeClr val="dk1"/>
                </a:solidFill>
              </a:rPr>
              <a:t>UNION [ALL] </a:t>
            </a:r>
            <a:r>
              <a:rPr lang="ru-RU" dirty="0">
                <a:solidFill>
                  <a:schemeClr val="dk1"/>
                </a:solidFill>
              </a:rPr>
              <a:t>запрос2</a:t>
            </a:r>
          </a:p>
          <a:p>
            <a:pPr lvl="0">
              <a:spcBef>
                <a:spcPts val="600"/>
              </a:spcBef>
            </a:pPr>
            <a:r>
              <a:rPr lang="ru-RU" dirty="0">
                <a:solidFill>
                  <a:schemeClr val="dk1"/>
                </a:solidFill>
              </a:rPr>
              <a:t>запрос1 </a:t>
            </a:r>
            <a:r>
              <a:rPr lang="en-US" dirty="0">
                <a:solidFill>
                  <a:schemeClr val="dk1"/>
                </a:solidFill>
              </a:rPr>
              <a:t>INTERSECT [ALL] </a:t>
            </a:r>
            <a:r>
              <a:rPr lang="ru-RU" dirty="0">
                <a:solidFill>
                  <a:schemeClr val="dk1"/>
                </a:solidFill>
              </a:rPr>
              <a:t>запрос2</a:t>
            </a:r>
          </a:p>
          <a:p>
            <a:pPr lvl="0">
              <a:spcBef>
                <a:spcPts val="600"/>
              </a:spcBef>
            </a:pPr>
            <a:r>
              <a:rPr lang="ru-RU" dirty="0">
                <a:solidFill>
                  <a:schemeClr val="dk1"/>
                </a:solidFill>
              </a:rPr>
              <a:t>запрос1 </a:t>
            </a:r>
            <a:r>
              <a:rPr lang="en-US" dirty="0">
                <a:solidFill>
                  <a:schemeClr val="dk1"/>
                </a:solidFill>
              </a:rPr>
              <a:t>EXCEPT [ALL] </a:t>
            </a:r>
            <a:r>
              <a:rPr lang="ru-RU" dirty="0">
                <a:solidFill>
                  <a:schemeClr val="dk1"/>
                </a:solidFill>
              </a:rPr>
              <a:t>запрос2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4B26D7-658A-4758-898A-20971BCE8C11}"/>
              </a:ext>
            </a:extLst>
          </p:cNvPr>
          <p:cNvSpPr txBox="1"/>
          <p:nvPr/>
        </p:nvSpPr>
        <p:spPr>
          <a:xfrm>
            <a:off x="1689099" y="4485345"/>
            <a:ext cx="7318051" cy="917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15000"/>
              </a:lnSpc>
              <a:spcBef>
                <a:spcPts val="1200"/>
              </a:spcBef>
            </a:pPr>
            <a:r>
              <a:rPr lang="ru-RU" sz="1600" dirty="0">
                <a:solidFill>
                  <a:schemeClr val="dk1"/>
                </a:solidFill>
              </a:rPr>
              <a:t>Здесь </a:t>
            </a:r>
            <a:r>
              <a:rPr lang="ru-RU" sz="1600" b="1" dirty="0">
                <a:solidFill>
                  <a:schemeClr val="dk1"/>
                </a:solidFill>
              </a:rPr>
              <a:t>запрос1</a:t>
            </a:r>
            <a:r>
              <a:rPr lang="ru-RU" sz="1600" dirty="0">
                <a:solidFill>
                  <a:schemeClr val="dk1"/>
                </a:solidFill>
              </a:rPr>
              <a:t> и </a:t>
            </a:r>
            <a:r>
              <a:rPr lang="ru-RU" sz="1600" b="1" dirty="0">
                <a:solidFill>
                  <a:schemeClr val="dk1"/>
                </a:solidFill>
              </a:rPr>
              <a:t>запрос2</a:t>
            </a:r>
            <a:r>
              <a:rPr lang="ru-RU" sz="1600" dirty="0">
                <a:solidFill>
                  <a:schemeClr val="dk1"/>
                </a:solidFill>
              </a:rPr>
              <a:t> — это запросы, в которых могут использоваться все возможности, рассмотренные до этого (выборки нужных полей, условия, </a:t>
            </a:r>
            <a:r>
              <a:rPr lang="ru-RU" sz="1600" dirty="0" err="1">
                <a:solidFill>
                  <a:schemeClr val="dk1"/>
                </a:solidFill>
              </a:rPr>
              <a:t>обьединения</a:t>
            </a:r>
            <a:r>
              <a:rPr lang="ru-RU" sz="1600" dirty="0">
                <a:solidFill>
                  <a:schemeClr val="dk1"/>
                </a:solidFill>
              </a:rPr>
              <a:t> и т.д.)</a:t>
            </a:r>
          </a:p>
        </p:txBody>
      </p:sp>
      <p:cxnSp>
        <p:nvCxnSpPr>
          <p:cNvPr id="21" name="Google Shape;163;p7">
            <a:extLst>
              <a:ext uri="{FF2B5EF4-FFF2-40B4-BE49-F238E27FC236}">
                <a16:creationId xmlns:a16="http://schemas.microsoft.com/office/drawing/2014/main" id="{3F294148-3EC4-459A-B60B-04A074F5F2F0}"/>
              </a:ext>
            </a:extLst>
          </p:cNvPr>
          <p:cNvCxnSpPr/>
          <p:nvPr/>
        </p:nvCxnSpPr>
        <p:spPr>
          <a:xfrm>
            <a:off x="1774825" y="4145641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2" name="Google Shape;182;p20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83" name="Google Shape;183;p20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" name="Google Shape;184;p20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5" name="Google Shape;185;p20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86" name="Google Shape;186;p20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20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20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9" name="Google Shape;189;p20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90" name="Google Shape;190;p20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1" name="Google Shape;191;p20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5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92" name="Google Shape;192;p2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1660849" y="359177"/>
            <a:ext cx="6805128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lnSpc>
                <a:spcPct val="95000"/>
              </a:lnSpc>
              <a:buClr>
                <a:schemeClr val="dk1"/>
              </a:buClr>
              <a:buSzPts val="1400"/>
              <a:buNone/>
              <a:defRPr sz="2500">
                <a:solidFill>
                  <a:srgbClr val="030124"/>
                </a:solidFill>
                <a:latin typeface="Arial Black"/>
                <a:ea typeface="Arial Black"/>
                <a:cs typeface="Arial Black"/>
              </a:defRPr>
            </a:lvl1pPr>
          </a:lstStyle>
          <a:p>
            <a:r>
              <a:rPr lang="ru-RU" dirty="0">
                <a:sym typeface="Avenir"/>
              </a:rPr>
              <a:t>ОПЕРАЦИИ НАД МНОЖЕСТВАМИ</a:t>
            </a:r>
          </a:p>
        </p:txBody>
      </p:sp>
      <p:pic>
        <p:nvPicPr>
          <p:cNvPr id="196" name="Google Shape;196;p20" descr="PostgreSQL EXCEPT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63234" y="4103586"/>
            <a:ext cx="2924175" cy="1924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063234" y="1492538"/>
            <a:ext cx="2899629" cy="211569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/>
        </p:nvSpPr>
        <p:spPr>
          <a:xfrm>
            <a:off x="1718865" y="1396309"/>
            <a:ext cx="3512498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 dirty="0">
                <a:solidFill>
                  <a:srgbClr val="000000"/>
                </a:solidFill>
              </a:rPr>
              <a:t>Объедин</a:t>
            </a:r>
            <a:r>
              <a:rPr lang="ru-RU" b="1" dirty="0"/>
              <a:t>ение</a:t>
            </a:r>
          </a:p>
          <a:p>
            <a:pPr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 dirty="0">
              <a:solidFill>
                <a:srgbClr val="000000"/>
              </a:solidFill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Можно объединять результаты двух запросов (таблиц) и более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 выходе будут возвращены строки из всех множеств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Можно исключать дубликаты (убрав ключевое слово ALL)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8912489" y="1729225"/>
            <a:ext cx="2011800" cy="13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&lt;</a:t>
            </a:r>
            <a:r>
              <a:rPr lang="ru-RU" sz="1400" b="0" i="0" u="none" strike="noStrike" cap="none" dirty="0" err="1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target</a:t>
            </a:r>
            <a:r>
              <a:rPr lang="ru-RU" sz="1400" b="0" i="0" u="none" strike="noStrike" cap="none" dirty="0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ru-RU" sz="1400" b="0" i="0" u="none" strike="noStrike" cap="none" dirty="0" err="1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list</a:t>
            </a:r>
            <a:r>
              <a:rPr lang="ru-RU" sz="1400" b="0" i="0" u="none" strike="noStrike" cap="none" dirty="0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&gt;</a:t>
            </a:r>
            <a:br>
              <a:rPr lang="ru-RU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400" b="0" i="0" u="none" strike="noStrike" cap="none" dirty="0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&lt;</a:t>
            </a:r>
            <a:r>
              <a:rPr lang="ru-RU" sz="1400" b="0" i="0" u="none" strike="noStrike" cap="none" dirty="0" err="1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table</a:t>
            </a:r>
            <a:r>
              <a:rPr lang="ru-RU" sz="1400" b="0" i="0" u="none" strike="noStrike" cap="none" dirty="0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&gt;</a:t>
            </a:r>
            <a:endParaRPr sz="1400" b="0" i="0" u="none" strike="noStrike" cap="none" dirty="0">
              <a:solidFill>
                <a:srgbClr val="22222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UNION [</a:t>
            </a:r>
            <a:r>
              <a:rPr lang="ru-RU" sz="1400" b="0" i="0" u="none" strike="noStrike" cap="none" dirty="0" err="1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ru-RU" sz="1400" b="0" i="0" u="none" strike="noStrike" cap="none" dirty="0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&lt;</a:t>
            </a:r>
            <a:r>
              <a:rPr lang="ru-RU" sz="1400" b="0" i="0" u="none" strike="noStrike" cap="none" dirty="0" err="1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target</a:t>
            </a:r>
            <a:r>
              <a:rPr lang="ru-RU" sz="1400" b="0" i="0" u="none" strike="noStrike" cap="none" dirty="0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ru-RU" sz="1400" b="0" i="0" u="none" strike="noStrike" cap="none" dirty="0" err="1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list</a:t>
            </a:r>
            <a:r>
              <a:rPr lang="ru-RU" sz="1400" b="0" i="0" u="none" strike="noStrike" cap="none" dirty="0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&gt;</a:t>
            </a:r>
            <a:br>
              <a:rPr lang="ru-RU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400" b="0" i="0" u="none" strike="noStrike" cap="none" dirty="0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&lt;table2&gt;</a:t>
            </a:r>
            <a:endParaRPr sz="1400" b="0" i="0" u="none" strike="noStrike" cap="none" dirty="0">
              <a:solidFill>
                <a:srgbClr val="22222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…</a:t>
            </a:r>
            <a:endParaRPr sz="1400" b="0" i="0" u="none" strike="noStrike" cap="none" dirty="0">
              <a:solidFill>
                <a:srgbClr val="22222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9011765" y="4373062"/>
            <a:ext cx="2011800" cy="13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&lt;</a:t>
            </a:r>
            <a:r>
              <a:rPr lang="ru-RU" sz="1400" b="0" i="0" u="none" strike="noStrike" cap="none" dirty="0" err="1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target</a:t>
            </a:r>
            <a:r>
              <a:rPr lang="ru-RU" sz="1400" b="0" i="0" u="none" strike="noStrike" cap="none" dirty="0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ru-RU" sz="1400" b="0" i="0" u="none" strike="noStrike" cap="none" dirty="0" err="1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list</a:t>
            </a:r>
            <a:r>
              <a:rPr lang="ru-RU" sz="1400" b="0" i="0" u="none" strike="noStrike" cap="none" dirty="0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&gt;</a:t>
            </a:r>
            <a:br>
              <a:rPr lang="ru-RU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400" b="0" i="0" u="none" strike="noStrike" cap="none" dirty="0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&lt;</a:t>
            </a:r>
            <a:r>
              <a:rPr lang="ru-RU" sz="1400" b="0" i="0" u="none" strike="noStrike" cap="none" dirty="0" err="1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table</a:t>
            </a:r>
            <a:r>
              <a:rPr lang="ru-RU" sz="1400" b="0" i="0" u="none" strike="noStrike" cap="none" dirty="0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&gt;</a:t>
            </a:r>
            <a:endParaRPr sz="1400" b="0" i="0" u="none" strike="noStrike" cap="none" dirty="0">
              <a:solidFill>
                <a:srgbClr val="22222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EXCEPT [</a:t>
            </a:r>
            <a:r>
              <a:rPr lang="ru-RU" sz="1400" b="0" i="0" u="none" strike="noStrike" cap="none" dirty="0" err="1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ru-RU" sz="1400" b="0" i="0" u="none" strike="noStrike" cap="none" dirty="0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&lt;</a:t>
            </a:r>
            <a:r>
              <a:rPr lang="ru-RU" sz="1400" b="0" i="0" u="none" strike="noStrike" cap="none" dirty="0" err="1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target</a:t>
            </a:r>
            <a:r>
              <a:rPr lang="ru-RU" sz="1400" b="0" i="0" u="none" strike="noStrike" cap="none" dirty="0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ru-RU" sz="1400" b="0" i="0" u="none" strike="noStrike" cap="none" dirty="0" err="1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list</a:t>
            </a:r>
            <a:r>
              <a:rPr lang="ru-RU" sz="1400" b="0" i="0" u="none" strike="noStrike" cap="none" dirty="0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&gt;</a:t>
            </a:r>
            <a:br>
              <a:rPr lang="ru-RU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400" b="0" i="0" u="none" strike="noStrike" cap="none" dirty="0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&lt;table2&gt;</a:t>
            </a:r>
            <a:endParaRPr sz="1400" b="0" i="0" u="none" strike="noStrike" cap="none" dirty="0">
              <a:solidFill>
                <a:srgbClr val="22222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…</a:t>
            </a:r>
            <a:endParaRPr sz="1400" b="0" i="0" u="none" strike="noStrike" cap="none" dirty="0">
              <a:solidFill>
                <a:srgbClr val="22222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1660849" y="4024292"/>
            <a:ext cx="4252727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 dirty="0">
                <a:solidFill>
                  <a:srgbClr val="000000"/>
                </a:solidFill>
              </a:rPr>
              <a:t>Исключ</a:t>
            </a:r>
            <a:r>
              <a:rPr lang="ru-RU" b="1" dirty="0"/>
              <a:t>ение</a:t>
            </a:r>
          </a:p>
          <a:p>
            <a:pPr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Можно исключить одно множество из другого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 выходе будут возвращены строки из верхнего множества, для которых не нашлось соответствия в другом множестве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Можно исключать дубликаты (убрав ключевое слово ALL)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" name="Google Shape;163;p7">
            <a:extLst>
              <a:ext uri="{FF2B5EF4-FFF2-40B4-BE49-F238E27FC236}">
                <a16:creationId xmlns:a16="http://schemas.microsoft.com/office/drawing/2014/main" id="{BB3F4AD1-7EAA-49E9-858D-A83339BE9E79}"/>
              </a:ext>
            </a:extLst>
          </p:cNvPr>
          <p:cNvCxnSpPr/>
          <p:nvPr/>
        </p:nvCxnSpPr>
        <p:spPr>
          <a:xfrm>
            <a:off x="1774825" y="3685331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8" name="Google Shape;208;p21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09" name="Google Shape;209;p21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21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1" name="Google Shape;211;p21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12" name="Google Shape;212;p21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" name="Google Shape;213;p21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4" name="Google Shape;214;p21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5" name="Google Shape;215;p21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16" name="Google Shape;216;p21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7" name="Google Shape;217;p21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6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18" name="Google Shape;218;p2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 txBox="1"/>
          <p:nvPr/>
        </p:nvSpPr>
        <p:spPr>
          <a:xfrm>
            <a:off x="1669102" y="359177"/>
            <a:ext cx="5434604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lnSpc>
                <a:spcPct val="95000"/>
              </a:lnSpc>
              <a:buClr>
                <a:schemeClr val="dk1"/>
              </a:buClr>
              <a:buSzPts val="1400"/>
              <a:buNone/>
              <a:defRPr sz="2500">
                <a:solidFill>
                  <a:srgbClr val="030124"/>
                </a:solidFill>
                <a:latin typeface="Arial Black"/>
                <a:ea typeface="Arial Black"/>
                <a:cs typeface="Arial Black"/>
              </a:defRPr>
            </a:lvl1pPr>
          </a:lstStyle>
          <a:p>
            <a:r>
              <a:rPr lang="ru-RU" dirty="0">
                <a:sym typeface="Avenir"/>
              </a:rPr>
              <a:t>ПЕРЕСЕЧЕНИЕ МНОЖЕСТВ</a:t>
            </a:r>
          </a:p>
        </p:txBody>
      </p:sp>
      <p:sp>
        <p:nvSpPr>
          <p:cNvPr id="222" name="Google Shape;222;p21"/>
          <p:cNvSpPr txBox="1"/>
          <p:nvPr/>
        </p:nvSpPr>
        <p:spPr>
          <a:xfrm>
            <a:off x="1669101" y="2731078"/>
            <a:ext cx="4619149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Можно пересечь результаты двух и более запросов (таблиц)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 выходе будут только те строки, которые полностью совпали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Можно исключать дубликаты (убрав ключевое слово ALL)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9213154" y="2686355"/>
            <a:ext cx="2011800" cy="13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&lt;</a:t>
            </a:r>
            <a:r>
              <a:rPr lang="ru-RU" sz="1400" b="0" i="0" u="none" strike="noStrike" cap="none" dirty="0" err="1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target</a:t>
            </a:r>
            <a:r>
              <a:rPr lang="ru-RU" sz="1400" b="0" i="0" u="none" strike="noStrike" cap="none" dirty="0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ru-RU" sz="1400" b="0" i="0" u="none" strike="noStrike" cap="none" dirty="0" err="1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list</a:t>
            </a:r>
            <a:r>
              <a:rPr lang="ru-RU" sz="1400" b="0" i="0" u="none" strike="noStrike" cap="none" dirty="0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&gt;</a:t>
            </a:r>
            <a:br>
              <a:rPr lang="ru-RU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400" b="0" i="0" u="none" strike="noStrike" cap="none" dirty="0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&lt;</a:t>
            </a:r>
            <a:r>
              <a:rPr lang="ru-RU" sz="1400" b="0" i="0" u="none" strike="noStrike" cap="none" dirty="0" err="1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table</a:t>
            </a:r>
            <a:r>
              <a:rPr lang="ru-RU" sz="1400" b="0" i="0" u="none" strike="noStrike" cap="none" dirty="0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&gt;</a:t>
            </a:r>
            <a:endParaRPr sz="1400" b="0" i="0" u="none" strike="noStrike" cap="none" dirty="0">
              <a:solidFill>
                <a:srgbClr val="22222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INTERSECT [</a:t>
            </a:r>
            <a:r>
              <a:rPr lang="ru-RU" sz="1400" b="0" i="0" u="none" strike="noStrike" cap="none" dirty="0" err="1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ru-RU" sz="1400" b="0" i="0" u="none" strike="noStrike" cap="none" dirty="0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&lt;</a:t>
            </a:r>
            <a:r>
              <a:rPr lang="ru-RU" sz="1400" b="0" i="0" u="none" strike="noStrike" cap="none" dirty="0" err="1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target</a:t>
            </a:r>
            <a:r>
              <a:rPr lang="ru-RU" sz="1400" b="0" i="0" u="none" strike="noStrike" cap="none" dirty="0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ru-RU" sz="1400" b="0" i="0" u="none" strike="noStrike" cap="none" dirty="0" err="1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list</a:t>
            </a:r>
            <a:r>
              <a:rPr lang="ru-RU" sz="1400" b="0" i="0" u="none" strike="noStrike" cap="none" dirty="0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&gt;</a:t>
            </a:r>
            <a:br>
              <a:rPr lang="ru-RU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400" b="0" i="0" u="none" strike="noStrike" cap="none" dirty="0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&lt;table2&gt;</a:t>
            </a:r>
            <a:endParaRPr sz="1400" b="0" i="0" u="none" strike="noStrike" cap="none" dirty="0">
              <a:solidFill>
                <a:srgbClr val="22222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2222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…</a:t>
            </a:r>
            <a:endParaRPr sz="1400" b="0" i="0" u="none" strike="noStrike" cap="none" dirty="0">
              <a:solidFill>
                <a:srgbClr val="22222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24" name="Google Shape;224;p21"/>
          <p:cNvPicPr preferRelativeResize="0"/>
          <p:nvPr/>
        </p:nvPicPr>
        <p:blipFill rotWithShape="1">
          <a:blip r:embed="rId10">
            <a:alphaModFix/>
          </a:blip>
          <a:srcRect r="11980"/>
          <a:stretch/>
        </p:blipFill>
        <p:spPr>
          <a:xfrm>
            <a:off x="6213605" y="2343150"/>
            <a:ext cx="2808630" cy="2171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" name="Google Shape;163;p7">
            <a:extLst>
              <a:ext uri="{FF2B5EF4-FFF2-40B4-BE49-F238E27FC236}">
                <a16:creationId xmlns:a16="http://schemas.microsoft.com/office/drawing/2014/main" id="{1EC7BD50-BC47-4D12-95FB-E251E035A6A1}"/>
              </a:ext>
            </a:extLst>
          </p:cNvPr>
          <p:cNvCxnSpPr/>
          <p:nvPr/>
        </p:nvCxnSpPr>
        <p:spPr>
          <a:xfrm>
            <a:off x="1774825" y="1697479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" name="Google Shape;163;p7">
            <a:extLst>
              <a:ext uri="{FF2B5EF4-FFF2-40B4-BE49-F238E27FC236}">
                <a16:creationId xmlns:a16="http://schemas.microsoft.com/office/drawing/2014/main" id="{50F7F74E-4437-430D-865E-9BBD4C14426B}"/>
              </a:ext>
            </a:extLst>
          </p:cNvPr>
          <p:cNvCxnSpPr/>
          <p:nvPr/>
        </p:nvCxnSpPr>
        <p:spPr>
          <a:xfrm>
            <a:off x="1774825" y="5014682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2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1" name="Google Shape;231;p22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32" name="Google Shape;232;p22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3" name="Google Shape;233;p22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4" name="Google Shape;234;p22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35" name="Google Shape;235;p22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6" name="Google Shape;236;p22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7" name="Google Shape;237;p22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38" name="Google Shape;238;p22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39" name="Google Shape;239;p22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0" name="Google Shape;240;p22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7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41" name="Google Shape;241;p2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/>
          <p:nvPr/>
        </p:nvSpPr>
        <p:spPr>
          <a:xfrm>
            <a:off x="1638382" y="2023810"/>
            <a:ext cx="9062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/>
              <a:t> Объединение </a:t>
            </a:r>
            <a:r>
              <a:rPr lang="ru-RU" sz="16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https://www.db-fiddle.com/f/qPC43WyZwSJT83EbgLApz7/0</a:t>
            </a: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1661333" y="3337620"/>
            <a:ext cx="9062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/>
              <a:t>Исключение </a:t>
            </a:r>
            <a:r>
              <a:rPr lang="ru-RU" sz="16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1"/>
              </a:rPr>
              <a:t>https://www.db-fiddle.com/f/qPC43WyZwSJT83EbgLApz7/2</a:t>
            </a: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1638382" y="4651431"/>
            <a:ext cx="8952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/>
              <a:t> Пересечение </a:t>
            </a:r>
            <a:r>
              <a:rPr lang="ru-RU" sz="16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2"/>
              </a:rPr>
              <a:t>https://www.db-fiddle.com/f/qPC43WyZwSJT83EbgLApz7/3</a:t>
            </a: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247" name="Google Shape;247;p22"/>
          <p:cNvSpPr txBox="1">
            <a:spLocks noGrp="1"/>
          </p:cNvSpPr>
          <p:nvPr>
            <p:ph type="title"/>
          </p:nvPr>
        </p:nvSpPr>
        <p:spPr>
          <a:xfrm>
            <a:off x="1661333" y="354085"/>
            <a:ext cx="9062100" cy="7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95000"/>
              </a:lnSpc>
              <a:buSzPts val="1400"/>
              <a:buFont typeface="Arial"/>
            </a:pPr>
            <a:r>
              <a:rPr lang="ru-RU" sz="2500" dirty="0">
                <a:solidFill>
                  <a:srgbClr val="030124"/>
                </a:solidFill>
                <a:latin typeface="Arial Black"/>
                <a:sym typeface="Arial"/>
              </a:rPr>
              <a:t>ПРАКТИКА</a:t>
            </a:r>
          </a:p>
        </p:txBody>
      </p:sp>
      <p:cxnSp>
        <p:nvCxnSpPr>
          <p:cNvPr id="20" name="Google Shape;163;p7">
            <a:extLst>
              <a:ext uri="{FF2B5EF4-FFF2-40B4-BE49-F238E27FC236}">
                <a16:creationId xmlns:a16="http://schemas.microsoft.com/office/drawing/2014/main" id="{FF6E76B5-9215-4B96-BEEB-691859E99E70}"/>
              </a:ext>
            </a:extLst>
          </p:cNvPr>
          <p:cNvCxnSpPr/>
          <p:nvPr/>
        </p:nvCxnSpPr>
        <p:spPr>
          <a:xfrm>
            <a:off x="1774825" y="2868641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" name="Google Shape;163;p7">
            <a:extLst>
              <a:ext uri="{FF2B5EF4-FFF2-40B4-BE49-F238E27FC236}">
                <a16:creationId xmlns:a16="http://schemas.microsoft.com/office/drawing/2014/main" id="{01B3600E-FCFE-40BF-9416-8B24BA90A7D8}"/>
              </a:ext>
            </a:extLst>
          </p:cNvPr>
          <p:cNvCxnSpPr/>
          <p:nvPr/>
        </p:nvCxnSpPr>
        <p:spPr>
          <a:xfrm>
            <a:off x="1774825" y="4262012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3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96604" y="5254901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3" descr="Shape, circ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49" y="809625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4" name="Google Shape;254;p23"/>
          <p:cNvGrpSpPr/>
          <p:nvPr/>
        </p:nvGrpSpPr>
        <p:grpSpPr>
          <a:xfrm>
            <a:off x="1" y="0"/>
            <a:ext cx="12202649" cy="6858000"/>
            <a:chOff x="0" y="0"/>
            <a:chExt cx="24405297" cy="13716000"/>
          </a:xfrm>
        </p:grpSpPr>
        <p:sp>
          <p:nvSpPr>
            <p:cNvPr id="255" name="Google Shape;255;p23"/>
            <p:cNvSpPr/>
            <p:nvPr/>
          </p:nvSpPr>
          <p:spPr>
            <a:xfrm>
              <a:off x="0" y="6670450"/>
              <a:ext cx="24382799" cy="375100"/>
            </a:xfrm>
            <a:prstGeom prst="rect">
              <a:avLst/>
            </a:prstGeom>
            <a:solidFill>
              <a:srgbClr val="170095"/>
            </a:solidFill>
            <a:ln>
              <a:noFill/>
            </a:ln>
          </p:spPr>
          <p:txBody>
            <a:bodyPr spcFirstLastPara="1" wrap="square" lIns="35700" tIns="35700" rIns="35700" bIns="3570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endParaRPr sz="75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256" name="Google Shape;256;p23" descr="Logo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1728929" y="834956"/>
              <a:ext cx="2146300" cy="146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7" name="Google Shape;257;p23" descr="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7953697" y="7264400"/>
              <a:ext cx="6451600" cy="645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8" name="Google Shape;258;p23" descr="A picture containing shape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9" name="Google Shape;259;p23" descr="Icon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0" name="Google Shape;260;p23" descr="Shape, circle&#10;&#10;Description automatically generated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21204897" y="105219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3"/>
            <p:cNvSpPr txBox="1"/>
            <p:nvPr/>
          </p:nvSpPr>
          <p:spPr>
            <a:xfrm>
              <a:off x="3260998" y="5605514"/>
              <a:ext cx="16917839" cy="28253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>
                <a:lnSpc>
                  <a:spcPct val="85000"/>
                </a:lnSpc>
                <a:buClr>
                  <a:schemeClr val="lt1"/>
                </a:buClr>
                <a:buSzPts val="5400"/>
                <a:buFont typeface="Arial Black"/>
                <a:buNone/>
                <a:defRPr sz="5400">
                  <a:solidFill>
                    <a:schemeClr val="lt1"/>
                  </a:solidFill>
                  <a:latin typeface="Arial Black"/>
                  <a:ea typeface="Arial Black"/>
                  <a:cs typeface="Arial Black"/>
                </a:defRPr>
              </a:lvl1pPr>
              <a:lvl2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2pPr>
              <a:lvl3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3pPr>
              <a:lvl4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4pPr>
              <a:lvl5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5pPr>
              <a:lvl6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6pPr>
              <a:lvl7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7pPr>
              <a:lvl8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8pPr>
              <a:lvl9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9pPr>
            </a:lstStyle>
            <a:p>
              <a:r>
                <a:rPr lang="ru-RU" dirty="0">
                  <a:sym typeface="Arial Black"/>
                </a:rPr>
                <a:t>ПОДВЕДЕНИЕ </a:t>
              </a:r>
              <a:endParaRPr dirty="0"/>
            </a:p>
            <a:p>
              <a:r>
                <a:rPr lang="ru-RU" dirty="0">
                  <a:sym typeface="Arial Black"/>
                </a:rPr>
                <a:t>ИТОГОВ</a:t>
              </a:r>
              <a:endParaRPr dirty="0">
                <a:sym typeface="Calibri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4"/>
          <p:cNvSpPr txBox="1"/>
          <p:nvPr/>
        </p:nvSpPr>
        <p:spPr>
          <a:xfrm>
            <a:off x="11442668" y="6193270"/>
            <a:ext cx="27764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4"/>
          <p:cNvSpPr/>
          <p:nvPr/>
        </p:nvSpPr>
        <p:spPr>
          <a:xfrm>
            <a:off x="1651000" y="336950"/>
            <a:ext cx="63567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ИТОГИ ЗАНЯТИЯ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269" name="Google Shape;269;p24"/>
          <p:cNvGrpSpPr/>
          <p:nvPr/>
        </p:nvGrpSpPr>
        <p:grpSpPr>
          <a:xfrm>
            <a:off x="0" y="0"/>
            <a:ext cx="1501503" cy="1501503"/>
            <a:chOff x="22497" y="0"/>
            <a:chExt cx="3238500" cy="3238500"/>
          </a:xfrm>
        </p:grpSpPr>
        <p:pic>
          <p:nvPicPr>
            <p:cNvPr id="270" name="Google Shape;270;p24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1" name="Google Shape;271;p24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2" name="Google Shape;272;p24"/>
          <p:cNvGrpSpPr/>
          <p:nvPr/>
        </p:nvGrpSpPr>
        <p:grpSpPr>
          <a:xfrm>
            <a:off x="9945440" y="4637973"/>
            <a:ext cx="2246560" cy="2246816"/>
            <a:chOff x="19553897" y="8864600"/>
            <a:chExt cx="4851400" cy="4851952"/>
          </a:xfrm>
        </p:grpSpPr>
        <p:pic>
          <p:nvPicPr>
            <p:cNvPr id="273" name="Google Shape;273;p24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4" name="Google Shape;274;p24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5" name="Google Shape;275;p24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76" name="Google Shape;276;p24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77" name="Google Shape;277;p24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8" name="Google Shape;278;p24"/>
              <p:cNvSpPr txBox="1"/>
              <p:nvPr/>
            </p:nvSpPr>
            <p:spPr>
              <a:xfrm>
                <a:off x="21231326" y="12448438"/>
                <a:ext cx="1511670" cy="976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9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79" name="Google Shape;279;p2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531;g142b2dfbfff_0_351">
            <a:extLst>
              <a:ext uri="{FF2B5EF4-FFF2-40B4-BE49-F238E27FC236}">
                <a16:creationId xmlns:a16="http://schemas.microsoft.com/office/drawing/2014/main" id="{627BDE71-1CF6-4F31-85C8-2C845D3430AF}"/>
              </a:ext>
            </a:extLst>
          </p:cNvPr>
          <p:cNvSpPr/>
          <p:nvPr/>
        </p:nvSpPr>
        <p:spPr>
          <a:xfrm>
            <a:off x="1725839" y="2852790"/>
            <a:ext cx="4182380" cy="1607400"/>
          </a:xfrm>
          <a:prstGeom prst="roundRect">
            <a:avLst>
              <a:gd name="adj" fmla="val 5760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01</a:t>
            </a:r>
            <a:endParaRPr lang="ru-RU" sz="1500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Поняли, какие существуют виды операций над множествами, их назначение</a:t>
            </a:r>
          </a:p>
        </p:txBody>
      </p:sp>
      <p:sp>
        <p:nvSpPr>
          <p:cNvPr id="17" name="Google Shape;532;g142b2dfbfff_0_351">
            <a:extLst>
              <a:ext uri="{FF2B5EF4-FFF2-40B4-BE49-F238E27FC236}">
                <a16:creationId xmlns:a16="http://schemas.microsoft.com/office/drawing/2014/main" id="{660B2B63-359D-42E6-BC26-9FE1C898531A}"/>
              </a:ext>
            </a:extLst>
          </p:cNvPr>
          <p:cNvSpPr/>
          <p:nvPr/>
        </p:nvSpPr>
        <p:spPr>
          <a:xfrm>
            <a:off x="6283783" y="2852779"/>
            <a:ext cx="3705900" cy="1607400"/>
          </a:xfrm>
          <a:prstGeom prst="roundRect">
            <a:avLst>
              <a:gd name="adj" fmla="val 5215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02</a:t>
            </a:r>
            <a:endParaRPr lang="ru-RU" sz="1500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Использовали на практике объединения множеств</a:t>
            </a:r>
          </a:p>
        </p:txBody>
      </p:sp>
      <p:pic>
        <p:nvPicPr>
          <p:cNvPr id="18" name="Google Shape;534;g142b2dfbfff_0_351">
            <a:extLst>
              <a:ext uri="{FF2B5EF4-FFF2-40B4-BE49-F238E27FC236}">
                <a16:creationId xmlns:a16="http://schemas.microsoft.com/office/drawing/2014/main" id="{5CD80905-99BA-42CF-B79A-CFDAE48EFBB5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335946" y="3018270"/>
            <a:ext cx="383005" cy="38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535;g142b2dfbfff_0_351">
            <a:extLst>
              <a:ext uri="{FF2B5EF4-FFF2-40B4-BE49-F238E27FC236}">
                <a16:creationId xmlns:a16="http://schemas.microsoft.com/office/drawing/2014/main" id="{F9D0FC39-ECE8-4510-9D9A-ED376C01D09C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417032" y="3018270"/>
            <a:ext cx="383005" cy="38300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5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5"/>
          <p:cNvSpPr/>
          <p:nvPr/>
        </p:nvSpPr>
        <p:spPr>
          <a:xfrm>
            <a:off x="1651000" y="336950"/>
            <a:ext cx="85605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95000"/>
              </a:lnSpc>
              <a:buClr>
                <a:schemeClr val="dk1"/>
              </a:buClr>
              <a:buSzPts val="3500"/>
            </a:pPr>
            <a:r>
              <a:rPr lang="ru-RU" sz="2500" dirty="0">
                <a:solidFill>
                  <a:srgbClr val="030124"/>
                </a:solidFill>
                <a:latin typeface="Arial Black"/>
                <a:sym typeface="Arial Black"/>
              </a:rPr>
              <a:t>ЗАДАНИЕ ДЛЯ САМОПРОВЕРКИ</a:t>
            </a:r>
          </a:p>
          <a:p>
            <a:pPr>
              <a:lnSpc>
                <a:spcPct val="95000"/>
              </a:lnSpc>
              <a:buClr>
                <a:schemeClr val="dk1"/>
              </a:buClr>
              <a:buSzPts val="3500"/>
            </a:pPr>
            <a:endParaRPr lang="ru-RU" sz="2500" dirty="0">
              <a:solidFill>
                <a:srgbClr val="030124"/>
              </a:solidFill>
              <a:latin typeface="Arial Black"/>
              <a:sym typeface="Arial Black"/>
            </a:endParaRPr>
          </a:p>
        </p:txBody>
      </p:sp>
      <p:grpSp>
        <p:nvGrpSpPr>
          <p:cNvPr id="288" name="Google Shape;288;p25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89" name="Google Shape;289;p25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0" name="Google Shape;290;p25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1" name="Google Shape;291;p25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92" name="Google Shape;292;p25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3" name="Google Shape;293;p25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4" name="Google Shape;294;p25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95" name="Google Shape;295;p25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96" name="Google Shape;296;p25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7" name="Google Shape;297;p25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10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98" name="Google Shape;298;p2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5"/>
          <p:cNvSpPr/>
          <p:nvPr/>
        </p:nvSpPr>
        <p:spPr>
          <a:xfrm>
            <a:off x="1698000" y="1321450"/>
            <a:ext cx="8615437" cy="700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b="1" dirty="0">
                <a:solidFill>
                  <a:schemeClr val="dk1"/>
                </a:solidFill>
              </a:rPr>
              <a:t>Цель задания:</a:t>
            </a:r>
            <a:endParaRPr sz="1600" b="1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</a:rPr>
              <a:t>Реализовать объединение 2 множеств</a:t>
            </a:r>
            <a:endParaRPr sz="16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1F16D1-0599-4895-A677-4E9E4330526B}"/>
              </a:ext>
            </a:extLst>
          </p:cNvPr>
          <p:cNvSpPr txBox="1"/>
          <p:nvPr/>
        </p:nvSpPr>
        <p:spPr>
          <a:xfrm>
            <a:off x="1697999" y="2298487"/>
            <a:ext cx="8259980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SzPts val="1800"/>
            </a:pPr>
            <a:r>
              <a:rPr lang="ru-RU" sz="1600" b="1" dirty="0">
                <a:solidFill>
                  <a:schemeClr val="dk1"/>
                </a:solidFill>
              </a:rPr>
              <a:t>Пошаговый план выполнения:</a:t>
            </a:r>
          </a:p>
          <a:p>
            <a:pPr lvl="0">
              <a:buSzPts val="1800"/>
            </a:pPr>
            <a:endParaRPr lang="ru-RU" sz="1600" dirty="0">
              <a:solidFill>
                <a:schemeClr val="dk1"/>
              </a:solidFill>
            </a:endParaRP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Использовать </a:t>
            </a:r>
            <a:r>
              <a:rPr lang="ru-RU" sz="1600" dirty="0" err="1">
                <a:solidFill>
                  <a:schemeClr val="dk1"/>
                </a:solidFill>
              </a:rPr>
              <a:t>фидл</a:t>
            </a:r>
            <a:r>
              <a:rPr lang="ru-RU" sz="1600" dirty="0">
                <a:solidFill>
                  <a:schemeClr val="dk1"/>
                </a:solidFill>
              </a:rPr>
              <a:t> </a:t>
            </a:r>
            <a:r>
              <a:rPr lang="ru-RU" sz="1600" u="sng" dirty="0">
                <a:solidFill>
                  <a:schemeClr val="hlink"/>
                </a:solidFill>
                <a:hlinkClick r:id="rId10"/>
              </a:rPr>
              <a:t>https://www.db-fiddle.com/f/qPC43WyZwSJT83EbgLApz7/0</a:t>
            </a:r>
            <a:r>
              <a:rPr lang="ru-RU" sz="1600" dirty="0">
                <a:solidFill>
                  <a:schemeClr val="dk1"/>
                </a:solidFill>
              </a:rPr>
              <a:t> 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Добавить по 1 новой записи в таблицы котов и помидоров с новыми цветами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Объединить эти 2 множества и вывести только уникальные цвета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ct val="1000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Выполните задание самостоятельно. Свое решение вы можете сравнить с эталонным по ссылке </a:t>
            </a:r>
            <a:r>
              <a:rPr lang="ru-RU" sz="1600" u="sng" dirty="0">
                <a:solidFill>
                  <a:schemeClr val="hlink"/>
                </a:solidFill>
                <a:hlinkClick r:id="rId11"/>
              </a:rPr>
              <a:t>https://www.db-fiddle.com/f/nT6dgVyFoYmXN7N5aZ67eZ/0</a:t>
            </a:r>
            <a:r>
              <a:rPr lang="ru-RU" sz="1600" dirty="0">
                <a:solidFill>
                  <a:schemeClr val="dk1"/>
                </a:solidFill>
              </a:rPr>
              <a:t> </a:t>
            </a:r>
          </a:p>
          <a:p>
            <a:pPr lvl="0">
              <a:buSzPts val="1800"/>
            </a:pPr>
            <a:endParaRPr lang="ru-RU" sz="1600" dirty="0">
              <a:solidFill>
                <a:schemeClr val="dk1"/>
              </a:solidFill>
            </a:endParaRPr>
          </a:p>
          <a:p>
            <a:pPr lvl="0">
              <a:buSzPts val="1800"/>
            </a:pPr>
            <a:r>
              <a:rPr lang="ru-RU" sz="1600" dirty="0">
                <a:solidFill>
                  <a:schemeClr val="dk1"/>
                </a:solidFill>
              </a:rPr>
              <a:t>Задание закончено</a:t>
            </a:r>
          </a:p>
        </p:txBody>
      </p:sp>
      <p:cxnSp>
        <p:nvCxnSpPr>
          <p:cNvPr id="17" name="Google Shape;163;p7">
            <a:extLst>
              <a:ext uri="{FF2B5EF4-FFF2-40B4-BE49-F238E27FC236}">
                <a16:creationId xmlns:a16="http://schemas.microsoft.com/office/drawing/2014/main" id="{BC3E36B2-6CC0-4458-B4E2-526EE3423170}"/>
              </a:ext>
            </a:extLst>
          </p:cNvPr>
          <p:cNvCxnSpPr/>
          <p:nvPr/>
        </p:nvCxnSpPr>
        <p:spPr>
          <a:xfrm>
            <a:off x="1774825" y="2097310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6"/>
          <p:cNvSpPr/>
          <p:nvPr/>
        </p:nvSpPr>
        <p:spPr>
          <a:xfrm>
            <a:off x="0" y="3323684"/>
            <a:ext cx="12191400" cy="210633"/>
          </a:xfrm>
          <a:prstGeom prst="rect">
            <a:avLst/>
          </a:prstGeom>
          <a:solidFill>
            <a:srgbClr val="170095"/>
          </a:solidFill>
          <a:ln>
            <a:noFill/>
          </a:ln>
        </p:spPr>
        <p:txBody>
          <a:bodyPr spcFirstLastPara="1" wrap="square" lIns="35700" tIns="35700" rIns="35700" bIns="3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06" name="Google Shape;306;p26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83094" y="605790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6" descr="Shape, circle, rectang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91300" y="4449796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6" descr="A picture containing background pattern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65700" y="4432300"/>
            <a:ext cx="2425700" cy="24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6"/>
          <p:cNvSpPr txBox="1"/>
          <p:nvPr/>
        </p:nvSpPr>
        <p:spPr>
          <a:xfrm>
            <a:off x="1721050" y="1968677"/>
            <a:ext cx="7480200" cy="3019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t" anchorCtr="0">
            <a:spAutoFit/>
          </a:bodyPr>
          <a:lstStyle/>
          <a:p>
            <a:pPr lvl="0">
              <a:lnSpc>
                <a:spcPct val="85000"/>
              </a:lnSpc>
              <a:buClr>
                <a:schemeClr val="lt1"/>
              </a:buClr>
              <a:buSzPts val="5400"/>
            </a:pPr>
            <a:r>
              <a:rPr lang="ru-RU" sz="5400" dirty="0">
                <a:solidFill>
                  <a:schemeClr val="lt1"/>
                </a:solidFill>
                <a:latin typeface="Arial Black"/>
              </a:rPr>
              <a:t>СПАСИБО!</a:t>
            </a:r>
            <a:endParaRPr sz="1800" i="0" u="none" strike="noStrike" cap="none" dirty="0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i="0" u="none" strike="noStrike" cap="none" dirty="0">
                <a:solidFill>
                  <a:schemeClr val="lt1"/>
                </a:solidFill>
              </a:rPr>
              <a:t>На следующем занятии мы </a:t>
            </a:r>
            <a:r>
              <a:rPr lang="ru-RU" sz="1800" dirty="0">
                <a:solidFill>
                  <a:schemeClr val="lt1"/>
                </a:solidFill>
              </a:rPr>
              <a:t>рассмотрим новый блок Обзор резервного копирования и репликации, включающий темы</a:t>
            </a:r>
            <a:r>
              <a:rPr lang="ru-RU" sz="1800" i="0" u="none" strike="noStrike" cap="none" dirty="0">
                <a:solidFill>
                  <a:schemeClr val="lt1"/>
                </a:solidFill>
              </a:rPr>
              <a:t>:</a:t>
            </a:r>
            <a:endParaRPr sz="1800" dirty="0">
              <a:solidFill>
                <a:schemeClr val="lt1"/>
              </a:solidFill>
            </a:endParaRPr>
          </a:p>
          <a:p>
            <a:pPr marL="4000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lt1"/>
                </a:solidFill>
              </a:rPr>
              <a:t>Резервное копирование. Логическое</a:t>
            </a:r>
            <a:endParaRPr sz="1800" dirty="0">
              <a:solidFill>
                <a:schemeClr val="lt1"/>
              </a:solidFill>
            </a:endParaRPr>
          </a:p>
          <a:p>
            <a:pPr marL="4000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lt1"/>
                </a:solidFill>
              </a:rPr>
              <a:t>Резервное копирование. Физическое</a:t>
            </a:r>
            <a:endParaRPr sz="1800" dirty="0">
              <a:solidFill>
                <a:schemeClr val="lt1"/>
              </a:solidFill>
            </a:endParaRPr>
          </a:p>
          <a:p>
            <a:pPr marL="4000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lt1"/>
                </a:solidFill>
              </a:rPr>
              <a:t>Физическая репликация</a:t>
            </a:r>
            <a:endParaRPr sz="1800" dirty="0">
              <a:solidFill>
                <a:schemeClr val="lt1"/>
              </a:solidFill>
            </a:endParaRPr>
          </a:p>
          <a:p>
            <a:pPr marL="4000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lt1"/>
                </a:solidFill>
              </a:rPr>
              <a:t>Логическая репликация</a:t>
            </a:r>
            <a:endParaRPr sz="1800" dirty="0">
              <a:solidFill>
                <a:schemeClr val="lt1"/>
              </a:solidFill>
            </a:endParaRPr>
          </a:p>
          <a:p>
            <a:pPr marL="4000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800" dirty="0" err="1">
                <a:solidFill>
                  <a:schemeClr val="lt1"/>
                </a:solidFill>
              </a:rPr>
              <a:t>Бэст</a:t>
            </a:r>
            <a:r>
              <a:rPr lang="ru-RU" sz="1800" dirty="0">
                <a:solidFill>
                  <a:schemeClr val="lt1"/>
                </a:solidFill>
              </a:rPr>
              <a:t> </a:t>
            </a:r>
            <a:r>
              <a:rPr lang="ru-RU" sz="1800" dirty="0" err="1">
                <a:solidFill>
                  <a:schemeClr val="lt1"/>
                </a:solidFill>
              </a:rPr>
              <a:t>практис</a:t>
            </a:r>
            <a:endParaRPr sz="1800" dirty="0">
              <a:solidFill>
                <a:schemeClr val="lt1"/>
              </a:solidFill>
            </a:endParaRPr>
          </a:p>
        </p:txBody>
      </p:sp>
      <p:pic>
        <p:nvPicPr>
          <p:cNvPr id="310" name="Google Shape;310;p26" descr="Shape, circle, rectang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297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6" descr="A picture containing shape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800000">
            <a:off x="0" y="0"/>
            <a:ext cx="161925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6" descr="Shape, circle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0" y="5254901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3" name="Google Shape;313;p26"/>
          <p:cNvGrpSpPr/>
          <p:nvPr/>
        </p:nvGrpSpPr>
        <p:grpSpPr>
          <a:xfrm>
            <a:off x="9769698" y="6067243"/>
            <a:ext cx="801286" cy="800100"/>
            <a:chOff x="15228655" y="2672088"/>
            <a:chExt cx="1602572" cy="1600200"/>
          </a:xfrm>
        </p:grpSpPr>
        <p:pic>
          <p:nvPicPr>
            <p:cNvPr id="314" name="Google Shape;314;p26" descr="Shape, circle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5231027" y="2672088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5" name="Google Shape;315;p26"/>
            <p:cNvSpPr txBox="1"/>
            <p:nvPr/>
          </p:nvSpPr>
          <p:spPr>
            <a:xfrm>
              <a:off x="15228655" y="3030724"/>
              <a:ext cx="1511670" cy="8829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00" tIns="35700" rIns="35700" bIns="3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ru-RU" sz="2400" b="0" i="0" u="none" strike="noStrike" cap="none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end</a:t>
              </a:r>
              <a:endPara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id="316" name="Google Shape;316;p26" descr="Logo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6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100" y="6038668"/>
            <a:ext cx="800100" cy="8001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482</Words>
  <Application>Microsoft Office PowerPoint</Application>
  <PresentationFormat>Широкоэкранный</PresentationFormat>
  <Paragraphs>104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9" baseType="lpstr">
      <vt:lpstr>Helvetica Neue</vt:lpstr>
      <vt:lpstr>Arial Black</vt:lpstr>
      <vt:lpstr>Avenir</vt:lpstr>
      <vt:lpstr>Open Sans</vt:lpstr>
      <vt:lpstr>Arial</vt:lpstr>
      <vt:lpstr>Calibri</vt:lpstr>
      <vt:lpstr>Proxima Nova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ПРАКТИКА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Трошин Алексей Валентинович</cp:lastModifiedBy>
  <cp:revision>7</cp:revision>
  <dcterms:modified xsi:type="dcterms:W3CDTF">2022-08-29T14:49:49Z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AF709BE2-D627-45F0-B094-9A47FE0D194E</vt:lpwstr>
  </property>
  <property fmtid="{D5CDD505-2E9C-101B-9397-08002B2CF9AE}" pid="3" name="ArticulatePath">
    <vt:lpwstr>31 Множества</vt:lpwstr>
  </property>
</Properties>
</file>