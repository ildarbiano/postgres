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4"/>
  </p:notesMasterIdLst>
  <p:sldIdLst>
    <p:sldId id="256" r:id="rId2"/>
    <p:sldId id="257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Arial Black" panose="020B0A04020102020204" pitchFamily="34" charset="0"/>
      <p:regular r:id="rId15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Helvetica Neue" panose="020B0604020202020204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Proxima Nova" panose="020B0604020202020204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viewProps" Target="viewProps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fdaf37af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fdaf37af43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gfdaf37af43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4773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22d59b04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1422d59b049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1422d59b049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42dda98c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142dda98c3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42dda98c3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2dda98c3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142dda98c35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142dda98c35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42dda98c3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142dda98c35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g142dda98c35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42dda98c3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142dda98c35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142dda98c35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3e3b21b46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13e3b21b46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13e3b21b46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Заголовок и объек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677333" y="469564"/>
            <a:ext cx="9062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Open Sans"/>
              <a:buNone/>
              <a:defRPr sz="36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677334" y="1722475"/>
            <a:ext cx="8596800" cy="43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2000" b="0"/>
            </a:lvl1pPr>
            <a:lvl2pPr marL="914400" lvl="1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 rtl="0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2.jp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hyperlink" Target="https://towardsdatascience.com/can-we-stop-with-the-sql-joins-venn-diagrams-insanity-16791d9250c3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Shape, circle, rectang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6"/>
          <p:cNvGrpSpPr/>
          <p:nvPr/>
        </p:nvGrpSpPr>
        <p:grpSpPr>
          <a:xfrm>
            <a:off x="0" y="0"/>
            <a:ext cx="12202649" cy="6858000"/>
            <a:chOff x="0" y="0"/>
            <a:chExt cx="24405297" cy="137160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9" name="Google Shape;99;p16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6" descr="A picture containing shape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 rot="10800000">
              <a:off x="0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6" descr="Background pattern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6"/>
          <p:cNvGrpSpPr/>
          <p:nvPr/>
        </p:nvGrpSpPr>
        <p:grpSpPr>
          <a:xfrm>
            <a:off x="8992643" y="6057900"/>
            <a:ext cx="800100" cy="800100"/>
            <a:chOff x="18033834" y="12096001"/>
            <a:chExt cx="1600200" cy="1600200"/>
          </a:xfrm>
        </p:grpSpPr>
        <p:pic>
          <p:nvPicPr>
            <p:cNvPr id="104" name="Google Shape;104;p16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8033834" y="12096001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6"/>
            <p:cNvSpPr txBox="1"/>
            <p:nvPr/>
          </p:nvSpPr>
          <p:spPr>
            <a:xfrm>
              <a:off x="18117946" y="12522493"/>
              <a:ext cx="1511670" cy="7290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ru-RU" sz="19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begin</a:t>
              </a:r>
              <a:endParaRPr sz="1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106" name="Google Shape;106;p16" descr="Shape, circl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99431" y="44513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descr="Shape, circle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412708" y="6051550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81;p1">
            <a:extLst>
              <a:ext uri="{FF2B5EF4-FFF2-40B4-BE49-F238E27FC236}">
                <a16:creationId xmlns:a16="http://schemas.microsoft.com/office/drawing/2014/main" id="{243ADD3A-0C9C-4CB7-A7C9-7107DCC11127}"/>
              </a:ext>
            </a:extLst>
          </p:cNvPr>
          <p:cNvSpPr txBox="1">
            <a:spLocks/>
          </p:cNvSpPr>
          <p:nvPr/>
        </p:nvSpPr>
        <p:spPr>
          <a:xfrm>
            <a:off x="1622194" y="2463876"/>
            <a:ext cx="6831341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marL="9144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2pPr>
            <a:lvl3pPr marL="13716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3pPr>
            <a:lvl4pPr marL="18288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4pPr>
            <a:lvl5pPr marL="2286000" indent="-228600">
              <a:buClr>
                <a:srgbClr val="FFFFFF"/>
              </a:buClr>
              <a:buSzPts val="2500"/>
              <a:buNone/>
              <a:defRPr sz="2500">
                <a:solidFill>
                  <a:srgbClr val="FFFFFF"/>
                </a:solidFill>
              </a:defRPr>
            </a:lvl5pPr>
            <a:lvl6pPr marL="2743200" indent="-431164">
              <a:spcBef>
                <a:spcPts val="2950"/>
              </a:spcBef>
              <a:buSzPts val="3190"/>
              <a:buChar char="•"/>
              <a:defRPr sz="2200"/>
            </a:lvl6pPr>
            <a:lvl7pPr marL="3200400" indent="-431164">
              <a:spcBef>
                <a:spcPts val="2950"/>
              </a:spcBef>
              <a:buSzPts val="3190"/>
              <a:buChar char="•"/>
              <a:defRPr sz="2200"/>
            </a:lvl7pPr>
            <a:lvl8pPr marL="3657600" indent="-431164">
              <a:spcBef>
                <a:spcPts val="2950"/>
              </a:spcBef>
              <a:buSzPts val="3190"/>
              <a:buChar char="•"/>
              <a:defRPr sz="2200"/>
            </a:lvl8pPr>
            <a:lvl9pPr marL="4114800" indent="-431165">
              <a:spcBef>
                <a:spcPts val="2950"/>
              </a:spcBef>
              <a:buSzPts val="3190"/>
              <a:buChar char="•"/>
              <a:defRPr sz="2200"/>
            </a:lvl9pPr>
          </a:lstStyle>
          <a:p>
            <a:r>
              <a:rPr lang="ru-RU" dirty="0"/>
              <a:t>БЛОК 9. </a:t>
            </a:r>
            <a:r>
              <a:rPr lang="ru-RU" sz="2800" dirty="0"/>
              <a:t>РАЗЛИЧНЫЕ ВИДЫ ДЖОЙНОВ. ПРИМЕНЕНИЕ И ОПТИМИЗАЦИЯ</a:t>
            </a:r>
            <a:endParaRPr lang="ru-RU" dirty="0"/>
          </a:p>
        </p:txBody>
      </p:sp>
      <p:sp>
        <p:nvSpPr>
          <p:cNvPr id="18" name="Google Shape;82;p1">
            <a:extLst>
              <a:ext uri="{FF2B5EF4-FFF2-40B4-BE49-F238E27FC236}">
                <a16:creationId xmlns:a16="http://schemas.microsoft.com/office/drawing/2014/main" id="{1989943C-E150-44AD-B53E-27025ACAAF8C}"/>
              </a:ext>
            </a:extLst>
          </p:cNvPr>
          <p:cNvSpPr txBox="1">
            <a:spLocks/>
          </p:cNvSpPr>
          <p:nvPr/>
        </p:nvSpPr>
        <p:spPr>
          <a:xfrm>
            <a:off x="1609724" y="3538896"/>
            <a:ext cx="8358240" cy="706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85000"/>
              </a:lnSpc>
              <a:buClr>
                <a:schemeClr val="lt1"/>
              </a:buClr>
              <a:buSzPts val="5400"/>
              <a:buFont typeface="Arial Black"/>
              <a:buNone/>
              <a:defRPr sz="5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algn="ctr">
              <a:buSzPts val="1800"/>
              <a:buFont typeface="Helvetica Neue"/>
              <a:buNone/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ru-RU" dirty="0">
                <a:solidFill>
                  <a:srgbClr val="FFFFFF"/>
                </a:solidFill>
              </a:rPr>
              <a:t>ДЖОЙНЫ</a:t>
            </a:r>
            <a:endParaRPr lang="ru-RU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661148" y="416630"/>
            <a:ext cx="18453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ЦЕЛЬ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119" name="Google Shape;119;p17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123" name="Google Shape;123;p17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7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" name="Google Shape;126;p17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27" name="Google Shape;127;p17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9" name="Google Shape;129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82;p2">
            <a:extLst>
              <a:ext uri="{FF2B5EF4-FFF2-40B4-BE49-F238E27FC236}">
                <a16:creationId xmlns:a16="http://schemas.microsoft.com/office/drawing/2014/main" id="{F7C7E9C1-5F6A-4AB1-A8AF-204DD1366E32}"/>
              </a:ext>
            </a:extLst>
          </p:cNvPr>
          <p:cNvSpPr/>
          <p:nvPr/>
        </p:nvSpPr>
        <p:spPr>
          <a:xfrm>
            <a:off x="1719852" y="1434098"/>
            <a:ext cx="3299336" cy="18228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Понять, какие существуют виды </a:t>
            </a:r>
            <a:r>
              <a:rPr lang="ru-RU" sz="1800" dirty="0" err="1">
                <a:solidFill>
                  <a:schemeClr val="dk1"/>
                </a:solidFill>
              </a:rPr>
              <a:t>джойнов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21" name="Google Shape;283;p2">
            <a:extLst>
              <a:ext uri="{FF2B5EF4-FFF2-40B4-BE49-F238E27FC236}">
                <a16:creationId xmlns:a16="http://schemas.microsoft.com/office/drawing/2014/main" id="{7726831B-482C-4351-A267-54CA0A52B357}"/>
              </a:ext>
            </a:extLst>
          </p:cNvPr>
          <p:cNvSpPr/>
          <p:nvPr/>
        </p:nvSpPr>
        <p:spPr>
          <a:xfrm>
            <a:off x="5249348" y="1434109"/>
            <a:ext cx="3827907" cy="1822800"/>
          </a:xfrm>
          <a:prstGeom prst="roundRect">
            <a:avLst>
              <a:gd name="adj" fmla="val 6634"/>
            </a:avLst>
          </a:prstGeom>
          <a:solidFill>
            <a:srgbClr val="CCF3E9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Понять их назначение</a:t>
            </a:r>
          </a:p>
        </p:txBody>
      </p:sp>
      <p:sp>
        <p:nvSpPr>
          <p:cNvPr id="22" name="Google Shape;284;p2">
            <a:extLst>
              <a:ext uri="{FF2B5EF4-FFF2-40B4-BE49-F238E27FC236}">
                <a16:creationId xmlns:a16="http://schemas.microsoft.com/office/drawing/2014/main" id="{4E3871E7-0FA6-4A1C-8382-68340719C9C9}"/>
              </a:ext>
            </a:extLst>
          </p:cNvPr>
          <p:cNvSpPr/>
          <p:nvPr/>
        </p:nvSpPr>
        <p:spPr>
          <a:xfrm>
            <a:off x="5915310" y="3499359"/>
            <a:ext cx="3161945" cy="1822800"/>
          </a:xfrm>
          <a:prstGeom prst="roundRect">
            <a:avLst>
              <a:gd name="adj" fmla="val 8306"/>
            </a:avLst>
          </a:prstGeom>
          <a:solidFill>
            <a:srgbClr val="CBF2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Научиться использовать на практике эти 2 вида</a:t>
            </a:r>
          </a:p>
        </p:txBody>
      </p:sp>
      <p:sp>
        <p:nvSpPr>
          <p:cNvPr id="23" name="Google Shape;285;p2">
            <a:extLst>
              <a:ext uri="{FF2B5EF4-FFF2-40B4-BE49-F238E27FC236}">
                <a16:creationId xmlns:a16="http://schemas.microsoft.com/office/drawing/2014/main" id="{41EB8874-FF4B-49F4-BFEF-B32AD738EAD6}"/>
              </a:ext>
            </a:extLst>
          </p:cNvPr>
          <p:cNvSpPr/>
          <p:nvPr/>
        </p:nvSpPr>
        <p:spPr>
          <a:xfrm>
            <a:off x="1719849" y="3499359"/>
            <a:ext cx="3915628" cy="1822800"/>
          </a:xfrm>
          <a:prstGeom prst="roundRect">
            <a:avLst>
              <a:gd name="adj" fmla="val 5519"/>
            </a:avLst>
          </a:prstGeom>
          <a:solidFill>
            <a:srgbClr val="E5E0F6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 err="1">
                <a:solidFill>
                  <a:schemeClr val="dk1"/>
                </a:solidFill>
              </a:rPr>
              <a:t>Унать</a:t>
            </a:r>
            <a:r>
              <a:rPr lang="ru-RU" sz="1800" dirty="0">
                <a:solidFill>
                  <a:schemeClr val="dk1"/>
                </a:solidFill>
              </a:rPr>
              <a:t> 2 самых используемых </a:t>
            </a:r>
            <a:r>
              <a:rPr lang="ru-RU" sz="1800" dirty="0" err="1">
                <a:solidFill>
                  <a:schemeClr val="dk1"/>
                </a:solidFill>
              </a:rPr>
              <a:t>джойна</a:t>
            </a:r>
            <a:r>
              <a:rPr lang="ru-RU" sz="1800" dirty="0">
                <a:solidFill>
                  <a:schemeClr val="dk1"/>
                </a:solidFill>
              </a:rPr>
              <a:t> на практике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88;p2">
            <a:extLst>
              <a:ext uri="{FF2B5EF4-FFF2-40B4-BE49-F238E27FC236}">
                <a16:creationId xmlns:a16="http://schemas.microsoft.com/office/drawing/2014/main" id="{CCD60E5D-9751-46C0-A94B-81820A5FFF30}"/>
              </a:ext>
            </a:extLst>
          </p:cNvPr>
          <p:cNvSpPr/>
          <p:nvPr/>
        </p:nvSpPr>
        <p:spPr>
          <a:xfrm>
            <a:off x="1902732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1B4EFC"/>
                </a:solidFill>
                <a:sym typeface="Arial"/>
              </a:rPr>
              <a:t>01</a:t>
            </a:r>
            <a:endParaRPr sz="1500" b="0" i="0" u="none" strike="noStrike" cap="none" dirty="0">
              <a:solidFill>
                <a:srgbClr val="1B4E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289;p2">
            <a:extLst>
              <a:ext uri="{FF2B5EF4-FFF2-40B4-BE49-F238E27FC236}">
                <a16:creationId xmlns:a16="http://schemas.microsoft.com/office/drawing/2014/main" id="{972E133D-DB9B-4286-9196-757791FEA0EE}"/>
              </a:ext>
            </a:extLst>
          </p:cNvPr>
          <p:cNvSpPr/>
          <p:nvPr/>
        </p:nvSpPr>
        <p:spPr>
          <a:xfrm>
            <a:off x="5432234" y="153871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290"/>
                </a:solidFill>
                <a:sym typeface="Arial"/>
              </a:rPr>
              <a:t>02</a:t>
            </a:r>
            <a:endParaRPr sz="1500" b="0" i="0" u="none" strike="noStrike" cap="none" dirty="0">
              <a:solidFill>
                <a:srgbClr val="00C29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290;p2">
            <a:extLst>
              <a:ext uri="{FF2B5EF4-FFF2-40B4-BE49-F238E27FC236}">
                <a16:creationId xmlns:a16="http://schemas.microsoft.com/office/drawing/2014/main" id="{3DCC46C0-863B-4EB1-B79D-800B56EFBA3A}"/>
              </a:ext>
            </a:extLst>
          </p:cNvPr>
          <p:cNvSpPr/>
          <p:nvPr/>
        </p:nvSpPr>
        <p:spPr>
          <a:xfrm>
            <a:off x="6098198" y="3603966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7C3FD"/>
                </a:solidFill>
                <a:sym typeface="Arial"/>
              </a:rPr>
              <a:t>04</a:t>
            </a:r>
            <a:endParaRPr sz="1500" b="0" i="0" u="none" strike="noStrike" cap="none" dirty="0">
              <a:solidFill>
                <a:srgbClr val="07C3F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291;p2">
            <a:extLst>
              <a:ext uri="{FF2B5EF4-FFF2-40B4-BE49-F238E27FC236}">
                <a16:creationId xmlns:a16="http://schemas.microsoft.com/office/drawing/2014/main" id="{35399892-DB02-44D7-BCE1-E34A95488B56}"/>
              </a:ext>
            </a:extLst>
          </p:cNvPr>
          <p:cNvSpPr/>
          <p:nvPr/>
        </p:nvSpPr>
        <p:spPr>
          <a:xfrm>
            <a:off x="1902732" y="3645805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26DD3"/>
                </a:solidFill>
                <a:sym typeface="Arial"/>
              </a:rPr>
              <a:t>03</a:t>
            </a:r>
            <a:endParaRPr sz="1500" b="0" i="0" u="none" strike="noStrike" cap="none" dirty="0">
              <a:solidFill>
                <a:srgbClr val="826D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1651000" y="336950"/>
            <a:ext cx="87024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СОДЕРЖАНИЕ УРОКА</a:t>
            </a:r>
            <a:endParaRPr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40" name="Google Shape;140;p18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8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18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43" name="Google Shape;143;p18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8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6" name="Google Shape;146;p18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47" name="Google Shape;147;p18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18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3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49" name="Google Shape;14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01;p3">
            <a:extLst>
              <a:ext uri="{FF2B5EF4-FFF2-40B4-BE49-F238E27FC236}">
                <a16:creationId xmlns:a16="http://schemas.microsoft.com/office/drawing/2014/main" id="{11035447-167B-4301-BBA8-A7703BCE74E6}"/>
              </a:ext>
            </a:extLst>
          </p:cNvPr>
          <p:cNvSpPr/>
          <p:nvPr/>
        </p:nvSpPr>
        <p:spPr>
          <a:xfrm>
            <a:off x="2863612" y="3429000"/>
            <a:ext cx="31455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Два основных вида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джойнов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02;p3">
            <a:extLst>
              <a:ext uri="{FF2B5EF4-FFF2-40B4-BE49-F238E27FC236}">
                <a16:creationId xmlns:a16="http://schemas.microsoft.com/office/drawing/2014/main" id="{8CC590C4-67E2-409C-A2D6-BDE77CA2FC38}"/>
              </a:ext>
            </a:extLst>
          </p:cNvPr>
          <p:cNvSpPr/>
          <p:nvPr/>
        </p:nvSpPr>
        <p:spPr>
          <a:xfrm>
            <a:off x="2863612" y="4955105"/>
            <a:ext cx="20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03;p3">
            <a:extLst>
              <a:ext uri="{FF2B5EF4-FFF2-40B4-BE49-F238E27FC236}">
                <a16:creationId xmlns:a16="http://schemas.microsoft.com/office/drawing/2014/main" id="{EE8F3C6B-1E01-4A0E-890A-D3B0AA518286}"/>
              </a:ext>
            </a:extLst>
          </p:cNvPr>
          <p:cNvSpPr/>
          <p:nvPr/>
        </p:nvSpPr>
        <p:spPr>
          <a:xfrm>
            <a:off x="1719852" y="1797011"/>
            <a:ext cx="876674" cy="876674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104;p3">
            <a:extLst>
              <a:ext uri="{FF2B5EF4-FFF2-40B4-BE49-F238E27FC236}">
                <a16:creationId xmlns:a16="http://schemas.microsoft.com/office/drawing/2014/main" id="{D654CEAA-BD90-4313-BC27-0703C3A88908}"/>
              </a:ext>
            </a:extLst>
          </p:cNvPr>
          <p:cNvSpPr/>
          <p:nvPr/>
        </p:nvSpPr>
        <p:spPr>
          <a:xfrm>
            <a:off x="1719852" y="3233001"/>
            <a:ext cx="876674" cy="876674"/>
          </a:xfrm>
          <a:prstGeom prst="ellipse">
            <a:avLst/>
          </a:prstGeom>
          <a:solidFill>
            <a:srgbClr val="CCF3E9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00C391"/>
                </a:solidFill>
                <a:sym typeface="Arial"/>
              </a:rPr>
              <a:t>2</a:t>
            </a:r>
            <a:endParaRPr sz="1500" b="0" i="0" u="none" strike="noStrike" cap="none" dirty="0">
              <a:solidFill>
                <a:srgbClr val="00C39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05;p3">
            <a:extLst>
              <a:ext uri="{FF2B5EF4-FFF2-40B4-BE49-F238E27FC236}">
                <a16:creationId xmlns:a16="http://schemas.microsoft.com/office/drawing/2014/main" id="{11E1E2B4-457B-4B31-A81D-BD06CB2BCF22}"/>
              </a:ext>
            </a:extLst>
          </p:cNvPr>
          <p:cNvSpPr/>
          <p:nvPr/>
        </p:nvSpPr>
        <p:spPr>
          <a:xfrm>
            <a:off x="1719852" y="4668990"/>
            <a:ext cx="876674" cy="876674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</a:pPr>
            <a:r>
              <a:rPr lang="ru-RU" sz="3200" b="0" i="0" u="none" strike="noStrike" cap="none" dirty="0">
                <a:solidFill>
                  <a:srgbClr val="836ED3"/>
                </a:solidFill>
                <a:sym typeface="Arial"/>
              </a:rPr>
              <a:t>3</a:t>
            </a:r>
            <a:endParaRPr sz="1500" b="0" i="0" u="none" strike="noStrike" cap="none" dirty="0">
              <a:solidFill>
                <a:srgbClr val="836ED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" name="Google Shape;106;p3">
            <a:extLst>
              <a:ext uri="{FF2B5EF4-FFF2-40B4-BE49-F238E27FC236}">
                <a16:creationId xmlns:a16="http://schemas.microsoft.com/office/drawing/2014/main" id="{5AF5ABEC-3671-419D-ADEA-8FE71D1BFCD5}"/>
              </a:ext>
            </a:extLst>
          </p:cNvPr>
          <p:cNvSpPr txBox="1"/>
          <p:nvPr/>
        </p:nvSpPr>
        <p:spPr>
          <a:xfrm>
            <a:off x="2863612" y="2079793"/>
            <a:ext cx="3222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Джойны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их виды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07;p3">
            <a:extLst>
              <a:ext uri="{FF2B5EF4-FFF2-40B4-BE49-F238E27FC236}">
                <a16:creationId xmlns:a16="http://schemas.microsoft.com/office/drawing/2014/main" id="{DDBE684C-E96E-4A7E-9942-EC8086C564F4}"/>
              </a:ext>
            </a:extLst>
          </p:cNvPr>
          <p:cNvCxnSpPr/>
          <p:nvPr/>
        </p:nvCxnSpPr>
        <p:spPr>
          <a:xfrm rot="10800000">
            <a:off x="2158189" y="2770917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108;p3">
            <a:extLst>
              <a:ext uri="{FF2B5EF4-FFF2-40B4-BE49-F238E27FC236}">
                <a16:creationId xmlns:a16="http://schemas.microsoft.com/office/drawing/2014/main" id="{1A2D19CA-5D23-4A60-8D80-A14C83AAB040}"/>
              </a:ext>
            </a:extLst>
          </p:cNvPr>
          <p:cNvCxnSpPr/>
          <p:nvPr/>
        </p:nvCxnSpPr>
        <p:spPr>
          <a:xfrm rot="10800000">
            <a:off x="2158189" y="4209909"/>
            <a:ext cx="0" cy="384265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54;p41">
            <a:extLst>
              <a:ext uri="{FF2B5EF4-FFF2-40B4-BE49-F238E27FC236}">
                <a16:creationId xmlns:a16="http://schemas.microsoft.com/office/drawing/2014/main" id="{36BCF9F0-EC7E-472C-86A1-B8AAA0629D3A}"/>
              </a:ext>
            </a:extLst>
          </p:cNvPr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59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62" name="Google Shape;162;p19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9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9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65" name="Google Shape;165;p19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9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9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8" name="Google Shape;168;p19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69" name="Google Shape;169;p19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9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4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71" name="Google Shape;171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ДЖОЙНЫ - </a:t>
            </a:r>
            <a:r>
              <a:rPr lang="en-US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JOINS</a:t>
            </a:r>
            <a:endParaRPr lang="en-US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25BB0-CD27-453A-BE89-10DEE419257C}"/>
              </a:ext>
            </a:extLst>
          </p:cNvPr>
          <p:cNvSpPr txBox="1"/>
          <p:nvPr/>
        </p:nvSpPr>
        <p:spPr>
          <a:xfrm>
            <a:off x="2238598" y="3043047"/>
            <a:ext cx="6233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Это объединение </a:t>
            </a: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2 и более таблиц 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определенным способом по определенным правилам</a:t>
            </a:r>
            <a:endParaRPr lang="ru-RU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28008DF3-A151-4B11-9733-A6243E5AB7BD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8A4E6467-236C-4023-9484-80D6D23F4488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" name="Google Shape;373;p43">
            <a:extLst>
              <a:ext uri="{FF2B5EF4-FFF2-40B4-BE49-F238E27FC236}">
                <a16:creationId xmlns:a16="http://schemas.microsoft.com/office/drawing/2014/main" id="{9D24255E-A29F-40A3-BB6D-2B81590B1D1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16079" y="3092749"/>
            <a:ext cx="485372" cy="48537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25;p11">
            <a:extLst>
              <a:ext uri="{FF2B5EF4-FFF2-40B4-BE49-F238E27FC236}">
                <a16:creationId xmlns:a16="http://schemas.microsoft.com/office/drawing/2014/main" id="{4879BFAD-E90F-4F25-B278-810FAE619B05}"/>
              </a:ext>
            </a:extLst>
          </p:cNvPr>
          <p:cNvSpPr/>
          <p:nvPr/>
        </p:nvSpPr>
        <p:spPr>
          <a:xfrm>
            <a:off x="6508441" y="1041346"/>
            <a:ext cx="4778057" cy="4131355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183" name="Google Shape;183;p20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0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186" name="Google Shape;186;p20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0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0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190" name="Google Shape;190;p20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" name="Google Shape;191;p20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5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ДЖОЙНЫ 7 ВИДОВ</a:t>
            </a: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97" name="Google Shape;197;p20" descr="Картинки по запросу sql join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53007" y="1501370"/>
            <a:ext cx="4173072" cy="328280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1D581EC3-5DC3-40BF-BC99-EB42AA699BAB}"/>
              </a:ext>
            </a:extLst>
          </p:cNvPr>
          <p:cNvSpPr/>
          <p:nvPr/>
        </p:nvSpPr>
        <p:spPr>
          <a:xfrm>
            <a:off x="1689102" y="1041601"/>
            <a:ext cx="4631606" cy="4755819"/>
          </a:xfrm>
          <a:prstGeom prst="roundRect">
            <a:avLst>
              <a:gd name="adj" fmla="val 4357"/>
            </a:avLst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878433" y="1287883"/>
            <a:ext cx="4252942" cy="172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SELECT</a:t>
            </a:r>
            <a:r>
              <a:rPr lang="ru-RU" sz="1600" b="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rgbClr val="00B0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&lt;поля&gt;</a:t>
            </a:r>
            <a:endParaRPr sz="1600" b="0" i="0" u="none" strike="noStrike" cap="none" dirty="0">
              <a:solidFill>
                <a:srgbClr val="00B0F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FROM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rgbClr val="00B0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&lt;таблица 1&gt;</a:t>
            </a:r>
            <a:endParaRPr sz="1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[</a:t>
            </a:r>
            <a:r>
              <a:rPr lang="ru-RU" sz="1600" b="0" i="0" u="none" strike="noStrike" cap="none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INNER</a:t>
            </a: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 dirty="0">
              <a:solidFill>
                <a:srgbClr val="00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{{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LEFT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| RIGHT |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FULL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}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[</a:t>
            </a:r>
            <a:r>
              <a:rPr lang="ru-RU" sz="1600" b="0" i="0" u="none" strike="noStrike" cap="none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OUTER</a:t>
            </a: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]}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rgbClr val="6D9EEB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JOIN </a:t>
            </a:r>
            <a:r>
              <a:rPr lang="ru-RU" sz="1600" b="0" i="0" u="none" strike="noStrike" cap="none" dirty="0">
                <a:solidFill>
                  <a:srgbClr val="00B0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&lt;таблица 2&gt;</a:t>
            </a:r>
            <a:endParaRPr sz="1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[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ON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rgbClr val="00B0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&lt;предикат&gt;]</a:t>
            </a:r>
            <a:endParaRPr sz="1600" b="0" i="0" u="none" strike="noStrike" cap="none" dirty="0">
              <a:solidFill>
                <a:srgbClr val="00B0F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 dirty="0">
                <a:solidFill>
                  <a:srgbClr val="66CC6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[</a:t>
            </a:r>
            <a:r>
              <a:rPr lang="ru-RU" sz="16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WHERE</a:t>
            </a:r>
            <a:r>
              <a:rPr lang="ru-RU" sz="1600" b="0" i="0" u="none" strike="noStrike" cap="none" dirty="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ru-RU" sz="1600" b="0" i="0" u="none" strike="noStrike" cap="none" dirty="0">
                <a:solidFill>
                  <a:srgbClr val="00B0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&lt;предикат&gt;]</a:t>
            </a:r>
            <a:endParaRPr sz="1600" b="0" i="0" u="none" strike="noStrike" cap="none" dirty="0">
              <a:solidFill>
                <a:srgbClr val="00B0F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1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05" name="Google Shape;205;p21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1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21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08" name="Google Shape;208;p21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1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1" name="Google Shape;211;p21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12" name="Google Shape;212;p21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" name="Google Shape;213;p21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6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14" name="Google Shape;214;p2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/>
          <p:nvPr/>
        </p:nvSpPr>
        <p:spPr>
          <a:xfrm>
            <a:off x="1651000" y="336950"/>
            <a:ext cx="7408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ДЖОЙНЫ. 2 ОСНОВНЫХ ВИДА</a:t>
            </a: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034B68-0DF7-4DF1-8677-D0AEF35F418A}"/>
              </a:ext>
            </a:extLst>
          </p:cNvPr>
          <p:cNvSpPr txBox="1"/>
          <p:nvPr/>
        </p:nvSpPr>
        <p:spPr>
          <a:xfrm>
            <a:off x="1680399" y="2521059"/>
            <a:ext cx="945322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chemeClr val="dk1"/>
              </a:buClr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Несмотря на многообразие видов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джойнов</a:t>
            </a: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, в 99,99% используются 2:</a:t>
            </a:r>
          </a:p>
          <a:p>
            <a:pPr lvl="0">
              <a:buClr>
                <a:schemeClr val="dk1"/>
              </a:buClr>
            </a:pPr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lvl="0">
              <a:buClr>
                <a:schemeClr val="dk1"/>
              </a:buClr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LEFT JOIN</a:t>
            </a:r>
          </a:p>
          <a:p>
            <a:pPr lvl="0">
              <a:buClr>
                <a:schemeClr val="dk1"/>
              </a:buClr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INNER JOIN</a:t>
            </a:r>
          </a:p>
          <a:p>
            <a:pPr lvl="0">
              <a:buClr>
                <a:schemeClr val="dk1"/>
              </a:buClr>
            </a:pPr>
            <a:endParaRPr lang="ru-RU"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lvl="0">
              <a:buClr>
                <a:schemeClr val="dk1"/>
              </a:buClr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Рассмотрим каждый подробнее</a:t>
            </a:r>
          </a:p>
          <a:p>
            <a:pPr lvl="0">
              <a:buClr>
                <a:schemeClr val="dk1"/>
              </a:buClr>
            </a:pPr>
            <a:r>
              <a:rPr lang="ru-RU" sz="1600" u="sng" dirty="0">
                <a:solidFill>
                  <a:schemeClr val="hlink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  <a:hlinkClick r:id="rId10"/>
              </a:rPr>
              <a:t>https://towardsdatascience.com/can-we-stop-with-the-sql-joins-venn-diagrams-insanity-16791d9250c3</a:t>
            </a:r>
            <a:endParaRPr lang="ru-RU" sz="1600" dirty="0">
              <a:solidFill>
                <a:srgbClr val="3F3F3F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cxnSp>
        <p:nvCxnSpPr>
          <p:cNvPr id="19" name="Google Shape;163;p7">
            <a:extLst>
              <a:ext uri="{FF2B5EF4-FFF2-40B4-BE49-F238E27FC236}">
                <a16:creationId xmlns:a16="http://schemas.microsoft.com/office/drawing/2014/main" id="{541987EC-051A-4365-96B5-A880CF543BC6}"/>
              </a:ext>
            </a:extLst>
          </p:cNvPr>
          <p:cNvCxnSpPr/>
          <p:nvPr/>
        </p:nvCxnSpPr>
        <p:spPr>
          <a:xfrm>
            <a:off x="1774825" y="1513118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163;p7">
            <a:extLst>
              <a:ext uri="{FF2B5EF4-FFF2-40B4-BE49-F238E27FC236}">
                <a16:creationId xmlns:a16="http://schemas.microsoft.com/office/drawing/2014/main" id="{BB91EF1B-A98F-42F3-B9B4-9EC1BA2EA60A}"/>
              </a:ext>
            </a:extLst>
          </p:cNvPr>
          <p:cNvCxnSpPr/>
          <p:nvPr/>
        </p:nvCxnSpPr>
        <p:spPr>
          <a:xfrm>
            <a:off x="1774825" y="5157751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2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26" name="Google Shape;226;p22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2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p22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29" name="Google Shape;229;p22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2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2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2" name="Google Shape;232;p22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33" name="Google Shape;233;p22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4" name="Google Shape;234;p22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7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1651000" y="336950"/>
            <a:ext cx="802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INNER JOIN ИЛИ ПРОСТО JOIN</a:t>
            </a: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" name="Google Shape;225;p11">
            <a:extLst>
              <a:ext uri="{FF2B5EF4-FFF2-40B4-BE49-F238E27FC236}">
                <a16:creationId xmlns:a16="http://schemas.microsoft.com/office/drawing/2014/main" id="{1F4A69F3-F277-4AE6-A692-243D0CD2EE9A}"/>
              </a:ext>
            </a:extLst>
          </p:cNvPr>
          <p:cNvSpPr/>
          <p:nvPr/>
        </p:nvSpPr>
        <p:spPr>
          <a:xfrm>
            <a:off x="1774825" y="2157222"/>
            <a:ext cx="8569714" cy="3652640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0" name="Google Shape;240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82015" y="2982882"/>
            <a:ext cx="5483140" cy="20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68836A-5609-4FF4-A6D0-2B452531A627}"/>
              </a:ext>
            </a:extLst>
          </p:cNvPr>
          <p:cNvSpPr txBox="1"/>
          <p:nvPr/>
        </p:nvSpPr>
        <p:spPr>
          <a:xfrm>
            <a:off x="1706985" y="1311889"/>
            <a:ext cx="7258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Если ключи в двух таблицах совпадают, то будет возвращена строка, содержащая колонки из обеих таблиц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25;p11">
            <a:extLst>
              <a:ext uri="{FF2B5EF4-FFF2-40B4-BE49-F238E27FC236}">
                <a16:creationId xmlns:a16="http://schemas.microsoft.com/office/drawing/2014/main" id="{AEC65C84-2414-40AE-96F0-73E6AC17AC69}"/>
              </a:ext>
            </a:extLst>
          </p:cNvPr>
          <p:cNvSpPr/>
          <p:nvPr/>
        </p:nvSpPr>
        <p:spPr>
          <a:xfrm>
            <a:off x="1774825" y="2822942"/>
            <a:ext cx="8569714" cy="3085323"/>
          </a:xfrm>
          <a:prstGeom prst="roundRect">
            <a:avLst>
              <a:gd name="adj" fmla="val 5760"/>
            </a:avLst>
          </a:prstGeom>
          <a:solidFill>
            <a:srgbClr val="D0DBFE">
              <a:alpha val="0"/>
            </a:srgbClr>
          </a:solidFill>
          <a:ln w="12700">
            <a:solidFill>
              <a:schemeClr val="tx1"/>
            </a:solidFill>
          </a:ln>
        </p:spPr>
        <p:txBody>
          <a:bodyPr spcFirstLastPara="1" wrap="square" lIns="180000" tIns="180000" rIns="108000" bIns="14400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7" name="Google Shape;247;p23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248" name="Google Shape;248;p23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3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" name="Google Shape;250;p23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251" name="Google Shape;251;p23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3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3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4" name="Google Shape;254;p23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55" name="Google Shape;255;p23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" name="Google Shape;256;p23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8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57" name="Google Shape;257;p2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1651000" y="336950"/>
            <a:ext cx="802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500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LEFT JOIN</a:t>
            </a:r>
            <a:endParaRPr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1578768" y="1073489"/>
            <a:ext cx="8840415" cy="150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7350" lvl="0" indent="-285750" algn="l" rtl="0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Если ключи в двух таблицах совпадают, то будет возвращена строка, содержащая колонки из обеих таблиц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marL="387350" lvl="0" indent="-285750" algn="l" rtl="0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Если для строки из левой таблицы не будет найдено строк с тем же ключом в правой таблице, то вернётся строка из левой таблицы, но в том числе с колонками правой таблицы, в которых будет стоять </a:t>
            </a:r>
            <a:r>
              <a:rPr lang="ru-RU" sz="1600" dirty="0" err="1">
                <a:solidFill>
                  <a:schemeClr val="tx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null</a:t>
            </a:r>
            <a:endParaRPr sz="1600" dirty="0">
              <a:solidFill>
                <a:schemeClr val="tx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262" name="Google Shape;262;p2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49149" y="3482487"/>
            <a:ext cx="5103578" cy="1900761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4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6604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Shape, circ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9" y="809625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4"/>
          <p:cNvGrpSpPr/>
          <p:nvPr/>
        </p:nvGrpSpPr>
        <p:grpSpPr>
          <a:xfrm>
            <a:off x="1" y="0"/>
            <a:ext cx="12202649" cy="6858000"/>
            <a:chOff x="0" y="0"/>
            <a:chExt cx="24405297" cy="13716000"/>
          </a:xfrm>
        </p:grpSpPr>
        <p:sp>
          <p:nvSpPr>
            <p:cNvPr id="270" name="Google Shape;270;p24"/>
            <p:cNvSpPr/>
            <p:nvPr/>
          </p:nvSpPr>
          <p:spPr>
            <a:xfrm>
              <a:off x="0" y="6670450"/>
              <a:ext cx="24382799" cy="375100"/>
            </a:xfrm>
            <a:prstGeom prst="rect">
              <a:avLst/>
            </a:prstGeom>
            <a:solidFill>
              <a:srgbClr val="170095"/>
            </a:solidFill>
            <a:ln>
              <a:noFill/>
            </a:ln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endParaRPr sz="75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271" name="Google Shape;271;p24" descr="Logo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28929" y="834956"/>
              <a:ext cx="2146300" cy="146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4" descr="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7953697" y="7264400"/>
              <a:ext cx="6451600" cy="645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4" descr="A picture containing shap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4" descr="Icon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4" descr="Shape, circle&#10;&#10;Description automatically generate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1204897" y="105219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24"/>
            <p:cNvSpPr txBox="1"/>
            <p:nvPr/>
          </p:nvSpPr>
          <p:spPr>
            <a:xfrm>
              <a:off x="3260998" y="5632856"/>
              <a:ext cx="16917839" cy="2825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lnSpc>
                  <a:spcPct val="85000"/>
                </a:lnSpc>
                <a:buClr>
                  <a:schemeClr val="lt1"/>
                </a:buClr>
                <a:buSzPts val="5400"/>
                <a:buFont typeface="Arial Black"/>
                <a:buNone/>
                <a:defRPr sz="5400">
                  <a:solidFill>
                    <a:srgbClr val="FFFFFF"/>
                  </a:solidFill>
                  <a:latin typeface="Arial Black"/>
                  <a:ea typeface="Arial Black"/>
                  <a:cs typeface="Arial Black"/>
                </a:defRPr>
              </a:lvl1pPr>
              <a:lvl2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2pPr>
              <a:lvl3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3pPr>
              <a:lvl4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4pPr>
              <a:lvl5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5pPr>
              <a:lvl6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6pPr>
              <a:lvl7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7pPr>
              <a:lvl8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8pPr>
              <a:lvl9pPr algn="ctr">
                <a:buSzPts val="1800"/>
                <a:buFont typeface="Helvetica Neue"/>
                <a:buNone/>
                <a:defRPr sz="5600">
                  <a:latin typeface="Helvetica Neue"/>
                  <a:ea typeface="Helvetica Neue"/>
                  <a:cs typeface="Helvetica Neue"/>
                </a:defRPr>
              </a:lvl9pPr>
            </a:lstStyle>
            <a:p>
              <a:r>
                <a:rPr lang="ru-RU" dirty="0">
                  <a:sym typeface="Arial Black"/>
                </a:rPr>
                <a:t>ПОДВЕДЕНИЕ </a:t>
              </a:r>
              <a:endParaRPr dirty="0"/>
            </a:p>
            <a:p>
              <a:r>
                <a:rPr lang="ru-RU" dirty="0">
                  <a:sym typeface="Arial Black"/>
                </a:rPr>
                <a:t>ИТОГОВ</a:t>
              </a:r>
              <a:endParaRPr dirty="0">
                <a:sym typeface="Calibri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/>
        </p:nvSpPr>
        <p:spPr>
          <a:xfrm>
            <a:off x="11442668" y="6193270"/>
            <a:ext cx="27764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1651000" y="336950"/>
            <a:ext cx="63567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ИТОГИ ЗАНЯТИЯ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284" name="Google Shape;284;p25"/>
          <p:cNvGrpSpPr/>
          <p:nvPr/>
        </p:nvGrpSpPr>
        <p:grpSpPr>
          <a:xfrm>
            <a:off x="0" y="0"/>
            <a:ext cx="1501503" cy="1501503"/>
            <a:chOff x="22497" y="0"/>
            <a:chExt cx="3238500" cy="3238500"/>
          </a:xfrm>
        </p:grpSpPr>
        <p:pic>
          <p:nvPicPr>
            <p:cNvPr id="285" name="Google Shape;285;p25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5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7" y="0"/>
              <a:ext cx="3238500" cy="32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" name="Google Shape;287;p25"/>
          <p:cNvGrpSpPr/>
          <p:nvPr/>
        </p:nvGrpSpPr>
        <p:grpSpPr>
          <a:xfrm>
            <a:off x="9945440" y="4637973"/>
            <a:ext cx="2246560" cy="2246816"/>
            <a:chOff x="19553897" y="8864600"/>
            <a:chExt cx="4851400" cy="4851952"/>
          </a:xfrm>
        </p:grpSpPr>
        <p:pic>
          <p:nvPicPr>
            <p:cNvPr id="288" name="Google Shape;288;p25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5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5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1" name="Google Shape;291;p25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292" name="Google Shape;292;p25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3" name="Google Shape;293;p25"/>
              <p:cNvSpPr txBox="1"/>
              <p:nvPr/>
            </p:nvSpPr>
            <p:spPr>
              <a:xfrm>
                <a:off x="21231326" y="12448438"/>
                <a:ext cx="1511670" cy="976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9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294" name="Google Shape;294;p2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31;g142b2dfbfff_0_351">
            <a:extLst>
              <a:ext uri="{FF2B5EF4-FFF2-40B4-BE49-F238E27FC236}">
                <a16:creationId xmlns:a16="http://schemas.microsoft.com/office/drawing/2014/main" id="{4EDBC1E9-6252-4359-93C4-98A35440CF93}"/>
              </a:ext>
            </a:extLst>
          </p:cNvPr>
          <p:cNvSpPr/>
          <p:nvPr/>
        </p:nvSpPr>
        <p:spPr>
          <a:xfrm>
            <a:off x="1725839" y="1720676"/>
            <a:ext cx="2714100" cy="1607400"/>
          </a:xfrm>
          <a:prstGeom prst="roundRect">
            <a:avLst>
              <a:gd name="adj" fmla="val 5760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01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Поняли, какие существуют виды </a:t>
            </a:r>
            <a:r>
              <a:rPr lang="ru-RU" sz="1800" dirty="0" err="1">
                <a:solidFill>
                  <a:schemeClr val="dk1"/>
                </a:solidFill>
              </a:rPr>
              <a:t>джойнов</a:t>
            </a:r>
            <a:endParaRPr lang="ru-RU" sz="1800" dirty="0">
              <a:solidFill>
                <a:schemeClr val="dk1"/>
              </a:solidFill>
            </a:endParaRPr>
          </a:p>
        </p:txBody>
      </p:sp>
      <p:sp>
        <p:nvSpPr>
          <p:cNvPr id="17" name="Google Shape;532;g142b2dfbfff_0_351">
            <a:extLst>
              <a:ext uri="{FF2B5EF4-FFF2-40B4-BE49-F238E27FC236}">
                <a16:creationId xmlns:a16="http://schemas.microsoft.com/office/drawing/2014/main" id="{B0F44FC6-CD17-47F0-A083-C589B476BC43}"/>
              </a:ext>
            </a:extLst>
          </p:cNvPr>
          <p:cNvSpPr/>
          <p:nvPr/>
        </p:nvSpPr>
        <p:spPr>
          <a:xfrm>
            <a:off x="4761325" y="1720665"/>
            <a:ext cx="3705900" cy="1607400"/>
          </a:xfrm>
          <a:prstGeom prst="roundRect">
            <a:avLst>
              <a:gd name="adj" fmla="val 521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02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Поняли их назначение</a:t>
            </a:r>
          </a:p>
        </p:txBody>
      </p:sp>
      <p:sp>
        <p:nvSpPr>
          <p:cNvPr id="18" name="Google Shape;533;g142b2dfbfff_0_351">
            <a:extLst>
              <a:ext uri="{FF2B5EF4-FFF2-40B4-BE49-F238E27FC236}">
                <a16:creationId xmlns:a16="http://schemas.microsoft.com/office/drawing/2014/main" id="{ACAC2A77-8842-4222-A50C-9EDC818EFF78}"/>
              </a:ext>
            </a:extLst>
          </p:cNvPr>
          <p:cNvSpPr/>
          <p:nvPr/>
        </p:nvSpPr>
        <p:spPr>
          <a:xfrm>
            <a:off x="5571950" y="3578940"/>
            <a:ext cx="28950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04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Создали прямое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и левостороннее соединения</a:t>
            </a:r>
          </a:p>
        </p:txBody>
      </p:sp>
      <p:pic>
        <p:nvPicPr>
          <p:cNvPr id="19" name="Google Shape;534;g142b2dfbfff_0_351">
            <a:extLst>
              <a:ext uri="{FF2B5EF4-FFF2-40B4-BE49-F238E27FC236}">
                <a16:creationId xmlns:a16="http://schemas.microsoft.com/office/drawing/2014/main" id="{6E3559CB-2D21-4FCD-B318-173AFE57672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86591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535;g142b2dfbfff_0_351">
            <a:extLst>
              <a:ext uri="{FF2B5EF4-FFF2-40B4-BE49-F238E27FC236}">
                <a16:creationId xmlns:a16="http://schemas.microsoft.com/office/drawing/2014/main" id="{597C7340-9269-4D11-9AE7-71520060434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4" y="188615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536;g142b2dfbfff_0_351">
            <a:extLst>
              <a:ext uri="{FF2B5EF4-FFF2-40B4-BE49-F238E27FC236}">
                <a16:creationId xmlns:a16="http://schemas.microsoft.com/office/drawing/2014/main" id="{B0C17EE1-CB1E-42BC-A5BB-8AA4C1630B7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94575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537;g142b2dfbfff_0_351">
            <a:extLst>
              <a:ext uri="{FF2B5EF4-FFF2-40B4-BE49-F238E27FC236}">
                <a16:creationId xmlns:a16="http://schemas.microsoft.com/office/drawing/2014/main" id="{31F4BC67-89F7-47A4-A07A-339F9ACCA99F}"/>
              </a:ext>
            </a:extLst>
          </p:cNvPr>
          <p:cNvSpPr/>
          <p:nvPr/>
        </p:nvSpPr>
        <p:spPr>
          <a:xfrm>
            <a:off x="1725848" y="3578940"/>
            <a:ext cx="3540600" cy="1607400"/>
          </a:xfrm>
          <a:prstGeom prst="roundRect">
            <a:avLst>
              <a:gd name="adj" fmla="val 6305"/>
            </a:avLst>
          </a:prstGeom>
          <a:solidFill>
            <a:srgbClr val="0CC596">
              <a:alpha val="20000"/>
            </a:srgb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 dirty="0">
                <a:solidFill>
                  <a:srgbClr val="0CC59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2800" b="0" i="0" u="none" strike="noStrike" cap="none" dirty="0">
                <a:solidFill>
                  <a:srgbClr val="0CC596"/>
                </a:solidFill>
                <a:sym typeface="Arial"/>
              </a:rPr>
              <a:t>3</a:t>
            </a:r>
            <a:endParaRPr lang="ru-RU" sz="1500" dirty="0">
              <a:solidFill>
                <a:srgbClr val="0CC596"/>
              </a:solidFill>
              <a:latin typeface="Helvetica Neue"/>
              <a:sym typeface="Helvetica Neue"/>
            </a:endParaRP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 err="1">
                <a:solidFill>
                  <a:schemeClr val="dk1"/>
                </a:solidFill>
              </a:rPr>
              <a:t>Унали</a:t>
            </a:r>
            <a:r>
              <a:rPr lang="ru-RU" sz="1800" dirty="0">
                <a:solidFill>
                  <a:schemeClr val="dk1"/>
                </a:solidFill>
              </a:rPr>
              <a:t> 2 самых используемых </a:t>
            </a:r>
            <a:r>
              <a:rPr lang="ru-RU" sz="1800" dirty="0" err="1">
                <a:solidFill>
                  <a:schemeClr val="dk1"/>
                </a:solidFill>
              </a:rPr>
              <a:t>джойна</a:t>
            </a:r>
            <a:r>
              <a:rPr lang="ru-RU" sz="1800" dirty="0">
                <a:solidFill>
                  <a:schemeClr val="dk1"/>
                </a:solidFill>
              </a:rPr>
              <a:t> </a:t>
            </a:r>
          </a:p>
          <a:p>
            <a:pPr marL="114300" lvl="0">
              <a:buClr>
                <a:schemeClr val="dk1"/>
              </a:buClr>
              <a:buSzPts val="1800"/>
            </a:pPr>
            <a:r>
              <a:rPr lang="ru-RU" sz="1800" dirty="0">
                <a:solidFill>
                  <a:schemeClr val="dk1"/>
                </a:solidFill>
              </a:rPr>
              <a:t>на практике</a:t>
            </a:r>
          </a:p>
        </p:txBody>
      </p:sp>
      <p:pic>
        <p:nvPicPr>
          <p:cNvPr id="23" name="Google Shape;538;g142b2dfbfff_0_351">
            <a:extLst>
              <a:ext uri="{FF2B5EF4-FFF2-40B4-BE49-F238E27FC236}">
                <a16:creationId xmlns:a16="http://schemas.microsoft.com/office/drawing/2014/main" id="{9542D2F6-FAB1-4E5C-8EBC-7EAD38B1A99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67500" y="3744431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/>
        </p:nvSpPr>
        <p:spPr>
          <a:xfrm>
            <a:off x="11442668" y="6193270"/>
            <a:ext cx="27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300" b="0" i="0" u="none" strike="noStrike" cap="non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1651000" y="336950"/>
            <a:ext cx="856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ru-RU" sz="2500" b="0" i="0" u="none" strike="noStrike" cap="none" dirty="0">
                <a:solidFill>
                  <a:srgbClr val="030124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 ДЛЯ САМОПРОВЕРКИ</a:t>
            </a:r>
            <a:endParaRPr lang="ru-RU" sz="2500" b="1" i="0" u="none" strike="noStrike" cap="none" dirty="0">
              <a:solidFill>
                <a:srgbClr val="03012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lang="ru-RU" sz="2500" b="1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303" name="Google Shape;303;p26"/>
          <p:cNvGrpSpPr/>
          <p:nvPr/>
        </p:nvGrpSpPr>
        <p:grpSpPr>
          <a:xfrm>
            <a:off x="-1" y="0"/>
            <a:ext cx="1501369" cy="1501369"/>
            <a:chOff x="22496" y="-1"/>
            <a:chExt cx="3238501" cy="3238501"/>
          </a:xfrm>
        </p:grpSpPr>
        <p:pic>
          <p:nvPicPr>
            <p:cNvPr id="304" name="Google Shape;304;p26" descr="Shape, circle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497" y="1619250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6" descr="A picture containing shape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0800000">
              <a:off x="22496" y="-1"/>
              <a:ext cx="3238501" cy="32385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6" name="Google Shape;306;p26"/>
          <p:cNvGrpSpPr/>
          <p:nvPr/>
        </p:nvGrpSpPr>
        <p:grpSpPr>
          <a:xfrm>
            <a:off x="9945937" y="4638198"/>
            <a:ext cx="2246683" cy="2246939"/>
            <a:chOff x="19553897" y="8864600"/>
            <a:chExt cx="4851400" cy="4851952"/>
          </a:xfrm>
        </p:grpSpPr>
        <p:pic>
          <p:nvPicPr>
            <p:cNvPr id="307" name="Google Shape;307;p26" descr="Shape, circle&#10;&#10;Description automatically generated"/>
            <p:cNvPicPr preferRelativeResize="0"/>
            <p:nvPr/>
          </p:nvPicPr>
          <p:blipFill rotWithShape="1">
            <a:blip r:embed="rId6">
              <a:alphaModFix amt="50000"/>
            </a:blip>
            <a:srcRect/>
            <a:stretch/>
          </p:blipFill>
          <p:spPr>
            <a:xfrm>
              <a:off x="22805097" y="8893175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6" descr="Shape, circle&#10;&#10;Description automatically generated"/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21192498" y="10516152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6" descr="A picture containing background pattern&#10;&#10;Description automatically generate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9553897" y="8864600"/>
              <a:ext cx="4851400" cy="4851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0" name="Google Shape;310;p26"/>
            <p:cNvGrpSpPr/>
            <p:nvPr/>
          </p:nvGrpSpPr>
          <p:grpSpPr>
            <a:xfrm>
              <a:off x="22805097" y="12116352"/>
              <a:ext cx="1600200" cy="1600200"/>
              <a:chOff x="21187061" y="12136428"/>
              <a:chExt cx="1600200" cy="1600200"/>
            </a:xfrm>
          </p:grpSpPr>
          <p:pic>
            <p:nvPicPr>
              <p:cNvPr id="311" name="Google Shape;311;p26" descr="Shape, circle&#10;&#10;Description automatically generated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1187061" y="12136428"/>
                <a:ext cx="1600200" cy="1600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2" name="Google Shape;312;p26"/>
              <p:cNvSpPr txBox="1"/>
              <p:nvPr/>
            </p:nvSpPr>
            <p:spPr>
              <a:xfrm>
                <a:off x="21231326" y="12448438"/>
                <a:ext cx="1511700" cy="97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1425" tIns="71425" rIns="71425" bIns="71425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Proxima Nova"/>
                  <a:buNone/>
                </a:pPr>
                <a:r>
                  <a:rPr lang="ru-RU" sz="2000" b="0" i="0" u="none" strike="noStrike" cap="none" dirty="0">
                    <a:solidFill>
                      <a:srgbClr val="FFFFFF"/>
                    </a:solidFill>
                    <a:latin typeface="Proxima Nova"/>
                    <a:ea typeface="Proxima Nova"/>
                    <a:cs typeface="Proxima Nova"/>
                    <a:sym typeface="Proxima Nova"/>
                  </a:rPr>
                  <a:t>10</a:t>
                </a:r>
                <a:endParaRPr sz="2000" b="0" i="0" u="none" strike="noStrike" cap="non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endParaRPr>
              </a:p>
            </p:txBody>
          </p:sp>
        </p:grpSp>
      </p:grpSp>
      <p:pic>
        <p:nvPicPr>
          <p:cNvPr id="313" name="Google Shape;313;p2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023565" y="459901"/>
            <a:ext cx="854846" cy="5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/>
          <p:nvPr/>
        </p:nvSpPr>
        <p:spPr>
          <a:xfrm>
            <a:off x="1657219" y="921650"/>
            <a:ext cx="4503746" cy="741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1" dirty="0">
                <a:solidFill>
                  <a:schemeClr val="dk1"/>
                </a:solidFill>
              </a:rPr>
              <a:t>Цель задания:</a:t>
            </a:r>
            <a:endParaRPr sz="16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</a:rPr>
              <a:t>Реализовать прямое соединение 2 таблиц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8DFBEB-DBD1-4139-A011-2CEF90C23E14}"/>
              </a:ext>
            </a:extLst>
          </p:cNvPr>
          <p:cNvSpPr/>
          <p:nvPr/>
        </p:nvSpPr>
        <p:spPr>
          <a:xfrm>
            <a:off x="1650999" y="1796194"/>
            <a:ext cx="888637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ts val="1800"/>
            </a:pPr>
            <a:r>
              <a:rPr lang="ru-RU" sz="1600" b="1" dirty="0">
                <a:solidFill>
                  <a:schemeClr val="dk1"/>
                </a:solidFill>
              </a:rPr>
              <a:t>Пошаговый план выполнения: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таблицу с товарами (наименование, цена)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Добавить 4-5 записей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Создать таблицу с продажами этих товаров (наименование, количество)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Добавить 4-5 записей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Посмотреть какие товары по какой цене продавались, используя прямое соединение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Посмотреть какие товары продавались, а какие нет и по какой цене, используя левостороннее соединение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Задание со * - оставить в соединении только товары, которые ни разу не продавались</a:t>
            </a:r>
          </a:p>
          <a:p>
            <a:pPr marL="457200" lvl="0" indent="-342900">
              <a:spcBef>
                <a:spcPts val="600"/>
              </a:spcBef>
              <a:buClr>
                <a:schemeClr val="dk1"/>
              </a:buClr>
              <a:buSzPts val="1800"/>
              <a:buAutoNum type="arabicPeriod"/>
            </a:pPr>
            <a:r>
              <a:rPr lang="ru-RU" sz="1600" dirty="0">
                <a:solidFill>
                  <a:schemeClr val="dk1"/>
                </a:solidFill>
              </a:rPr>
              <a:t>Выполните задание самостоятельно. Свое решение вы можете сравнить с эталонным (приложено к уроку)</a:t>
            </a:r>
          </a:p>
          <a:p>
            <a:pPr lvl="0">
              <a:buSzPts val="1800"/>
            </a:pPr>
            <a:endParaRPr lang="ru-RU" sz="1600" dirty="0">
              <a:solidFill>
                <a:schemeClr val="dk1"/>
              </a:solidFill>
            </a:endParaRPr>
          </a:p>
          <a:p>
            <a:pPr lvl="0">
              <a:buSzPts val="1800"/>
            </a:pPr>
            <a:r>
              <a:rPr lang="ru-RU" sz="1600" dirty="0">
                <a:solidFill>
                  <a:schemeClr val="dk1"/>
                </a:solidFill>
              </a:rPr>
              <a:t>Задание закончено</a:t>
            </a:r>
          </a:p>
        </p:txBody>
      </p:sp>
      <p:cxnSp>
        <p:nvCxnSpPr>
          <p:cNvPr id="17" name="Google Shape;163;p7">
            <a:extLst>
              <a:ext uri="{FF2B5EF4-FFF2-40B4-BE49-F238E27FC236}">
                <a16:creationId xmlns:a16="http://schemas.microsoft.com/office/drawing/2014/main" id="{80A28E48-09F2-4CAD-87C2-2ECE38B914EE}"/>
              </a:ext>
            </a:extLst>
          </p:cNvPr>
          <p:cNvCxnSpPr/>
          <p:nvPr/>
        </p:nvCxnSpPr>
        <p:spPr>
          <a:xfrm>
            <a:off x="1774825" y="1663503"/>
            <a:ext cx="8785225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0095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/>
          <p:nvPr/>
        </p:nvSpPr>
        <p:spPr>
          <a:xfrm>
            <a:off x="0" y="3323684"/>
            <a:ext cx="12191400" cy="210633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1" name="Google Shape;321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094" y="605790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7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91300" y="444979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 descr="A picture containing background patter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5700" y="4432300"/>
            <a:ext cx="24257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7"/>
          <p:cNvSpPr txBox="1"/>
          <p:nvPr/>
        </p:nvSpPr>
        <p:spPr>
          <a:xfrm>
            <a:off x="1721050" y="2613156"/>
            <a:ext cx="7480200" cy="142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00" tIns="35700" rIns="35700" bIns="35700" anchor="t" anchorCtr="0">
            <a:spAutoFit/>
          </a:bodyPr>
          <a:lstStyle/>
          <a:p>
            <a:pPr lvl="0">
              <a:lnSpc>
                <a:spcPct val="85000"/>
              </a:lnSpc>
              <a:buClr>
                <a:schemeClr val="lt1"/>
              </a:buClr>
              <a:buSzPts val="5400"/>
            </a:pPr>
            <a:r>
              <a:rPr lang="ru-RU" sz="5400" dirty="0">
                <a:solidFill>
                  <a:srgbClr val="FFFFFF"/>
                </a:solidFill>
                <a:latin typeface="Arial Black"/>
              </a:rPr>
              <a:t>СПАСИБО!</a:t>
            </a:r>
            <a:endParaRPr sz="1800" i="0" u="none" strike="noStrike" cap="none"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</a:rPr>
              <a:t>На следующем занятии мы </a:t>
            </a:r>
            <a:r>
              <a:rPr lang="ru-RU" sz="1800" dirty="0">
                <a:solidFill>
                  <a:schemeClr val="lt1"/>
                </a:solidFill>
              </a:rPr>
              <a:t>рассмотрим тему</a:t>
            </a:r>
            <a:r>
              <a:rPr lang="ru-RU" sz="1800" i="0" u="none" strike="noStrike" cap="none" dirty="0">
                <a:solidFill>
                  <a:schemeClr val="lt1"/>
                </a:solidFill>
              </a:rPr>
              <a:t>:</a:t>
            </a:r>
            <a:endParaRPr sz="1800" dirty="0">
              <a:solidFill>
                <a:schemeClr val="lt1"/>
              </a:solidFill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lt1"/>
                </a:solidFill>
              </a:rPr>
              <a:t>Множества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325" name="Google Shape;325;p27" descr="Shape, circle, rectangl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7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7" descr="A picture containing shap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>
            <a:off x="0" y="0"/>
            <a:ext cx="16192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7" descr="Shape, circl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5254901"/>
            <a:ext cx="800100" cy="80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7"/>
          <p:cNvGrpSpPr/>
          <p:nvPr/>
        </p:nvGrpSpPr>
        <p:grpSpPr>
          <a:xfrm>
            <a:off x="9769698" y="6067243"/>
            <a:ext cx="801286" cy="800100"/>
            <a:chOff x="15228655" y="2672088"/>
            <a:chExt cx="1602572" cy="1600200"/>
          </a:xfrm>
        </p:grpSpPr>
        <p:pic>
          <p:nvPicPr>
            <p:cNvPr id="329" name="Google Shape;329;p27" descr="Shape, circle&#10;&#10;Description automatically generated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5231027" y="2672088"/>
              <a:ext cx="1600200" cy="16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27"/>
            <p:cNvSpPr txBox="1"/>
            <p:nvPr/>
          </p:nvSpPr>
          <p:spPr>
            <a:xfrm>
              <a:off x="15228655" y="3030724"/>
              <a:ext cx="1511670" cy="8829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ru-RU" sz="240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end</a:t>
              </a:r>
              <a:endPara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id="331" name="Google Shape;331;p27" descr="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6038668"/>
            <a:ext cx="800100" cy="8001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388</Words>
  <Application>Microsoft Office PowerPoint</Application>
  <PresentationFormat>Широкоэкранный</PresentationFormat>
  <Paragraphs>102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Proxima Nova</vt:lpstr>
      <vt:lpstr>Helvetica Neue</vt:lpstr>
      <vt:lpstr>Consolas</vt:lpstr>
      <vt:lpstr>Arial Black</vt:lpstr>
      <vt:lpstr>Open Sans</vt:lpstr>
      <vt:lpstr>Courier New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Трошин Алексей Валентинович</cp:lastModifiedBy>
  <cp:revision>10</cp:revision>
  <dcterms:modified xsi:type="dcterms:W3CDTF">2022-08-29T14:48:30Z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8DCE6709-AAFD-4D4D-80A9-A605D04500DA</vt:lpwstr>
  </property>
  <property fmtid="{D5CDD505-2E9C-101B-9397-08002B2CF9AE}" pid="3" name="ArticulatePath">
    <vt:lpwstr>30 Джойны</vt:lpwstr>
  </property>
</Properties>
</file>