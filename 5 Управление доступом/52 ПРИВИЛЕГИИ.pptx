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8" r:id="rId4"/>
    <p:sldMasterId id="2147483719" r:id="rId5"/>
    <p:sldMasterId id="2147483720" r:id="rId6"/>
    <p:sldMasterId id="2147483721" r:id="rId7"/>
    <p:sldMasterId id="2147483722" r:id="rId8"/>
    <p:sldMasterId id="2147483723" r:id="rId9"/>
    <p:sldMasterId id="2147483724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</p:sldIdLst>
  <p:sldSz cy="6858000" cx="12192000"/>
  <p:notesSz cx="6858000" cy="9144000"/>
  <p:embeddedFontLst>
    <p:embeddedFont>
      <p:font typeface="Proxima Nova"/>
      <p:regular r:id="rId27"/>
      <p:bold r:id="rId28"/>
      <p:italic r:id="rId29"/>
      <p:boldItalic r:id="rId30"/>
    </p:embeddedFont>
    <p:embeddedFont>
      <p:font typeface="Helvetica Neue"/>
      <p:regular r:id="rId31"/>
      <p:bold r:id="rId32"/>
      <p:italic r:id="rId33"/>
      <p:boldItalic r:id="rId34"/>
    </p:embeddedFont>
    <p:embeddedFont>
      <p:font typeface="Arial Black"/>
      <p:regular r:id="rId35"/>
    </p:embeddedFont>
    <p:embeddedFont>
      <p:font typeface="Helvetica Neue Light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63"/>
        <p:guide pos="1118"/>
        <p:guide pos="7333"/>
        <p:guide pos="278" orient="horz"/>
        <p:guide pos="404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slide" Target="slides/slide9.xml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43" Type="http://schemas.openxmlformats.org/officeDocument/2006/relationships/font" Target="fonts/OpenSans-boldItalic.fntdata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1" Type="http://schemas.openxmlformats.org/officeDocument/2006/relationships/theme" Target="theme/theme7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8" Type="http://schemas.openxmlformats.org/officeDocument/2006/relationships/font" Target="fonts/ProximaNova-bold.fntdata"/><Relationship Id="rId27" Type="http://schemas.openxmlformats.org/officeDocument/2006/relationships/font" Target="fonts/ProximaNova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ProximaNova-italic.fntdata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font" Target="fonts/HelveticaNeue-regular.fntdata"/><Relationship Id="rId30" Type="http://schemas.openxmlformats.org/officeDocument/2006/relationships/font" Target="fonts/ProximaNova-boldItalic.fntdata"/><Relationship Id="rId11" Type="http://schemas.openxmlformats.org/officeDocument/2006/relationships/notesMaster" Target="notesMasters/notesMaster1.xml"/><Relationship Id="rId33" Type="http://schemas.openxmlformats.org/officeDocument/2006/relationships/font" Target="fonts/HelveticaNeue-italic.fntdata"/><Relationship Id="rId10" Type="http://schemas.openxmlformats.org/officeDocument/2006/relationships/slideMaster" Target="slideMasters/slideMaster7.xml"/><Relationship Id="rId32" Type="http://schemas.openxmlformats.org/officeDocument/2006/relationships/font" Target="fonts/HelveticaNeue-bold.fntdata"/><Relationship Id="rId13" Type="http://schemas.openxmlformats.org/officeDocument/2006/relationships/slide" Target="slides/slide2.xml"/><Relationship Id="rId35" Type="http://schemas.openxmlformats.org/officeDocument/2006/relationships/font" Target="fonts/ArialBlack-regular.fntdata"/><Relationship Id="rId12" Type="http://schemas.openxmlformats.org/officeDocument/2006/relationships/slide" Target="slides/slide1.xml"/><Relationship Id="rId34" Type="http://schemas.openxmlformats.org/officeDocument/2006/relationships/font" Target="fonts/HelveticaNeue-boldItalic.fntdata"/><Relationship Id="rId15" Type="http://schemas.openxmlformats.org/officeDocument/2006/relationships/slide" Target="slides/slide4.xml"/><Relationship Id="rId37" Type="http://schemas.openxmlformats.org/officeDocument/2006/relationships/font" Target="fonts/HelveticaNeueLight-bold.fntdata"/><Relationship Id="rId14" Type="http://schemas.openxmlformats.org/officeDocument/2006/relationships/slide" Target="slides/slide3.xml"/><Relationship Id="rId36" Type="http://schemas.openxmlformats.org/officeDocument/2006/relationships/font" Target="fonts/HelveticaNeueLight-regular.fntdata"/><Relationship Id="rId17" Type="http://schemas.openxmlformats.org/officeDocument/2006/relationships/slide" Target="slides/slide6.xml"/><Relationship Id="rId39" Type="http://schemas.openxmlformats.org/officeDocument/2006/relationships/font" Target="fonts/HelveticaNeueLight-boldItalic.fntdata"/><Relationship Id="rId16" Type="http://schemas.openxmlformats.org/officeDocument/2006/relationships/slide" Target="slides/slide5.xml"/><Relationship Id="rId38" Type="http://schemas.openxmlformats.org/officeDocument/2006/relationships/font" Target="fonts/HelveticaNeueLight-italic.fntdata"/><Relationship Id="rId19" Type="http://schemas.openxmlformats.org/officeDocument/2006/relationships/slide" Target="slides/slide8.xml"/><Relationship Id="rId18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45f27aa1d1_0_298:notes"/>
          <p:cNvSpPr txBox="1"/>
          <p:nvPr>
            <p:ph idx="1" type="body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100"/>
              <a:t>Добрый день, приветствую Вас на обучающем курсе по основам безопасной разработки. Все вы опытные люди, не первый день работающие в сфере ИТ. </a:t>
            </a:r>
            <a:endParaRPr/>
          </a:p>
        </p:txBody>
      </p:sp>
      <p:sp>
        <p:nvSpPr>
          <p:cNvPr id="532" name="Google Shape;532;g145f27aa1d1_0_298:notes"/>
          <p:cNvSpPr/>
          <p:nvPr>
            <p:ph idx="2" type="sldImg"/>
          </p:nvPr>
        </p:nvSpPr>
        <p:spPr>
          <a:xfrm>
            <a:off x="385763" y="1524000"/>
            <a:ext cx="30861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45f27aa1d1_0_484:notes"/>
          <p:cNvSpPr txBox="1"/>
          <p:nvPr>
            <p:ph idx="1" type="body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g145f27aa1d1_0_484:notes"/>
          <p:cNvSpPr/>
          <p:nvPr>
            <p:ph idx="2" type="sldImg"/>
          </p:nvPr>
        </p:nvSpPr>
        <p:spPr>
          <a:xfrm>
            <a:off x="385763" y="1524000"/>
            <a:ext cx="30861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45f27aa1d1_0_679:notes"/>
          <p:cNvSpPr txBox="1"/>
          <p:nvPr>
            <p:ph idx="1" type="body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145f27aa1d1_0_679:notes"/>
          <p:cNvSpPr/>
          <p:nvPr>
            <p:ph idx="2" type="sldImg"/>
          </p:nvPr>
        </p:nvSpPr>
        <p:spPr>
          <a:xfrm>
            <a:off x="385763" y="1524000"/>
            <a:ext cx="30861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45f27aa1d1_0_2007:notes"/>
          <p:cNvSpPr txBox="1"/>
          <p:nvPr>
            <p:ph idx="1" type="body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g145f27aa1d1_0_2007:notes"/>
          <p:cNvSpPr/>
          <p:nvPr>
            <p:ph idx="2" type="sldImg"/>
          </p:nvPr>
        </p:nvSpPr>
        <p:spPr>
          <a:xfrm>
            <a:off x="385763" y="1524000"/>
            <a:ext cx="30861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45f27aa1d1_0_1668:notes"/>
          <p:cNvSpPr txBox="1"/>
          <p:nvPr>
            <p:ph idx="1" type="body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145f27aa1d1_0_1668:notes"/>
          <p:cNvSpPr/>
          <p:nvPr>
            <p:ph idx="2" type="sldImg"/>
          </p:nvPr>
        </p:nvSpPr>
        <p:spPr>
          <a:xfrm>
            <a:off x="385763" y="1524000"/>
            <a:ext cx="30861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45f27aa1d1_0_1684:notes"/>
          <p:cNvSpPr txBox="1"/>
          <p:nvPr>
            <p:ph idx="1" type="body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2" name="Google Shape;582;g145f27aa1d1_0_1684:notes"/>
          <p:cNvSpPr/>
          <p:nvPr>
            <p:ph idx="2" type="sldImg"/>
          </p:nvPr>
        </p:nvSpPr>
        <p:spPr>
          <a:xfrm>
            <a:off x="385763" y="1524000"/>
            <a:ext cx="30861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45f27aa1d1_0_1701:notes"/>
          <p:cNvSpPr txBox="1"/>
          <p:nvPr>
            <p:ph idx="1" type="body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8" name="Google Shape;598;g145f27aa1d1_0_1701:notes"/>
          <p:cNvSpPr/>
          <p:nvPr>
            <p:ph idx="2" type="sldImg"/>
          </p:nvPr>
        </p:nvSpPr>
        <p:spPr>
          <a:xfrm>
            <a:off x="385763" y="1524000"/>
            <a:ext cx="30861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45f27aa1d1_0_2023:notes"/>
          <p:cNvSpPr txBox="1"/>
          <p:nvPr>
            <p:ph idx="1" type="body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145f27aa1d1_0_2023:notes"/>
          <p:cNvSpPr/>
          <p:nvPr>
            <p:ph idx="2" type="sldImg"/>
          </p:nvPr>
        </p:nvSpPr>
        <p:spPr>
          <a:xfrm>
            <a:off x="385763" y="1524000"/>
            <a:ext cx="30861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145f27aa1d1_0_1900:notes"/>
          <p:cNvSpPr txBox="1"/>
          <p:nvPr>
            <p:ph idx="1" type="body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4" name="Google Shape;614;g145f27aa1d1_0_1900:notes"/>
          <p:cNvSpPr/>
          <p:nvPr>
            <p:ph idx="2" type="sldImg"/>
          </p:nvPr>
        </p:nvSpPr>
        <p:spPr>
          <a:xfrm>
            <a:off x="385763" y="1524000"/>
            <a:ext cx="30861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145f27aa1d1_0_2036:notes"/>
          <p:cNvSpPr txBox="1"/>
          <p:nvPr>
            <p:ph idx="1" type="body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g145f27aa1d1_0_2036:notes"/>
          <p:cNvSpPr/>
          <p:nvPr>
            <p:ph idx="2" type="sldImg"/>
          </p:nvPr>
        </p:nvSpPr>
        <p:spPr>
          <a:xfrm>
            <a:off x="385763" y="1524000"/>
            <a:ext cx="30861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145f27aa1d1_0_2052:notes"/>
          <p:cNvSpPr txBox="1"/>
          <p:nvPr>
            <p:ph idx="1" type="body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g145f27aa1d1_0_2052:notes"/>
          <p:cNvSpPr/>
          <p:nvPr>
            <p:ph idx="2" type="sldImg"/>
          </p:nvPr>
        </p:nvSpPr>
        <p:spPr>
          <a:xfrm>
            <a:off x="385763" y="1524000"/>
            <a:ext cx="30861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145f27aa1d1_0_1358:notes"/>
          <p:cNvSpPr txBox="1"/>
          <p:nvPr>
            <p:ph idx="1" type="body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g145f27aa1d1_0_1358:notes"/>
          <p:cNvSpPr/>
          <p:nvPr>
            <p:ph idx="2" type="sldImg"/>
          </p:nvPr>
        </p:nvSpPr>
        <p:spPr>
          <a:xfrm>
            <a:off x="385763" y="1524000"/>
            <a:ext cx="30861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145f27aa1d1_0_9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4" name="Google Shape;654;g145f27aa1d1_0_9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145f27aa1d1_0_1156:notes"/>
          <p:cNvSpPr txBox="1"/>
          <p:nvPr>
            <p:ph idx="1" type="body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g145f27aa1d1_0_1156:notes"/>
          <p:cNvSpPr/>
          <p:nvPr>
            <p:ph idx="2" type="sldImg"/>
          </p:nvPr>
        </p:nvSpPr>
        <p:spPr>
          <a:xfrm>
            <a:off x="385763" y="1524000"/>
            <a:ext cx="30861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45f27aa1d1_0_8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2" name="Google Shape;692;g145f27aa1d1_0_8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jpg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jpg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19.png"/><Relationship Id="rId5" Type="http://schemas.openxmlformats.org/officeDocument/2006/relationships/image" Target="../media/image32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19.png"/><Relationship Id="rId8" Type="http://schemas.openxmlformats.org/officeDocument/2006/relationships/image" Target="../media/image3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19.png"/><Relationship Id="rId5" Type="http://schemas.openxmlformats.org/officeDocument/2006/relationships/image" Target="../media/image32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9.jp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9.jpg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7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6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1.jpg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1.jpg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0.jpg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0.jpg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1.jpg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1.jpg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6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 1">
  <p:cSld name="Пустой слайд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 showMasterSp="0">
  <p:cSld name="1_Пользовательский макет">
    <p:bg>
      <p:bgPr>
        <a:solidFill>
          <a:srgbClr val="012089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descr="Shape, circle&#10;&#10;Description automatically generated" id="99" name="Google Shape;9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4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06" name="Google Shape;10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 showMasterSp="0">
  <p:cSld name="2_Пользовательский макет">
    <p:bg>
      <p:bgPr>
        <a:solidFill>
          <a:srgbClr val="012089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114" name="Google Shape;11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18" name="Google Shape;11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20" name="Google Shape;12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 showMasterSp="0">
  <p:cSld name="Пользовательский макет">
    <p:bg>
      <p:bgPr>
        <a:solidFill>
          <a:srgbClr val="012089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19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2" type="body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128" name="Google Shape;12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32" name="Google Shape;13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34" name="Google Shape;13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0"/>
          <p:cNvPicPr preferRelativeResize="0"/>
          <p:nvPr/>
        </p:nvPicPr>
        <p:blipFill rotWithShape="1">
          <a:blip r:embed="rId2">
            <a:alphaModFix/>
          </a:blip>
          <a:srcRect b="428" l="0" r="35291" t="0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1"/>
          <p:cNvPicPr preferRelativeResize="0"/>
          <p:nvPr/>
        </p:nvPicPr>
        <p:blipFill rotWithShape="1">
          <a:blip r:embed="rId2">
            <a:alphaModFix/>
          </a:blip>
          <a:srcRect b="428" l="0" r="35291" t="0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0" name="Google Shape;1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/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3" name="Google Shape;153;p21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22"/>
          <p:cNvSpPr txBox="1"/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8" name="Google Shape;158;p22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22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1" showMasterSp="0">
  <p:cSld name="Титульный 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23"/>
          <p:cNvSpPr txBox="1"/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0" i="0" sz="60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ол. заголовок + текст">
  <p:cSld name="Бол. заголовок + текст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11" type="ftr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b="1" i="0" sz="3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бивка 2" showMasterSp="0">
  <p:cSld name="Перебивка 2">
    <p:bg>
      <p:bgPr>
        <a:solidFill>
          <a:schemeClr val="dk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1" i="0" sz="48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 1" showMasterSp="0">
  <p:cSld name="Финальный слайд 1"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86" name="Google Shape;186;p28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 showMasterSp="0">
  <p:cSld name="2_Пользовательский макет">
    <p:bg>
      <p:bgPr>
        <a:solidFill>
          <a:srgbClr val="012089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190" name="Google Shape;19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94" name="Google Shape;19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96" name="Google Shape;19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 showMasterSp="0">
  <p:cSld name="1_Пользовательский макет">
    <p:bg>
      <p:bgPr>
        <a:solidFill>
          <a:srgbClr val="012089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30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descr="Shape, circle&#10;&#10;Description automatically generated" id="203" name="Google Shape;20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0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0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4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0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10" name="Google Shape;210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 showMasterSp="0">
  <p:cSld name="Пользовательский макет">
    <p:bg>
      <p:bgPr>
        <a:solidFill>
          <a:srgbClr val="012089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3" name="Google Shape;213;p31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4" name="Google Shape;214;p31"/>
          <p:cNvSpPr txBox="1"/>
          <p:nvPr>
            <p:ph idx="2" type="body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215" name="Google Shape;21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19" name="Google Shape;21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1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21" name="Google Shape;22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2"/>
          <p:cNvPicPr preferRelativeResize="0"/>
          <p:nvPr/>
        </p:nvPicPr>
        <p:blipFill rotWithShape="1">
          <a:blip r:embed="rId2">
            <a:alphaModFix/>
          </a:blip>
          <a:srcRect b="428" l="0" r="35291" t="0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2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2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29" name="Google Shape;22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1" name="Google Shape;231;p32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3"/>
          <p:cNvPicPr preferRelativeResize="0"/>
          <p:nvPr/>
        </p:nvPicPr>
        <p:blipFill rotWithShape="1">
          <a:blip r:embed="rId2">
            <a:alphaModFix/>
          </a:blip>
          <a:srcRect b="428" l="0" r="35291" t="0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37" name="Google Shape;23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3"/>
          <p:cNvSpPr txBox="1"/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9" name="Google Shape;239;p33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0" name="Google Shape;240;p33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1" name="Google Shape;241;p33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4" name="Google Shape;244;p34"/>
          <p:cNvSpPr txBox="1"/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45" name="Google Shape;245;p34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34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7" name="Google Shape;247;p34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1" showMasterSp="0">
  <p:cSld name="Титульный 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/>
          <p:nvPr>
            <p:ph idx="1" type="body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35"/>
          <p:cNvSpPr txBox="1"/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0" i="0" sz="60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ол. заголовок + текст">
  <p:cSld name="Бол. заголовок + текст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/>
          <p:nvPr>
            <p:ph idx="1" type="body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3" name="Google Shape;253;p36"/>
          <p:cNvSpPr txBox="1"/>
          <p:nvPr>
            <p:ph idx="11" type="ftr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4" name="Google Shape;254;p36"/>
          <p:cNvSpPr txBox="1"/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b="1" i="0" sz="3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255" name="Google Shape;255;p36"/>
          <p:cNvSpPr txBox="1"/>
          <p:nvPr>
            <p:ph idx="12" type="sldNum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бивка 2" showMasterSp="0">
  <p:cSld name="Перебивка 2">
    <p:bg>
      <p:bgPr>
        <a:solidFill>
          <a:schemeClr val="dk2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1" i="0" sz="48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 1" showMasterSp="0">
  <p:cSld name="Финальный слайд 1">
    <p:bg>
      <p:bgPr>
        <a:solidFill>
          <a:schemeClr val="dk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>
            <p:ph idx="1" type="body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idx="12" type="sldNum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 showMasterSp="0">
  <p:cSld name="1_Пользовательский макет">
    <p:bg>
      <p:bgPr>
        <a:solidFill>
          <a:srgbClr val="012089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/>
          <p:nvPr>
            <p:ph idx="1" type="body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8" name="Google Shape;278;p42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descr="Shape, circle&#10;&#10;Description automatically generated" id="279" name="Google Shape;27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2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2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2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4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2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2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2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86" name="Google Shape;286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9" name="Google Shape;289;p43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0" name="Google Shape;290;p43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 showMasterSp="0">
  <p:cSld name="2_Пользовательский макет">
    <p:bg>
      <p:bgPr>
        <a:solidFill>
          <a:srgbClr val="012089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3" name="Google Shape;293;p44"/>
          <p:cNvSpPr txBox="1"/>
          <p:nvPr>
            <p:ph idx="1" type="body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294" name="Google Shape;294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4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4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4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98" name="Google Shape;298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4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00" name="Google Shape;30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4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4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4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 showMasterSp="0">
  <p:cSld name="Пользовательский макет">
    <p:bg>
      <p:bgPr>
        <a:solidFill>
          <a:srgbClr val="012089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 txBox="1"/>
          <p:nvPr>
            <p:ph idx="1" type="body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6" name="Google Shape;306;p45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7" name="Google Shape;307;p45"/>
          <p:cNvSpPr txBox="1"/>
          <p:nvPr>
            <p:ph idx="2" type="body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308" name="Google Shape;308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5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5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5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12" name="Google Shape;312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5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14" name="Google Shape;314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5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5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0" name="Google Shape;320;p46"/>
          <p:cNvSpPr txBox="1"/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1" name="Google Shape;321;p46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2" name="Google Shape;322;p46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3" name="Google Shape;323;p46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47"/>
          <p:cNvPicPr preferRelativeResize="0"/>
          <p:nvPr/>
        </p:nvPicPr>
        <p:blipFill rotWithShape="1">
          <a:blip r:embed="rId2">
            <a:alphaModFix/>
          </a:blip>
          <a:srcRect b="428" l="0" r="35291" t="0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7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7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28" name="Google Shape;32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7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30" name="Google Shape;330;p47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1" name="Google Shape;331;p47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8"/>
          <p:cNvPicPr preferRelativeResize="0"/>
          <p:nvPr/>
        </p:nvPicPr>
        <p:blipFill rotWithShape="1">
          <a:blip r:embed="rId2">
            <a:alphaModFix/>
          </a:blip>
          <a:srcRect b="428" l="0" r="35291" t="0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8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8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36" name="Google Shape;33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8"/>
          <p:cNvSpPr txBox="1"/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38" name="Google Shape;338;p48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9" name="Google Shape;339;p48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40" name="Google Shape;340;p48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1" showMasterSp="0">
  <p:cSld name="Титульный 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9"/>
          <p:cNvSpPr txBox="1"/>
          <p:nvPr>
            <p:ph idx="1" type="body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3" name="Google Shape;343;p49"/>
          <p:cNvSpPr txBox="1"/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0" i="0" sz="60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ол. заголовок + текст">
  <p:cSld name="Бол. заголовок + текст"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0"/>
          <p:cNvSpPr txBox="1"/>
          <p:nvPr>
            <p:ph idx="1" type="body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6" name="Google Shape;346;p50"/>
          <p:cNvSpPr txBox="1"/>
          <p:nvPr>
            <p:ph idx="11" type="ftr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b="1" i="0" sz="3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348" name="Google Shape;348;p50"/>
          <p:cNvSpPr txBox="1"/>
          <p:nvPr>
            <p:ph idx="12" type="sldNum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бивка 2" showMasterSp="0">
  <p:cSld name="Перебивка 2">
    <p:bg>
      <p:bgPr>
        <a:solidFill>
          <a:schemeClr val="dk2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1"/>
          <p:cNvSpPr txBox="1"/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1" i="0" sz="48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351" name="Google Shape;351;p51"/>
          <p:cNvSpPr txBox="1"/>
          <p:nvPr>
            <p:ph idx="1" type="body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 1" showMasterSp="0">
  <p:cSld name="Финальный слайд 1">
    <p:bg>
      <p:bgPr>
        <a:solidFill>
          <a:schemeClr val="dk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2"/>
          <p:cNvSpPr txBox="1"/>
          <p:nvPr>
            <p:ph idx="1" type="body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5" name="Google Shape;365;p54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66" name="Google Shape;366;p54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 showMasterSp="0">
  <p:cSld name="1_Пользовательский макет">
    <p:bg>
      <p:bgPr>
        <a:solidFill>
          <a:srgbClr val="012089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5"/>
          <p:cNvSpPr txBox="1"/>
          <p:nvPr>
            <p:ph idx="1" type="body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9" name="Google Shape;369;p55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descr="Shape, circle&#10;&#10;Description automatically generated" id="370" name="Google Shape;370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5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5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4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5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77" name="Google Shape;377;p5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 showMasterSp="0">
  <p:cSld name="2_Пользовательский макет">
    <p:bg>
      <p:bgPr>
        <a:solidFill>
          <a:srgbClr val="012089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80" name="Google Shape;380;p56"/>
          <p:cNvSpPr txBox="1"/>
          <p:nvPr>
            <p:ph idx="1" type="body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381" name="Google Shape;381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85" name="Google Shape;385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6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87" name="Google Shape;387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 showMasterSp="0">
  <p:cSld name="Пользовательский макет">
    <p:bg>
      <p:bgPr>
        <a:solidFill>
          <a:srgbClr val="012089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7"/>
          <p:cNvSpPr txBox="1"/>
          <p:nvPr>
            <p:ph idx="1" type="body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3" name="Google Shape;393;p57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94" name="Google Shape;394;p57"/>
          <p:cNvSpPr txBox="1"/>
          <p:nvPr>
            <p:ph idx="2" type="body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395" name="Google Shape;395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7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99" name="Google Shape;399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7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01" name="Google Shape;401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5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58"/>
          <p:cNvPicPr preferRelativeResize="0"/>
          <p:nvPr/>
        </p:nvPicPr>
        <p:blipFill rotWithShape="1">
          <a:blip r:embed="rId2">
            <a:alphaModFix/>
          </a:blip>
          <a:srcRect b="428" l="0" r="35291" t="0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8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58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09" name="Google Shape;40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58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11" name="Google Shape;411;p58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2" name="Google Shape;412;p58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59"/>
          <p:cNvPicPr preferRelativeResize="0"/>
          <p:nvPr/>
        </p:nvPicPr>
        <p:blipFill rotWithShape="1">
          <a:blip r:embed="rId2">
            <a:alphaModFix/>
          </a:blip>
          <a:srcRect b="428" l="0" r="35291" t="0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9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9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17" name="Google Shape;41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9"/>
          <p:cNvSpPr txBox="1"/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19" name="Google Shape;419;p59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0" name="Google Shape;420;p59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1" name="Google Shape;421;p5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0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4" name="Google Shape;424;p60"/>
          <p:cNvSpPr txBox="1"/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5" name="Google Shape;425;p60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6" name="Google Shape;426;p60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7" name="Google Shape;427;p6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1" showMasterSp="0">
  <p:cSld name="Титульный 1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1"/>
          <p:cNvSpPr txBox="1"/>
          <p:nvPr>
            <p:ph idx="1" type="body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0" name="Google Shape;430;p61"/>
          <p:cNvSpPr txBox="1"/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0" i="0" sz="60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ол. заголовок + текст">
  <p:cSld name="Бол. заголовок + текст">
    <p:bg>
      <p:bgPr>
        <a:solidFill>
          <a:schemeClr val="lt1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2"/>
          <p:cNvSpPr txBox="1"/>
          <p:nvPr>
            <p:ph idx="1" type="body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3" name="Google Shape;433;p62"/>
          <p:cNvSpPr txBox="1"/>
          <p:nvPr>
            <p:ph idx="11" type="ftr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4" name="Google Shape;434;p62"/>
          <p:cNvSpPr txBox="1"/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b="1" i="0" sz="3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435" name="Google Shape;435;p62"/>
          <p:cNvSpPr txBox="1"/>
          <p:nvPr>
            <p:ph idx="12" type="sldNum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бивка 2" showMasterSp="0">
  <p:cSld name="Перебивка 2">
    <p:bg>
      <p:bgPr>
        <a:solidFill>
          <a:schemeClr val="dk2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3"/>
          <p:cNvSpPr txBox="1"/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1" i="0" sz="48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438" name="Google Shape;438;p63"/>
          <p:cNvSpPr txBox="1"/>
          <p:nvPr>
            <p:ph idx="1" type="body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 1" showMasterSp="0">
  <p:cSld name="Финальный слайд 1">
    <p:bg>
      <p:bgPr>
        <a:solidFill>
          <a:schemeClr val="dk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4"/>
          <p:cNvSpPr txBox="1"/>
          <p:nvPr>
            <p:ph idx="1" type="body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5"/>
          <p:cNvSpPr txBox="1"/>
          <p:nvPr>
            <p:ph idx="12" type="sldNum"/>
          </p:nvPr>
        </p:nvSpPr>
        <p:spPr>
          <a:xfrm>
            <a:off x="5977052" y="6536531"/>
            <a:ext cx="2331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 showMasterSp="0">
  <p:cSld name="1_Пользовательский макет">
    <p:bg>
      <p:bgPr>
        <a:solidFill>
          <a:srgbClr val="012089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7"/>
          <p:cNvSpPr txBox="1"/>
          <p:nvPr>
            <p:ph idx="1" type="body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4" name="Google Shape;454;p67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descr="Shape, circle&#10;&#10;Description automatically generated" id="455" name="Google Shape;455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67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6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6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4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6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6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6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62" name="Google Shape;462;p6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8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5" name="Google Shape;465;p68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66" name="Google Shape;466;p68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 showMasterSp="0">
  <p:cSld name="2_Пользовательский макет">
    <p:bg>
      <p:bgPr>
        <a:solidFill>
          <a:srgbClr val="012089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9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69" name="Google Shape;469;p69"/>
          <p:cNvSpPr txBox="1"/>
          <p:nvPr>
            <p:ph idx="1" type="body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470" name="Google Shape;470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6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6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74" name="Google Shape;474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6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76" name="Google Shape;476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6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6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6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 showMasterSp="0">
  <p:cSld name="Пользовательский макет">
    <p:bg>
      <p:bgPr>
        <a:solidFill>
          <a:srgbClr val="012089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0"/>
          <p:cNvSpPr txBox="1"/>
          <p:nvPr>
            <p:ph idx="1" type="body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2" name="Google Shape;482;p70"/>
          <p:cNvSpPr txBox="1"/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83" name="Google Shape;483;p70"/>
          <p:cNvSpPr txBox="1"/>
          <p:nvPr>
            <p:ph idx="2" type="body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484" name="Google Shape;484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70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70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70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88" name="Google Shape;488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70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90" name="Google Shape;490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70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0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70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71"/>
          <p:cNvPicPr preferRelativeResize="0"/>
          <p:nvPr/>
        </p:nvPicPr>
        <p:blipFill rotWithShape="1">
          <a:blip r:embed="rId2">
            <a:alphaModFix/>
          </a:blip>
          <a:srcRect b="428" l="0" r="35291" t="0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71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71"/>
          <p:cNvSpPr txBox="1"/>
          <p:nvPr>
            <p:ph idx="1" type="body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98" name="Google Shape;49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71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00" name="Google Shape;500;p71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1" name="Google Shape;501;p7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72"/>
          <p:cNvPicPr preferRelativeResize="0"/>
          <p:nvPr/>
        </p:nvPicPr>
        <p:blipFill rotWithShape="1">
          <a:blip r:embed="rId2">
            <a:alphaModFix/>
          </a:blip>
          <a:srcRect b="428" l="0" r="35291" t="0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72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72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06" name="Google Shape;506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72"/>
          <p:cNvSpPr txBox="1"/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08" name="Google Shape;508;p72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9" name="Google Shape;509;p72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10" name="Google Shape;510;p7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3"/>
          <p:cNvSpPr txBox="1"/>
          <p:nvPr>
            <p:ph idx="1" type="body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3" name="Google Shape;513;p73"/>
          <p:cNvSpPr txBox="1"/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14" name="Google Shape;514;p73"/>
          <p:cNvSpPr txBox="1"/>
          <p:nvPr>
            <p:ph idx="2" type="body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5" name="Google Shape;515;p73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16" name="Google Shape;516;p73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1" showMasterSp="0">
  <p:cSld name="Титульный 1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4"/>
          <p:cNvSpPr txBox="1"/>
          <p:nvPr>
            <p:ph idx="1" type="body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1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9" name="Google Shape;519;p74"/>
          <p:cNvSpPr txBox="1"/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0" i="0" sz="60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ол. заголовок + текст">
  <p:cSld name="Бол. заголовок + текст">
    <p:bg>
      <p:bgPr>
        <a:solidFill>
          <a:schemeClr val="lt1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5"/>
          <p:cNvSpPr txBox="1"/>
          <p:nvPr>
            <p:ph idx="1" type="body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2" name="Google Shape;522;p75"/>
          <p:cNvSpPr txBox="1"/>
          <p:nvPr>
            <p:ph idx="11" type="ftr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23" name="Google Shape;523;p75"/>
          <p:cNvSpPr txBox="1"/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b="1" i="0" sz="3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524" name="Google Shape;524;p75"/>
          <p:cNvSpPr txBox="1"/>
          <p:nvPr>
            <p:ph idx="12" type="sldNum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бивка 2" showMasterSp="0">
  <p:cSld name="Перебивка 2">
    <p:bg>
      <p:bgPr>
        <a:solidFill>
          <a:schemeClr val="dk2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6"/>
          <p:cNvSpPr txBox="1"/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b="1" i="0" sz="48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/>
        </p:txBody>
      </p:sp>
      <p:sp>
        <p:nvSpPr>
          <p:cNvPr id="527" name="Google Shape;527;p76"/>
          <p:cNvSpPr txBox="1"/>
          <p:nvPr>
            <p:ph idx="1" type="body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 1" showMasterSp="0">
  <p:cSld name="Финальный слайд 1">
    <p:bg>
      <p:bgPr>
        <a:solidFill>
          <a:schemeClr val="dk1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7"/>
          <p:cNvSpPr txBox="1"/>
          <p:nvPr>
            <p:ph idx="1" type="body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" Type="http://schemas.openxmlformats.org/officeDocument/2006/relationships/image" Target="../media/image20.png"/><Relationship Id="rId2" Type="http://schemas.openxmlformats.org/officeDocument/2006/relationships/image" Target="../media/image15.png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9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3.xml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18" Type="http://schemas.openxmlformats.org/officeDocument/2006/relationships/theme" Target="../theme/theme4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" Type="http://schemas.openxmlformats.org/officeDocument/2006/relationships/image" Target="../media/image24.png"/><Relationship Id="rId2" Type="http://schemas.openxmlformats.org/officeDocument/2006/relationships/image" Target="../media/image19.png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9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4.xml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18" Type="http://schemas.openxmlformats.org/officeDocument/2006/relationships/theme" Target="../theme/theme6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theme" Target="../theme/theme1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" Type="http://schemas.openxmlformats.org/officeDocument/2006/relationships/image" Target="../media/image20.png"/><Relationship Id="rId2" Type="http://schemas.openxmlformats.org/officeDocument/2006/relationships/image" Target="../media/image15.png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9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6.xml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3.xml"/><Relationship Id="rId1" Type="http://schemas.openxmlformats.org/officeDocument/2006/relationships/image" Target="../media/image20.png"/><Relationship Id="rId2" Type="http://schemas.openxmlformats.org/officeDocument/2006/relationships/image" Target="../media/image15.png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9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57.xml"/><Relationship Id="rId5" Type="http://schemas.openxmlformats.org/officeDocument/2006/relationships/image" Target="../media/image14.png"/><Relationship Id="rId19" Type="http://schemas.openxmlformats.org/officeDocument/2006/relationships/theme" Target="../theme/theme8.xml"/><Relationship Id="rId6" Type="http://schemas.openxmlformats.org/officeDocument/2006/relationships/image" Target="../media/image4.png"/><Relationship Id="rId18" Type="http://schemas.openxmlformats.org/officeDocument/2006/relationships/slideLayout" Target="../slideLayouts/slideLayout59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65.xml"/><Relationship Id="rId1" Type="http://schemas.openxmlformats.org/officeDocument/2006/relationships/image" Target="../media/image20.png"/><Relationship Id="rId2" Type="http://schemas.openxmlformats.org/officeDocument/2006/relationships/image" Target="../media/image15.png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9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69.xml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18" Type="http://schemas.openxmlformats.org/officeDocument/2006/relationships/theme" Target="../theme/theme3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 sz="25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89" name="Google Shape;89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3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 sz="25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176" name="Google Shape;176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8" name="Google Shape;178;p27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3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/>
          <p:nvPr>
            <p:ph type="title"/>
          </p:nvPr>
        </p:nvSpPr>
        <p:spPr>
          <a:xfrm>
            <a:off x="1826683" y="979211"/>
            <a:ext cx="97536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25" lIns="35725" spcFirstLastPara="1" rIns="35725" wrap="square" tIns="357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63" name="Google Shape;263;p39"/>
          <p:cNvSpPr txBox="1"/>
          <p:nvPr>
            <p:ph idx="1" type="body"/>
          </p:nvPr>
        </p:nvSpPr>
        <p:spPr>
          <a:xfrm>
            <a:off x="6805083" y="2229126"/>
            <a:ext cx="4775400" cy="43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25" lIns="35725" spcFirstLastPara="1" rIns="35725" wrap="square" tIns="357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64" name="Google Shape;264;p39"/>
          <p:cNvSpPr txBox="1"/>
          <p:nvPr>
            <p:ph idx="12" type="sldNum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b="0" i="0" sz="1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b="0" i="0" sz="1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b="0" i="0" sz="1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b="0" i="0" sz="1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b="0" i="0" sz="1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b="0" i="0" sz="1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b="0" i="0" sz="1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b="0" i="0" sz="1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b="0" i="0" sz="1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 sz="25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269" name="Google Shape;269;p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1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1" name="Google Shape;271;p41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1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3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1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1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1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3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 sz="25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356" name="Google Shape;356;p5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3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8" name="Google Shape;358;p53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53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3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53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53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53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6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 sz="25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445" name="Google Shape;445;p6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6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47" name="Google Shape;447;p66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66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3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66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66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66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ostgrespro.ru/docs/postgresql/14/sql-gran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2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9.pn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9.pn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8"/>
          <p:cNvSpPr txBox="1"/>
          <p:nvPr>
            <p:ph idx="1" type="body"/>
          </p:nvPr>
        </p:nvSpPr>
        <p:spPr>
          <a:xfrm>
            <a:off x="1326375" y="2782113"/>
            <a:ext cx="7019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/>
              <a:t>БЛОК 6. </a:t>
            </a:r>
            <a:r>
              <a:rPr lang="ru-RU"/>
              <a:t>УПРАВЛЕНИЕ ДОСТУПОМ</a:t>
            </a:r>
            <a:endParaRPr/>
          </a:p>
        </p:txBody>
      </p:sp>
      <p:sp>
        <p:nvSpPr>
          <p:cNvPr id="535" name="Google Shape;535;p78"/>
          <p:cNvSpPr txBox="1"/>
          <p:nvPr>
            <p:ph type="title"/>
          </p:nvPr>
        </p:nvSpPr>
        <p:spPr>
          <a:xfrm>
            <a:off x="1326375" y="3369375"/>
            <a:ext cx="96123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400"/>
              <a:t>ПРИВИЛЕГИИ</a:t>
            </a:r>
            <a:endParaRPr b="1"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9"/>
          <p:cNvSpPr/>
          <p:nvPr/>
        </p:nvSpPr>
        <p:spPr>
          <a:xfrm>
            <a:off x="1725850" y="2438400"/>
            <a:ext cx="6942900" cy="1981200"/>
          </a:xfrm>
          <a:prstGeom prst="roundRect">
            <a:avLst>
              <a:gd fmla="val 7748" name="adj"/>
            </a:avLst>
          </a:prstGeom>
          <a:solidFill>
            <a:srgbClr val="CEE6FF"/>
          </a:solidFill>
          <a:ln>
            <a:noFill/>
          </a:ln>
        </p:spPr>
        <p:txBody>
          <a:bodyPr anchorCtr="0" anchor="t" bIns="144000" lIns="144000" spcFirstLastPara="1" rIns="144000" wrap="square" tIns="75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Понять, что такое привилегии и как правильно их настроить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79"/>
          <p:cNvSpPr txBox="1"/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ЦЕЛЬ УРОКА</a:t>
            </a:r>
            <a:endParaRPr/>
          </a:p>
        </p:txBody>
      </p:sp>
      <p:sp>
        <p:nvSpPr>
          <p:cNvPr id="542" name="Google Shape;542;p79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43" name="Google Shape;543;p79"/>
          <p:cNvSpPr/>
          <p:nvPr/>
        </p:nvSpPr>
        <p:spPr>
          <a:xfrm>
            <a:off x="1908732" y="25430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0" spcFirstLastPara="1" rIns="71425" wrap="square" tIns="7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80"/>
          <p:cNvSpPr txBox="1"/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СОДЕРЖАНИЕ УРОКА</a:t>
            </a:r>
            <a:endParaRPr/>
          </a:p>
        </p:txBody>
      </p:sp>
      <p:sp>
        <p:nvSpPr>
          <p:cNvPr id="549" name="Google Shape;549;p80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50" name="Google Shape;550;p80"/>
          <p:cNvSpPr/>
          <p:nvPr/>
        </p:nvSpPr>
        <p:spPr>
          <a:xfrm>
            <a:off x="1719852" y="1361364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1" name="Google Shape;551;p80"/>
          <p:cNvSpPr/>
          <p:nvPr/>
        </p:nvSpPr>
        <p:spPr>
          <a:xfrm>
            <a:off x="1719852" y="3129109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2" name="Google Shape;552;p80"/>
          <p:cNvSpPr/>
          <p:nvPr/>
        </p:nvSpPr>
        <p:spPr>
          <a:xfrm>
            <a:off x="1719852" y="4896852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53" name="Google Shape;553;p80"/>
          <p:cNvCxnSpPr/>
          <p:nvPr/>
        </p:nvCxnSpPr>
        <p:spPr>
          <a:xfrm rot="10800000">
            <a:off x="2183068" y="2395849"/>
            <a:ext cx="0" cy="62520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4" name="Google Shape;554;p80"/>
          <p:cNvCxnSpPr/>
          <p:nvPr/>
        </p:nvCxnSpPr>
        <p:spPr>
          <a:xfrm rot="10800000">
            <a:off x="2183068" y="4163594"/>
            <a:ext cx="0" cy="62520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5" name="Google Shape;555;p80"/>
          <p:cNvSpPr txBox="1"/>
          <p:nvPr/>
        </p:nvSpPr>
        <p:spPr>
          <a:xfrm>
            <a:off x="2860569" y="1685939"/>
            <a:ext cx="257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Привилегии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56" name="Google Shape;556;p80"/>
          <p:cNvSpPr txBox="1"/>
          <p:nvPr/>
        </p:nvSpPr>
        <p:spPr>
          <a:xfrm>
            <a:off x="2860569" y="3453709"/>
            <a:ext cx="228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Варианты настройки</a:t>
            </a:r>
            <a:endParaRPr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557" name="Google Shape;557;p80"/>
          <p:cNvSpPr txBox="1"/>
          <p:nvPr/>
        </p:nvSpPr>
        <p:spPr>
          <a:xfrm>
            <a:off x="2860569" y="5221452"/>
            <a:ext cx="257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Практика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58" name="Google Shape;558;p80"/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fmla="val 5294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81"/>
          <p:cNvSpPr txBox="1"/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lang="ru-RU"/>
              <a:t>ПРИВИЛЕГИИ</a:t>
            </a:r>
            <a:endParaRPr/>
          </a:p>
        </p:txBody>
      </p:sp>
      <p:sp>
        <p:nvSpPr>
          <p:cNvPr id="564" name="Google Shape;564;p81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65" name="Google Shape;565;p81"/>
          <p:cNvSpPr/>
          <p:nvPr/>
        </p:nvSpPr>
        <p:spPr>
          <a:xfrm>
            <a:off x="1725850" y="1851028"/>
            <a:ext cx="8226900" cy="3444900"/>
          </a:xfrm>
          <a:prstGeom prst="roundRect">
            <a:avLst>
              <a:gd fmla="val 4323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216000" lIns="216000" spcFirstLastPara="1" rIns="216000" wrap="square" tIns="18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INSERT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TRUNCATE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CONNECT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EXECUTE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6" name="Google Shape;566;p81"/>
          <p:cNvSpPr txBox="1"/>
          <p:nvPr/>
        </p:nvSpPr>
        <p:spPr>
          <a:xfrm>
            <a:off x="1725850" y="1062725"/>
            <a:ext cx="8226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Набор действий, которые пользователь может совершать с объектами БД: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67" name="Google Shape;567;p81"/>
          <p:cNvSpPr txBox="1"/>
          <p:nvPr/>
        </p:nvSpPr>
        <p:spPr>
          <a:xfrm>
            <a:off x="1725850" y="5422432"/>
            <a:ext cx="7869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Набор прав, применимых к определённому объекту, зависит от типа объекта (таблица, функция и т. д.)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68" name="Google Shape;568;p81"/>
          <p:cNvSpPr txBox="1"/>
          <p:nvPr/>
        </p:nvSpPr>
        <p:spPr>
          <a:xfrm>
            <a:off x="1725850" y="6210735"/>
            <a:ext cx="78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 u="sng">
                <a:solidFill>
                  <a:schemeClr val="hlink"/>
                </a:solidFill>
                <a:hlinkClick r:id="rId3"/>
              </a:rPr>
              <a:t>https://postgrespro.ru/docs/postgresql/14/sql-grant</a:t>
            </a:r>
            <a:r>
              <a:rPr lang="ru-RU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82"/>
          <p:cNvSpPr txBox="1"/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lang="ru-RU"/>
              <a:t>ПРИВИЛЕГИИ</a:t>
            </a:r>
            <a:endParaRPr/>
          </a:p>
        </p:txBody>
      </p:sp>
      <p:sp>
        <p:nvSpPr>
          <p:cNvPr id="574" name="Google Shape;574;p82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575" name="Google Shape;575;p82"/>
          <p:cNvGrpSpPr/>
          <p:nvPr/>
        </p:nvGrpSpPr>
        <p:grpSpPr>
          <a:xfrm>
            <a:off x="1725900" y="3205838"/>
            <a:ext cx="582833" cy="200870"/>
            <a:chOff x="0" y="1270"/>
            <a:chExt cx="1466615" cy="505460"/>
          </a:xfrm>
        </p:grpSpPr>
        <p:sp>
          <p:nvSpPr>
            <p:cNvPr id="576" name="Google Shape;576;p82"/>
            <p:cNvSpPr/>
            <p:nvPr/>
          </p:nvSpPr>
          <p:spPr>
            <a:xfrm>
              <a:off x="0" y="215900"/>
              <a:ext cx="1170705" cy="76200"/>
            </a:xfrm>
            <a:custGeom>
              <a:rect b="b" l="l" r="r" t="t"/>
              <a:pathLst>
                <a:path extrusionOk="0" h="76200" w="1170705">
                  <a:moveTo>
                    <a:pt x="0" y="0"/>
                  </a:moveTo>
                  <a:lnTo>
                    <a:pt x="1170705" y="0"/>
                  </a:lnTo>
                  <a:lnTo>
                    <a:pt x="117070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77" name="Google Shape;577;p82"/>
            <p:cNvSpPr/>
            <p:nvPr/>
          </p:nvSpPr>
          <p:spPr>
            <a:xfrm>
              <a:off x="1091965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578" name="Google Shape;578;p82"/>
          <p:cNvSpPr txBox="1"/>
          <p:nvPr/>
        </p:nvSpPr>
        <p:spPr>
          <a:xfrm>
            <a:off x="1725900" y="2636350"/>
            <a:ext cx="571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2"/>
                </a:solidFill>
              </a:rPr>
              <a:t>Суперпользователи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579" name="Google Shape;579;p82"/>
          <p:cNvSpPr txBox="1"/>
          <p:nvPr/>
        </p:nvSpPr>
        <p:spPr>
          <a:xfrm>
            <a:off x="2686100" y="3205850"/>
            <a:ext cx="6684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полный доступ ко всем объектам — проверки не выполняются, за исключением прав на вызов ХП (security definer/invoker)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83"/>
          <p:cNvSpPr txBox="1"/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lang="ru-RU"/>
              <a:t>ПРИВИЛЕГИИ</a:t>
            </a:r>
            <a:endParaRPr/>
          </a:p>
        </p:txBody>
      </p:sp>
      <p:sp>
        <p:nvSpPr>
          <p:cNvPr id="585" name="Google Shape;585;p83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586" name="Google Shape;586;p83"/>
          <p:cNvGrpSpPr/>
          <p:nvPr/>
        </p:nvGrpSpPr>
        <p:grpSpPr>
          <a:xfrm>
            <a:off x="1725900" y="4592588"/>
            <a:ext cx="582833" cy="200870"/>
            <a:chOff x="0" y="1270"/>
            <a:chExt cx="1466615" cy="505460"/>
          </a:xfrm>
        </p:grpSpPr>
        <p:sp>
          <p:nvSpPr>
            <p:cNvPr id="587" name="Google Shape;587;p83"/>
            <p:cNvSpPr/>
            <p:nvPr/>
          </p:nvSpPr>
          <p:spPr>
            <a:xfrm>
              <a:off x="0" y="215900"/>
              <a:ext cx="1170705" cy="76200"/>
            </a:xfrm>
            <a:custGeom>
              <a:rect b="b" l="l" r="r" t="t"/>
              <a:pathLst>
                <a:path extrusionOk="0" h="76200" w="1170705">
                  <a:moveTo>
                    <a:pt x="0" y="0"/>
                  </a:moveTo>
                  <a:lnTo>
                    <a:pt x="1170705" y="0"/>
                  </a:lnTo>
                  <a:lnTo>
                    <a:pt x="117070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88" name="Google Shape;588;p83"/>
            <p:cNvSpPr/>
            <p:nvPr/>
          </p:nvSpPr>
          <p:spPr>
            <a:xfrm>
              <a:off x="1091965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589" name="Google Shape;589;p83"/>
          <p:cNvSpPr txBox="1"/>
          <p:nvPr/>
        </p:nvSpPr>
        <p:spPr>
          <a:xfrm>
            <a:off x="1725900" y="4023100"/>
            <a:ext cx="571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2"/>
                </a:solidFill>
              </a:rPr>
              <a:t>Остальные роли</a:t>
            </a:r>
            <a:endParaRPr sz="2000">
              <a:solidFill>
                <a:schemeClr val="dk2"/>
              </a:solidFill>
            </a:endParaRPr>
          </a:p>
        </p:txBody>
      </p:sp>
      <p:grpSp>
        <p:nvGrpSpPr>
          <p:cNvPr id="590" name="Google Shape;590;p83"/>
          <p:cNvGrpSpPr/>
          <p:nvPr/>
        </p:nvGrpSpPr>
        <p:grpSpPr>
          <a:xfrm>
            <a:off x="1725900" y="2527088"/>
            <a:ext cx="582833" cy="200870"/>
            <a:chOff x="0" y="1270"/>
            <a:chExt cx="1466615" cy="505460"/>
          </a:xfrm>
        </p:grpSpPr>
        <p:sp>
          <p:nvSpPr>
            <p:cNvPr id="591" name="Google Shape;591;p83"/>
            <p:cNvSpPr/>
            <p:nvPr/>
          </p:nvSpPr>
          <p:spPr>
            <a:xfrm>
              <a:off x="0" y="215900"/>
              <a:ext cx="1170705" cy="76200"/>
            </a:xfrm>
            <a:custGeom>
              <a:rect b="b" l="l" r="r" t="t"/>
              <a:pathLst>
                <a:path extrusionOk="0" h="76200" w="1170705">
                  <a:moveTo>
                    <a:pt x="0" y="0"/>
                  </a:moveTo>
                  <a:lnTo>
                    <a:pt x="1170705" y="0"/>
                  </a:lnTo>
                  <a:lnTo>
                    <a:pt x="117070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92" name="Google Shape;592;p83"/>
            <p:cNvSpPr/>
            <p:nvPr/>
          </p:nvSpPr>
          <p:spPr>
            <a:xfrm>
              <a:off x="1091965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593" name="Google Shape;593;p83"/>
          <p:cNvSpPr txBox="1"/>
          <p:nvPr/>
        </p:nvSpPr>
        <p:spPr>
          <a:xfrm>
            <a:off x="1725900" y="1957600"/>
            <a:ext cx="571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2"/>
                </a:solidFill>
              </a:rPr>
              <a:t>Владельцы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594" name="Google Shape;594;p83"/>
          <p:cNvSpPr txBox="1"/>
          <p:nvPr/>
        </p:nvSpPr>
        <p:spPr>
          <a:xfrm>
            <a:off x="2686100" y="2459350"/>
            <a:ext cx="66846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доступ в рамках выданных привилегий (изначально получает полный набор)</a:t>
            </a:r>
            <a:br>
              <a:rPr lang="ru-RU" sz="2000">
                <a:solidFill>
                  <a:schemeClr val="dk1"/>
                </a:solidFill>
              </a:rPr>
            </a:br>
            <a:r>
              <a:rPr lang="ru-RU" sz="2000">
                <a:solidFill>
                  <a:schemeClr val="dk1"/>
                </a:solidFill>
              </a:rPr>
              <a:t>а также действия, не регламентируемые привилегиями, например: удаление, выдача и отзыв привилегий и т. п.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95" name="Google Shape;595;p83"/>
          <p:cNvSpPr txBox="1"/>
          <p:nvPr/>
        </p:nvSpPr>
        <p:spPr>
          <a:xfrm>
            <a:off x="2686100" y="4592600"/>
            <a:ext cx="668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доступ исключительно в рамках выданных привилегий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84"/>
          <p:cNvSpPr txBox="1"/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lang="ru-RU"/>
              <a:t>ВЫДАЧА ПРИВИЛЕГИЙ</a:t>
            </a:r>
            <a:endParaRPr/>
          </a:p>
        </p:txBody>
      </p:sp>
      <p:sp>
        <p:nvSpPr>
          <p:cNvPr id="601" name="Google Shape;601;p84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02" name="Google Shape;602;p84"/>
          <p:cNvSpPr/>
          <p:nvPr/>
        </p:nvSpPr>
        <p:spPr>
          <a:xfrm>
            <a:off x="1725850" y="2060947"/>
            <a:ext cx="7771800" cy="2196000"/>
          </a:xfrm>
          <a:prstGeom prst="roundRect">
            <a:avLst>
              <a:gd fmla="val 4323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216000" lIns="216000" spcFirstLastPara="1" rIns="216000" wrap="square" tIns="18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GRANT SELECT ON mytable TO PUBLIC;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GRANT SELECT, UPDATE, INSERT ON mytable TO admin;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GRANT SELECT (col1), UPDATE (col1) ON mytable TO miriam_rw;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3" name="Google Shape;603;p84"/>
          <p:cNvSpPr txBox="1"/>
          <p:nvPr/>
        </p:nvSpPr>
        <p:spPr>
          <a:xfrm>
            <a:off x="1725850" y="4489250"/>
            <a:ext cx="71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https://postgrespro.ru/docs/postgresql/14/sql-revoke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5"/>
          <p:cNvSpPr txBox="1"/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lang="ru-RU"/>
              <a:t>КАК ВЫГЛЯДЯТ ПРИВИЛЕГИИ</a:t>
            </a:r>
            <a:endParaRPr/>
          </a:p>
        </p:txBody>
      </p:sp>
      <p:sp>
        <p:nvSpPr>
          <p:cNvPr id="609" name="Google Shape;609;p85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10" name="Google Shape;610;p85"/>
          <p:cNvSpPr/>
          <p:nvPr/>
        </p:nvSpPr>
        <p:spPr>
          <a:xfrm>
            <a:off x="1725850" y="1487800"/>
            <a:ext cx="8226900" cy="4780200"/>
          </a:xfrm>
          <a:prstGeom prst="roundRect">
            <a:avLst>
              <a:gd fmla="val 4323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216000" lIns="216000" spcFirstLastPara="1" rIns="216000" wrap="square" tIns="18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\dp mytable    ----&gt; miriam=arwdDxt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имя_роли=xxxx -- права, назначенные роли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=xxxx -- права, назначенные PUBLIC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r -- SELECT ("read", чтение)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 w -- UPDATE ("write", запись)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 a -- INSERT ("append", добавление)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 d -- DELETE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 D -- TRUNCATE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 x -- REFERENCES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 t -- TRIGGER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 X -- EXECUTE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 U -- USAGE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 C -- CREATE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 c -- CONNECT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 T -- TEMPORARY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arwdDxt -- ALL PRIVILEGES (все права для таблиц; для других объектов другие)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* -- право передачи заданного права</a:t>
            </a:r>
            <a:b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-RU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/yyyy -- роль, назначившая это право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1" name="Google Shape;611;p85"/>
          <p:cNvSpPr txBox="1"/>
          <p:nvPr/>
        </p:nvSpPr>
        <p:spPr>
          <a:xfrm>
            <a:off x="1725850" y="1062725"/>
            <a:ext cx="822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</a:rPr>
              <a:t>Посмотрим гипотетический пример: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86"/>
          <p:cNvSpPr txBox="1"/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lang="ru-RU"/>
              <a:t>ПЕРЕДАЧА ПРАВ НА ПРИВИЛЕГИИ</a:t>
            </a:r>
            <a:endParaRPr/>
          </a:p>
        </p:txBody>
      </p:sp>
      <p:sp>
        <p:nvSpPr>
          <p:cNvPr id="617" name="Google Shape;617;p86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18" name="Google Shape;618;p86"/>
          <p:cNvSpPr/>
          <p:nvPr/>
        </p:nvSpPr>
        <p:spPr>
          <a:xfrm>
            <a:off x="1725850" y="1698530"/>
            <a:ext cx="9069600" cy="626700"/>
          </a:xfrm>
          <a:prstGeom prst="roundRect">
            <a:avLst>
              <a:gd fmla="val 4323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216000" lIns="216000" spcFirstLastPara="1" rIns="216000" wrap="square" tIns="18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роль1: GRANT привилегии ON объект TO роль2 WITH GRANT OPTION;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9" name="Google Shape;619;p86"/>
          <p:cNvSpPr txBox="1"/>
          <p:nvPr/>
        </p:nvSpPr>
        <p:spPr>
          <a:xfrm>
            <a:off x="1725850" y="1187025"/>
            <a:ext cx="78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Выдача привилегии с правом передач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20" name="Google Shape;620;p86"/>
          <p:cNvSpPr/>
          <p:nvPr/>
        </p:nvSpPr>
        <p:spPr>
          <a:xfrm>
            <a:off x="1725850" y="3040440"/>
            <a:ext cx="9069600" cy="626700"/>
          </a:xfrm>
          <a:prstGeom prst="roundRect">
            <a:avLst>
              <a:gd fmla="val 4323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216000" lIns="216000" spcFirstLastPara="1" rIns="216000" wrap="square" tIns="18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роль1: REVOKE привилегии ON объект FROM роль2 </a:t>
            </a:r>
            <a:r>
              <a:rPr lang="ru-RU" sz="2000">
                <a:solidFill>
                  <a:srgbClr val="00C391"/>
                </a:solidFill>
                <a:latin typeface="Consolas"/>
                <a:ea typeface="Consolas"/>
                <a:cs typeface="Consolas"/>
                <a:sym typeface="Consolas"/>
              </a:rPr>
              <a:t>CASCADE;</a:t>
            </a:r>
            <a:endParaRPr sz="2000">
              <a:solidFill>
                <a:srgbClr val="00C39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1" name="Google Shape;621;p86"/>
          <p:cNvSpPr/>
          <p:nvPr/>
        </p:nvSpPr>
        <p:spPr>
          <a:xfrm>
            <a:off x="1725850" y="4382350"/>
            <a:ext cx="9069600" cy="862800"/>
          </a:xfrm>
          <a:prstGeom prst="roundRect">
            <a:avLst>
              <a:gd fmla="val 4323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216000" lIns="216000" spcFirstLastPara="1" rIns="216000" wrap="square" tIns="18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роль1: REVOKE GRANT OPTION FOR привилегии ON объект FROM роль2 </a:t>
            </a:r>
            <a:r>
              <a:rPr lang="ru-RU" sz="2000">
                <a:solidFill>
                  <a:srgbClr val="00C391"/>
                </a:solidFill>
                <a:latin typeface="Consolas"/>
                <a:ea typeface="Consolas"/>
                <a:cs typeface="Consolas"/>
                <a:sym typeface="Consolas"/>
              </a:rPr>
              <a:t>CASCADE;</a:t>
            </a:r>
            <a:endParaRPr sz="2000">
              <a:solidFill>
                <a:srgbClr val="00C39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2" name="Google Shape;622;p86"/>
          <p:cNvSpPr txBox="1"/>
          <p:nvPr/>
        </p:nvSpPr>
        <p:spPr>
          <a:xfrm>
            <a:off x="1725850" y="3870845"/>
            <a:ext cx="611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Отзыв права передачи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23" name="Google Shape;623;p86"/>
          <p:cNvSpPr txBox="1"/>
          <p:nvPr/>
        </p:nvSpPr>
        <p:spPr>
          <a:xfrm>
            <a:off x="1725850" y="2528935"/>
            <a:ext cx="78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Отзыв привилегии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7"/>
          <p:cNvSpPr txBox="1"/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lang="ru-RU"/>
              <a:t>МОДЕЛИ ОРГАНИЗАЦИИ ДОСТУПА</a:t>
            </a:r>
            <a:endParaRPr/>
          </a:p>
        </p:txBody>
      </p:sp>
      <p:sp>
        <p:nvSpPr>
          <p:cNvPr id="629" name="Google Shape;629;p87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30" name="Google Shape;630;p87"/>
          <p:cNvSpPr txBox="1"/>
          <p:nvPr/>
        </p:nvSpPr>
        <p:spPr>
          <a:xfrm>
            <a:off x="2394225" y="1986700"/>
            <a:ext cx="7869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Для каждого реального пользователя создавать соответствующего юзера в Постгресе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31" name="Google Shape;631;p87"/>
          <p:cNvSpPr/>
          <p:nvPr/>
        </p:nvSpPr>
        <p:spPr>
          <a:xfrm>
            <a:off x="1725850" y="1986700"/>
            <a:ext cx="446100" cy="4311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b="0" i="0" lang="ru-RU" sz="2000" u="none" cap="none" strike="noStrike">
                <a:solidFill>
                  <a:srgbClr val="1B4EFC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2" name="Google Shape;632;p87"/>
          <p:cNvSpPr/>
          <p:nvPr/>
        </p:nvSpPr>
        <p:spPr>
          <a:xfrm>
            <a:off x="2394225" y="2865838"/>
            <a:ext cx="6977400" cy="915300"/>
          </a:xfrm>
          <a:prstGeom prst="roundRect">
            <a:avLst>
              <a:gd fmla="val 16667" name="adj"/>
            </a:avLst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accent5"/>
                </a:solidFill>
              </a:rPr>
              <a:t>Плюсы: </a:t>
            </a:r>
            <a:r>
              <a:rPr lang="ru-RU" sz="2000">
                <a:solidFill>
                  <a:schemeClr val="dk1"/>
                </a:solidFill>
              </a:rPr>
              <a:t>четко определяем права каждому пользователю</a:t>
            </a:r>
            <a:endParaRPr/>
          </a:p>
        </p:txBody>
      </p:sp>
      <p:sp>
        <p:nvSpPr>
          <p:cNvPr id="633" name="Google Shape;633;p87"/>
          <p:cNvSpPr/>
          <p:nvPr/>
        </p:nvSpPr>
        <p:spPr>
          <a:xfrm>
            <a:off x="2394225" y="3998475"/>
            <a:ext cx="6977400" cy="915300"/>
          </a:xfrm>
          <a:prstGeom prst="roundRect">
            <a:avLst>
              <a:gd fmla="val 16667" name="adj"/>
            </a:avLst>
          </a:prstGeom>
          <a:solidFill>
            <a:srgbClr val="E5E0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accent6"/>
                </a:solidFill>
              </a:rPr>
              <a:t>Минусы: </a:t>
            </a:r>
            <a:r>
              <a:rPr lang="ru-RU" sz="2000">
                <a:solidFill>
                  <a:schemeClr val="dk1"/>
                </a:solidFill>
              </a:rPr>
              <a:t>очень громоздкая инфраструктура, потеря производительности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8"/>
          <p:cNvSpPr txBox="1"/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lang="ru-RU"/>
              <a:t>МОДЕЛИ ОРГАНИЗАЦИИ ДОСТУПА</a:t>
            </a:r>
            <a:endParaRPr/>
          </a:p>
        </p:txBody>
      </p:sp>
      <p:sp>
        <p:nvSpPr>
          <p:cNvPr id="639" name="Google Shape;639;p88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40" name="Google Shape;640;p88"/>
          <p:cNvSpPr/>
          <p:nvPr/>
        </p:nvSpPr>
        <p:spPr>
          <a:xfrm>
            <a:off x="1725850" y="1780138"/>
            <a:ext cx="446100" cy="431100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b="0" i="0" lang="ru-RU" sz="2000" u="none" cap="none" strike="noStrike">
                <a:solidFill>
                  <a:srgbClr val="836ED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2000" u="none" cap="none" strike="noStrike">
              <a:solidFill>
                <a:srgbClr val="836ED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41" name="Google Shape;641;p88"/>
          <p:cNvSpPr txBox="1"/>
          <p:nvPr/>
        </p:nvSpPr>
        <p:spPr>
          <a:xfrm>
            <a:off x="2394225" y="1780138"/>
            <a:ext cx="786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</a:rPr>
              <a:t>Создать отдельную таблицу с пользователями, паролями и правами доступа и проверять доступ к тем или иных функциям уже на стороне приложения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42" name="Google Shape;642;p88"/>
          <p:cNvSpPr/>
          <p:nvPr/>
        </p:nvSpPr>
        <p:spPr>
          <a:xfrm>
            <a:off x="2394225" y="3021600"/>
            <a:ext cx="6977400" cy="915300"/>
          </a:xfrm>
          <a:prstGeom prst="roundRect">
            <a:avLst>
              <a:gd fmla="val 16667" name="adj"/>
            </a:avLst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accent5"/>
                </a:solidFill>
              </a:rPr>
              <a:t>Плюсы: </a:t>
            </a:r>
            <a:r>
              <a:rPr lang="ru-RU" sz="2000">
                <a:solidFill>
                  <a:schemeClr val="dk1"/>
                </a:solidFill>
              </a:rPr>
              <a:t>легковесность и гибкость настройки, нет потери производительности</a:t>
            </a:r>
            <a:endParaRPr/>
          </a:p>
        </p:txBody>
      </p:sp>
      <p:sp>
        <p:nvSpPr>
          <p:cNvPr id="643" name="Google Shape;643;p88"/>
          <p:cNvSpPr/>
          <p:nvPr/>
        </p:nvSpPr>
        <p:spPr>
          <a:xfrm>
            <a:off x="2394225" y="4162563"/>
            <a:ext cx="6977400" cy="915300"/>
          </a:xfrm>
          <a:prstGeom prst="roundRect">
            <a:avLst>
              <a:gd fmla="val 16667" name="adj"/>
            </a:avLst>
          </a:prstGeom>
          <a:solidFill>
            <a:srgbClr val="E5E0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accent6"/>
                </a:solidFill>
              </a:rPr>
              <a:t>Минусы: </a:t>
            </a:r>
            <a:r>
              <a:rPr lang="ru-RU" sz="2000">
                <a:solidFill>
                  <a:schemeClr val="dk1"/>
                </a:solidFill>
              </a:rPr>
              <a:t>необходимо на стороне приложения учитывать фактор ролевого доступа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9"/>
          <p:cNvSpPr txBox="1"/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649" name="Google Shape;649;p89"/>
          <p:cNvSpPr txBox="1"/>
          <p:nvPr>
            <p:ph idx="12" type="sldNum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50" name="Google Shape;650;p89"/>
          <p:cNvSpPr/>
          <p:nvPr/>
        </p:nvSpPr>
        <p:spPr>
          <a:xfrm>
            <a:off x="1703400" y="2393225"/>
            <a:ext cx="7799100" cy="2095500"/>
          </a:xfrm>
          <a:prstGeom prst="roundRect">
            <a:avLst>
              <a:gd fmla="val 5760" name="adj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anchorCtr="0" anchor="t" bIns="144000" lIns="180000" spcFirstLastPara="1" rIns="108000" wrap="square" tIns="108000">
            <a:noAutofit/>
          </a:bodyPr>
          <a:lstStyle/>
          <a:p>
            <a:pPr indent="0" lvl="0" marL="111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b="0" i="0" lang="ru-RU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Поняли, что такое привилегии и как правильно их настроить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51" name="Google Shape;651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9316" y="2587791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circle, rectangle&#10;&#10;Description automatically generated" id="656" name="Google Shape;656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, circle, rectangle&#10;&#10;Description automatically generated" id="657" name="Google Shape;657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, circle&#10;&#10;Description automatically generated" id="658" name="Google Shape;658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90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60" name="Google Shape;660;p90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661" name="Google Shape;661;p90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anchorCtr="0" anchor="ctr" bIns="35725" lIns="35725" spcFirstLastPara="1" rIns="35725" wrap="square" tIns="3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descr="Logo&#10;&#10;Description automatically generated" id="662" name="Google Shape;662;p9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3" name="Google Shape;663;p90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4" name="Google Shape;664;p90"/>
          <p:cNvSpPr txBox="1"/>
          <p:nvPr/>
        </p:nvSpPr>
        <p:spPr>
          <a:xfrm>
            <a:off x="1715258" y="2280384"/>
            <a:ext cx="81192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b="0" i="0" lang="ru-RU" sz="6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ПРОВЕРОЧНОЕ</a:t>
            </a:r>
            <a:endParaRPr sz="700"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b="0" i="0" lang="ru-RU" sz="6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</a:t>
            </a:r>
            <a:endParaRPr sz="700"/>
          </a:p>
        </p:txBody>
      </p:sp>
      <p:sp>
        <p:nvSpPr>
          <p:cNvPr id="665" name="Google Shape;665;p90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6" name="Google Shape;666;p90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25" lIns="35725" spcFirstLastPara="1" rIns="35725" wrap="square" tIns="3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begin</a:t>
            </a:r>
            <a:endParaRPr b="0" i="0" sz="15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67" name="Google Shape;667;p90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68" name="Google Shape;668;p90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669" name="Google Shape;669;p90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725" lIns="35725" spcFirstLastPara="1" rIns="35725" wrap="square" tIns="357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b="0" i="0" lang="ru-RU" sz="2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90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725" lIns="35725" spcFirstLastPara="1" rIns="35725" wrap="square" tIns="357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b="0" i="0" lang="ru-RU" sz="2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1" name="Google Shape;671;p90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9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2" name="Google Shape;672;p90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3" name="Google Shape;673;p90"/>
          <p:cNvSpPr txBox="1"/>
          <p:nvPr/>
        </p:nvSpPr>
        <p:spPr>
          <a:xfrm>
            <a:off x="1715259" y="3938927"/>
            <a:ext cx="53292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25" lIns="35725" spcFirstLastPara="1" rIns="35725" wrap="square" tIns="3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-RU" sz="1800">
                <a:solidFill>
                  <a:schemeClr val="lt1"/>
                </a:solidFill>
              </a:rPr>
              <a:t>Цель задания:</a:t>
            </a:r>
            <a:r>
              <a:rPr lang="ru-RU" sz="1800">
                <a:solidFill>
                  <a:schemeClr val="lt1"/>
                </a:solidFill>
              </a:rPr>
              <a:t> </a:t>
            </a:r>
            <a:r>
              <a:rPr lang="ru-RU" sz="1800">
                <a:solidFill>
                  <a:schemeClr val="lt1"/>
                </a:solidFill>
              </a:rPr>
              <a:t>научиться выдавать права пользователям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1"/>
          <p:cNvSpPr txBox="1"/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ЗАДАНИЕ НА САМОПРОВЕРКУ</a:t>
            </a:r>
            <a:endParaRPr/>
          </a:p>
        </p:txBody>
      </p:sp>
      <p:sp>
        <p:nvSpPr>
          <p:cNvPr id="679" name="Google Shape;679;p91"/>
          <p:cNvSpPr txBox="1"/>
          <p:nvPr/>
        </p:nvSpPr>
        <p:spPr>
          <a:xfrm>
            <a:off x="1695375" y="2634353"/>
            <a:ext cx="245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Зайти под пользователем postgres в psql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91"/>
          <p:cNvSpPr txBox="1"/>
          <p:nvPr/>
        </p:nvSpPr>
        <p:spPr>
          <a:xfrm>
            <a:off x="4764100" y="2634350"/>
            <a:ext cx="3605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Выдать права на чтение на любую таблицу созданному на предыдущем уроке пользователю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91"/>
          <p:cNvSpPr txBox="1"/>
          <p:nvPr/>
        </p:nvSpPr>
        <p:spPr>
          <a:xfrm>
            <a:off x="1695369" y="4520278"/>
            <a:ext cx="230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Зайти в psql под этим созданным пользователем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91"/>
          <p:cNvSpPr txBox="1"/>
          <p:nvPr/>
        </p:nvSpPr>
        <p:spPr>
          <a:xfrm>
            <a:off x="4775975" y="4548000"/>
            <a:ext cx="3605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Попробовать получить доступ к таблице</a:t>
            </a:r>
            <a:r>
              <a:rPr lang="ru-RU" sz="1800">
                <a:solidFill>
                  <a:schemeClr val="dk1"/>
                </a:solidFill>
              </a:rPr>
              <a:t> на выбор записей, на которую выдали права на шаге 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83" name="Google Shape;683;p91"/>
          <p:cNvSpPr txBox="1"/>
          <p:nvPr/>
        </p:nvSpPr>
        <p:spPr>
          <a:xfrm>
            <a:off x="1695376" y="2106285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91"/>
          <p:cNvSpPr txBox="1"/>
          <p:nvPr/>
        </p:nvSpPr>
        <p:spPr>
          <a:xfrm>
            <a:off x="4775976" y="2104677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91"/>
          <p:cNvSpPr txBox="1"/>
          <p:nvPr/>
        </p:nvSpPr>
        <p:spPr>
          <a:xfrm>
            <a:off x="1695369" y="3988992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91"/>
          <p:cNvSpPr txBox="1"/>
          <p:nvPr/>
        </p:nvSpPr>
        <p:spPr>
          <a:xfrm>
            <a:off x="4775976" y="3988992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7" name="Google Shape;687;p91"/>
          <p:cNvCxnSpPr/>
          <p:nvPr/>
        </p:nvCxnSpPr>
        <p:spPr>
          <a:xfrm rot="10800000">
            <a:off x="2307762" y="2366301"/>
            <a:ext cx="2220600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8" name="Google Shape;688;p91"/>
          <p:cNvCxnSpPr/>
          <p:nvPr/>
        </p:nvCxnSpPr>
        <p:spPr>
          <a:xfrm rot="10800000">
            <a:off x="5478283" y="2366301"/>
            <a:ext cx="2553300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9" name="Google Shape;689;p91"/>
          <p:cNvCxnSpPr/>
          <p:nvPr/>
        </p:nvCxnSpPr>
        <p:spPr>
          <a:xfrm rot="10800000">
            <a:off x="2307762" y="4235292"/>
            <a:ext cx="2220600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circle, rectangle&#10;&#10;Description automatically generated" id="694" name="Google Shape;694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, circle, rectangle&#10;&#10;Description automatically generated" id="695" name="Google Shape;695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, circle&#10;&#10;Description automatically generated" id="696" name="Google Shape;696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92"/>
          <p:cNvSpPr/>
          <p:nvPr/>
        </p:nvSpPr>
        <p:spPr>
          <a:xfrm>
            <a:off x="30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98" name="Google Shape;698;p92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699" name="Google Shape;699;p92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anchorCtr="0" anchor="ctr" bIns="35725" lIns="35725" spcFirstLastPara="1" rIns="35725" wrap="square" tIns="357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descr="Logo&#10;&#10;Description automatically generated" id="700" name="Google Shape;700;p9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1" name="Google Shape;701;p92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2" name="Google Shape;702;p92"/>
          <p:cNvSpPr txBox="1"/>
          <p:nvPr/>
        </p:nvSpPr>
        <p:spPr>
          <a:xfrm>
            <a:off x="1634961" y="2992838"/>
            <a:ext cx="73464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25" lIns="35725" spcFirstLastPara="1" rIns="35725" wrap="square" tIns="3572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СПАСИБО</a:t>
            </a:r>
            <a:endParaRPr sz="700"/>
          </a:p>
        </p:txBody>
      </p:sp>
      <p:sp>
        <p:nvSpPr>
          <p:cNvPr id="703" name="Google Shape;703;p92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4" name="Google Shape;704;p92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25" lIns="35725" spcFirstLastPara="1" rIns="35725" wrap="square" tIns="3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End</a:t>
            </a:r>
            <a:endParaRPr b="0" i="0" sz="15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5" name="Google Shape;705;p92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06" name="Google Shape;706;p92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707" name="Google Shape;707;p92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725" lIns="35725" spcFirstLastPara="1" rIns="35725" wrap="square" tIns="357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b="0" i="0" lang="ru-RU" sz="2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92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725" lIns="35725" spcFirstLastPara="1" rIns="35725" wrap="square" tIns="357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b="0" i="0" lang="ru-RU" sz="2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9" name="Google Shape;709;p92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9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0" name="Google Shape;710;p92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5725" lIns="35725" spcFirstLastPara="1" rIns="35725" wrap="square" tIns="3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1" name="Google Shape;711;p92"/>
          <p:cNvSpPr txBox="1"/>
          <p:nvPr/>
        </p:nvSpPr>
        <p:spPr>
          <a:xfrm>
            <a:off x="1622061" y="4017207"/>
            <a:ext cx="73722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25" lIns="35725" spcFirstLastPara="1" rIns="35725" wrap="square" tIns="35725">
            <a:spAutoFit/>
          </a:bodyPr>
          <a:lstStyle/>
          <a:p>
            <a:pPr indent="0" lvl="0" marL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FFFF"/>
                </a:solidFill>
              </a:rPr>
              <a:t>На следующем занятии мы рассмотрим следующий блок Выполнение запросов, включающих темы: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ru-RU" sz="1800">
                <a:solidFill>
                  <a:srgbClr val="FFFFFF"/>
                </a:solidFill>
              </a:rPr>
              <a:t>Типы данных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ru-RU" sz="1800">
                <a:solidFill>
                  <a:srgbClr val="FFFFFF"/>
                </a:solidFill>
              </a:rPr>
              <a:t>Нормализация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D6D5D5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