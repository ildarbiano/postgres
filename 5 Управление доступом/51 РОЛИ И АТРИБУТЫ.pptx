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70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8" r:id="rId1"/>
    <p:sldMasterId id="2147483719" r:id="rId2"/>
    <p:sldMasterId id="2147483720" r:id="rId3"/>
    <p:sldMasterId id="2147483721" r:id="rId4"/>
    <p:sldMasterId id="2147483722" r:id="rId5"/>
    <p:sldMasterId id="2147483723" r:id="rId6"/>
    <p:sldMasterId id="2147483724" r:id="rId7"/>
  </p:sldMasterIdLst>
  <p:notesMasterIdLst>
    <p:notesMasterId r:id="rId21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embeddedFontLst>
    <p:embeddedFont>
      <p:font typeface="Arial Black" panose="020B0A04020102020204" pitchFamily="34" charset="0"/>
      <p:regular r:id="rId22"/>
      <p:bold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onsolas" panose="020B0609020204030204" pitchFamily="49" charset="0"/>
      <p:regular r:id="rId28"/>
      <p:bold r:id="rId29"/>
      <p:italic r:id="rId30"/>
      <p:boldItalic r:id="rId31"/>
    </p:embeddedFont>
    <p:embeddedFont>
      <p:font typeface="Helvetica Neue" panose="020B0604020202020204" charset="0"/>
      <p:regular r:id="rId32"/>
      <p:bold r:id="rId33"/>
      <p:italic r:id="rId34"/>
      <p:boldItalic r:id="rId35"/>
    </p:embeddedFont>
    <p:embeddedFont>
      <p:font typeface="Helvetica Neue Light" panose="020B0604020202020204" charset="0"/>
      <p:regular r:id="rId36"/>
      <p:bold r:id="rId37"/>
      <p:italic r:id="rId38"/>
      <p:boldItalic r:id="rId39"/>
    </p:embeddedFont>
    <p:embeddedFont>
      <p:font typeface="Open Sans" panose="020B0604020202020204" charset="0"/>
      <p:regular r:id="rId40"/>
      <p:bold r:id="rId41"/>
      <p:italic r:id="rId42"/>
      <p:boldItalic r:id="rId43"/>
    </p:embeddedFont>
    <p:embeddedFont>
      <p:font typeface="Proxima Nova" panose="020B060402020202020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4" y="1296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font" Target="fonts/font21.fntdata"/><Relationship Id="rId47" Type="http://schemas.openxmlformats.org/officeDocument/2006/relationships/font" Target="fonts/font26.fntdata"/><Relationship Id="rId50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font" Target="fonts/font8.fntdata"/><Relationship Id="rId11" Type="http://schemas.openxmlformats.org/officeDocument/2006/relationships/slide" Target="slides/slide4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45" Type="http://schemas.openxmlformats.org/officeDocument/2006/relationships/font" Target="fonts/font24.fnt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49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10.fntdata"/><Relationship Id="rId44" Type="http://schemas.openxmlformats.org/officeDocument/2006/relationships/font" Target="fonts/font23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font" Target="fonts/font22.fntdata"/><Relationship Id="rId48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46" Type="http://schemas.openxmlformats.org/officeDocument/2006/relationships/font" Target="fonts/font25.fntdata"/><Relationship Id="rId20" Type="http://schemas.openxmlformats.org/officeDocument/2006/relationships/slide" Target="slides/slide13.xml"/><Relationship Id="rId41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4469f59920_0_103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1100"/>
              <a:t>Добрый день, приветствую Вас на обучающем курсе по основам безопасной разработки. Все вы опытные люди, не первый день работающие в сфере ИТ. </a:t>
            </a:r>
            <a:endParaRPr/>
          </a:p>
        </p:txBody>
      </p:sp>
      <p:sp>
        <p:nvSpPr>
          <p:cNvPr id="532" name="Google Shape;532;g14469f59920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145ee122a68_0_100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8" name="Google Shape;538;g145ee122a68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145ee122a68_0_301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g145ee122a68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45ee122a68_0_1017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1" name="Google Shape;561;g145ee122a68_0_1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145ee122a68_0_1121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8" name="Google Shape;578;g145ee122a68_0_1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145ee122a68_0_1221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7" name="Google Shape;587;g145ee122a68_0_1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45ee122a68_0_1239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7" name="Google Shape;597;g145ee122a68_0_1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145ee122a68_0_1253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8" name="Google Shape;608;g145ee122a68_0_1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145ee122a68_0_1264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0" name="Google Shape;620;g145ee122a68_0_1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145ee122a68_0_504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2" name="Google Shape;632;g145ee122a68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145ee122a68_0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0" name="Google Shape;640;g145ee122a68_0_60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145ee122a68_0_814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g145ee122a68_0_8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145ee122a68_0_1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8" name="Google Shape;678;g145ee122a68_0_130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pn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.png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99" name="Google Shape;99;p16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6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4" name="Google Shape;114;p18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8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18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8" name="Google Shape;128;p19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1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0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5" name="Google Shape;145;p20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1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0" name="Google Shape;15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9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90" name="Google Shape;190;p29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9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9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2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9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2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9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9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9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" name="Google Shape;202;p30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03" name="Google Shape;203;p30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0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0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0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0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0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0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30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" name="Google Shape;213;p31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1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15" name="Google Shape;215;p31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1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1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1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31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1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31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1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1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2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2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2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29" name="Google Shape;22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3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2" name="Google Shape;232;p32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3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3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3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37" name="Google Shape;23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3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33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0" name="Google Shape;240;p3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1" name="Google Shape;241;p33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" name="Google Shape;244;p34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4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6" name="Google Shape;246;p3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7" name="Google Shape;247;p34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35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6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" name="Google Shape;253;p36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54" name="Google Shape;254;p36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55" name="Google Shape;255;p36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58" name="Google Shape;258;p37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0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2" name="Google Shape;272;p4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4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1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6" name="Google Shape;276;p41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77" name="Google Shape;277;p41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1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1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1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1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1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1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41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2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42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88" name="Google Shape;288;p42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2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2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2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42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2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42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2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2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2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0" name="Google Shape;300;p43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43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02" name="Google Shape;302;p43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3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3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3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p43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3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43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3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3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3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44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4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4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16" name="Google Shape;316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4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19" name="Google Shape;319;p44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45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5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5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24" name="Google Shape;324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5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45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7" name="Google Shape;327;p4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28" name="Google Shape;328;p45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6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46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46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4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34" name="Google Shape;334;p46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7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7" name="Google Shape;337;p47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8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48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1" name="Google Shape;341;p48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342" name="Google Shape;342;p48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9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345" name="Google Shape;345;p49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0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>
            <a:spLocks noGrp="1"/>
          </p:cNvSpPr>
          <p:nvPr>
            <p:ph type="sldNum" idx="12"/>
          </p:nvPr>
        </p:nvSpPr>
        <p:spPr>
          <a:xfrm>
            <a:off x="5977052" y="6536531"/>
            <a:ext cx="2331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3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1" name="Google Shape;361;p53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362" name="Google Shape;362;p53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53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53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3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53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53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53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369;p53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4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2" name="Google Shape;372;p5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5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5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55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77" name="Google Shape;377;p55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55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5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5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" name="Google Shape;381;p55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55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p55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5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5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5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6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9" name="Google Shape;389;p56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56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91" name="Google Shape;391;p56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56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56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6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" name="Google Shape;395;p56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56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p56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6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6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56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7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3" name="Google Shape;403;p57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57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5" name="Google Shape;405;p5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06" name="Google Shape;406;p57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58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8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8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11" name="Google Shape;411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5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14" name="Google Shape;414;p58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59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9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59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19" name="Google Shape;419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59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59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2" name="Google Shape;422;p5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23" name="Google Shape;423;p59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0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6" name="Google Shape;426;p60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1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9" name="Google Shape;429;p61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0" name="Google Shape;430;p61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431" name="Google Shape;431;p61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2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434" name="Google Shape;434;p62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3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5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8" name="Google Shape;448;p65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449" name="Google Shape;449;p65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65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65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65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65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65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65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6" name="Google Shape;456;p65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6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9" name="Google Shape;459;p6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6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7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67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64" name="Google Shape;464;p67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67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67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67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8" name="Google Shape;468;p6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67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0" name="Google Shape;470;p6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7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67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67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8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6" name="Google Shape;476;p68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68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78" name="Google Shape;478;p68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68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68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68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2" name="Google Shape;482;p68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68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4" name="Google Shape;484;p68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68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68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68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69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69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69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92" name="Google Shape;492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6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94" name="Google Shape;494;p6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95" name="Google Shape;495;p69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70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70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70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00" name="Google Shape;500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70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70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3" name="Google Shape;503;p7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04" name="Google Shape;504;p70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1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71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08" name="Google Shape;508;p71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9" name="Google Shape;509;p7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10" name="Google Shape;510;p71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2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3" name="Google Shape;513;p72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3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73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17" name="Google Shape;517;p73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518" name="Google Shape;518;p73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4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521" name="Google Shape;521;p74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75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77"/>
          <p:cNvSpPr txBox="1">
            <a:spLocks noGrp="1"/>
          </p:cNvSpPr>
          <p:nvPr>
            <p:ph type="sldNum" idx="12"/>
          </p:nvPr>
        </p:nvSpPr>
        <p:spPr>
          <a:xfrm>
            <a:off x="5977052" y="6536531"/>
            <a:ext cx="2331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3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4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37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45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4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6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89" name="Google Shape;89;p1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176" name="Google Shape;176;p2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8" name="Google Shape;178;p27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263" name="Google Shape;263;p39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65" name="Google Shape;265;p39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9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9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9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9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9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352" name="Google Shape;352;p5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54" name="Google Shape;354;p52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52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52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52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52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439" name="Google Shape;439;p6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6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41" name="Google Shape;441;p64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64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64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64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64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6"/>
          <p:cNvSpPr txBox="1">
            <a:spLocks noGrp="1"/>
          </p:cNvSpPr>
          <p:nvPr>
            <p:ph type="title"/>
          </p:nvPr>
        </p:nvSpPr>
        <p:spPr>
          <a:xfrm>
            <a:off x="1826683" y="979211"/>
            <a:ext cx="9753600" cy="12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26" name="Google Shape;526;p76"/>
          <p:cNvSpPr txBox="1">
            <a:spLocks noGrp="1"/>
          </p:cNvSpPr>
          <p:nvPr>
            <p:ph type="body" idx="1"/>
          </p:nvPr>
        </p:nvSpPr>
        <p:spPr>
          <a:xfrm>
            <a:off x="6805083" y="2229126"/>
            <a:ext cx="4775400" cy="4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27" name="Google Shape;527;p76"/>
          <p:cNvSpPr txBox="1">
            <a:spLocks noGrp="1"/>
          </p:cNvSpPr>
          <p:nvPr>
            <p:ph type="sldNum" idx="12"/>
          </p:nvPr>
        </p:nvSpPr>
        <p:spPr>
          <a:xfrm>
            <a:off x="5977052" y="6536531"/>
            <a:ext cx="2331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ostgrespro.ru/docs/postgresql/14/sql-createrol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0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8"/>
          <p:cNvSpPr txBox="1">
            <a:spLocks noGrp="1"/>
          </p:cNvSpPr>
          <p:nvPr>
            <p:ph type="body" idx="1"/>
          </p:nvPr>
        </p:nvSpPr>
        <p:spPr>
          <a:xfrm>
            <a:off x="1326375" y="2782113"/>
            <a:ext cx="7019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/>
              <a:t>БЛОК 6. УПРАВЛЕНИЕ ДОСТУПОМ</a:t>
            </a:r>
            <a:endParaRPr/>
          </a:p>
        </p:txBody>
      </p:sp>
      <p:sp>
        <p:nvSpPr>
          <p:cNvPr id="535" name="Google Shape;535;p78"/>
          <p:cNvSpPr txBox="1">
            <a:spLocks noGrp="1"/>
          </p:cNvSpPr>
          <p:nvPr>
            <p:ph type="title"/>
          </p:nvPr>
        </p:nvSpPr>
        <p:spPr>
          <a:xfrm>
            <a:off x="1326375" y="3369375"/>
            <a:ext cx="9612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5400"/>
              <a:t>РОЛИ И АТРИБУТЫ</a:t>
            </a:r>
            <a:endParaRPr sz="5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9"/>
          <p:cNvSpPr/>
          <p:nvPr/>
        </p:nvSpPr>
        <p:spPr>
          <a:xfrm>
            <a:off x="1725850" y="2438400"/>
            <a:ext cx="6942900" cy="19812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Понять предназначение, виды и устройство систем ролей и атрибутов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7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ЦЕЛЬ УРОКА</a:t>
            </a:r>
            <a:endParaRPr/>
          </a:p>
        </p:txBody>
      </p:sp>
      <p:sp>
        <p:nvSpPr>
          <p:cNvPr id="542" name="Google Shape;542;p7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543" name="Google Shape;543;p79"/>
          <p:cNvSpPr/>
          <p:nvPr/>
        </p:nvSpPr>
        <p:spPr>
          <a:xfrm>
            <a:off x="1908732" y="25430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8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СОДЕРЖАНИЕ УРОКА</a:t>
            </a:r>
            <a:endParaRPr/>
          </a:p>
        </p:txBody>
      </p:sp>
      <p:sp>
        <p:nvSpPr>
          <p:cNvPr id="549" name="Google Shape;549;p8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550" name="Google Shape;550;p80"/>
          <p:cNvSpPr/>
          <p:nvPr/>
        </p:nvSpPr>
        <p:spPr>
          <a:xfrm>
            <a:off x="1719852" y="1361364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1" name="Google Shape;551;p80"/>
          <p:cNvSpPr/>
          <p:nvPr/>
        </p:nvSpPr>
        <p:spPr>
          <a:xfrm>
            <a:off x="1719852" y="3129109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2" name="Google Shape;552;p80"/>
          <p:cNvSpPr/>
          <p:nvPr/>
        </p:nvSpPr>
        <p:spPr>
          <a:xfrm>
            <a:off x="1719852" y="4896852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53" name="Google Shape;553;p80"/>
          <p:cNvCxnSpPr/>
          <p:nvPr/>
        </p:nvCxnSpPr>
        <p:spPr>
          <a:xfrm rot="10800000">
            <a:off x="2183068" y="2395849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4" name="Google Shape;554;p80"/>
          <p:cNvCxnSpPr/>
          <p:nvPr/>
        </p:nvCxnSpPr>
        <p:spPr>
          <a:xfrm rot="10800000">
            <a:off x="2183068" y="4163594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5" name="Google Shape;555;p80"/>
          <p:cNvSpPr txBox="1"/>
          <p:nvPr/>
        </p:nvSpPr>
        <p:spPr>
          <a:xfrm>
            <a:off x="2860569" y="1547489"/>
            <a:ext cx="2570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Роли, группы, пользователи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56" name="Google Shape;556;p80"/>
          <p:cNvSpPr txBox="1"/>
          <p:nvPr/>
        </p:nvSpPr>
        <p:spPr>
          <a:xfrm>
            <a:off x="2860569" y="3453709"/>
            <a:ext cx="2289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Атрибуты</a:t>
            </a:r>
            <a:endParaRPr sz="1800" u="none" strike="noStrike" cap="none">
              <a:solidFill>
                <a:srgbClr val="000000"/>
              </a:solidFill>
            </a:endParaRPr>
          </a:p>
        </p:txBody>
      </p:sp>
      <p:sp>
        <p:nvSpPr>
          <p:cNvPr id="557" name="Google Shape;557;p80"/>
          <p:cNvSpPr txBox="1"/>
          <p:nvPr/>
        </p:nvSpPr>
        <p:spPr>
          <a:xfrm>
            <a:off x="2860569" y="5221452"/>
            <a:ext cx="257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Практика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58" name="Google Shape;558;p80"/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81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 b="1"/>
              <a:t>РОЛИ, ГРУППЫ И ПОЛЬЗОВАТЕЛИ</a:t>
            </a:r>
            <a:endParaRPr/>
          </a:p>
        </p:txBody>
      </p:sp>
      <p:sp>
        <p:nvSpPr>
          <p:cNvPr id="564" name="Google Shape;564;p8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grpSp>
        <p:nvGrpSpPr>
          <p:cNvPr id="565" name="Google Shape;565;p81"/>
          <p:cNvGrpSpPr/>
          <p:nvPr/>
        </p:nvGrpSpPr>
        <p:grpSpPr>
          <a:xfrm>
            <a:off x="1725850" y="2094463"/>
            <a:ext cx="582833" cy="200870"/>
            <a:chOff x="0" y="1270"/>
            <a:chExt cx="1466615" cy="505460"/>
          </a:xfrm>
        </p:grpSpPr>
        <p:sp>
          <p:nvSpPr>
            <p:cNvPr id="566" name="Google Shape;566;p81"/>
            <p:cNvSpPr/>
            <p:nvPr/>
          </p:nvSpPr>
          <p:spPr>
            <a:xfrm>
              <a:off x="0" y="215900"/>
              <a:ext cx="1170705" cy="76200"/>
            </a:xfrm>
            <a:custGeom>
              <a:avLst/>
              <a:gdLst/>
              <a:ahLst/>
              <a:cxnLst/>
              <a:rect l="l" t="t" r="r" b="b"/>
              <a:pathLst>
                <a:path w="1170705" h="76200" extrusionOk="0">
                  <a:moveTo>
                    <a:pt x="0" y="0"/>
                  </a:moveTo>
                  <a:lnTo>
                    <a:pt x="1170705" y="0"/>
                  </a:lnTo>
                  <a:lnTo>
                    <a:pt x="117070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67" name="Google Shape;567;p81"/>
            <p:cNvSpPr/>
            <p:nvPr/>
          </p:nvSpPr>
          <p:spPr>
            <a:xfrm>
              <a:off x="1091965" y="1270"/>
              <a:ext cx="374650" cy="505460"/>
            </a:xfrm>
            <a:custGeom>
              <a:avLst/>
              <a:gdLst/>
              <a:ahLst/>
              <a:cxnLst/>
              <a:rect l="l" t="t" r="r" b="b"/>
              <a:pathLst>
                <a:path w="374650" h="505460" extrusionOk="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568" name="Google Shape;568;p81"/>
          <p:cNvSpPr txBox="1"/>
          <p:nvPr/>
        </p:nvSpPr>
        <p:spPr>
          <a:xfrm>
            <a:off x="1725850" y="1524975"/>
            <a:ext cx="5718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2"/>
                </a:solidFill>
              </a:rPr>
              <a:t>Роль = Группа = Пользователь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569" name="Google Shape;569;p81"/>
          <p:cNvSpPr txBox="1"/>
          <p:nvPr/>
        </p:nvSpPr>
        <p:spPr>
          <a:xfrm>
            <a:off x="2686050" y="2026725"/>
            <a:ext cx="5500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считается, что если дано право на логин, то это Пользователь определяется на уровне кластера</a:t>
            </a:r>
            <a:endParaRPr sz="2000">
              <a:solidFill>
                <a:schemeClr val="dk1"/>
              </a:solidFill>
            </a:endParaRPr>
          </a:p>
        </p:txBody>
      </p:sp>
      <p:grpSp>
        <p:nvGrpSpPr>
          <p:cNvPr id="570" name="Google Shape;570;p81"/>
          <p:cNvGrpSpPr/>
          <p:nvPr/>
        </p:nvGrpSpPr>
        <p:grpSpPr>
          <a:xfrm>
            <a:off x="1725850" y="3888713"/>
            <a:ext cx="582833" cy="200870"/>
            <a:chOff x="0" y="1270"/>
            <a:chExt cx="1466615" cy="505460"/>
          </a:xfrm>
        </p:grpSpPr>
        <p:sp>
          <p:nvSpPr>
            <p:cNvPr id="571" name="Google Shape;571;p81"/>
            <p:cNvSpPr/>
            <p:nvPr/>
          </p:nvSpPr>
          <p:spPr>
            <a:xfrm>
              <a:off x="0" y="215900"/>
              <a:ext cx="1170705" cy="76200"/>
            </a:xfrm>
            <a:custGeom>
              <a:avLst/>
              <a:gdLst/>
              <a:ahLst/>
              <a:cxnLst/>
              <a:rect l="l" t="t" r="r" b="b"/>
              <a:pathLst>
                <a:path w="1170705" h="76200" extrusionOk="0">
                  <a:moveTo>
                    <a:pt x="0" y="0"/>
                  </a:moveTo>
                  <a:lnTo>
                    <a:pt x="1170705" y="0"/>
                  </a:lnTo>
                  <a:lnTo>
                    <a:pt x="117070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72" name="Google Shape;572;p81"/>
            <p:cNvSpPr/>
            <p:nvPr/>
          </p:nvSpPr>
          <p:spPr>
            <a:xfrm>
              <a:off x="1091965" y="1270"/>
              <a:ext cx="374650" cy="505460"/>
            </a:xfrm>
            <a:custGeom>
              <a:avLst/>
              <a:gdLst/>
              <a:ahLst/>
              <a:cxnLst/>
              <a:rect l="l" t="t" r="r" b="b"/>
              <a:pathLst>
                <a:path w="374650" h="505460" extrusionOk="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573" name="Google Shape;573;p81"/>
          <p:cNvSpPr txBox="1"/>
          <p:nvPr/>
        </p:nvSpPr>
        <p:spPr>
          <a:xfrm>
            <a:off x="1725850" y="3319225"/>
            <a:ext cx="5718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2"/>
                </a:solidFill>
              </a:rPr>
              <a:t>Группа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574" name="Google Shape;574;p81"/>
          <p:cNvSpPr txBox="1"/>
          <p:nvPr/>
        </p:nvSpPr>
        <p:spPr>
          <a:xfrm>
            <a:off x="2686050" y="3820975"/>
            <a:ext cx="55008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может включать в себя другие роли — быть «групповой ролью»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75" name="Google Shape;575;p81"/>
          <p:cNvSpPr txBox="1"/>
          <p:nvPr/>
        </p:nvSpPr>
        <p:spPr>
          <a:xfrm>
            <a:off x="1725850" y="4823850"/>
            <a:ext cx="73407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Пользователь СУБД никак не связан с пользователем ОС (кроме права входа через UNIX socket)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8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 b="1"/>
              <a:t>СОЗДАНИЕ ПОЛЬЗОВАТЕЛЯ И ЕГО АТРИБУТЫ</a:t>
            </a:r>
            <a:endParaRPr/>
          </a:p>
        </p:txBody>
      </p:sp>
      <p:sp>
        <p:nvSpPr>
          <p:cNvPr id="581" name="Google Shape;581;p8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582" name="Google Shape;582;p82"/>
          <p:cNvSpPr/>
          <p:nvPr/>
        </p:nvSpPr>
        <p:spPr>
          <a:xfrm>
            <a:off x="1725850" y="1465613"/>
            <a:ext cx="7771800" cy="27825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CREATE ROLE  роль [WITH] атрибут [атрибут ...]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LOGIN 			возможность подключения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SUPERUSER 	суперпользователь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CREATEDB 		возможность создавать базы данных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CREATEROLE 	возможность создавать роли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REPLICATION 	использование протокола репликации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3" name="Google Shape;583;p82"/>
          <p:cNvSpPr/>
          <p:nvPr/>
        </p:nvSpPr>
        <p:spPr>
          <a:xfrm>
            <a:off x="1725850" y="4387825"/>
            <a:ext cx="7771800" cy="10173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NOLOGIN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NOCREATEDB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4" name="Google Shape;584;p82"/>
          <p:cNvSpPr txBox="1"/>
          <p:nvPr/>
        </p:nvSpPr>
        <p:spPr>
          <a:xfrm>
            <a:off x="1725850" y="5710125"/>
            <a:ext cx="71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 u="sng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https://postgrespro.ru/docs/postgresql/14/sql-createrole</a:t>
            </a:r>
            <a:r>
              <a:rPr lang="ru-RU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83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 b="1"/>
              <a:t>РОЛИ И ГРУППЫ</a:t>
            </a:r>
            <a:endParaRPr/>
          </a:p>
        </p:txBody>
      </p:sp>
      <p:sp>
        <p:nvSpPr>
          <p:cNvPr id="590" name="Google Shape;590;p8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591" name="Google Shape;591;p83"/>
          <p:cNvSpPr/>
          <p:nvPr/>
        </p:nvSpPr>
        <p:spPr>
          <a:xfrm>
            <a:off x="1662400" y="2580272"/>
            <a:ext cx="7771800" cy="6267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роль1: GRANT группа TO роль2;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2" name="Google Shape;592;p83"/>
          <p:cNvSpPr txBox="1"/>
          <p:nvPr/>
        </p:nvSpPr>
        <p:spPr>
          <a:xfrm>
            <a:off x="1662400" y="2117225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Включение роли в группу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93" name="Google Shape;593;p83"/>
          <p:cNvSpPr txBox="1"/>
          <p:nvPr/>
        </p:nvSpPr>
        <p:spPr>
          <a:xfrm>
            <a:off x="1662400" y="3562775"/>
            <a:ext cx="519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Исключение роли из группы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94" name="Google Shape;594;p83"/>
          <p:cNvSpPr/>
          <p:nvPr/>
        </p:nvSpPr>
        <p:spPr>
          <a:xfrm>
            <a:off x="1662400" y="4114072"/>
            <a:ext cx="7771800" cy="6267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роль1: REVOKE группа FROM роль2;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 b="1"/>
              <a:t>РОЛИ И ГРУППЫ</a:t>
            </a:r>
            <a:endParaRPr/>
          </a:p>
        </p:txBody>
      </p:sp>
      <p:sp>
        <p:nvSpPr>
          <p:cNvPr id="600" name="Google Shape;600;p8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sp>
        <p:nvSpPr>
          <p:cNvPr id="601" name="Google Shape;601;p84"/>
          <p:cNvSpPr txBox="1"/>
          <p:nvPr/>
        </p:nvSpPr>
        <p:spPr>
          <a:xfrm>
            <a:off x="1774825" y="2449950"/>
            <a:ext cx="777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Право управления участием в групповой роли имеют:</a:t>
            </a:r>
            <a:endParaRPr sz="2000">
              <a:solidFill>
                <a:schemeClr val="dk1"/>
              </a:solidFill>
            </a:endParaRPr>
          </a:p>
        </p:txBody>
      </p:sp>
      <p:grpSp>
        <p:nvGrpSpPr>
          <p:cNvPr id="602" name="Google Shape;602;p84"/>
          <p:cNvGrpSpPr/>
          <p:nvPr/>
        </p:nvGrpSpPr>
        <p:grpSpPr>
          <a:xfrm>
            <a:off x="1774825" y="3105988"/>
            <a:ext cx="582833" cy="200870"/>
            <a:chOff x="0" y="1270"/>
            <a:chExt cx="1466615" cy="505460"/>
          </a:xfrm>
        </p:grpSpPr>
        <p:sp>
          <p:nvSpPr>
            <p:cNvPr id="603" name="Google Shape;603;p84"/>
            <p:cNvSpPr/>
            <p:nvPr/>
          </p:nvSpPr>
          <p:spPr>
            <a:xfrm>
              <a:off x="0" y="215900"/>
              <a:ext cx="1170705" cy="76200"/>
            </a:xfrm>
            <a:custGeom>
              <a:avLst/>
              <a:gdLst/>
              <a:ahLst/>
              <a:cxnLst/>
              <a:rect l="l" t="t" r="r" b="b"/>
              <a:pathLst>
                <a:path w="1170705" h="76200" extrusionOk="0">
                  <a:moveTo>
                    <a:pt x="0" y="0"/>
                  </a:moveTo>
                  <a:lnTo>
                    <a:pt x="1170705" y="0"/>
                  </a:lnTo>
                  <a:lnTo>
                    <a:pt x="117070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604" name="Google Shape;604;p84"/>
            <p:cNvSpPr/>
            <p:nvPr/>
          </p:nvSpPr>
          <p:spPr>
            <a:xfrm>
              <a:off x="1091965" y="1270"/>
              <a:ext cx="374650" cy="505460"/>
            </a:xfrm>
            <a:custGeom>
              <a:avLst/>
              <a:gdLst/>
              <a:ahLst/>
              <a:cxnLst/>
              <a:rect l="l" t="t" r="r" b="b"/>
              <a:pathLst>
                <a:path w="374650" h="505460" extrusionOk="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605" name="Google Shape;605;p84"/>
          <p:cNvSpPr txBox="1"/>
          <p:nvPr/>
        </p:nvSpPr>
        <p:spPr>
          <a:xfrm>
            <a:off x="2735025" y="3038250"/>
            <a:ext cx="62880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любая роль — в самой себе</a:t>
            </a:r>
            <a:br>
              <a:rPr lang="ru-RU" sz="2000">
                <a:solidFill>
                  <a:schemeClr val="dk1"/>
                </a:solidFill>
              </a:rPr>
            </a:br>
            <a:r>
              <a:rPr lang="ru-RU" sz="2000">
                <a:solidFill>
                  <a:schemeClr val="dk1"/>
                </a:solidFill>
              </a:rPr>
              <a:t>роль с атрибутом </a:t>
            </a:r>
            <a:r>
              <a:rPr lang="ru-RU" sz="2000">
                <a:solidFill>
                  <a:schemeClr val="dk2"/>
                </a:solidFill>
              </a:rPr>
              <a:t>SUPERUSER </a:t>
            </a:r>
            <a:r>
              <a:rPr lang="ru-RU" sz="2000">
                <a:solidFill>
                  <a:schemeClr val="dk1"/>
                </a:solidFill>
              </a:rPr>
              <a:t>— в любой роли</a:t>
            </a:r>
            <a:br>
              <a:rPr lang="ru-RU" sz="2000">
                <a:solidFill>
                  <a:schemeClr val="dk1"/>
                </a:solidFill>
              </a:rPr>
            </a:br>
            <a:r>
              <a:rPr lang="ru-RU" sz="2000">
                <a:solidFill>
                  <a:schemeClr val="dk1"/>
                </a:solidFill>
              </a:rPr>
              <a:t>роль с атрибутом </a:t>
            </a:r>
            <a:r>
              <a:rPr lang="ru-RU" sz="2000">
                <a:solidFill>
                  <a:schemeClr val="dk2"/>
                </a:solidFill>
              </a:rPr>
              <a:t>CREATEROLE</a:t>
            </a:r>
            <a:r>
              <a:rPr lang="ru-RU" sz="2000">
                <a:solidFill>
                  <a:schemeClr val="dk1"/>
                </a:solidFill>
              </a:rPr>
              <a:t> — в любой, кроме суперпользовательской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8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 b="1"/>
              <a:t>РОЛИ И ГРУППЫ</a:t>
            </a:r>
            <a:endParaRPr/>
          </a:p>
        </p:txBody>
      </p:sp>
      <p:sp>
        <p:nvSpPr>
          <p:cNvPr id="611" name="Google Shape;611;p8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612" name="Google Shape;612;p85"/>
          <p:cNvSpPr/>
          <p:nvPr/>
        </p:nvSpPr>
        <p:spPr>
          <a:xfrm>
            <a:off x="1725850" y="1658172"/>
            <a:ext cx="7771800" cy="6267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роль1: GRANT группа TO роль2 WITH ADMIN OPTION;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3" name="Google Shape;613;p85"/>
          <p:cNvSpPr txBox="1"/>
          <p:nvPr/>
        </p:nvSpPr>
        <p:spPr>
          <a:xfrm>
            <a:off x="1725850" y="1195125"/>
            <a:ext cx="6111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Включение в группу с передачей права управления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14" name="Google Shape;614;p85"/>
          <p:cNvSpPr txBox="1"/>
          <p:nvPr/>
        </p:nvSpPr>
        <p:spPr>
          <a:xfrm>
            <a:off x="1725850" y="2407525"/>
            <a:ext cx="78690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Теперь роль2 управляет группой, включая передачу права управления: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15" name="Google Shape;615;p85"/>
          <p:cNvSpPr/>
          <p:nvPr/>
        </p:nvSpPr>
        <p:spPr>
          <a:xfrm>
            <a:off x="1725850" y="3191976"/>
            <a:ext cx="7771800" cy="11457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роль2: GRANT группа TO роль3 WITH ADMIN OPTION;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роль2: GRANT группа TO роль4 WITH ADMIN OPTION;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6" name="Google Shape;616;p85"/>
          <p:cNvSpPr/>
          <p:nvPr/>
        </p:nvSpPr>
        <p:spPr>
          <a:xfrm>
            <a:off x="1725850" y="5036172"/>
            <a:ext cx="7771800" cy="6267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роль1: REVOKE ADMIN OPTION FOR группа FROM роль2;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7" name="Google Shape;617;p85"/>
          <p:cNvSpPr txBox="1"/>
          <p:nvPr/>
        </p:nvSpPr>
        <p:spPr>
          <a:xfrm>
            <a:off x="1725850" y="4573125"/>
            <a:ext cx="6111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Отзыв права передачи управления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8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 b="1"/>
              <a:t>ПОЛЬЗОВАТЕЛИ И ПРАВА</a:t>
            </a:r>
            <a:endParaRPr/>
          </a:p>
        </p:txBody>
      </p:sp>
      <p:sp>
        <p:nvSpPr>
          <p:cNvPr id="623" name="Google Shape;623;p8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grpSp>
        <p:nvGrpSpPr>
          <p:cNvPr id="624" name="Google Shape;624;p86"/>
          <p:cNvGrpSpPr/>
          <p:nvPr/>
        </p:nvGrpSpPr>
        <p:grpSpPr>
          <a:xfrm>
            <a:off x="1725850" y="2776338"/>
            <a:ext cx="582833" cy="200870"/>
            <a:chOff x="0" y="1270"/>
            <a:chExt cx="1466615" cy="505460"/>
          </a:xfrm>
        </p:grpSpPr>
        <p:sp>
          <p:nvSpPr>
            <p:cNvPr id="625" name="Google Shape;625;p86"/>
            <p:cNvSpPr/>
            <p:nvPr/>
          </p:nvSpPr>
          <p:spPr>
            <a:xfrm>
              <a:off x="0" y="215900"/>
              <a:ext cx="1170705" cy="76200"/>
            </a:xfrm>
            <a:custGeom>
              <a:avLst/>
              <a:gdLst/>
              <a:ahLst/>
              <a:cxnLst/>
              <a:rect l="l" t="t" r="r" b="b"/>
              <a:pathLst>
                <a:path w="1170705" h="76200" extrusionOk="0">
                  <a:moveTo>
                    <a:pt x="0" y="0"/>
                  </a:moveTo>
                  <a:lnTo>
                    <a:pt x="1170705" y="0"/>
                  </a:lnTo>
                  <a:lnTo>
                    <a:pt x="117070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626" name="Google Shape;626;p86"/>
            <p:cNvSpPr/>
            <p:nvPr/>
          </p:nvSpPr>
          <p:spPr>
            <a:xfrm>
              <a:off x="1091965" y="1270"/>
              <a:ext cx="374650" cy="505460"/>
            </a:xfrm>
            <a:custGeom>
              <a:avLst/>
              <a:gdLst/>
              <a:ahLst/>
              <a:cxnLst/>
              <a:rect l="l" t="t" r="r" b="b"/>
              <a:pathLst>
                <a:path w="374650" h="505460" extrusionOk="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627" name="Google Shape;627;p86"/>
          <p:cNvSpPr txBox="1"/>
          <p:nvPr/>
        </p:nvSpPr>
        <p:spPr>
          <a:xfrm>
            <a:off x="1725850" y="2206850"/>
            <a:ext cx="5718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2"/>
                </a:solidFill>
              </a:rPr>
              <a:t>Владелец объекта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628" name="Google Shape;628;p86"/>
          <p:cNvSpPr txBox="1"/>
          <p:nvPr/>
        </p:nvSpPr>
        <p:spPr>
          <a:xfrm>
            <a:off x="2686050" y="2708600"/>
            <a:ext cx="55008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роль, создавшая объект</a:t>
            </a:r>
            <a:br>
              <a:rPr lang="ru-RU" sz="2000">
                <a:solidFill>
                  <a:schemeClr val="dk1"/>
                </a:solidFill>
              </a:rPr>
            </a:br>
            <a:r>
              <a:rPr lang="ru-RU" sz="2000">
                <a:solidFill>
                  <a:schemeClr val="dk1"/>
                </a:solidFill>
              </a:rPr>
              <a:t>(а также роли, включенные в нее)</a:t>
            </a:r>
            <a:br>
              <a:rPr lang="ru-RU" sz="2000">
                <a:solidFill>
                  <a:schemeClr val="dk1"/>
                </a:solidFill>
              </a:rPr>
            </a:br>
            <a:r>
              <a:rPr lang="ru-RU" sz="2000">
                <a:solidFill>
                  <a:schemeClr val="dk1"/>
                </a:solidFill>
              </a:rPr>
              <a:t>может быть изменен командой ALTER ... OWNER TO роль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29" name="Google Shape;629;p86"/>
          <p:cNvSpPr txBox="1"/>
          <p:nvPr/>
        </p:nvSpPr>
        <p:spPr>
          <a:xfrm>
            <a:off x="1725850" y="4343350"/>
            <a:ext cx="734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2"/>
                </a:solidFill>
              </a:rPr>
              <a:t>\dt table_name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8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ИТОГИ ЗАНЯТИЯ</a:t>
            </a:r>
            <a:endParaRPr/>
          </a:p>
        </p:txBody>
      </p:sp>
      <p:sp>
        <p:nvSpPr>
          <p:cNvPr id="635" name="Google Shape;635;p8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sp>
        <p:nvSpPr>
          <p:cNvPr id="636" name="Google Shape;636;p87"/>
          <p:cNvSpPr/>
          <p:nvPr/>
        </p:nvSpPr>
        <p:spPr>
          <a:xfrm>
            <a:off x="1703400" y="2393225"/>
            <a:ext cx="7799100" cy="2095500"/>
          </a:xfrm>
          <a:prstGeom prst="roundRect">
            <a:avLst>
              <a:gd name="adj" fmla="val 5760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Поняли предназначение, виды и устройство систем ролей и атрибутов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pic>
        <p:nvPicPr>
          <p:cNvPr id="637" name="Google Shape;637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79316" y="2587791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88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88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88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88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46" name="Google Shape;646;p88"/>
          <p:cNvGrpSpPr/>
          <p:nvPr/>
        </p:nvGrpSpPr>
        <p:grpSpPr>
          <a:xfrm>
            <a:off x="10565800" y="0"/>
            <a:ext cx="1636800" cy="6858000"/>
            <a:chOff x="21132640" y="0"/>
            <a:chExt cx="3273600" cy="13716000"/>
          </a:xfrm>
        </p:grpSpPr>
        <p:sp>
          <p:nvSpPr>
            <p:cNvPr id="647" name="Google Shape;647;p88"/>
            <p:cNvSpPr/>
            <p:nvPr/>
          </p:nvSpPr>
          <p:spPr>
            <a:xfrm>
              <a:off x="21132640" y="0"/>
              <a:ext cx="3273600" cy="13716000"/>
            </a:xfrm>
            <a:prstGeom prst="rect">
              <a:avLst/>
            </a:prstGeom>
            <a:solidFill>
              <a:srgbClr val="1400C1"/>
            </a:solidFill>
            <a:ln>
              <a:noFill/>
            </a:ln>
          </p:spPr>
          <p:txBody>
            <a:bodyPr spcFirstLastPara="1" wrap="square" lIns="35725" tIns="35725" rIns="35725" bIns="35725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Helvetica Neue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648" name="Google Shape;648;p88" descr="Logo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916292" y="987426"/>
              <a:ext cx="1769700" cy="12042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9" name="Google Shape;649;p88"/>
          <p:cNvSpPr/>
          <p:nvPr/>
        </p:nvSpPr>
        <p:spPr>
          <a:xfrm>
            <a:off x="8945629" y="3632200"/>
            <a:ext cx="3240300" cy="3240300"/>
          </a:xfrm>
          <a:prstGeom prst="rect">
            <a:avLst/>
          </a:prstGeom>
          <a:blipFill rotWithShape="1">
            <a:blip r:embed="rId6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0" name="Google Shape;650;p88"/>
          <p:cNvSpPr txBox="1"/>
          <p:nvPr/>
        </p:nvSpPr>
        <p:spPr>
          <a:xfrm>
            <a:off x="1715258" y="2280384"/>
            <a:ext cx="8119200" cy="16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ПРОВЕРОЧНОЕ</a:t>
            </a:r>
            <a:endParaRPr sz="700"/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ЗАДАНИЕ</a:t>
            </a:r>
            <a:endParaRPr sz="700"/>
          </a:p>
        </p:txBody>
      </p:sp>
      <p:sp>
        <p:nvSpPr>
          <p:cNvPr id="651" name="Google Shape;651;p88"/>
          <p:cNvSpPr/>
          <p:nvPr/>
        </p:nvSpPr>
        <p:spPr>
          <a:xfrm>
            <a:off x="8954911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2" name="Google Shape;652;p88"/>
          <p:cNvSpPr txBox="1"/>
          <p:nvPr/>
        </p:nvSpPr>
        <p:spPr>
          <a:xfrm>
            <a:off x="8985748" y="6301922"/>
            <a:ext cx="756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None/>
            </a:pPr>
            <a:r>
              <a:rPr lang="ru-RU" sz="15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begin</a:t>
            </a: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53" name="Google Shape;653;p88"/>
          <p:cNvSpPr/>
          <p:nvPr/>
        </p:nvSpPr>
        <p:spPr>
          <a:xfrm>
            <a:off x="10572632" y="4444819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54" name="Google Shape;654;p88"/>
          <p:cNvGrpSpPr/>
          <p:nvPr/>
        </p:nvGrpSpPr>
        <p:grpSpPr>
          <a:xfrm>
            <a:off x="10715067" y="4596847"/>
            <a:ext cx="515245" cy="456900"/>
            <a:chOff x="21456284" y="9198597"/>
            <a:chExt cx="1030489" cy="913800"/>
          </a:xfrm>
        </p:grpSpPr>
        <p:sp>
          <p:nvSpPr>
            <p:cNvPr id="655" name="Google Shape;655;p88"/>
            <p:cNvSpPr txBox="1"/>
            <p:nvPr/>
          </p:nvSpPr>
          <p:spPr>
            <a:xfrm>
              <a:off x="21456284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88"/>
            <p:cNvSpPr txBox="1"/>
            <p:nvPr/>
          </p:nvSpPr>
          <p:spPr>
            <a:xfrm>
              <a:off x="22127673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7" name="Google Shape;657;p88"/>
          <p:cNvSpPr/>
          <p:nvPr/>
        </p:nvSpPr>
        <p:spPr>
          <a:xfrm>
            <a:off x="11405843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9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8" name="Google Shape;658;p88"/>
          <p:cNvSpPr/>
          <p:nvPr/>
        </p:nvSpPr>
        <p:spPr>
          <a:xfrm>
            <a:off x="2944" y="0"/>
            <a:ext cx="1619100" cy="1619100"/>
          </a:xfrm>
          <a:prstGeom prst="rect">
            <a:avLst/>
          </a:prstGeom>
          <a:blipFill rotWithShape="1">
            <a:blip r:embed="rId10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9" name="Google Shape;659;p88"/>
          <p:cNvSpPr txBox="1"/>
          <p:nvPr/>
        </p:nvSpPr>
        <p:spPr>
          <a:xfrm>
            <a:off x="1715259" y="3938927"/>
            <a:ext cx="53292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b="1">
                <a:solidFill>
                  <a:schemeClr val="lt1"/>
                </a:solidFill>
              </a:rPr>
              <a:t>Цель задания:</a:t>
            </a:r>
            <a:r>
              <a:rPr lang="ru-RU" sz="1800">
                <a:solidFill>
                  <a:schemeClr val="lt1"/>
                </a:solidFill>
              </a:rPr>
              <a:t> научиться создавать пользователей</a:t>
            </a:r>
            <a:endParaRPr sz="18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8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ЗАДАНИЕ НА САМОПРОВЕРКУ</a:t>
            </a:r>
            <a:endParaRPr/>
          </a:p>
        </p:txBody>
      </p:sp>
      <p:sp>
        <p:nvSpPr>
          <p:cNvPr id="665" name="Google Shape;665;p89"/>
          <p:cNvSpPr txBox="1"/>
          <p:nvPr/>
        </p:nvSpPr>
        <p:spPr>
          <a:xfrm>
            <a:off x="1695375" y="2634353"/>
            <a:ext cx="2451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Создать пользователя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89"/>
          <p:cNvSpPr txBox="1"/>
          <p:nvPr/>
        </p:nvSpPr>
        <p:spPr>
          <a:xfrm>
            <a:off x="4764100" y="2634353"/>
            <a:ext cx="2647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Задать пароль вновь созданному пользователю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89"/>
          <p:cNvSpPr txBox="1"/>
          <p:nvPr/>
        </p:nvSpPr>
        <p:spPr>
          <a:xfrm>
            <a:off x="1695369" y="4520278"/>
            <a:ext cx="2309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Зайти в psql под вновь созданным пользователем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89"/>
          <p:cNvSpPr txBox="1"/>
          <p:nvPr/>
        </p:nvSpPr>
        <p:spPr>
          <a:xfrm>
            <a:off x="4775975" y="4547988"/>
            <a:ext cx="2832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Попробовать получить доступ к ранее созданной таблице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69" name="Google Shape;669;p89"/>
          <p:cNvSpPr txBox="1"/>
          <p:nvPr/>
        </p:nvSpPr>
        <p:spPr>
          <a:xfrm>
            <a:off x="1695376" y="2106285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89"/>
          <p:cNvSpPr txBox="1"/>
          <p:nvPr/>
        </p:nvSpPr>
        <p:spPr>
          <a:xfrm>
            <a:off x="4775976" y="2104677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89"/>
          <p:cNvSpPr txBox="1"/>
          <p:nvPr/>
        </p:nvSpPr>
        <p:spPr>
          <a:xfrm>
            <a:off x="1695369" y="3988992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89"/>
          <p:cNvSpPr txBox="1"/>
          <p:nvPr/>
        </p:nvSpPr>
        <p:spPr>
          <a:xfrm>
            <a:off x="4775976" y="3988992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3" name="Google Shape;673;p89"/>
          <p:cNvCxnSpPr/>
          <p:nvPr/>
        </p:nvCxnSpPr>
        <p:spPr>
          <a:xfrm rot="10800000">
            <a:off x="2307762" y="2366301"/>
            <a:ext cx="22206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4" name="Google Shape;674;p89"/>
          <p:cNvCxnSpPr/>
          <p:nvPr/>
        </p:nvCxnSpPr>
        <p:spPr>
          <a:xfrm rot="10800000">
            <a:off x="5478283" y="2366301"/>
            <a:ext cx="25533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5" name="Google Shape;675;p89"/>
          <p:cNvCxnSpPr/>
          <p:nvPr/>
        </p:nvCxnSpPr>
        <p:spPr>
          <a:xfrm rot="10800000">
            <a:off x="2307762" y="4235292"/>
            <a:ext cx="22206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0" name="Google Shape;680;p90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90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90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90"/>
          <p:cNvSpPr/>
          <p:nvPr/>
        </p:nvSpPr>
        <p:spPr>
          <a:xfrm>
            <a:off x="300" y="0"/>
            <a:ext cx="12191400" cy="6858000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84" name="Google Shape;684;p90"/>
          <p:cNvGrpSpPr/>
          <p:nvPr/>
        </p:nvGrpSpPr>
        <p:grpSpPr>
          <a:xfrm>
            <a:off x="10565800" y="0"/>
            <a:ext cx="1636800" cy="6858000"/>
            <a:chOff x="21132640" y="0"/>
            <a:chExt cx="3273600" cy="13716000"/>
          </a:xfrm>
        </p:grpSpPr>
        <p:sp>
          <p:nvSpPr>
            <p:cNvPr id="685" name="Google Shape;685;p90"/>
            <p:cNvSpPr/>
            <p:nvPr/>
          </p:nvSpPr>
          <p:spPr>
            <a:xfrm>
              <a:off x="21132640" y="0"/>
              <a:ext cx="3273600" cy="13716000"/>
            </a:xfrm>
            <a:prstGeom prst="rect">
              <a:avLst/>
            </a:prstGeom>
            <a:solidFill>
              <a:srgbClr val="1400C1"/>
            </a:solidFill>
            <a:ln>
              <a:noFill/>
            </a:ln>
          </p:spPr>
          <p:txBody>
            <a:bodyPr spcFirstLastPara="1" wrap="square" lIns="35725" tIns="35725" rIns="35725" bIns="35725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Helvetica Neue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686" name="Google Shape;686;p90" descr="Logo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916292" y="987426"/>
              <a:ext cx="1769700" cy="12042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7" name="Google Shape;687;p90"/>
          <p:cNvSpPr/>
          <p:nvPr/>
        </p:nvSpPr>
        <p:spPr>
          <a:xfrm>
            <a:off x="8945629" y="3632200"/>
            <a:ext cx="3240300" cy="3240300"/>
          </a:xfrm>
          <a:prstGeom prst="rect">
            <a:avLst/>
          </a:prstGeom>
          <a:blipFill rotWithShape="1">
            <a:blip r:embed="rId6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8" name="Google Shape;688;p90"/>
          <p:cNvSpPr txBox="1"/>
          <p:nvPr/>
        </p:nvSpPr>
        <p:spPr>
          <a:xfrm>
            <a:off x="1634961" y="2992838"/>
            <a:ext cx="7346400" cy="8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СПАСИБО</a:t>
            </a:r>
            <a:endParaRPr sz="700"/>
          </a:p>
        </p:txBody>
      </p:sp>
      <p:sp>
        <p:nvSpPr>
          <p:cNvPr id="689" name="Google Shape;689;p90"/>
          <p:cNvSpPr/>
          <p:nvPr/>
        </p:nvSpPr>
        <p:spPr>
          <a:xfrm>
            <a:off x="8954911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0" name="Google Shape;690;p90"/>
          <p:cNvSpPr txBox="1"/>
          <p:nvPr/>
        </p:nvSpPr>
        <p:spPr>
          <a:xfrm>
            <a:off x="8985748" y="6301922"/>
            <a:ext cx="756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None/>
            </a:pPr>
            <a:r>
              <a:rPr lang="ru-RU" sz="15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End</a:t>
            </a: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1" name="Google Shape;691;p90"/>
          <p:cNvSpPr/>
          <p:nvPr/>
        </p:nvSpPr>
        <p:spPr>
          <a:xfrm>
            <a:off x="10572632" y="4444819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92" name="Google Shape;692;p90"/>
          <p:cNvGrpSpPr/>
          <p:nvPr/>
        </p:nvGrpSpPr>
        <p:grpSpPr>
          <a:xfrm>
            <a:off x="10715067" y="4596847"/>
            <a:ext cx="515245" cy="456900"/>
            <a:chOff x="21456284" y="9198597"/>
            <a:chExt cx="1030489" cy="913800"/>
          </a:xfrm>
        </p:grpSpPr>
        <p:sp>
          <p:nvSpPr>
            <p:cNvPr id="693" name="Google Shape;693;p90"/>
            <p:cNvSpPr txBox="1"/>
            <p:nvPr/>
          </p:nvSpPr>
          <p:spPr>
            <a:xfrm>
              <a:off x="21456284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90"/>
            <p:cNvSpPr txBox="1"/>
            <p:nvPr/>
          </p:nvSpPr>
          <p:spPr>
            <a:xfrm>
              <a:off x="22127673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5" name="Google Shape;695;p90"/>
          <p:cNvSpPr/>
          <p:nvPr/>
        </p:nvSpPr>
        <p:spPr>
          <a:xfrm>
            <a:off x="11405843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9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6" name="Google Shape;696;p90"/>
          <p:cNvSpPr/>
          <p:nvPr/>
        </p:nvSpPr>
        <p:spPr>
          <a:xfrm>
            <a:off x="2944" y="0"/>
            <a:ext cx="1619100" cy="1619100"/>
          </a:xfrm>
          <a:prstGeom prst="rect">
            <a:avLst/>
          </a:prstGeom>
          <a:blipFill rotWithShape="1">
            <a:blip r:embed="rId10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7" name="Google Shape;697;p90"/>
          <p:cNvSpPr txBox="1"/>
          <p:nvPr/>
        </p:nvSpPr>
        <p:spPr>
          <a:xfrm>
            <a:off x="1622061" y="4017207"/>
            <a:ext cx="7372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FFFFFF"/>
                </a:solidFill>
              </a:rPr>
              <a:t>На следующем занятии мы рассмотрим тему:</a:t>
            </a:r>
            <a:endParaRPr sz="1800">
              <a:solidFill>
                <a:srgbClr val="FFFFF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ru-RU" sz="1800">
                <a:solidFill>
                  <a:srgbClr val="FFFFFF"/>
                </a:solidFill>
              </a:rPr>
              <a:t>Привилегии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D6D5D5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</Words>
  <Application>Microsoft Office PowerPoint</Application>
  <PresentationFormat>Широкоэкранный</PresentationFormat>
  <Paragraphs>82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7</vt:i4>
      </vt:variant>
      <vt:variant>
        <vt:lpstr>Заголовки слайдов</vt:lpstr>
      </vt:variant>
      <vt:variant>
        <vt:i4>13</vt:i4>
      </vt:variant>
    </vt:vector>
  </HeadingPairs>
  <TitlesOfParts>
    <vt:vector size="29" baseType="lpstr">
      <vt:lpstr>Proxima Nova</vt:lpstr>
      <vt:lpstr>Arial Black</vt:lpstr>
      <vt:lpstr>Consolas</vt:lpstr>
      <vt:lpstr>Open Sans</vt:lpstr>
      <vt:lpstr>Helvetica Neue Light</vt:lpstr>
      <vt:lpstr>Helvetica Neue</vt:lpstr>
      <vt:lpstr>Courier New</vt:lpstr>
      <vt:lpstr>Arial</vt:lpstr>
      <vt:lpstr>Calibri</vt:lpstr>
      <vt:lpstr>Тема Office</vt:lpstr>
      <vt:lpstr>Template_StepUP</vt:lpstr>
      <vt:lpstr>Template_StepUP</vt:lpstr>
      <vt:lpstr>Template_StepUP</vt:lpstr>
      <vt:lpstr>Template_StepUP</vt:lpstr>
      <vt:lpstr>Template_StepUP</vt:lpstr>
      <vt:lpstr>White</vt:lpstr>
      <vt:lpstr>РОЛИ И АТРИБУТЫ</vt:lpstr>
      <vt:lpstr>ЦЕЛЬ УРОКА</vt:lpstr>
      <vt:lpstr>СОДЕРЖАНИЕ УРОКА</vt:lpstr>
      <vt:lpstr>РОЛИ, ГРУППЫ И ПОЛЬЗОВАТЕЛИ</vt:lpstr>
      <vt:lpstr>СОЗДАНИЕ ПОЛЬЗОВАТЕЛЯ И ЕГО АТРИБУТЫ</vt:lpstr>
      <vt:lpstr>РОЛИ И ГРУППЫ</vt:lpstr>
      <vt:lpstr>РОЛИ И ГРУППЫ</vt:lpstr>
      <vt:lpstr>РОЛИ И ГРУППЫ</vt:lpstr>
      <vt:lpstr>ПОЛЬЗОВАТЕЛИ И ПРАВА</vt:lpstr>
      <vt:lpstr>ИТОГИ ЗАНЯТИЯ</vt:lpstr>
      <vt:lpstr>Презентация PowerPoint</vt:lpstr>
      <vt:lpstr>ЗАДАНИЕ НА САМОПРОВЕРКУ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РОЛИ И АТРИБУТЫ</dc:title>
  <cp:lastModifiedBy>Кузьмичев Даниил Михайлович</cp:lastModifiedBy>
  <cp:revision>1</cp:revision>
  <dcterms:modified xsi:type="dcterms:W3CDTF">2022-09-15T09:51:11Z</dcterms:modified>
</cp:coreProperties>
</file>