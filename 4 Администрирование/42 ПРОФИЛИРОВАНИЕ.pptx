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  <p:sldMasterId id="2147483719" r:id="rId2"/>
    <p:sldMasterId id="2147483720" r:id="rId3"/>
    <p:sldMasterId id="2147483721" r:id="rId4"/>
    <p:sldMasterId id="2147483722" r:id="rId5"/>
    <p:sldMasterId id="2147483723" r:id="rId6"/>
    <p:sldMasterId id="2147483724" r:id="rId7"/>
  </p:sldMasterIdLst>
  <p:notesMasterIdLst>
    <p:notesMasterId r:id="rId18"/>
  </p:notesMasterIdLst>
  <p:sldIdLst>
    <p:sldId id="256" r:id="rId8"/>
    <p:sldId id="257" r:id="rId9"/>
    <p:sldId id="258" r:id="rId10"/>
    <p:sldId id="259" r:id="rId11"/>
    <p:sldId id="267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Helvetica Neue" panose="020B0604020202020204" charset="0"/>
      <p:regular r:id="rId29"/>
      <p:bold r:id="rId30"/>
      <p:italic r:id="rId31"/>
      <p:boldItalic r:id="rId32"/>
    </p:embeddedFont>
    <p:embeddedFont>
      <p:font typeface="Helvetica Neue Light" panose="020B0604020202020204" charset="0"/>
      <p:regular r:id="rId33"/>
      <p:bold r:id="rId34"/>
      <p:italic r:id="rId35"/>
      <p:bold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ulia Manuev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3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0" Type="http://schemas.openxmlformats.org/officeDocument/2006/relationships/font" Target="fonts/font2.fntdata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46f0cc003_0_20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532" name="Google Shape;532;g1446f0cc003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446f0cc003_0_39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g1446f0cc003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446f0cc003_0_59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1446f0cc003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446f0cc003_0_137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3" name="Google Shape;563;g1446f0cc003_0_1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446f0cc003_0_167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g1446f0cc003_0_1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6625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5f36e35c4_0_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145f36e35c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446f0cc003_0_84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8" name="Google Shape;608;g1446f0cc003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446f0cc003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g1446f0cc003_0_9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446f0cc003_0_116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g1446f0cc003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446f0cc003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g1446f0cc003_0_7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5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5.png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1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7" name="Google Shape;207;p3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1" name="Google Shape;221;p3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5" name="Google Shape;23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8" name="Google Shape;238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3" name="Google Shape;253;p3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81" name="Google Shape;281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4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6" name="Google Shape;296;p4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6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0" name="Google Shape;310;p4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4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4" name="Google Shape;324;p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5" name="Google Shape;325;p4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0" name="Google Shape;33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8" name="Google Shape;3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4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Google Shape;341;p4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2" name="Google Shape;342;p4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5" name="Google Shape;345;p5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Google Shape;348;p5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3" name="Google Shape;353;p52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8" name="Google Shape;368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55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5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3" name="Google Shape;383;p5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5" name="Google Shape;395;p5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58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7" name="Google Shape;397;p5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5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1" name="Google Shape;41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4" name="Google Shape;414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6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9" name="Google Shape;419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6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6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3" name="Google Shape;423;p6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6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8" name="Google Shape;428;p6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9" name="Google Shape;429;p6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2" name="Google Shape;432;p62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6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6" name="Google Shape;436;p6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7" name="Google Shape;437;p6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4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40" name="Google Shape;440;p64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7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4" name="Google Shape;454;p6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455" name="Google Shape;455;p6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6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67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5" name="Google Shape;465;p6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69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0" name="Google Shape;470;p6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p6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6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0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2" name="Google Shape;482;p7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70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84" name="Google Shape;484;p7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7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7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7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98" name="Google Shape;49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1" name="Google Shape;501;p7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7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7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6" name="Google Shape;50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7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9" name="Google Shape;509;p7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0" name="Google Shape;510;p7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7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7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7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6" name="Google Shape;516;p7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4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9" name="Google Shape;519;p74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5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75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3" name="Google Shape;523;p75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24" name="Google Shape;524;p75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6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527" name="Google Shape;527;p76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7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4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6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4" name="Google Shape;184;p2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8" name="Google Shape;358;p5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0" name="Google Shape;360;p54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4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4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4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4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445" name="Google Shape;445;p6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7" name="Google Shape;447;p66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6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6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6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6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gsq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Relationship Id="rId6" Type="http://schemas.openxmlformats.org/officeDocument/2006/relationships/hyperlink" Target="https://github.com/darold/pgbadger" TargetMode="External"/><Relationship Id="rId5" Type="http://schemas.openxmlformats.org/officeDocument/2006/relationships/hyperlink" Target="https://www.postgresql.org/docs/14/auto-explain.html" TargetMode="External"/><Relationship Id="rId4" Type="http://schemas.openxmlformats.org/officeDocument/2006/relationships/hyperlink" Target="https://github.com/bigsql/plprofil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ubkov-andrei/pg_profile" TargetMode="External"/><Relationship Id="rId7" Type="http://schemas.openxmlformats.org/officeDocument/2006/relationships/hyperlink" Target="https://highload.today/profilirovanie-v-postgresql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6" Type="http://schemas.openxmlformats.org/officeDocument/2006/relationships/hyperlink" Target="https://habr.com/ru/post/345370/" TargetMode="External"/><Relationship Id="rId5" Type="http://schemas.openxmlformats.org/officeDocument/2006/relationships/hyperlink" Target="https://powa.readthedocs.io/en/latest/" TargetMode="External"/><Relationship Id="rId4" Type="http://schemas.openxmlformats.org/officeDocument/2006/relationships/hyperlink" Target="https://pgconf.ru/media/2020/02/04/%D0%90%D0%BD%D0%B4%D1%80%D0%B5%D0%B9%20%D0%97%D1%83%D0%B1%D0%BA%D0%BE%D0%B2%20-%20pg_profile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 txBox="1">
            <a:spLocks noGrp="1"/>
          </p:cNvSpPr>
          <p:nvPr>
            <p:ph type="body" idx="1"/>
          </p:nvPr>
        </p:nvSpPr>
        <p:spPr>
          <a:xfrm>
            <a:off x="837325" y="2782113"/>
            <a:ext cx="701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5. ЗАДАЧИ АДМИНИСТРИРОВАНИЯ</a:t>
            </a:r>
            <a:endParaRPr/>
          </a:p>
        </p:txBody>
      </p:sp>
      <p:sp>
        <p:nvSpPr>
          <p:cNvPr id="535" name="Google Shape;535;p78"/>
          <p:cNvSpPr txBox="1">
            <a:spLocks noGrp="1"/>
          </p:cNvSpPr>
          <p:nvPr>
            <p:ph type="title"/>
          </p:nvPr>
        </p:nvSpPr>
        <p:spPr>
          <a:xfrm>
            <a:off x="837325" y="3369375"/>
            <a:ext cx="9612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ПРОФИЛИРОВАНИЕ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"/>
          <p:cNvSpPr/>
          <p:nvPr/>
        </p:nvSpPr>
        <p:spPr>
          <a:xfrm>
            <a:off x="1725850" y="1840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предназначение, виды и устройство систем профилирования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9"/>
          <p:cNvSpPr/>
          <p:nvPr/>
        </p:nvSpPr>
        <p:spPr>
          <a:xfrm>
            <a:off x="1725850" y="3667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Научиться профилировать Постгрес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7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543" name="Google Shape;543;p7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544" name="Google Shape;544;p79"/>
          <p:cNvSpPr/>
          <p:nvPr/>
        </p:nvSpPr>
        <p:spPr>
          <a:xfrm>
            <a:off x="1908732" y="19447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79"/>
          <p:cNvSpPr/>
          <p:nvPr/>
        </p:nvSpPr>
        <p:spPr>
          <a:xfrm>
            <a:off x="1908735" y="3772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551" name="Google Shape;551;p8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552" name="Google Shape;552;p80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p80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80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55" name="Google Shape;555;p80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6" name="Google Shape;556;p80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7" name="Google Shape;557;p80"/>
          <p:cNvSpPr txBox="1"/>
          <p:nvPr/>
        </p:nvSpPr>
        <p:spPr>
          <a:xfrm>
            <a:off x="2860569" y="1685964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Цель профилирования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8" name="Google Shape;558;p80"/>
          <p:cNvSpPr txBox="1"/>
          <p:nvPr/>
        </p:nvSpPr>
        <p:spPr>
          <a:xfrm>
            <a:off x="2860569" y="3315259"/>
            <a:ext cx="228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Профилирование запросов</a:t>
            </a:r>
            <a:endParaRPr sz="1800" u="none" strike="noStrike" cap="none">
              <a:solidFill>
                <a:srgbClr val="000000"/>
              </a:solidFill>
            </a:endParaRPr>
          </a:p>
        </p:txBody>
      </p:sp>
      <p:sp>
        <p:nvSpPr>
          <p:cNvPr id="559" name="Google Shape;559;p80"/>
          <p:cNvSpPr txBox="1"/>
          <p:nvPr/>
        </p:nvSpPr>
        <p:spPr>
          <a:xfrm>
            <a:off x="2860569" y="5083002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Инструменты профилирования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0" name="Google Shape;560;p80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ЦЕЛЬ ПРОФИЛИРОВАНИЯ ЗАПРОСОВ</a:t>
            </a:r>
            <a:endParaRPr/>
          </a:p>
        </p:txBody>
      </p:sp>
      <p:sp>
        <p:nvSpPr>
          <p:cNvPr id="566" name="Google Shape;566;p8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570" name="Google Shape;570;p81"/>
          <p:cNvSpPr txBox="1"/>
          <p:nvPr/>
        </p:nvSpPr>
        <p:spPr>
          <a:xfrm>
            <a:off x="1725849" y="1422150"/>
            <a:ext cx="8627825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000" dirty="0">
                <a:solidFill>
                  <a:schemeClr val="dk1"/>
                </a:solidFill>
              </a:rPr>
              <a:t>Важный способ оптимизации запросов в </a:t>
            </a:r>
            <a:r>
              <a:rPr lang="en-US" sz="2000" dirty="0">
                <a:solidFill>
                  <a:schemeClr val="dk1"/>
                </a:solidFill>
              </a:rPr>
              <a:t>Postgres</a:t>
            </a:r>
            <a:r>
              <a:rPr lang="ru-RU" sz="20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rgbClr val="4D5156"/>
                </a:solidFill>
                <a:highlight>
                  <a:srgbClr val="FFFFFF"/>
                </a:highlight>
              </a:rPr>
              <a:t>—</a:t>
            </a:r>
            <a:r>
              <a:rPr lang="ru-RU" sz="2000" dirty="0">
                <a:solidFill>
                  <a:schemeClr val="dk1"/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профилирование</a:t>
            </a:r>
            <a:r>
              <a:rPr lang="ru-RU" sz="2000" dirty="0">
                <a:solidFill>
                  <a:schemeClr val="dk1"/>
                </a:solidFill>
              </a:rPr>
              <a:t> – это запись в лог определённых параметров </a:t>
            </a:r>
            <a:r>
              <a:rPr lang="ru-RU" sz="2000" b="1" u="sng" dirty="0">
                <a:solidFill>
                  <a:schemeClr val="dk1"/>
                </a:solidFill>
              </a:rPr>
              <a:t>ВСЕХ</a:t>
            </a:r>
            <a:r>
              <a:rPr lang="ru-RU" sz="2000" dirty="0">
                <a:solidFill>
                  <a:schemeClr val="dk1"/>
                </a:solidFill>
              </a:rPr>
              <a:t> запросов. Записать в </a:t>
            </a:r>
            <a:r>
              <a:rPr lang="ru-RU" sz="2000" dirty="0" err="1">
                <a:solidFill>
                  <a:schemeClr val="dk1"/>
                </a:solidFill>
              </a:rPr>
              <a:t>логи</a:t>
            </a:r>
            <a:r>
              <a:rPr lang="ru-RU" sz="2000" dirty="0">
                <a:solidFill>
                  <a:schemeClr val="dk1"/>
                </a:solidFill>
              </a:rPr>
              <a:t> все запросы по определенным параметрам и потом анализировать их количество и время работы: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Длительностью больше (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</a:rPr>
              <a:t>милиСек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.) для анализа самих запросов и их выполнения;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</a:rPr>
              <a:t>Дерева запроса «план запроса», для анализа его оптимальности;</a:t>
            </a:r>
          </a:p>
        </p:txBody>
      </p:sp>
      <p:sp>
        <p:nvSpPr>
          <p:cNvPr id="571" name="Google Shape;571;p81"/>
          <p:cNvSpPr txBox="1"/>
          <p:nvPr/>
        </p:nvSpPr>
        <p:spPr>
          <a:xfrm>
            <a:off x="1725849" y="4631250"/>
            <a:ext cx="5500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rgbClr val="FF0000"/>
                </a:solidFill>
              </a:rPr>
              <a:t>Существенно влияет на производительность приложения, потому что пишутся все запросы – это дорого.</a:t>
            </a:r>
            <a:endParaRPr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ПРОФИЛИРОВАНИЕ ЗАПРОСОВ</a:t>
            </a:r>
            <a:endParaRPr/>
          </a:p>
        </p:txBody>
      </p:sp>
      <p:sp>
        <p:nvSpPr>
          <p:cNvPr id="577" name="Google Shape;577;p8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67C1FBE-810E-4FF6-871C-8395FBFB3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45261"/>
              </p:ext>
            </p:extLst>
          </p:nvPr>
        </p:nvGraphicFramePr>
        <p:xfrm>
          <a:off x="1725849" y="1434041"/>
          <a:ext cx="8770701" cy="419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71">
                  <a:extLst>
                    <a:ext uri="{9D8B030D-6E8A-4147-A177-3AD203B41FA5}">
                      <a16:colId xmlns:a16="http://schemas.microsoft.com/office/drawing/2014/main" val="2302237585"/>
                    </a:ext>
                  </a:extLst>
                </a:gridCol>
                <a:gridCol w="3789055">
                  <a:extLst>
                    <a:ext uri="{9D8B030D-6E8A-4147-A177-3AD203B41FA5}">
                      <a16:colId xmlns:a16="http://schemas.microsoft.com/office/drawing/2014/main" val="4109665721"/>
                    </a:ext>
                  </a:extLst>
                </a:gridCol>
                <a:gridCol w="4623475">
                  <a:extLst>
                    <a:ext uri="{9D8B030D-6E8A-4147-A177-3AD203B41FA5}">
                      <a16:colId xmlns:a16="http://schemas.microsoft.com/office/drawing/2014/main" val="3075899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03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Журнал сообщений сервера</a:t>
                      </a:r>
                      <a:endParaRPr lang="ru-R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log_min_duration_statements</a:t>
                      </a: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500msec.</a:t>
                      </a: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— время и текст всех запросов, при увеличении порога срабатывания - только “толстые” запросы;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log_line_prefix</a:t>
                      </a: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— идентифицирующая информация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3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Расширение </a:t>
                      </a:r>
                      <a:r>
                        <a:rPr lang="en-US" sz="1400" b="0" i="0" u="sng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bigsql</a:t>
                      </a:r>
                      <a:endParaRPr lang="ru-R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u="sng" dirty="0">
                          <a:solidFill>
                            <a:schemeClr val="dk2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https://github.com/bigsql/plprofiler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13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3F3F3F"/>
                          </a:solidFill>
                        </a:rPr>
                        <a:t>Расширение </a:t>
                      </a:r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auto_explain</a:t>
                      </a: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д</a:t>
                      </a:r>
                      <a:r>
                        <a:rPr lang="ru-RU" sz="1400" dirty="0">
                          <a:solidFill>
                            <a:srgbClr val="3F3F3F"/>
                          </a:solidFill>
                        </a:rPr>
                        <a:t>ля отслеживания </a:t>
                      </a:r>
                      <a:r>
                        <a:rPr lang="ru-RU" sz="1400">
                          <a:solidFill>
                            <a:srgbClr val="3F3F3F"/>
                          </a:solidFill>
                        </a:rPr>
                        <a:t>вложенных запросов</a:t>
                      </a:r>
                      <a:endParaRPr lang="ru-R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u="sng" dirty="0">
                          <a:solidFill>
                            <a:schemeClr val="dk2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https://www.postgresql.org/docs/14/auto-explain.html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7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Включается для всего сервера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минус, что нет возможности включения для сеанса пользователя.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Большой объем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требуются мощности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32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Анализ внешними средствами </a:t>
                      </a:r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pgBadger</a:t>
                      </a:r>
                      <a:endParaRPr lang="ru-RU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u="sng" dirty="0">
                          <a:solidFill>
                            <a:schemeClr val="dk2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https://github.com/darold/pgbadger</a:t>
                      </a:r>
                      <a:r>
                        <a:rPr lang="ru-RU" sz="1400" dirty="0">
                          <a:solidFill>
                            <a:schemeClr val="dk2"/>
                          </a:solidFill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66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ИНСТРУМЕНТЫ ПРОФИЛИРОВАНИЯ ЗАПРОСОВ</a:t>
            </a:r>
            <a:endParaRPr/>
          </a:p>
        </p:txBody>
      </p:sp>
      <p:sp>
        <p:nvSpPr>
          <p:cNvPr id="600" name="Google Shape;600;p8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601" name="Google Shape;601;p84"/>
          <p:cNvSpPr txBox="1"/>
          <p:nvPr/>
        </p:nvSpPr>
        <p:spPr>
          <a:xfrm>
            <a:off x="1725862" y="1504013"/>
            <a:ext cx="77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Что еще: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02" name="Google Shape;602;p84"/>
          <p:cNvSpPr/>
          <p:nvPr/>
        </p:nvSpPr>
        <p:spPr>
          <a:xfrm>
            <a:off x="1725850" y="1928075"/>
            <a:ext cx="7235100" cy="11952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pg_profile </a:t>
            </a:r>
            <a:br>
              <a:rPr lang="ru-RU" sz="1800">
                <a:solidFill>
                  <a:srgbClr val="3F3F3F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https://github.com/zubkov-andrei/pg_profile</a:t>
            </a:r>
            <a:r>
              <a:rPr lang="ru-RU" sz="1800">
                <a:solidFill>
                  <a:schemeClr val="dk2"/>
                </a:solidFill>
              </a:rPr>
              <a:t> </a:t>
            </a:r>
            <a:br>
              <a:rPr lang="ru-RU" sz="1800">
                <a:solidFill>
                  <a:schemeClr val="dk2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Анализ исторической нагрузки PostgreSQL</a:t>
            </a:r>
            <a:r>
              <a:rPr lang="ru-RU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84"/>
          <p:cNvSpPr/>
          <p:nvPr/>
        </p:nvSpPr>
        <p:spPr>
          <a:xfrm>
            <a:off x="1725847" y="3306817"/>
            <a:ext cx="7235100" cy="8718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PoWA (PostgreSQL Workload Analyzer)</a:t>
            </a:r>
            <a:br>
              <a:rPr lang="ru-RU" sz="1800">
                <a:solidFill>
                  <a:schemeClr val="dk1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https://powa.readthedocs.io/en/latest/</a:t>
            </a:r>
            <a:endParaRPr sz="1800">
              <a:solidFill>
                <a:srgbClr val="3F3F3F"/>
              </a:solidFill>
            </a:endParaRPr>
          </a:p>
        </p:txBody>
      </p:sp>
      <p:sp>
        <p:nvSpPr>
          <p:cNvPr id="604" name="Google Shape;604;p84"/>
          <p:cNvSpPr/>
          <p:nvPr/>
        </p:nvSpPr>
        <p:spPr>
          <a:xfrm>
            <a:off x="1725847" y="4362158"/>
            <a:ext cx="7235100" cy="8718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PoWA like</a:t>
            </a:r>
            <a:br>
              <a:rPr lang="ru-RU" sz="1800">
                <a:solidFill>
                  <a:schemeClr val="dk1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https://habr.com/ru/post/345370/</a:t>
            </a:r>
            <a:endParaRPr/>
          </a:p>
        </p:txBody>
      </p:sp>
      <p:sp>
        <p:nvSpPr>
          <p:cNvPr id="605" name="Google Shape;605;p84"/>
          <p:cNvSpPr/>
          <p:nvPr/>
        </p:nvSpPr>
        <p:spPr>
          <a:xfrm>
            <a:off x="1725847" y="5417500"/>
            <a:ext cx="7235100" cy="8718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pgFouine</a:t>
            </a:r>
            <a:br>
              <a:rPr lang="ru-RU" sz="1800">
                <a:solidFill>
                  <a:schemeClr val="dk1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https://highload.today/profilirovanie-v-postgresql/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611" name="Google Shape;611;p8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612" name="Google Shape;612;p85"/>
          <p:cNvSpPr/>
          <p:nvPr/>
        </p:nvSpPr>
        <p:spPr>
          <a:xfrm>
            <a:off x="1703400" y="2393225"/>
            <a:ext cx="33153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 предназначение, виды и устройство систем профилирования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613" name="Google Shape;613;p85"/>
          <p:cNvSpPr/>
          <p:nvPr/>
        </p:nvSpPr>
        <p:spPr>
          <a:xfrm>
            <a:off x="5386550" y="2393225"/>
            <a:ext cx="31530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Узнали как профилировать Постгрес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614" name="Google Shape;61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666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0466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8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8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8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24" name="Google Shape;624;p86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25" name="Google Shape;625;p86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26" name="Google Shape;626;p86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7" name="Google Shape;627;p86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86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629" name="Google Shape;629;p86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0" name="Google Shape;630;p86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1" name="Google Shape;631;p86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32" name="Google Shape;632;p86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33" name="Google Shape;633;p86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86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5" name="Google Shape;635;p86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86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7" name="Google Shape;637;p86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lt1"/>
                </a:solidFill>
              </a:rPr>
              <a:t>Цель задания:</a:t>
            </a:r>
            <a:r>
              <a:rPr lang="ru-RU" sz="1800">
                <a:solidFill>
                  <a:schemeClr val="lt1"/>
                </a:solidFill>
              </a:rPr>
              <a:t> Использовать профилирование запросов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643" name="Google Shape;643;p87"/>
          <p:cNvSpPr txBox="1"/>
          <p:nvPr/>
        </p:nvSpPr>
        <p:spPr>
          <a:xfrm>
            <a:off x="1695375" y="2634353"/>
            <a:ext cx="2451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Включить профилирование всех запросов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87"/>
          <p:cNvSpPr txBox="1"/>
          <p:nvPr/>
        </p:nvSpPr>
        <p:spPr>
          <a:xfrm>
            <a:off x="4764100" y="2634353"/>
            <a:ext cx="264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Перезагрузить конфигурацию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7"/>
          <p:cNvSpPr txBox="1"/>
          <p:nvPr/>
        </p:nvSpPr>
        <p:spPr>
          <a:xfrm>
            <a:off x="1695369" y="4520278"/>
            <a:ext cx="2309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Сделать любой запрос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7"/>
          <p:cNvSpPr txBox="1"/>
          <p:nvPr/>
        </p:nvSpPr>
        <p:spPr>
          <a:xfrm>
            <a:off x="4775975" y="4547988"/>
            <a:ext cx="283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Найти запрос в логах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7" name="Google Shape;647;p87"/>
          <p:cNvSpPr txBox="1"/>
          <p:nvPr/>
        </p:nvSpPr>
        <p:spPr>
          <a:xfrm>
            <a:off x="1695376" y="21062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87"/>
          <p:cNvSpPr txBox="1"/>
          <p:nvPr/>
        </p:nvSpPr>
        <p:spPr>
          <a:xfrm>
            <a:off x="4775976" y="210467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87"/>
          <p:cNvSpPr txBox="1"/>
          <p:nvPr/>
        </p:nvSpPr>
        <p:spPr>
          <a:xfrm>
            <a:off x="1695369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7"/>
          <p:cNvSpPr txBox="1"/>
          <p:nvPr/>
        </p:nvSpPr>
        <p:spPr>
          <a:xfrm>
            <a:off x="4775976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87"/>
          <p:cNvCxnSpPr/>
          <p:nvPr/>
        </p:nvCxnSpPr>
        <p:spPr>
          <a:xfrm rot="10800000">
            <a:off x="2307762" y="2366301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87"/>
          <p:cNvCxnSpPr/>
          <p:nvPr/>
        </p:nvCxnSpPr>
        <p:spPr>
          <a:xfrm rot="10800000">
            <a:off x="5478283" y="2366301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3" name="Google Shape;653;p87"/>
          <p:cNvCxnSpPr/>
          <p:nvPr/>
        </p:nvCxnSpPr>
        <p:spPr>
          <a:xfrm rot="10800000">
            <a:off x="2307762" y="4235292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8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88"/>
          <p:cNvSpPr/>
          <p:nvPr/>
        </p:nvSpPr>
        <p:spPr>
          <a:xfrm>
            <a:off x="30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2" name="Google Shape;662;p88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63" name="Google Shape;663;p88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64" name="Google Shape;664;p88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5" name="Google Shape;665;p88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6" name="Google Shape;666;p88"/>
          <p:cNvSpPr txBox="1"/>
          <p:nvPr/>
        </p:nvSpPr>
        <p:spPr>
          <a:xfrm>
            <a:off x="1634961" y="2992838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667" name="Google Shape;667;p88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8" name="Google Shape;668;p88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9" name="Google Shape;669;p88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70" name="Google Shape;670;p88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71" name="Google Shape;671;p88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88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88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88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p88"/>
          <p:cNvSpPr txBox="1"/>
          <p:nvPr/>
        </p:nvSpPr>
        <p:spPr>
          <a:xfrm>
            <a:off x="1622061" y="4017207"/>
            <a:ext cx="73722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переходим к следующему блоку Управление доступом, где рассмотрим темы: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Роли и атрибуты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Привилегии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396</Words>
  <Application>Microsoft Office PowerPoint</Application>
  <PresentationFormat>Широкоэкранный</PresentationFormat>
  <Paragraphs>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10</vt:i4>
      </vt:variant>
    </vt:vector>
  </HeadingPairs>
  <TitlesOfParts>
    <vt:vector size="25" baseType="lpstr">
      <vt:lpstr>Proxima Nova</vt:lpstr>
      <vt:lpstr>Arial</vt:lpstr>
      <vt:lpstr>Calibri</vt:lpstr>
      <vt:lpstr>Arial Black</vt:lpstr>
      <vt:lpstr>Helvetica Neue</vt:lpstr>
      <vt:lpstr>Consolas</vt:lpstr>
      <vt:lpstr>Helvetica Neue Light</vt:lpstr>
      <vt:lpstr>Courier New</vt:lpstr>
      <vt:lpstr>Тема Office</vt:lpstr>
      <vt:lpstr>Template_StepUP</vt:lpstr>
      <vt:lpstr>White</vt:lpstr>
      <vt:lpstr>Template_StepUP</vt:lpstr>
      <vt:lpstr>Template_StepUP</vt:lpstr>
      <vt:lpstr>Template_StepUP</vt:lpstr>
      <vt:lpstr>Template_StepUP</vt:lpstr>
      <vt:lpstr>ПРОФИЛИРОВАНИЕ</vt:lpstr>
      <vt:lpstr>ЦЕЛЬ УРОКА</vt:lpstr>
      <vt:lpstr>СОДЕРЖАНИЕ УРОКА</vt:lpstr>
      <vt:lpstr>ЦЕЛЬ ПРОФИЛИРОВАНИЯ ЗАПРОСОВ</vt:lpstr>
      <vt:lpstr>ПРОФИЛИРОВАНИЕ ЗАПРОСОВ</vt:lpstr>
      <vt:lpstr>ИНСТРУМЕНТЫ ПРОФИЛИРОВАНИЯ ЗАПРОСОВ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ПРОФИЛИРОВАНИЕ</dc:title>
  <cp:lastModifiedBy>Бондарь Илья Викторович</cp:lastModifiedBy>
  <cp:revision>9</cp:revision>
  <dcterms:modified xsi:type="dcterms:W3CDTF">2025-12-30T07:19:49Z</dcterms:modified>
</cp:coreProperties>
</file>