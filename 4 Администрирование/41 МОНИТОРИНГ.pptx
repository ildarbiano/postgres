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5.xml" ContentType="application/vnd.openxmlformats-officedocument.theme+xml"/>
  <Override PartName="/ppt/slideLayouts/slideLayout59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7" r:id="rId1"/>
    <p:sldMasterId id="2147483708" r:id="rId2"/>
    <p:sldMasterId id="2147483709" r:id="rId3"/>
    <p:sldMasterId id="2147483710" r:id="rId4"/>
    <p:sldMasterId id="2147483711" r:id="rId5"/>
    <p:sldMasterId id="2147483712" r:id="rId6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embeddedFontLst>
    <p:embeddedFont>
      <p:font typeface="Arial Black" panose="020B0A04020102020204" pitchFamily="34" charset="0"/>
      <p:regular r:id="rId21"/>
      <p:bold r:id="rId22"/>
    </p:embeddedFon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Consolas" panose="020B0609020204030204" pitchFamily="49" charset="0"/>
      <p:regular r:id="rId27"/>
      <p:bold r:id="rId28"/>
      <p:italic r:id="rId29"/>
      <p:boldItalic r:id="rId30"/>
    </p:embeddedFont>
    <p:embeddedFont>
      <p:font typeface="Helvetica Neue" panose="020B0604020202020204" charset="0"/>
      <p:regular r:id="rId31"/>
      <p:bold r:id="rId32"/>
      <p:italic r:id="rId33"/>
      <p:boldItalic r:id="rId34"/>
    </p:embeddedFont>
    <p:embeddedFont>
      <p:font typeface="Helvetica Neue Light" panose="020B0604020202020204" charset="0"/>
      <p:regular r:id="rId35"/>
      <p:bold r:id="rId36"/>
      <p:italic r:id="rId37"/>
      <p:boldItalic r:id="rId38"/>
    </p:embeddedFont>
    <p:embeddedFont>
      <p:font typeface="Proxima Nova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63">
          <p15:clr>
            <a:srgbClr val="A4A3A4"/>
          </p15:clr>
        </p15:guide>
        <p15:guide id="2" pos="1118">
          <p15:clr>
            <a:srgbClr val="A4A3A4"/>
          </p15:clr>
        </p15:guide>
        <p15:guide id="3" pos="7333">
          <p15:clr>
            <a:srgbClr val="A4A3A4"/>
          </p15:clr>
        </p15:guide>
        <p15:guide id="4" orient="horz" pos="278">
          <p15:clr>
            <a:srgbClr val="A4A3A4"/>
          </p15:clr>
        </p15:guide>
        <p15:guide id="5" orient="horz" pos="40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>
        <p:guide pos="3863"/>
        <p:guide pos="1118"/>
        <p:guide pos="7333"/>
        <p:guide orient="horz" pos="278"/>
        <p:guide orient="horz" pos="404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font" Target="fonts/font6.fntdata"/><Relationship Id="rId39" Type="http://schemas.openxmlformats.org/officeDocument/2006/relationships/font" Target="fonts/font19.fntdata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openxmlformats.org/officeDocument/2006/relationships/font" Target="fonts/font22.fntdata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font" Target="fonts/font20.fntdata"/><Relationship Id="rId45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font" Target="fonts/font11.fntdata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openxmlformats.org/officeDocument/2006/relationships/presProps" Target="presProps.xml"/><Relationship Id="rId8" Type="http://schemas.openxmlformats.org/officeDocument/2006/relationships/slide" Target="slides/slide2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font" Target="fonts/font18.fntdata"/><Relationship Id="rId46" Type="http://schemas.openxmlformats.org/officeDocument/2006/relationships/tableStyles" Target="tableStyles.xml"/><Relationship Id="rId20" Type="http://schemas.openxmlformats.org/officeDocument/2006/relationships/notesMaster" Target="notesMasters/notesMaster1.xml"/><Relationship Id="rId41" Type="http://schemas.openxmlformats.org/officeDocument/2006/relationships/font" Target="fonts/font2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43f249dc49_0_10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100"/>
              <a:t>Добрый день, приветствую Вас на обучающем курсе по основам безопасной разработки. Все вы опытные люди, не первый день работающие в сфере ИТ. </a:t>
            </a:r>
            <a:endParaRPr/>
          </a:p>
        </p:txBody>
      </p:sp>
      <p:sp>
        <p:nvSpPr>
          <p:cNvPr id="445" name="Google Shape;445;g143f249dc4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143f249dc49_0_29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1" name="Google Shape;451;g143f249dc49_0_2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143f249dc49_0_492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g143f249dc49_0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43f249dc49_0_69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143f249dc49_0_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43f249dc49_0_787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g143f249dc49_0_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143f249dc49_0_795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g143f249dc49_0_7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143f249dc49_0_803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g143f249dc49_0_8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143f249dc49_0_821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g143f249dc49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143f249dc49_0_840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g143f249dc49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43f249dc49_0_962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9" name="Google Shape;539;g143f249dc49_0_9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g143f249dc49_0_10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g143f249dc49_0_106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143f249dc49_0_1278:notes"/>
          <p:cNvSpPr txBox="1">
            <a:spLocks noGrp="1"/>
          </p:cNvSpPr>
          <p:nvPr>
            <p:ph type="body" idx="1"/>
          </p:nvPr>
        </p:nvSpPr>
        <p:spPr>
          <a:xfrm>
            <a:off x="385763" y="5867400"/>
            <a:ext cx="3086100" cy="4800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g143f249dc49_0_1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728788" y="1524000"/>
            <a:ext cx="7315201" cy="41148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143f249dc49_0_14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3" name="Google Shape;593;g143f249dc49_0_14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8.png"/><Relationship Id="rId7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5.png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5.png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6.png"/><Relationship Id="rId7" Type="http://schemas.openxmlformats.org/officeDocument/2006/relationships/image" Target="../media/image14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6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5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4.png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png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 1">
  <p:cSld name="Пустой слайд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7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3" name="Google Shape;103;p17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7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17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16" name="Google Shape;116;p1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3" name="Google Shape;123;p18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19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9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9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2" name="Google Shape;132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4" name="Google Shape;134;p19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9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0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0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4" name="Google Shape;144;p2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45" name="Google Shape;145;p20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1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3921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1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1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2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54" name="Google Shape;154;p21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22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2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9" name="Google Shape;159;p2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60" name="Google Shape;160;p2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3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3" name="Google Shape;163;p23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6" name="Google Shape;166;p24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67" name="Google Shape;167;p24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68" name="Google Shape;168;p24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5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171" name="Google Shape;171;p25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6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8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5" name="Google Shape;185;p28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86" name="Google Shape;186;p28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8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8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28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28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8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8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8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p2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2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0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00" name="Google Shape;200;p30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01" name="Google Shape;201;p30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0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3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30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30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0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0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30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3" name="Google Shape;213;p3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31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15" name="Google Shape;215;p3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p3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1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p31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32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2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29" name="Google Shape;229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3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32" name="Google Shape;232;p32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33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3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3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37" name="Google Shape;237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9" name="Google Shape;239;p33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0" name="Google Shape;240;p3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1" name="Google Shape;241;p33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4" name="Google Shape;244;p34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4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6" name="Google Shape;246;p3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47" name="Google Shape;247;p3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0" name="Google Shape;250;p35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6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3" name="Google Shape;253;p36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5" name="Google Shape;255;p36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7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258" name="Google Shape;258;p37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8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0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2" name="Google Shape;272;p4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4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1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6" name="Google Shape;276;p41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277" name="Google Shape;277;p41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1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41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41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41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41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41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4" name="Google Shape;284;p41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42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88" name="Google Shape;288;p42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2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42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42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4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42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p42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2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2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42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3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0" name="Google Shape;300;p4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43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02" name="Google Shape;302;p4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4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4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4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4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3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8" name="Google Shape;308;p4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4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4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4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44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4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44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16" name="Google Shape;316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4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18" name="Google Shape;318;p4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19" name="Google Shape;319;p44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45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8" cy="68582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45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313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5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24" name="Google Shape;324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5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26" name="Google Shape;326;p45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7" name="Google Shape;327;p4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28" name="Google Shape;328;p45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6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1" name="Google Shape;331;p46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32" name="Google Shape;332;p46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3" name="Google Shape;333;p46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34" name="Google Shape;334;p46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7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7" name="Google Shape;337;p47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8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0" name="Google Shape;340;p48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1" name="Google Shape;341;p48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42" name="Google Shape;342;p48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9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345" name="Google Shape;345;p49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5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Пользовательский макет">
  <p:cSld name="1_Пользовательский макет">
    <p:bg>
      <p:bgPr>
        <a:solidFill>
          <a:srgbClr val="012089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3"/>
          <p:cNvSpPr txBox="1">
            <a:spLocks noGrp="1"/>
          </p:cNvSpPr>
          <p:nvPr>
            <p:ph type="body" idx="1"/>
          </p:nvPr>
        </p:nvSpPr>
        <p:spPr>
          <a:xfrm>
            <a:off x="1622194" y="2544108"/>
            <a:ext cx="53838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1" name="Google Shape;361;p53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362" name="Google Shape;362;p53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53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3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3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4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3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3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3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7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9" name="Google Shape;369;p53" descr="Logo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>
  <p:cSld name="1_Blank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4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2" name="Google Shape;372;p5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3" name="Google Shape;373;p5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2_Пользовательский макет">
  <p:cSld name="2_Пользовательский макет">
    <p:bg>
      <p:bgPr>
        <a:solidFill>
          <a:srgbClr val="012089"/>
        </a:solidFill>
        <a:effectLst/>
      </p:bgPr>
    </p:bg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5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76" name="Google Shape;376;p55"/>
          <p:cNvSpPr txBox="1">
            <a:spLocks noGrp="1"/>
          </p:cNvSpPr>
          <p:nvPr>
            <p:ph type="body" idx="1"/>
          </p:nvPr>
        </p:nvSpPr>
        <p:spPr>
          <a:xfrm>
            <a:off x="1612209" y="4166475"/>
            <a:ext cx="73233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77" name="Google Shape;377;p55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55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55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5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1" name="Google Shape;381;p5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55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3" name="Google Shape;383;p55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55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55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55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ользовательский макет">
  <p:cSld name="Пользовательский макет">
    <p:bg>
      <p:bgPr>
        <a:solidFill>
          <a:srgbClr val="012089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56"/>
          <p:cNvSpPr txBox="1">
            <a:spLocks noGrp="1"/>
          </p:cNvSpPr>
          <p:nvPr>
            <p:ph type="body" idx="1"/>
          </p:nvPr>
        </p:nvSpPr>
        <p:spPr>
          <a:xfrm>
            <a:off x="1622194" y="2404183"/>
            <a:ext cx="7323300" cy="19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50"/>
              <a:buFont typeface="Arial"/>
              <a:buNone/>
              <a:defRPr sz="125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9" name="Google Shape;389;p56"/>
          <p:cNvSpPr txBox="1">
            <a:spLocks noGrp="1"/>
          </p:cNvSpPr>
          <p:nvPr>
            <p:ph type="title"/>
          </p:nvPr>
        </p:nvSpPr>
        <p:spPr>
          <a:xfrm>
            <a:off x="1609724" y="3118888"/>
            <a:ext cx="7520700" cy="7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 Black"/>
              <a:buNone/>
              <a:defRPr sz="6000" b="0" i="0" u="none" strike="noStrike" cap="non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56"/>
          <p:cNvSpPr txBox="1">
            <a:spLocks noGrp="1"/>
          </p:cNvSpPr>
          <p:nvPr>
            <p:ph type="body" idx="2"/>
          </p:nvPr>
        </p:nvSpPr>
        <p:spPr>
          <a:xfrm>
            <a:off x="1622194" y="4100287"/>
            <a:ext cx="73035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sz="25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391" name="Google Shape;391;p56" descr="Shape, circle&#10;&#10;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389719" y="3635894"/>
            <a:ext cx="798993" cy="798993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6"/>
          <p:cNvSpPr/>
          <p:nvPr/>
        </p:nvSpPr>
        <p:spPr>
          <a:xfrm>
            <a:off x="10554128" y="1"/>
            <a:ext cx="1634700" cy="68484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6"/>
          <p:cNvSpPr/>
          <p:nvPr/>
        </p:nvSpPr>
        <p:spPr>
          <a:xfrm>
            <a:off x="8936199" y="3627175"/>
            <a:ext cx="3235800" cy="3235800"/>
          </a:xfrm>
          <a:prstGeom prst="rect">
            <a:avLst/>
          </a:prstGeom>
          <a:blipFill rotWithShape="1">
            <a:blip r:embed="rId3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6"/>
          <p:cNvSpPr/>
          <p:nvPr/>
        </p:nvSpPr>
        <p:spPr>
          <a:xfrm>
            <a:off x="5889" y="1"/>
            <a:ext cx="1617000" cy="1617000"/>
          </a:xfrm>
          <a:prstGeom prst="rect">
            <a:avLst/>
          </a:prstGeom>
          <a:blipFill rotWithShape="1">
            <a:blip r:embed="rId4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5" name="Google Shape;395;p5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56"/>
          <p:cNvSpPr/>
          <p:nvPr/>
        </p:nvSpPr>
        <p:spPr>
          <a:xfrm>
            <a:off x="10554128" y="3236706"/>
            <a:ext cx="1634700" cy="375000"/>
          </a:xfrm>
          <a:prstGeom prst="rect">
            <a:avLst/>
          </a:prstGeom>
          <a:solidFill>
            <a:srgbClr val="1400C1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7" name="Google Shape;397;p56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864465" y="417478"/>
            <a:ext cx="1073151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56"/>
          <p:cNvSpPr/>
          <p:nvPr/>
        </p:nvSpPr>
        <p:spPr>
          <a:xfrm>
            <a:off x="894546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ru-RU" sz="16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endParaRPr sz="16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56"/>
          <p:cNvSpPr/>
          <p:nvPr/>
        </p:nvSpPr>
        <p:spPr>
          <a:xfrm>
            <a:off x="10560950" y="4448096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144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lang="ru-RU" sz="2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{ }</a:t>
            </a:r>
            <a:endParaRPr sz="2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56"/>
          <p:cNvSpPr/>
          <p:nvPr/>
        </p:nvSpPr>
        <p:spPr>
          <a:xfrm>
            <a:off x="11393008" y="6058220"/>
            <a:ext cx="798900" cy="7989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Blank">
  <p:cSld name="3_Blank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57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3" name="Google Shape;403;p57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57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5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06" name="Google Shape;406;p57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>
  <p:cSld name="Пустой слайд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58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58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58"/>
          <p:cNvSpPr txBox="1">
            <a:spLocks noGrp="1"/>
          </p:cNvSpPr>
          <p:nvPr>
            <p:ph type="body" idx="1"/>
          </p:nvPr>
        </p:nvSpPr>
        <p:spPr>
          <a:xfrm>
            <a:off x="1725849" y="999207"/>
            <a:ext cx="448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1" name="Google Shape;411;p5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5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14" name="Google Shape;414;p58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59"/>
          <p:cNvPicPr preferRelativeResize="0"/>
          <p:nvPr/>
        </p:nvPicPr>
        <p:blipFill rotWithShape="1">
          <a:blip r:embed="rId2">
            <a:alphaModFix/>
          </a:blip>
          <a:srcRect r="35291" b="428"/>
          <a:stretch/>
        </p:blipFill>
        <p:spPr>
          <a:xfrm>
            <a:off x="5506709" y="1"/>
            <a:ext cx="6685289" cy="6858277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9"/>
          <p:cNvSpPr/>
          <p:nvPr/>
        </p:nvSpPr>
        <p:spPr>
          <a:xfrm>
            <a:off x="3853558" y="277"/>
            <a:ext cx="83355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37000">
                <a:srgbClr val="FFFFFF"/>
              </a:gs>
              <a:gs pos="100000">
                <a:srgbClr val="F2F2F2">
                  <a:alpha val="64705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"/>
              <a:buFont typeface="Helvetica Neue"/>
              <a:buNone/>
            </a:pPr>
            <a:endParaRPr sz="7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59"/>
          <p:cNvSpPr txBox="1">
            <a:spLocks noGrp="1"/>
          </p:cNvSpPr>
          <p:nvPr>
            <p:ph type="body" idx="1"/>
          </p:nvPr>
        </p:nvSpPr>
        <p:spPr>
          <a:xfrm>
            <a:off x="1725849" y="1290038"/>
            <a:ext cx="61641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19" name="Google Shape;419;p5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9"/>
          <p:cNvSpPr txBox="1">
            <a:spLocks noGrp="1"/>
          </p:cNvSpPr>
          <p:nvPr>
            <p:ph type="title"/>
          </p:nvPr>
        </p:nvSpPr>
        <p:spPr>
          <a:xfrm>
            <a:off x="1725849" y="799038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b="0" i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1" name="Google Shape;421;p59"/>
          <p:cNvSpPr txBox="1">
            <a:spLocks noGrp="1"/>
          </p:cNvSpPr>
          <p:nvPr>
            <p:ph type="body" idx="2"/>
          </p:nvPr>
        </p:nvSpPr>
        <p:spPr>
          <a:xfrm>
            <a:off x="1725849" y="453789"/>
            <a:ext cx="44970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31164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31165" algn="l" rtl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3190"/>
              <a:buFont typeface="Arial"/>
              <a:buChar char="•"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2" name="Google Shape;422;p5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423" name="Google Shape;423;p59"/>
          <p:cNvSpPr/>
          <p:nvPr/>
        </p:nvSpPr>
        <p:spPr>
          <a:xfrm>
            <a:off x="9769004" y="4436887"/>
            <a:ext cx="2423100" cy="24231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Титульный 1">
  <p:cSld name="Титульный 1"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0"/>
          <p:cNvSpPr txBox="1">
            <a:spLocks noGrp="1"/>
          </p:cNvSpPr>
          <p:nvPr>
            <p:ph type="body" idx="1"/>
          </p:nvPr>
        </p:nvSpPr>
        <p:spPr>
          <a:xfrm>
            <a:off x="339530" y="6178218"/>
            <a:ext cx="9774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2200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6" name="Google Shape;426;p60"/>
          <p:cNvSpPr txBox="1">
            <a:spLocks noGrp="1"/>
          </p:cNvSpPr>
          <p:nvPr>
            <p:ph type="title"/>
          </p:nvPr>
        </p:nvSpPr>
        <p:spPr>
          <a:xfrm>
            <a:off x="339530" y="4415757"/>
            <a:ext cx="9774300" cy="15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6000" b="0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ол. заголовок + текст">
  <p:cSld name="Бол. заголовок + текст">
    <p:bg>
      <p:bgPr>
        <a:solidFill>
          <a:schemeClr val="lt1"/>
        </a:solidFill>
        <a:effectLst/>
      </p:bgPr>
    </p:bg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1"/>
          <p:cNvSpPr txBox="1">
            <a:spLocks noGrp="1"/>
          </p:cNvSpPr>
          <p:nvPr>
            <p:ph type="body" idx="1"/>
          </p:nvPr>
        </p:nvSpPr>
        <p:spPr>
          <a:xfrm>
            <a:off x="334962" y="1042988"/>
            <a:ext cx="8555100" cy="16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  <a:defRPr sz="16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9" name="Google Shape;429;p61"/>
          <p:cNvSpPr txBox="1">
            <a:spLocks noGrp="1"/>
          </p:cNvSpPr>
          <p:nvPr>
            <p:ph type="ftr" idx="11"/>
          </p:nvPr>
        </p:nvSpPr>
        <p:spPr>
          <a:xfrm>
            <a:off x="336154" y="5895439"/>
            <a:ext cx="8553900" cy="1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5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0" name="Google Shape;430;p61"/>
          <p:cNvSpPr txBox="1">
            <a:spLocks noGrp="1"/>
          </p:cNvSpPr>
          <p:nvPr>
            <p:ph type="title"/>
          </p:nvPr>
        </p:nvSpPr>
        <p:spPr>
          <a:xfrm>
            <a:off x="334962" y="290923"/>
            <a:ext cx="8555100" cy="52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 Black"/>
              <a:buNone/>
              <a:defRPr sz="3600" b="1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31" name="Google Shape;431;p61"/>
          <p:cNvSpPr txBox="1">
            <a:spLocks noGrp="1"/>
          </p:cNvSpPr>
          <p:nvPr>
            <p:ph type="sldNum" idx="12"/>
          </p:nvPr>
        </p:nvSpPr>
        <p:spPr>
          <a:xfrm>
            <a:off x="11518829" y="6400448"/>
            <a:ext cx="34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Перебивка 2">
  <p:cSld name="Перебивка 2">
    <p:bg>
      <p:bgPr>
        <a:solidFill>
          <a:schemeClr val="dk2"/>
        </a:solidFill>
        <a:effectLst/>
      </p:bgPr>
    </p:bg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2"/>
          <p:cNvSpPr txBox="1">
            <a:spLocks noGrp="1"/>
          </p:cNvSpPr>
          <p:nvPr>
            <p:ph type="title"/>
          </p:nvPr>
        </p:nvSpPr>
        <p:spPr>
          <a:xfrm>
            <a:off x="334963" y="295258"/>
            <a:ext cx="8553600" cy="14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 Black"/>
              <a:buNone/>
              <a:defRPr sz="4800" b="1" i="0" u="none" strike="noStrike" cap="none">
                <a:solidFill>
                  <a:schemeClr val="lt2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None/>
              <a:defRPr sz="1800"/>
            </a:lvl9pPr>
          </a:lstStyle>
          <a:p>
            <a:endParaRPr/>
          </a:p>
        </p:txBody>
      </p:sp>
      <p:sp>
        <p:nvSpPr>
          <p:cNvPr id="434" name="Google Shape;434;p62"/>
          <p:cNvSpPr txBox="1">
            <a:spLocks noGrp="1"/>
          </p:cNvSpPr>
          <p:nvPr>
            <p:ph type="body" idx="1"/>
          </p:nvPr>
        </p:nvSpPr>
        <p:spPr>
          <a:xfrm>
            <a:off x="334963" y="1861246"/>
            <a:ext cx="85536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Финальный слайд 1">
  <p:cSld name="Финальный слайд 1">
    <p:bg>
      <p:bgPr>
        <a:solidFill>
          <a:schemeClr val="dk1"/>
        </a:solidFill>
        <a:effectLst/>
      </p:bgPr>
    </p:bg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3"/>
          <p:cNvSpPr txBox="1">
            <a:spLocks noGrp="1"/>
          </p:cNvSpPr>
          <p:nvPr>
            <p:ph type="body" idx="1"/>
          </p:nvPr>
        </p:nvSpPr>
        <p:spPr>
          <a:xfrm>
            <a:off x="340037" y="1861806"/>
            <a:ext cx="85485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0519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Font typeface="Arial"/>
              <a:buChar char="•"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7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tx">
  <p:cSld name="TITLE_AND_BODY"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5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1pPr>
            <a:lvl2pPr marL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2pPr>
            <a:lvl3pPr marL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3pPr>
            <a:lvl4pPr marL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4pPr>
            <a:lvl5pPr marL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5pPr>
            <a:lvl6pPr marL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6pPr>
            <a:lvl7pPr marL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7pPr>
            <a:lvl8pPr marL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8pPr>
            <a:lvl9pPr marL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1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13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6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image" Target="../media/image14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image" Target="../media/image15.png"/><Relationship Id="rId2" Type="http://schemas.openxmlformats.org/officeDocument/2006/relationships/slideLayout" Target="../slideLayouts/slideLayout37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image" Target="../media/image14.png"/><Relationship Id="rId10" Type="http://schemas.openxmlformats.org/officeDocument/2006/relationships/slideLayout" Target="../slideLayouts/slideLayout45.xml"/><Relationship Id="rId19" Type="http://schemas.openxmlformats.org/officeDocument/2006/relationships/image" Target="../media/image6.png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image" Target="../media/image13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5.xml"/><Relationship Id="rId13" Type="http://schemas.openxmlformats.org/officeDocument/2006/relationships/image" Target="../media/image13.png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50.xml"/><Relationship Id="rId7" Type="http://schemas.openxmlformats.org/officeDocument/2006/relationships/slideLayout" Target="../slideLayouts/slideLayout54.xml"/><Relationship Id="rId12" Type="http://schemas.openxmlformats.org/officeDocument/2006/relationships/theme" Target="../theme/theme5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49.xml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48.xml"/><Relationship Id="rId6" Type="http://schemas.openxmlformats.org/officeDocument/2006/relationships/slideLayout" Target="../slideLayouts/slideLayout53.xml"/><Relationship Id="rId11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2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57.xml"/><Relationship Id="rId4" Type="http://schemas.openxmlformats.org/officeDocument/2006/relationships/slideLayout" Target="../slideLayouts/slideLayout51.xml"/><Relationship Id="rId9" Type="http://schemas.openxmlformats.org/officeDocument/2006/relationships/slideLayout" Target="../slideLayouts/slideLayout56.xml"/><Relationship Id="rId14" Type="http://schemas.openxmlformats.org/officeDocument/2006/relationships/image" Target="../media/image14.pn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89" name="Google Shape;89;p15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5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5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176" name="Google Shape;176;p27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78" name="Google Shape;178;p27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7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7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7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7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263" name="Google Shape;263;p39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3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65" name="Google Shape;265;p39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39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6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39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39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39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5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  <a:defRPr sz="2500" b="0" i="0" u="none" strike="noStrike" cap="none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pic>
        <p:nvPicPr>
          <p:cNvPr id="352" name="Google Shape;352;p52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10864465" y="417478"/>
            <a:ext cx="1073150" cy="73025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5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354" name="Google Shape;354;p52"/>
          <p:cNvSpPr/>
          <p:nvPr/>
        </p:nvSpPr>
        <p:spPr>
          <a:xfrm>
            <a:off x="5889" y="0"/>
            <a:ext cx="1617300" cy="1617300"/>
          </a:xfrm>
          <a:prstGeom prst="rect">
            <a:avLst/>
          </a:prstGeom>
          <a:blipFill rotWithShape="1">
            <a:blip r:embed="rId1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2"/>
          <p:cNvSpPr/>
          <p:nvPr/>
        </p:nvSpPr>
        <p:spPr>
          <a:xfrm>
            <a:off x="11382375" y="6061663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5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52"/>
          <p:cNvSpPr/>
          <p:nvPr/>
        </p:nvSpPr>
        <p:spPr>
          <a:xfrm>
            <a:off x="9763006" y="4436887"/>
            <a:ext cx="2425800" cy="2425800"/>
          </a:xfrm>
          <a:prstGeom prst="rect">
            <a:avLst/>
          </a:prstGeom>
          <a:blipFill rotWithShape="1">
            <a:blip r:embed="rId1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52"/>
          <p:cNvSpPr/>
          <p:nvPr/>
        </p:nvSpPr>
        <p:spPr>
          <a:xfrm>
            <a:off x="9774475" y="6062237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ru-RU" sz="2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@</a:t>
            </a:r>
            <a:endParaRPr sz="2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52"/>
          <p:cNvSpPr/>
          <p:nvPr/>
        </p:nvSpPr>
        <p:spPr>
          <a:xfrm>
            <a:off x="11382375" y="4449126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1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4"/>
          <p:cNvSpPr txBox="1">
            <a:spLocks noGrp="1"/>
          </p:cNvSpPr>
          <p:nvPr>
            <p:ph type="title"/>
          </p:nvPr>
        </p:nvSpPr>
        <p:spPr>
          <a:xfrm>
            <a:off x="1826683" y="979211"/>
            <a:ext cx="9753600" cy="12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00"/>
              <a:buFont typeface="Helvetica Neue"/>
              <a:buNone/>
              <a:defRPr sz="56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39" name="Google Shape;439;p64"/>
          <p:cNvSpPr txBox="1">
            <a:spLocks noGrp="1"/>
          </p:cNvSpPr>
          <p:nvPr>
            <p:ph type="body" idx="1"/>
          </p:nvPr>
        </p:nvSpPr>
        <p:spPr>
          <a:xfrm>
            <a:off x="6805083" y="2229126"/>
            <a:ext cx="4775400" cy="4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Helvetica Neue"/>
              <a:buNone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431800" algn="l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Helvetica Neue"/>
              <a:buChar char="•"/>
              <a:defRPr sz="22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40" name="Google Shape;440;p64"/>
          <p:cNvSpPr txBox="1">
            <a:spLocks noGrp="1"/>
          </p:cNvSpPr>
          <p:nvPr>
            <p:ph type="sldNum" idx="12"/>
          </p:nvPr>
        </p:nvSpPr>
        <p:spPr>
          <a:xfrm>
            <a:off x="5977052" y="6536531"/>
            <a:ext cx="233100" cy="2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Helvetica Neue Light"/>
              <a:buNone/>
              <a:defRPr sz="1100" b="0" i="0" u="none" strike="noStrike" cap="non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0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okmeter.io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21.png"/><Relationship Id="rId5" Type="http://schemas.openxmlformats.org/officeDocument/2006/relationships/hyperlink" Target="https://www.percona.com/doc/percona-monitoring-and-management/2.x/index.html" TargetMode="External"/><Relationship Id="rId4" Type="http://schemas.openxmlformats.org/officeDocument/2006/relationships/hyperlink" Target="https://www.zabbix.com/ru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abr.com/ru/company/domclick/blog/546910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Relationship Id="rId4" Type="http://schemas.openxmlformats.org/officeDocument/2006/relationships/hyperlink" Target="https://github.com/cybertec-postgresql/pgwatch2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7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9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3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9.xml"/><Relationship Id="rId6" Type="http://schemas.openxmlformats.org/officeDocument/2006/relationships/image" Target="../media/image16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6"/>
          <p:cNvSpPr txBox="1">
            <a:spLocks noGrp="1"/>
          </p:cNvSpPr>
          <p:nvPr>
            <p:ph type="body" idx="1"/>
          </p:nvPr>
        </p:nvSpPr>
        <p:spPr>
          <a:xfrm>
            <a:off x="837325" y="2782113"/>
            <a:ext cx="70191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/>
              <a:t>БЛОК 5. ЗАДАЧИ АДМИНИСТРИРОВАНИЯ</a:t>
            </a:r>
            <a:endParaRPr/>
          </a:p>
        </p:txBody>
      </p:sp>
      <p:sp>
        <p:nvSpPr>
          <p:cNvPr id="448" name="Google Shape;448;p66"/>
          <p:cNvSpPr txBox="1">
            <a:spLocks noGrp="1"/>
          </p:cNvSpPr>
          <p:nvPr>
            <p:ph type="title"/>
          </p:nvPr>
        </p:nvSpPr>
        <p:spPr>
          <a:xfrm>
            <a:off x="837325" y="3369375"/>
            <a:ext cx="9612300" cy="7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5400"/>
              <a:t>МОНИТОРИНГ</a:t>
            </a:r>
            <a:endParaRPr sz="5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7"/>
          <p:cNvSpPr/>
          <p:nvPr/>
        </p:nvSpPr>
        <p:spPr>
          <a:xfrm>
            <a:off x="1725850" y="1840100"/>
            <a:ext cx="6942900" cy="1475700"/>
          </a:xfrm>
          <a:prstGeom prst="roundRect">
            <a:avLst>
              <a:gd name="adj" fmla="val 7748"/>
            </a:avLst>
          </a:prstGeom>
          <a:solidFill>
            <a:srgbClr val="CEE6FF"/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Понять предназначение, виды и устройство систем мониторинга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67"/>
          <p:cNvSpPr/>
          <p:nvPr/>
        </p:nvSpPr>
        <p:spPr>
          <a:xfrm>
            <a:off x="1725850" y="3667400"/>
            <a:ext cx="6942900" cy="1475700"/>
          </a:xfrm>
          <a:prstGeom prst="roundRect">
            <a:avLst>
              <a:gd name="adj" fmla="val 6634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44000" tIns="756000" rIns="144000" bIns="1440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Узнать как использовать утилиты мониторинга Постгреса</a:t>
            </a:r>
            <a:endParaRPr sz="1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5" name="Google Shape;455;p6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ЦЕЛЬ УРОКА</a:t>
            </a:r>
            <a:endParaRPr/>
          </a:p>
        </p:txBody>
      </p:sp>
      <p:sp>
        <p:nvSpPr>
          <p:cNvPr id="456" name="Google Shape;456;p67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  <p:sp>
        <p:nvSpPr>
          <p:cNvPr id="457" name="Google Shape;457;p67"/>
          <p:cNvSpPr/>
          <p:nvPr/>
        </p:nvSpPr>
        <p:spPr>
          <a:xfrm>
            <a:off x="1908732" y="19447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8" name="Google Shape;458;p67"/>
          <p:cNvSpPr/>
          <p:nvPr/>
        </p:nvSpPr>
        <p:spPr>
          <a:xfrm>
            <a:off x="1908735" y="3772007"/>
            <a:ext cx="876600" cy="63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68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СОДЕРЖАНИЕ УРОКА</a:t>
            </a:r>
            <a:endParaRPr/>
          </a:p>
        </p:txBody>
      </p:sp>
      <p:sp>
        <p:nvSpPr>
          <p:cNvPr id="464" name="Google Shape;464;p68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  <p:sp>
        <p:nvSpPr>
          <p:cNvPr id="465" name="Google Shape;465;p68"/>
          <p:cNvSpPr/>
          <p:nvPr/>
        </p:nvSpPr>
        <p:spPr>
          <a:xfrm>
            <a:off x="1719852" y="1361364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6" name="Google Shape;466;p68"/>
          <p:cNvSpPr/>
          <p:nvPr/>
        </p:nvSpPr>
        <p:spPr>
          <a:xfrm>
            <a:off x="1719852" y="3129109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67" name="Google Shape;467;p68"/>
          <p:cNvSpPr/>
          <p:nvPr/>
        </p:nvSpPr>
        <p:spPr>
          <a:xfrm>
            <a:off x="1719852" y="4896852"/>
            <a:ext cx="926400" cy="9264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68" name="Google Shape;468;p68"/>
          <p:cNvCxnSpPr/>
          <p:nvPr/>
        </p:nvCxnSpPr>
        <p:spPr>
          <a:xfrm rot="10800000">
            <a:off x="2183068" y="2395849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9" name="Google Shape;469;p68"/>
          <p:cNvCxnSpPr/>
          <p:nvPr/>
        </p:nvCxnSpPr>
        <p:spPr>
          <a:xfrm rot="10800000">
            <a:off x="2183068" y="4163594"/>
            <a:ext cx="0" cy="62520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70" name="Google Shape;470;p68"/>
          <p:cNvSpPr txBox="1"/>
          <p:nvPr/>
        </p:nvSpPr>
        <p:spPr>
          <a:xfrm>
            <a:off x="2860569" y="1685964"/>
            <a:ext cx="257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Что можно мониторить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71" name="Google Shape;471;p68"/>
          <p:cNvSpPr txBox="1"/>
          <p:nvPr/>
        </p:nvSpPr>
        <p:spPr>
          <a:xfrm>
            <a:off x="2860569" y="3315259"/>
            <a:ext cx="2289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Утилиты мониторинга</a:t>
            </a: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72" name="Google Shape;472;p68"/>
          <p:cNvSpPr txBox="1"/>
          <p:nvPr/>
        </p:nvSpPr>
        <p:spPr>
          <a:xfrm>
            <a:off x="2860569" y="5221452"/>
            <a:ext cx="257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Бэст практис</a:t>
            </a:r>
            <a:endParaRPr sz="1800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473" name="Google Shape;473;p68"/>
          <p:cNvSpPr/>
          <p:nvPr/>
        </p:nvSpPr>
        <p:spPr>
          <a:xfrm>
            <a:off x="6632052" y="1361364"/>
            <a:ext cx="3643200" cy="4461900"/>
          </a:xfrm>
          <a:prstGeom prst="roundRect">
            <a:avLst>
              <a:gd name="adj" fmla="val 5294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Helvetica Neue"/>
              <a:buNone/>
            </a:pP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69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ru-RU"/>
              <a:t>ПРЕЖДЕ, ЧЕМ ЗАНИМАТЬСЯ ОПТИМИЗАЦИЕЙ</a:t>
            </a:r>
            <a:endParaRPr/>
          </a:p>
        </p:txBody>
      </p:sp>
      <p:sp>
        <p:nvSpPr>
          <p:cNvPr id="479" name="Google Shape;479;p69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  <p:sp>
        <p:nvSpPr>
          <p:cNvPr id="480" name="Google Shape;480;p69"/>
          <p:cNvSpPr/>
          <p:nvPr/>
        </p:nvSpPr>
        <p:spPr>
          <a:xfrm>
            <a:off x="1725850" y="2422119"/>
            <a:ext cx="7771800" cy="7695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top</a:t>
            </a:r>
            <a:r>
              <a:rPr lang="ru-RU" sz="20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ru-RU" sz="20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atop</a:t>
            </a:r>
            <a:r>
              <a:rPr lang="ru-RU" sz="20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lang="ru-RU" sz="20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htop</a:t>
            </a:r>
            <a:endParaRPr sz="20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1" name="Google Shape;481;p69"/>
          <p:cNvSpPr txBox="1"/>
          <p:nvPr/>
        </p:nvSpPr>
        <p:spPr>
          <a:xfrm>
            <a:off x="1725850" y="1863325"/>
            <a:ext cx="777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>
                <a:solidFill>
                  <a:schemeClr val="dk1"/>
                </a:solidFill>
              </a:rPr>
              <a:t>Проверьте загрузку оборудования консольными утилитами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69"/>
          <p:cNvSpPr txBox="1"/>
          <p:nvPr/>
        </p:nvSpPr>
        <p:spPr>
          <a:xfrm>
            <a:off x="1725850" y="3473213"/>
            <a:ext cx="77718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Нет смысла браться за оптимизацию, если загрузка процессора в среднем составляет 70% и выше. Тем более если при этом ядра загружены более менее равномерно и загрузка процессора не вырастала скачкообразно. 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</a:rPr>
              <a:t>Решение: </a:t>
            </a:r>
            <a:r>
              <a:rPr lang="ru-RU" sz="1800">
                <a:solidFill>
                  <a:schemeClr val="dk1"/>
                </a:solidFill>
              </a:rPr>
              <a:t>добавляем ядер</a:t>
            </a:r>
            <a:endParaRPr sz="18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70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ru-RU"/>
              <a:t>ПРЕЖДЕ, ЧЕМ ЗАНИМАТЬСЯ ОПТИМИЗАЦИЕЙ</a:t>
            </a:r>
            <a:endParaRPr/>
          </a:p>
        </p:txBody>
      </p:sp>
      <p:sp>
        <p:nvSpPr>
          <p:cNvPr id="488" name="Google Shape;488;p70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  <p:sp>
        <p:nvSpPr>
          <p:cNvPr id="489" name="Google Shape;489;p70"/>
          <p:cNvSpPr/>
          <p:nvPr/>
        </p:nvSpPr>
        <p:spPr>
          <a:xfrm>
            <a:off x="1725850" y="2251545"/>
            <a:ext cx="7771800" cy="7695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iostat</a:t>
            </a:r>
            <a:r>
              <a:rPr lang="ru-RU" sz="2000" dirty="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 –</a:t>
            </a:r>
            <a:r>
              <a:rPr lang="ru-RU" sz="2000" dirty="0" err="1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dx</a:t>
            </a:r>
            <a:endParaRPr sz="2000" dirty="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0" name="Google Shape;490;p70"/>
          <p:cNvSpPr txBox="1"/>
          <p:nvPr/>
        </p:nvSpPr>
        <p:spPr>
          <a:xfrm>
            <a:off x="1725850" y="3381238"/>
            <a:ext cx="77718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Смотрим загрузку дисковой подсистемы. Если там близко к 100%, а на сервере 8 ГБ памяти для 1ТБ БД в которой 500+ одновременных сеансов, нужно попробовать увеличить память сервера.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900">
                <a:solidFill>
                  <a:schemeClr val="dk2"/>
                </a:solidFill>
              </a:rPr>
              <a:t>Решение: </a:t>
            </a:r>
            <a:r>
              <a:rPr lang="ru-RU" sz="1800">
                <a:solidFill>
                  <a:schemeClr val="dk1"/>
                </a:solidFill>
              </a:rPr>
              <a:t>добавить память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71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ru-RU"/>
              <a:t>ПРЕЖДЕ, ЧЕМ ЗАНИМАТЬСЯ ОПТИМИЗАЦИЕЙ</a:t>
            </a:r>
            <a:endParaRPr/>
          </a:p>
        </p:txBody>
      </p:sp>
      <p:sp>
        <p:nvSpPr>
          <p:cNvPr id="496" name="Google Shape;496;p71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  <p:sp>
        <p:nvSpPr>
          <p:cNvPr id="497" name="Google Shape;497;p71"/>
          <p:cNvSpPr/>
          <p:nvPr/>
        </p:nvSpPr>
        <p:spPr>
          <a:xfrm>
            <a:off x="1725850" y="2422119"/>
            <a:ext cx="7771800" cy="7695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pgtop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8" name="Google Shape;498;p71"/>
          <p:cNvSpPr txBox="1"/>
          <p:nvPr/>
        </p:nvSpPr>
        <p:spPr>
          <a:xfrm>
            <a:off x="1725850" y="1863325"/>
            <a:ext cx="777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Проверьте загрузку Постгреса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71"/>
          <p:cNvSpPr txBox="1"/>
          <p:nvPr/>
        </p:nvSpPr>
        <p:spPr>
          <a:xfrm>
            <a:off x="1725850" y="3473213"/>
            <a:ext cx="7771800" cy="130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Анализируем текущие запросы, кто отъедает память и процессор в текущий момент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2"/>
                </a:solidFill>
              </a:rPr>
              <a:t>Посмотрим на практике</a:t>
            </a:r>
            <a:endParaRPr sz="1800">
              <a:solidFill>
                <a:srgbClr val="3F3F3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72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ru-RU"/>
              <a:t>ПРЕДСТАВЛЕНИЯ POSTGRESQL ДЛЯ МОНИТОРИНГА</a:t>
            </a:r>
            <a:endParaRPr/>
          </a:p>
        </p:txBody>
      </p:sp>
      <p:sp>
        <p:nvSpPr>
          <p:cNvPr id="505" name="Google Shape;505;p72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  <p:sp>
        <p:nvSpPr>
          <p:cNvPr id="506" name="Google Shape;506;p72"/>
          <p:cNvSpPr/>
          <p:nvPr/>
        </p:nvSpPr>
        <p:spPr>
          <a:xfrm>
            <a:off x="1725849" y="2498852"/>
            <a:ext cx="7771800" cy="7695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SELECT * FROM pg_stat_activity …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7" name="Google Shape;507;p72"/>
          <p:cNvSpPr txBox="1"/>
          <p:nvPr/>
        </p:nvSpPr>
        <p:spPr>
          <a:xfrm>
            <a:off x="1725849" y="1900363"/>
            <a:ext cx="777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Активные запросы длительностью более N секунд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72"/>
          <p:cNvSpPr/>
          <p:nvPr/>
        </p:nvSpPr>
        <p:spPr>
          <a:xfrm>
            <a:off x="1725849" y="4188131"/>
            <a:ext cx="7771800" cy="769500"/>
          </a:xfrm>
          <a:prstGeom prst="roundRect">
            <a:avLst>
              <a:gd name="adj" fmla="val 4323"/>
            </a:avLst>
          </a:prstGeom>
          <a:solidFill>
            <a:srgbClr val="444444"/>
          </a:solidFill>
          <a:ln>
            <a:noFill/>
          </a:ln>
        </p:spPr>
        <p:txBody>
          <a:bodyPr spcFirstLastPara="1" wrap="square" lIns="216000" tIns="180000" rIns="216000" bIns="216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CREATE EXTENSION pg_stat_statements;</a:t>
            </a:r>
            <a:endParaRPr sz="2000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09" name="Google Shape;509;p72"/>
          <p:cNvSpPr txBox="1"/>
          <p:nvPr/>
        </p:nvSpPr>
        <p:spPr>
          <a:xfrm>
            <a:off x="1725849" y="3589642"/>
            <a:ext cx="77718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ТОП по загрузке CPU:</a:t>
            </a:r>
            <a:endParaRPr sz="18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3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 dirty="0"/>
              <a:t>МОНИТОРИНГ. </a:t>
            </a:r>
            <a:r>
              <a:rPr lang="en-US"/>
              <a:t>Best Practice</a:t>
            </a:r>
            <a:endParaRPr dirty="0"/>
          </a:p>
        </p:txBody>
      </p:sp>
      <p:sp>
        <p:nvSpPr>
          <p:cNvPr id="515" name="Google Shape;515;p73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  <p:sp>
        <p:nvSpPr>
          <p:cNvPr id="516" name="Google Shape;516;p73"/>
          <p:cNvSpPr txBox="1"/>
          <p:nvPr/>
        </p:nvSpPr>
        <p:spPr>
          <a:xfrm>
            <a:off x="1725862" y="1098938"/>
            <a:ext cx="777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Пути решения:</a:t>
            </a:r>
            <a:endParaRPr sz="1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17" name="Google Shape;517;p73"/>
          <p:cNvSpPr/>
          <p:nvPr/>
        </p:nvSpPr>
        <p:spPr>
          <a:xfrm>
            <a:off x="1725863" y="1565000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1</a:t>
            </a:r>
            <a:endParaRPr sz="200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8" name="Google Shape;518;p73"/>
          <p:cNvSpPr/>
          <p:nvPr/>
        </p:nvSpPr>
        <p:spPr>
          <a:xfrm>
            <a:off x="1725863" y="2137356"/>
            <a:ext cx="446100" cy="4311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836ED3"/>
                </a:solidFill>
                <a:latin typeface="Arial Black"/>
                <a:ea typeface="Arial Black"/>
                <a:cs typeface="Arial Black"/>
                <a:sym typeface="Arial Black"/>
              </a:rPr>
              <a:t>2</a:t>
            </a:r>
            <a:endParaRPr sz="2000" i="0" u="none" strike="noStrike" cap="none">
              <a:solidFill>
                <a:srgbClr val="836ED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19" name="Google Shape;519;p73"/>
          <p:cNvSpPr/>
          <p:nvPr/>
        </p:nvSpPr>
        <p:spPr>
          <a:xfrm>
            <a:off x="1725863" y="2767900"/>
            <a:ext cx="446100" cy="431100"/>
          </a:xfrm>
          <a:prstGeom prst="ellipse">
            <a:avLst/>
          </a:prstGeom>
          <a:solidFill>
            <a:srgbClr val="00C391">
              <a:alpha val="20000"/>
            </a:srgbClr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00C391"/>
                </a:solidFill>
                <a:latin typeface="Arial Black"/>
                <a:ea typeface="Arial Black"/>
                <a:cs typeface="Arial Black"/>
                <a:sym typeface="Arial Black"/>
              </a:rPr>
              <a:t>3</a:t>
            </a:r>
            <a:endParaRPr sz="2000" i="0" u="none" strike="noStrike" cap="none">
              <a:solidFill>
                <a:srgbClr val="00C39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0" name="Google Shape;520;p73"/>
          <p:cNvSpPr/>
          <p:nvPr/>
        </p:nvSpPr>
        <p:spPr>
          <a:xfrm>
            <a:off x="1725863" y="3443134"/>
            <a:ext cx="446100" cy="431100"/>
          </a:xfrm>
          <a:prstGeom prst="ellipse">
            <a:avLst/>
          </a:prstGeom>
          <a:solidFill>
            <a:srgbClr val="CBF2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 dirty="0">
                <a:solidFill>
                  <a:srgbClr val="02C2FD"/>
                </a:solidFill>
                <a:latin typeface="Arial Black"/>
                <a:ea typeface="Arial Black"/>
                <a:cs typeface="Arial Black"/>
                <a:sym typeface="Arial Black"/>
              </a:rPr>
              <a:t>4</a:t>
            </a:r>
            <a:endParaRPr sz="2000" i="0" u="none" strike="noStrike" cap="none" dirty="0">
              <a:solidFill>
                <a:srgbClr val="02C2FD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21" name="Google Shape;521;p73"/>
          <p:cNvSpPr txBox="1"/>
          <p:nvPr/>
        </p:nvSpPr>
        <p:spPr>
          <a:xfrm>
            <a:off x="2640257" y="1626650"/>
            <a:ext cx="3362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dk1"/>
                </a:solidFill>
              </a:rPr>
              <a:t>Прометей экспортер + </a:t>
            </a:r>
            <a:r>
              <a:rPr lang="ru-RU" sz="1800" dirty="0" err="1">
                <a:solidFill>
                  <a:schemeClr val="dk1"/>
                </a:solidFill>
              </a:rPr>
              <a:t>графана</a:t>
            </a:r>
            <a:endParaRPr sz="1800" i="0" u="none" strike="noStrike" cap="none" dirty="0">
              <a:solidFill>
                <a:schemeClr val="dk1"/>
              </a:solidFill>
            </a:endParaRPr>
          </a:p>
        </p:txBody>
      </p:sp>
      <p:sp>
        <p:nvSpPr>
          <p:cNvPr id="522" name="Google Shape;522;p73"/>
          <p:cNvSpPr txBox="1"/>
          <p:nvPr/>
        </p:nvSpPr>
        <p:spPr>
          <a:xfrm>
            <a:off x="2640258" y="2199006"/>
            <a:ext cx="203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https://okmeter.io/</a:t>
            </a:r>
            <a:endParaRPr sz="1800" i="0" u="none" strike="noStrike" cap="none">
              <a:solidFill>
                <a:schemeClr val="dk2"/>
              </a:solidFill>
            </a:endParaRPr>
          </a:p>
        </p:txBody>
      </p:sp>
      <p:sp>
        <p:nvSpPr>
          <p:cNvPr id="523" name="Google Shape;523;p73"/>
          <p:cNvSpPr txBox="1"/>
          <p:nvPr/>
        </p:nvSpPr>
        <p:spPr>
          <a:xfrm>
            <a:off x="2629934" y="2734559"/>
            <a:ext cx="8245211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 u="sng" dirty="0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https://www.zabbix.com/ru</a:t>
            </a:r>
            <a:r>
              <a:rPr lang="ru-RU" sz="1800" dirty="0">
                <a:solidFill>
                  <a:schemeClr val="dk2"/>
                </a:solidFill>
              </a:rPr>
              <a:t> </a:t>
            </a:r>
            <a:r>
              <a:rPr lang="ru-RU" sz="1800" dirty="0">
                <a:solidFill>
                  <a:schemeClr val="dk1"/>
                </a:solidFill>
              </a:rPr>
              <a:t>—</a:t>
            </a:r>
            <a:r>
              <a:rPr lang="ru-RU" sz="1050" dirty="0">
                <a:solidFill>
                  <a:schemeClr val="dk1"/>
                </a:solidFill>
              </a:rPr>
              <a:t>  </a:t>
            </a:r>
            <a:r>
              <a:rPr lang="ru-RU" sz="1800" dirty="0">
                <a:solidFill>
                  <a:schemeClr val="dk1"/>
                </a:solidFill>
              </a:rPr>
              <a:t>обычно мониторим железо, но можно и</a:t>
            </a:r>
            <a:r>
              <a:rPr lang="en-US" sz="1800" dirty="0">
                <a:solidFill>
                  <a:schemeClr val="dk1"/>
                </a:solidFill>
              </a:rPr>
              <a:t> Postgres</a:t>
            </a:r>
            <a:endParaRPr sz="1800" i="0" u="none" strike="noStrike" cap="none" dirty="0">
              <a:solidFill>
                <a:schemeClr val="dk2"/>
              </a:solidFill>
            </a:endParaRPr>
          </a:p>
        </p:txBody>
      </p:sp>
      <p:sp>
        <p:nvSpPr>
          <p:cNvPr id="524" name="Google Shape;524;p73"/>
          <p:cNvSpPr txBox="1"/>
          <p:nvPr/>
        </p:nvSpPr>
        <p:spPr>
          <a:xfrm>
            <a:off x="2629933" y="3418206"/>
            <a:ext cx="8245211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 u="sng" dirty="0" err="1">
                <a:solidFill>
                  <a:schemeClr val="hlink"/>
                </a:solidFill>
                <a:hlinkClick r:id="rId5"/>
              </a:rPr>
              <a:t>Percona</a:t>
            </a:r>
            <a:r>
              <a:rPr lang="ru-RU" sz="1800" u="sng" dirty="0">
                <a:solidFill>
                  <a:schemeClr val="hlink"/>
                </a:solidFill>
                <a:hlinkClick r:id="rId5"/>
              </a:rPr>
              <a:t> </a:t>
            </a:r>
            <a:r>
              <a:rPr lang="ru-RU" sz="1800" u="sng" dirty="0" err="1">
                <a:solidFill>
                  <a:schemeClr val="hlink"/>
                </a:solidFill>
                <a:hlinkClick r:id="rId5"/>
              </a:rPr>
              <a:t>monitoring</a:t>
            </a:r>
            <a:r>
              <a:rPr lang="ru-RU" sz="1800" u="sng" dirty="0">
                <a:solidFill>
                  <a:schemeClr val="hlink"/>
                </a:solidFill>
                <a:hlinkClick r:id="rId5"/>
              </a:rPr>
              <a:t> </a:t>
            </a:r>
            <a:r>
              <a:rPr lang="ru-RU" sz="1800" u="sng" dirty="0" err="1">
                <a:solidFill>
                  <a:schemeClr val="hlink"/>
                </a:solidFill>
                <a:hlinkClick r:id="rId5"/>
              </a:rPr>
              <a:t>and</a:t>
            </a:r>
            <a:r>
              <a:rPr lang="ru-RU" sz="1800" u="sng" dirty="0">
                <a:solidFill>
                  <a:schemeClr val="hlink"/>
                </a:solidFill>
                <a:hlinkClick r:id="rId5"/>
              </a:rPr>
              <a:t> </a:t>
            </a:r>
            <a:r>
              <a:rPr lang="ru-RU" sz="1800" u="sng" dirty="0" err="1">
                <a:solidFill>
                  <a:schemeClr val="hlink"/>
                </a:solidFill>
                <a:hlinkClick r:id="rId5"/>
              </a:rPr>
              <a:t>management</a:t>
            </a:r>
            <a:r>
              <a:rPr lang="ru-RU" sz="1800" u="sng" dirty="0">
                <a:solidFill>
                  <a:schemeClr val="hlink"/>
                </a:solidFill>
                <a:hlinkClick r:id="rId5"/>
              </a:rPr>
              <a:t> (PMM)</a:t>
            </a:r>
            <a:r>
              <a:rPr lang="ru-RU" sz="1800" u="sng" dirty="0">
                <a:solidFill>
                  <a:schemeClr val="hlink"/>
                </a:solidFill>
              </a:rPr>
              <a:t>. </a:t>
            </a:r>
            <a:r>
              <a:rPr lang="en-US" sz="1800" u="sng" dirty="0">
                <a:solidFill>
                  <a:schemeClr val="hlink"/>
                </a:solidFill>
              </a:rPr>
              <a:t>!!!!! </a:t>
            </a:r>
            <a:r>
              <a:rPr lang="ru-RU" sz="1800" u="sng" dirty="0">
                <a:solidFill>
                  <a:schemeClr val="hlink"/>
                </a:solidFill>
              </a:rPr>
              <a:t>Заточена под </a:t>
            </a:r>
            <a:r>
              <a:rPr lang="en-US" sz="1800" u="sng" dirty="0">
                <a:solidFill>
                  <a:schemeClr val="hlink"/>
                </a:solidFill>
              </a:rPr>
              <a:t>Postgres</a:t>
            </a:r>
            <a:endParaRPr sz="1800" i="0" u="none" strike="noStrike" cap="none" dirty="0">
              <a:solidFill>
                <a:schemeClr val="dk2"/>
              </a:solidFill>
            </a:endParaRPr>
          </a:p>
        </p:txBody>
      </p:sp>
      <p:pic>
        <p:nvPicPr>
          <p:cNvPr id="525" name="Google Shape;525;p7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51150" y="4714042"/>
            <a:ext cx="5504252" cy="1928557"/>
          </a:xfrm>
          <a:prstGeom prst="roundRect">
            <a:avLst>
              <a:gd name="adj" fmla="val 9236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74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ru-RU"/>
              <a:t>МОНИТОРИНГ</a:t>
            </a:r>
            <a:endParaRPr/>
          </a:p>
        </p:txBody>
      </p:sp>
      <p:sp>
        <p:nvSpPr>
          <p:cNvPr id="531" name="Google Shape;531;p74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  <p:sp>
        <p:nvSpPr>
          <p:cNvPr id="532" name="Google Shape;532;p74"/>
          <p:cNvSpPr txBox="1"/>
          <p:nvPr/>
        </p:nvSpPr>
        <p:spPr>
          <a:xfrm>
            <a:off x="1725862" y="1890813"/>
            <a:ext cx="7771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703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Что еще:</a:t>
            </a:r>
            <a:endParaRPr sz="1800" i="0" u="none" strike="noStrike" cap="none">
              <a:solidFill>
                <a:schemeClr val="dk1"/>
              </a:solidFill>
            </a:endParaRPr>
          </a:p>
        </p:txBody>
      </p:sp>
      <p:sp>
        <p:nvSpPr>
          <p:cNvPr id="533" name="Google Shape;533;p74"/>
          <p:cNvSpPr/>
          <p:nvPr/>
        </p:nvSpPr>
        <p:spPr>
          <a:xfrm>
            <a:off x="1725862" y="2442375"/>
            <a:ext cx="446100" cy="431100"/>
          </a:xfrm>
          <a:prstGeom prst="ellipse">
            <a:avLst/>
          </a:prstGeom>
          <a:solidFill>
            <a:srgbClr val="CEE6FF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1B4EFC"/>
                </a:solidFill>
                <a:latin typeface="Arial Black"/>
                <a:ea typeface="Arial Black"/>
                <a:cs typeface="Arial Black"/>
                <a:sym typeface="Arial Black"/>
              </a:rPr>
              <a:t>5</a:t>
            </a:r>
            <a:endParaRPr sz="2000" i="0" u="none" strike="noStrike" cap="non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4" name="Google Shape;534;p74"/>
          <p:cNvSpPr/>
          <p:nvPr/>
        </p:nvSpPr>
        <p:spPr>
          <a:xfrm>
            <a:off x="1725862" y="3785025"/>
            <a:ext cx="446100" cy="431100"/>
          </a:xfrm>
          <a:prstGeom prst="ellipse">
            <a:avLst/>
          </a:prstGeom>
          <a:solidFill>
            <a:srgbClr val="E5E0F6"/>
          </a:solidFill>
          <a:ln>
            <a:noFill/>
          </a:ln>
        </p:spPr>
        <p:txBody>
          <a:bodyPr spcFirstLastPara="1" wrap="square" lIns="71425" tIns="71425" rIns="71425" bIns="7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B4EFC"/>
              </a:buClr>
              <a:buSzPts val="3200"/>
              <a:buFont typeface="Arial"/>
              <a:buNone/>
            </a:pPr>
            <a:r>
              <a:rPr lang="ru-RU" sz="2000">
                <a:solidFill>
                  <a:srgbClr val="836ED3"/>
                </a:solidFill>
                <a:latin typeface="Arial Black"/>
                <a:ea typeface="Arial Black"/>
                <a:cs typeface="Arial Black"/>
                <a:sym typeface="Arial Black"/>
              </a:rPr>
              <a:t>6</a:t>
            </a:r>
            <a:endParaRPr sz="2000" i="0" u="none" strike="noStrike" cap="none">
              <a:solidFill>
                <a:srgbClr val="836ED3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535" name="Google Shape;535;p74"/>
          <p:cNvSpPr txBox="1"/>
          <p:nvPr/>
        </p:nvSpPr>
        <p:spPr>
          <a:xfrm>
            <a:off x="2601300" y="2488569"/>
            <a:ext cx="41385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3F3F3F"/>
                </a:solidFill>
              </a:rPr>
              <a:t>pgHero: </a:t>
            </a:r>
            <a:r>
              <a:rPr lang="ru-RU" sz="1800" u="sng">
                <a:solidFill>
                  <a:schemeClr val="dk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https://habr.com/ru/company/domclick/blog/546910/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36" name="Google Shape;536;p74"/>
          <p:cNvSpPr txBox="1"/>
          <p:nvPr/>
        </p:nvSpPr>
        <p:spPr>
          <a:xfrm>
            <a:off x="2601300" y="3785025"/>
            <a:ext cx="4138500" cy="10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3F3F3F"/>
                </a:solidFill>
              </a:rPr>
              <a:t>pgWatch2:</a:t>
            </a:r>
            <a:br>
              <a:rPr lang="ru-RU" sz="1800">
                <a:solidFill>
                  <a:srgbClr val="3F3F3F"/>
                </a:solidFill>
              </a:rPr>
            </a:br>
            <a:r>
              <a:rPr lang="ru-RU" sz="1800" u="sng">
                <a:solidFill>
                  <a:schemeClr val="dk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https://github.com/cybertec-postgresql/pgwatch2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75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ИТОГИ ЗАНЯТИЯ</a:t>
            </a:r>
            <a:endParaRPr/>
          </a:p>
        </p:txBody>
      </p:sp>
      <p:sp>
        <p:nvSpPr>
          <p:cNvPr id="542" name="Google Shape;542;p75"/>
          <p:cNvSpPr txBox="1">
            <a:spLocks noGrp="1"/>
          </p:cNvSpPr>
          <p:nvPr>
            <p:ph type="sldNum" idx="12"/>
          </p:nvPr>
        </p:nvSpPr>
        <p:spPr>
          <a:xfrm>
            <a:off x="250594" y="6446580"/>
            <a:ext cx="1884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  <p:sp>
        <p:nvSpPr>
          <p:cNvPr id="543" name="Google Shape;543;p75"/>
          <p:cNvSpPr/>
          <p:nvPr/>
        </p:nvSpPr>
        <p:spPr>
          <a:xfrm>
            <a:off x="1703400" y="2393225"/>
            <a:ext cx="3315300" cy="2095500"/>
          </a:xfrm>
          <a:prstGeom prst="roundRect">
            <a:avLst>
              <a:gd name="adj" fmla="val 5760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Поняли предназначение, виды и устройство систем мониторинга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75"/>
          <p:cNvSpPr/>
          <p:nvPr/>
        </p:nvSpPr>
        <p:spPr>
          <a:xfrm>
            <a:off x="5386550" y="2393225"/>
            <a:ext cx="3153000" cy="2095500"/>
          </a:xfrm>
          <a:prstGeom prst="roundRect">
            <a:avLst>
              <a:gd name="adj" fmla="val 5215"/>
            </a:avLst>
          </a:prstGeom>
          <a:solidFill>
            <a:schemeClr val="accent5">
              <a:alpha val="20000"/>
            </a:schemeClr>
          </a:solidFill>
          <a:ln>
            <a:noFill/>
          </a:ln>
        </p:spPr>
        <p:txBody>
          <a:bodyPr spcFirstLastPara="1" wrap="square" lIns="180000" tIns="108000" rIns="108000" bIns="144000" anchor="t" anchorCtr="0">
            <a:noAutofit/>
          </a:bodyPr>
          <a:lstStyle/>
          <a:p>
            <a:pPr marL="11112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Arial"/>
              <a:buNone/>
            </a:pPr>
            <a:r>
              <a:rPr lang="ru-RU" sz="2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Узнали как использовать утилиты мониторинга Постгреса</a:t>
            </a:r>
            <a:endParaRPr sz="15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545" name="Google Shape;545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89666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p7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10466" y="2558716"/>
            <a:ext cx="383005" cy="383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1" name="Google Shape;551;p76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p76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3" name="Google Shape;553;p76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76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55" name="Google Shape;555;p76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556" name="Google Shape;556;p76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557" name="Google Shape;557;p76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8" name="Google Shape;558;p76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9" name="Google Shape;559;p76"/>
          <p:cNvSpPr txBox="1"/>
          <p:nvPr/>
        </p:nvSpPr>
        <p:spPr>
          <a:xfrm>
            <a:off x="1715258" y="2280384"/>
            <a:ext cx="8119200" cy="164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ПРОВЕРОЧНОЕ</a:t>
            </a:r>
            <a:endParaRPr sz="700"/>
          </a:p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 b="0" i="0" u="none" strike="noStrike" cap="non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ЗАДАНИЕ</a:t>
            </a:r>
            <a:endParaRPr sz="700"/>
          </a:p>
        </p:txBody>
      </p:sp>
      <p:sp>
        <p:nvSpPr>
          <p:cNvPr id="560" name="Google Shape;560;p76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1" name="Google Shape;561;p76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begin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62" name="Google Shape;562;p76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63" name="Google Shape;563;p76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564" name="Google Shape;564;p76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76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66" name="Google Shape;566;p76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7" name="Google Shape;567;p76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68" name="Google Shape;568;p76"/>
          <p:cNvSpPr txBox="1"/>
          <p:nvPr/>
        </p:nvSpPr>
        <p:spPr>
          <a:xfrm>
            <a:off x="1715259" y="3938927"/>
            <a:ext cx="5329200" cy="6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ru-RU" sz="1800" b="1">
                <a:solidFill>
                  <a:schemeClr val="lt1"/>
                </a:solidFill>
              </a:rPr>
              <a:t>Цель задания: </a:t>
            </a:r>
            <a:r>
              <a:rPr lang="ru-RU" sz="1800">
                <a:solidFill>
                  <a:schemeClr val="lt1"/>
                </a:solidFill>
              </a:rPr>
              <a:t>использовать консольные утилиты мониторинга</a:t>
            </a:r>
            <a:endParaRPr sz="1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7"/>
          <p:cNvSpPr txBox="1">
            <a:spLocks noGrp="1"/>
          </p:cNvSpPr>
          <p:nvPr>
            <p:ph type="title"/>
          </p:nvPr>
        </p:nvSpPr>
        <p:spPr>
          <a:xfrm>
            <a:off x="1725849" y="502442"/>
            <a:ext cx="76449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 Black"/>
              <a:buNone/>
            </a:pPr>
            <a:r>
              <a:rPr lang="ru-RU"/>
              <a:t>ЗАДАНИЕ НА САМОПРОВЕРКУ</a:t>
            </a:r>
            <a:endParaRPr/>
          </a:p>
        </p:txBody>
      </p:sp>
      <p:sp>
        <p:nvSpPr>
          <p:cNvPr id="574" name="Google Shape;574;p77"/>
          <p:cNvSpPr txBox="1"/>
          <p:nvPr/>
        </p:nvSpPr>
        <p:spPr>
          <a:xfrm>
            <a:off x="1695375" y="2357291"/>
            <a:ext cx="2451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Запустить утилиту top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77"/>
          <p:cNvSpPr txBox="1"/>
          <p:nvPr/>
        </p:nvSpPr>
        <p:spPr>
          <a:xfrm>
            <a:off x="4764100" y="2357291"/>
            <a:ext cx="26478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Посмотреть, сколько потребляет Постгрес ресурсов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77"/>
          <p:cNvSpPr txBox="1"/>
          <p:nvPr/>
        </p:nvSpPr>
        <p:spPr>
          <a:xfrm>
            <a:off x="8260569" y="2357291"/>
            <a:ext cx="23091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Запустить утилиту pgtop в другом окне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77"/>
          <p:cNvSpPr txBox="1"/>
          <p:nvPr/>
        </p:nvSpPr>
        <p:spPr>
          <a:xfrm>
            <a:off x="1695375" y="4200675"/>
            <a:ext cx="28329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Выполнить в psql сложный запрос (пример рассмотрели на уроке, смотреть исходные коды к уроку)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78" name="Google Shape;578;p77"/>
          <p:cNvSpPr txBox="1"/>
          <p:nvPr/>
        </p:nvSpPr>
        <p:spPr>
          <a:xfrm>
            <a:off x="4764100" y="4200681"/>
            <a:ext cx="2647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Посмотреть содержимое запроса в pgtop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p77"/>
          <p:cNvSpPr txBox="1"/>
          <p:nvPr/>
        </p:nvSpPr>
        <p:spPr>
          <a:xfrm>
            <a:off x="1695376" y="1829222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77"/>
          <p:cNvSpPr txBox="1"/>
          <p:nvPr/>
        </p:nvSpPr>
        <p:spPr>
          <a:xfrm>
            <a:off x="4775976" y="1827615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77"/>
          <p:cNvSpPr txBox="1"/>
          <p:nvPr/>
        </p:nvSpPr>
        <p:spPr>
          <a:xfrm>
            <a:off x="8260569" y="1826006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77"/>
          <p:cNvSpPr txBox="1"/>
          <p:nvPr/>
        </p:nvSpPr>
        <p:spPr>
          <a:xfrm>
            <a:off x="1695376" y="3641678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77"/>
          <p:cNvSpPr txBox="1"/>
          <p:nvPr/>
        </p:nvSpPr>
        <p:spPr>
          <a:xfrm>
            <a:off x="4775976" y="3640070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84" name="Google Shape;584;p77"/>
          <p:cNvCxnSpPr/>
          <p:nvPr/>
        </p:nvCxnSpPr>
        <p:spPr>
          <a:xfrm rot="10800000">
            <a:off x="2307762" y="2089239"/>
            <a:ext cx="22206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5" name="Google Shape;585;p77"/>
          <p:cNvCxnSpPr/>
          <p:nvPr/>
        </p:nvCxnSpPr>
        <p:spPr>
          <a:xfrm rot="10800000">
            <a:off x="5478283" y="2089239"/>
            <a:ext cx="25533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6" name="Google Shape;586;p77"/>
          <p:cNvCxnSpPr/>
          <p:nvPr/>
        </p:nvCxnSpPr>
        <p:spPr>
          <a:xfrm rot="10800000">
            <a:off x="2307762" y="3889820"/>
            <a:ext cx="22206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87" name="Google Shape;587;p77"/>
          <p:cNvCxnSpPr/>
          <p:nvPr/>
        </p:nvCxnSpPr>
        <p:spPr>
          <a:xfrm rot="10800000">
            <a:off x="8872901" y="2089239"/>
            <a:ext cx="16077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8" name="Google Shape;588;p77"/>
          <p:cNvSpPr txBox="1"/>
          <p:nvPr/>
        </p:nvSpPr>
        <p:spPr>
          <a:xfrm>
            <a:off x="8260569" y="4200681"/>
            <a:ext cx="23091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dk1"/>
                </a:solidFill>
              </a:rPr>
              <a:t>Посмотреть как потребляются ресурсы ОС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89" name="Google Shape;589;p77"/>
          <p:cNvSpPr txBox="1"/>
          <p:nvPr/>
        </p:nvSpPr>
        <p:spPr>
          <a:xfrm>
            <a:off x="8260569" y="3640070"/>
            <a:ext cx="6123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200"/>
              <a:buFont typeface="Arial"/>
              <a:buNone/>
            </a:pPr>
            <a:r>
              <a:rPr lang="ru-RU" sz="3200" b="0" i="0" u="none" strike="noStrike" cap="none">
                <a:solidFill>
                  <a:schemeClr val="accent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3200">
                <a:solidFill>
                  <a:schemeClr val="accent4"/>
                </a:solidFill>
              </a:rPr>
              <a:t>6</a:t>
            </a:r>
            <a:endParaRPr sz="3200" b="0" i="0" u="none" strike="noStrike" cap="none">
              <a:solidFill>
                <a:schemeClr val="accent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0" name="Google Shape;590;p77"/>
          <p:cNvCxnSpPr/>
          <p:nvPr/>
        </p:nvCxnSpPr>
        <p:spPr>
          <a:xfrm rot="10800000">
            <a:off x="5478283" y="3889820"/>
            <a:ext cx="2553300" cy="0"/>
          </a:xfrm>
          <a:prstGeom prst="straightConnector1">
            <a:avLst/>
          </a:prstGeom>
          <a:noFill/>
          <a:ln w="25400" cap="rnd" cmpd="sng">
            <a:solidFill>
              <a:srgbClr val="D8D8D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5" name="Google Shape;595;p78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9625" y="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6" name="Google Shape;596;p78" descr="Shape, circle, rectang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99951" y="5251450"/>
            <a:ext cx="800100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78" descr="Shape, circ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02549" y="3640932"/>
            <a:ext cx="800100" cy="800100"/>
          </a:xfrm>
          <a:prstGeom prst="rect">
            <a:avLst/>
          </a:prstGeom>
          <a:noFill/>
          <a:ln>
            <a:noFill/>
          </a:ln>
        </p:spPr>
      </p:pic>
      <p:sp>
        <p:nvSpPr>
          <p:cNvPr id="598" name="Google Shape;598;p78"/>
          <p:cNvSpPr/>
          <p:nvPr/>
        </p:nvSpPr>
        <p:spPr>
          <a:xfrm>
            <a:off x="0" y="0"/>
            <a:ext cx="12191400" cy="6858000"/>
          </a:xfrm>
          <a:prstGeom prst="rect">
            <a:avLst/>
          </a:prstGeom>
          <a:solidFill>
            <a:srgbClr val="170095"/>
          </a:solid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599" name="Google Shape;599;p78"/>
          <p:cNvGrpSpPr/>
          <p:nvPr/>
        </p:nvGrpSpPr>
        <p:grpSpPr>
          <a:xfrm>
            <a:off x="10565800" y="0"/>
            <a:ext cx="1636800" cy="6858000"/>
            <a:chOff x="21132640" y="0"/>
            <a:chExt cx="3273600" cy="13716000"/>
          </a:xfrm>
        </p:grpSpPr>
        <p:sp>
          <p:nvSpPr>
            <p:cNvPr id="600" name="Google Shape;600;p78"/>
            <p:cNvSpPr/>
            <p:nvPr/>
          </p:nvSpPr>
          <p:spPr>
            <a:xfrm>
              <a:off x="21132640" y="0"/>
              <a:ext cx="3273600" cy="13716000"/>
            </a:xfrm>
            <a:prstGeom prst="rect">
              <a:avLst/>
            </a:prstGeom>
            <a:solidFill>
              <a:srgbClr val="1400C1"/>
            </a:solidFill>
            <a:ln>
              <a:noFill/>
            </a:ln>
          </p:spPr>
          <p:txBody>
            <a:bodyPr spcFirstLastPara="1" wrap="square" lIns="35725" tIns="35725" rIns="35725" bIns="35725" anchor="ctr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Helvetica Neue"/>
                <a:buNone/>
              </a:pPr>
              <a:endParaRPr sz="800" b="0" i="0" u="none" strike="noStrike" cap="non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pic>
          <p:nvPicPr>
            <p:cNvPr id="601" name="Google Shape;601;p78" descr="Logo&#10;&#10;Description automatically generated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1916292" y="987426"/>
              <a:ext cx="1769700" cy="120423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2" name="Google Shape;602;p78"/>
          <p:cNvSpPr/>
          <p:nvPr/>
        </p:nvSpPr>
        <p:spPr>
          <a:xfrm>
            <a:off x="8945629" y="3632200"/>
            <a:ext cx="3240300" cy="3240300"/>
          </a:xfrm>
          <a:prstGeom prst="rect">
            <a:avLst/>
          </a:prstGeom>
          <a:blipFill rotWithShape="1">
            <a:blip r:embed="rId6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3" name="Google Shape;603;p78"/>
          <p:cNvSpPr txBox="1"/>
          <p:nvPr/>
        </p:nvSpPr>
        <p:spPr>
          <a:xfrm>
            <a:off x="1634961" y="3121413"/>
            <a:ext cx="7346400" cy="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t" anchorCtr="0">
            <a:spAutoFit/>
          </a:bodyPr>
          <a:lstStyle/>
          <a:p>
            <a: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Arial Black"/>
              <a:buNone/>
            </a:pPr>
            <a:r>
              <a:rPr lang="ru-RU" sz="6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СПАСИБО</a:t>
            </a:r>
            <a:endParaRPr sz="700"/>
          </a:p>
        </p:txBody>
      </p:sp>
      <p:sp>
        <p:nvSpPr>
          <p:cNvPr id="604" name="Google Shape;604;p78"/>
          <p:cNvSpPr/>
          <p:nvPr/>
        </p:nvSpPr>
        <p:spPr>
          <a:xfrm>
            <a:off x="8954911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7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5" name="Google Shape;605;p78"/>
          <p:cNvSpPr txBox="1"/>
          <p:nvPr/>
        </p:nvSpPr>
        <p:spPr>
          <a:xfrm>
            <a:off x="8985748" y="6301922"/>
            <a:ext cx="756000" cy="3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roxima Nova"/>
              <a:buNone/>
            </a:pPr>
            <a:r>
              <a:rPr lang="ru-RU" sz="15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End</a:t>
            </a:r>
            <a:endParaRPr sz="15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606" name="Google Shape;606;p78"/>
          <p:cNvSpPr/>
          <p:nvPr/>
        </p:nvSpPr>
        <p:spPr>
          <a:xfrm>
            <a:off x="10572632" y="4444819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8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607" name="Google Shape;607;p78"/>
          <p:cNvGrpSpPr/>
          <p:nvPr/>
        </p:nvGrpSpPr>
        <p:grpSpPr>
          <a:xfrm>
            <a:off x="10715067" y="4596847"/>
            <a:ext cx="515245" cy="456900"/>
            <a:chOff x="21456284" y="9198597"/>
            <a:chExt cx="1030489" cy="913800"/>
          </a:xfrm>
        </p:grpSpPr>
        <p:sp>
          <p:nvSpPr>
            <p:cNvPr id="608" name="Google Shape;608;p78"/>
            <p:cNvSpPr txBox="1"/>
            <p:nvPr/>
          </p:nvSpPr>
          <p:spPr>
            <a:xfrm>
              <a:off x="21456284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{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78"/>
            <p:cNvSpPr txBox="1"/>
            <p:nvPr/>
          </p:nvSpPr>
          <p:spPr>
            <a:xfrm>
              <a:off x="22127673" y="9198597"/>
              <a:ext cx="359100" cy="91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5725" tIns="35725" rIns="35725" bIns="35725" anchor="ctr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00"/>
                <a:buFont typeface="Arial"/>
                <a:buNone/>
              </a:pPr>
              <a:r>
                <a:rPr lang="ru-RU" sz="25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}</a:t>
              </a:r>
              <a:endParaRPr sz="25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0" name="Google Shape;610;p78"/>
          <p:cNvSpPr/>
          <p:nvPr/>
        </p:nvSpPr>
        <p:spPr>
          <a:xfrm>
            <a:off x="11405843" y="6057175"/>
            <a:ext cx="800100" cy="800100"/>
          </a:xfrm>
          <a:prstGeom prst="roundRect">
            <a:avLst>
              <a:gd name="adj" fmla="val 3204"/>
            </a:avLst>
          </a:prstGeom>
          <a:blipFill rotWithShape="1">
            <a:blip r:embed="rId9">
              <a:alphaModFix amt="63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1" name="Google Shape;611;p78"/>
          <p:cNvSpPr/>
          <p:nvPr/>
        </p:nvSpPr>
        <p:spPr>
          <a:xfrm>
            <a:off x="2944" y="0"/>
            <a:ext cx="1619100" cy="1619100"/>
          </a:xfrm>
          <a:prstGeom prst="rect">
            <a:avLst/>
          </a:prstGeom>
          <a:blipFill rotWithShape="1">
            <a:blip r:embed="rId10">
              <a:alphaModFix amt="45000"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35725" tIns="35725" rIns="35725" bIns="3572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Helvetica Neue"/>
              <a:buNone/>
            </a:pPr>
            <a:endParaRPr sz="800" b="0" i="0" u="none" strike="noStrike" cap="non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12" name="Google Shape;612;p78"/>
          <p:cNvSpPr txBox="1"/>
          <p:nvPr/>
        </p:nvSpPr>
        <p:spPr>
          <a:xfrm>
            <a:off x="1622061" y="4145782"/>
            <a:ext cx="73722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5725" tIns="35725" rIns="35725" bIns="35725" anchor="ctr" anchorCtr="0">
            <a:spAutoFit/>
          </a:bodyPr>
          <a:lstStyle/>
          <a:p>
            <a:pPr marL="0" lvl="0" indent="0" algn="l" rtl="0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FFFFFF"/>
                </a:solidFill>
              </a:rPr>
              <a:t>На следующем занятии мы рассмотрим тему:</a:t>
            </a:r>
            <a:endParaRPr sz="1800">
              <a:solidFill>
                <a:srgbClr val="FFFFFF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ru-RU" sz="1800">
                <a:solidFill>
                  <a:srgbClr val="FFFFFF"/>
                </a:solidFill>
              </a:rPr>
              <a:t>Профилирование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emplate_StepUP">
  <a:themeElements>
    <a:clrScheme name="Colors_StepUp">
      <a:dk1>
        <a:srgbClr val="000000"/>
      </a:dk1>
      <a:lt1>
        <a:srgbClr val="FFFFFF"/>
      </a:lt1>
      <a:dk2>
        <a:srgbClr val="1B4EFC"/>
      </a:dk2>
      <a:lt2>
        <a:srgbClr val="F2F2F2"/>
      </a:lt2>
      <a:accent1>
        <a:srgbClr val="1B4EFC"/>
      </a:accent1>
      <a:accent2>
        <a:srgbClr val="02C2FD"/>
      </a:accent2>
      <a:accent3>
        <a:srgbClr val="148BFC"/>
      </a:accent3>
      <a:accent4>
        <a:srgbClr val="1436C8"/>
      </a:accent4>
      <a:accent5>
        <a:srgbClr val="00C391"/>
      </a:accent5>
      <a:accent6>
        <a:srgbClr val="836ED3"/>
      </a:accent6>
      <a:hlink>
        <a:srgbClr val="1B4EFC"/>
      </a:hlink>
      <a:folHlink>
        <a:srgbClr val="9703F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5D5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404</Words>
  <Application>Microsoft Office PowerPoint</Application>
  <PresentationFormat>Широкоэкранный</PresentationFormat>
  <Paragraphs>94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6</vt:i4>
      </vt:variant>
      <vt:variant>
        <vt:lpstr>Заголовки слайдов</vt:lpstr>
      </vt:variant>
      <vt:variant>
        <vt:i4>13</vt:i4>
      </vt:variant>
    </vt:vector>
  </HeadingPairs>
  <TitlesOfParts>
    <vt:vector size="27" baseType="lpstr">
      <vt:lpstr>Proxima Nova</vt:lpstr>
      <vt:lpstr>Arial</vt:lpstr>
      <vt:lpstr>Helvetica Neue Light</vt:lpstr>
      <vt:lpstr>Calibri</vt:lpstr>
      <vt:lpstr>Arial Black</vt:lpstr>
      <vt:lpstr>Helvetica Neue</vt:lpstr>
      <vt:lpstr>Consolas</vt:lpstr>
      <vt:lpstr>Courier New</vt:lpstr>
      <vt:lpstr>Тема Office</vt:lpstr>
      <vt:lpstr>Template_StepUP</vt:lpstr>
      <vt:lpstr>Template_StepUP</vt:lpstr>
      <vt:lpstr>Template_StepUP</vt:lpstr>
      <vt:lpstr>Template_StepUP</vt:lpstr>
      <vt:lpstr>White</vt:lpstr>
      <vt:lpstr>МОНИТОРИНГ</vt:lpstr>
      <vt:lpstr>ЦЕЛЬ УРОКА</vt:lpstr>
      <vt:lpstr>СОДЕРЖАНИЕ УРОКА</vt:lpstr>
      <vt:lpstr>ПРЕЖДЕ, ЧЕМ ЗАНИМАТЬСЯ ОПТИМИЗАЦИЕЙ</vt:lpstr>
      <vt:lpstr>ПРЕЖДЕ, ЧЕМ ЗАНИМАТЬСЯ ОПТИМИЗАЦИЕЙ</vt:lpstr>
      <vt:lpstr>ПРЕЖДЕ, ЧЕМ ЗАНИМАТЬСЯ ОПТИМИЗАЦИЕЙ</vt:lpstr>
      <vt:lpstr>ПРЕДСТАВЛЕНИЯ POSTGRESQL ДЛЯ МОНИТОРИНГА</vt:lpstr>
      <vt:lpstr>МОНИТОРИНГ. Best Practice</vt:lpstr>
      <vt:lpstr>МОНИТОРИНГ</vt:lpstr>
      <vt:lpstr>ИТОГИ ЗАНЯТИЯ</vt:lpstr>
      <vt:lpstr>Презентация PowerPoint</vt:lpstr>
      <vt:lpstr>ЗАДАНИЕ НА САМОПРОВЕРКУ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МОНИТОРИНГ</dc:title>
  <cp:lastModifiedBy>Бондарь Илья Викторович</cp:lastModifiedBy>
  <cp:revision>2</cp:revision>
  <dcterms:modified xsi:type="dcterms:W3CDTF">2025-12-29T14:34:02Z</dcterms:modified>
</cp:coreProperties>
</file>