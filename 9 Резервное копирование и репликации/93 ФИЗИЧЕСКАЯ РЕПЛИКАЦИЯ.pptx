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  <p:embeddedFont>
      <p:font typeface="Open Sans" panose="020B0604020202020204" charset="0"/>
      <p:regular r:id="rId26"/>
      <p:bold r:id="rId27"/>
      <p:italic r:id="rId28"/>
      <p:bold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0795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e772340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e7723409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e7723409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40144be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40144be7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1440144be7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40144be7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440144be73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1440144be73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fdf0324c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fdf0324c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fdf0324c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fdf0324c0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fdf0324c0c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gfdf0324c0c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fdf0324c0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fdf0324c0c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gfdf0324c0c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267ADE56-D7D3-4BE1-A2C2-F5D5D3EC6BC8}"/>
              </a:ext>
            </a:extLst>
          </p:cNvPr>
          <p:cNvSpPr txBox="1">
            <a:spLocks/>
          </p:cNvSpPr>
          <p:nvPr/>
        </p:nvSpPr>
        <p:spPr>
          <a:xfrm>
            <a:off x="1631720" y="2046528"/>
            <a:ext cx="630882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10. ОБЗОР РЕЗЕРВНОГО КОПИРОВАНИЯ И РЕПЛИКАЦИИ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60AA37F5-CBC2-459F-AB98-FB8D74C59168}"/>
              </a:ext>
            </a:extLst>
          </p:cNvPr>
          <p:cNvSpPr txBox="1">
            <a:spLocks/>
          </p:cNvSpPr>
          <p:nvPr/>
        </p:nvSpPr>
        <p:spPr>
          <a:xfrm>
            <a:off x="1619250" y="3038656"/>
            <a:ext cx="835824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ru-RU" dirty="0"/>
              <a:t>ФИЗИЧЕСКАЯ РЕПЛИКАЦИЯ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8525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1BD81BE3-2432-4CFF-A90E-A6CCEF735032}"/>
              </a:ext>
            </a:extLst>
          </p:cNvPr>
          <p:cNvSpPr/>
          <p:nvPr/>
        </p:nvSpPr>
        <p:spPr>
          <a:xfrm>
            <a:off x="1763395" y="1365673"/>
            <a:ext cx="3859854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физическая репликация, для чего она нужна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D8A712F5-7AD1-4B15-B18D-BED9B0EF6F60}"/>
              </a:ext>
            </a:extLst>
          </p:cNvPr>
          <p:cNvSpPr/>
          <p:nvPr/>
        </p:nvSpPr>
        <p:spPr>
          <a:xfrm>
            <a:off x="5885141" y="1365684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варианты физической репликации</a:t>
            </a:r>
          </a:p>
        </p:txBody>
      </p:sp>
      <p:sp>
        <p:nvSpPr>
          <p:cNvPr id="22" name="Google Shape;285;p2">
            <a:extLst>
              <a:ext uri="{FF2B5EF4-FFF2-40B4-BE49-F238E27FC236}">
                <a16:creationId xmlns:a16="http://schemas.microsoft.com/office/drawing/2014/main" id="{252676AB-825E-42D3-BB39-06FECBCB5920}"/>
              </a:ext>
            </a:extLst>
          </p:cNvPr>
          <p:cNvSpPr/>
          <p:nvPr/>
        </p:nvSpPr>
        <p:spPr>
          <a:xfrm>
            <a:off x="1763391" y="3430934"/>
            <a:ext cx="8280049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создавать свою физическую реплику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88;p2">
            <a:extLst>
              <a:ext uri="{FF2B5EF4-FFF2-40B4-BE49-F238E27FC236}">
                <a16:creationId xmlns:a16="http://schemas.microsoft.com/office/drawing/2014/main" id="{06BA5225-E55D-4F8B-A4B6-F231F6660614}"/>
              </a:ext>
            </a:extLst>
          </p:cNvPr>
          <p:cNvSpPr/>
          <p:nvPr/>
        </p:nvSpPr>
        <p:spPr>
          <a:xfrm>
            <a:off x="1946275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89;p2">
            <a:extLst>
              <a:ext uri="{FF2B5EF4-FFF2-40B4-BE49-F238E27FC236}">
                <a16:creationId xmlns:a16="http://schemas.microsoft.com/office/drawing/2014/main" id="{4A95F7F4-D7D0-42D3-8FD9-6A6A564132CA}"/>
              </a:ext>
            </a:extLst>
          </p:cNvPr>
          <p:cNvSpPr/>
          <p:nvPr/>
        </p:nvSpPr>
        <p:spPr>
          <a:xfrm>
            <a:off x="6068026" y="1470291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91;p2">
            <a:extLst>
              <a:ext uri="{FF2B5EF4-FFF2-40B4-BE49-F238E27FC236}">
                <a16:creationId xmlns:a16="http://schemas.microsoft.com/office/drawing/2014/main" id="{079DFE99-37CA-4F22-AA3F-B7966727CD72}"/>
              </a:ext>
            </a:extLst>
          </p:cNvPr>
          <p:cNvSpPr/>
          <p:nvPr/>
        </p:nvSpPr>
        <p:spPr>
          <a:xfrm>
            <a:off x="1946275" y="357738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FA79453C-AC7F-4408-A09E-09FDE901D901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Физическая репликация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7A804A81-A112-4F55-9D3C-F2A81D1E12CF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565E2A0B-D54C-4340-84B6-470BE76511A2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F221E00C-3C8B-4991-979E-D5C93355E4F0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6034FFF5-1511-4E2B-8519-F599445FC781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7C52B996-D5C3-4114-A9E9-243EA1854647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Зачем нужна репликация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F0DFAE44-3D39-44A5-9CD0-B4254E47E08D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8570029A-CACD-4630-AEEB-9FE7F4F711AE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770DBC75-2ABC-44DC-B65A-EAFB2331F5D8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316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667068" y="359177"/>
            <a:ext cx="500742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ЧТО ТАКОЕ РЕПЛИКАЦИЯ</a:t>
            </a:r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4294967295"/>
          </p:nvPr>
        </p:nvSpPr>
        <p:spPr>
          <a:xfrm>
            <a:off x="1667067" y="1995082"/>
            <a:ext cx="9037705" cy="147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15000"/>
              </a:lnSpc>
              <a:spcBef>
                <a:spcPts val="703"/>
              </a:spcBef>
              <a:buNone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Репликация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— механизм синхронизации содержимого нескольких копий объекта (например, содержимого базы данных). </a:t>
            </a: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Репликация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— это процесс, под которым понимается копирование данных из одного источника на другой (или на множество других) и наоборот.</a:t>
            </a: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8C03AAF5-45AC-44B6-9FC3-04CA11513A2D}"/>
              </a:ext>
            </a:extLst>
          </p:cNvPr>
          <p:cNvCxnSpPr/>
          <p:nvPr/>
        </p:nvCxnSpPr>
        <p:spPr>
          <a:xfrm>
            <a:off x="1774825" y="158663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466ADAE9-9264-47AA-990D-FBC407A3C5D8}"/>
              </a:ext>
            </a:extLst>
          </p:cNvPr>
          <p:cNvCxnSpPr/>
          <p:nvPr/>
        </p:nvCxnSpPr>
        <p:spPr>
          <a:xfrm>
            <a:off x="1774825" y="510176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46819E7-BAFB-400F-A36A-A1D91A95E253}"/>
              </a:ext>
            </a:extLst>
          </p:cNvPr>
          <p:cNvGrpSpPr/>
          <p:nvPr/>
        </p:nvGrpSpPr>
        <p:grpSpPr>
          <a:xfrm>
            <a:off x="1774825" y="3782578"/>
            <a:ext cx="8497200" cy="717900"/>
            <a:chOff x="3881705" y="4731057"/>
            <a:chExt cx="8497200" cy="717900"/>
          </a:xfrm>
        </p:grpSpPr>
        <p:sp>
          <p:nvSpPr>
            <p:cNvPr id="25" name="Google Shape;372;p43">
              <a:extLst>
                <a:ext uri="{FF2B5EF4-FFF2-40B4-BE49-F238E27FC236}">
                  <a16:creationId xmlns:a16="http://schemas.microsoft.com/office/drawing/2014/main" id="{268B257E-A128-4886-822A-CB514DF0E373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>
                <a:lnSpc>
                  <a:spcPct val="115000"/>
                </a:lnSpc>
                <a:spcBef>
                  <a:spcPts val="703"/>
                </a:spcBef>
                <a:buClr>
                  <a:schemeClr val="dk1"/>
                </a:buClr>
                <a:buSzPct val="36666"/>
              </a:pPr>
              <a:r>
                <a:rPr lang="ru-RU" dirty="0"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При репликации изменения, сделанные в одной копии объекта, могут быть распространены в другие копии.</a:t>
              </a:r>
            </a:p>
          </p:txBody>
        </p:sp>
        <p:pic>
          <p:nvPicPr>
            <p:cNvPr id="26" name="Google Shape;373;p43">
              <a:extLst>
                <a:ext uri="{FF2B5EF4-FFF2-40B4-BE49-F238E27FC236}">
                  <a16:creationId xmlns:a16="http://schemas.microsoft.com/office/drawing/2014/main" id="{9D9ACC08-94C5-42D9-80AE-4833BA149503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9" name="Google Shape;189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2" name="Google Shape;192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3" name="Google Shape;193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4" name="Google Shape;194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5" name="Google Shape;195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716833" y="389897"/>
            <a:ext cx="9798978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ДЛЯ ЧЕГО НЕОБХОДИМА РЕПЛИКАЦИЯ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74963-7857-41C8-BAC7-33B6E70F697B}"/>
              </a:ext>
            </a:extLst>
          </p:cNvPr>
          <p:cNvSpPr txBox="1"/>
          <p:nvPr/>
        </p:nvSpPr>
        <p:spPr>
          <a:xfrm>
            <a:off x="1716833" y="2037385"/>
            <a:ext cx="26561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Высокая доступность. </a:t>
            </a:r>
            <a:r>
              <a:rPr lang="ru-RU" sz="16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Бэкап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это хорошо, но нужно время на его развертывание.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274C2-F395-4D50-8367-AD1632F143E4}"/>
              </a:ext>
            </a:extLst>
          </p:cNvPr>
          <p:cNvSpPr txBox="1"/>
          <p:nvPr/>
        </p:nvSpPr>
        <p:spPr>
          <a:xfrm>
            <a:off x="4610830" y="2037385"/>
            <a:ext cx="28178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Что делать, когда закончились физические ядра и память</a:t>
            </a:r>
            <a:r>
              <a:rPr lang="en-US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 сервера? горизонтально масштабировать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305B34-7D5F-4FA8-8974-BB17694BF26B}"/>
              </a:ext>
            </a:extLst>
          </p:cNvPr>
          <p:cNvSpPr txBox="1"/>
          <p:nvPr/>
        </p:nvSpPr>
        <p:spPr>
          <a:xfrm>
            <a:off x="7666556" y="2037385"/>
            <a:ext cx="2817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</a:pPr>
            <a:r>
              <a:rPr lang="ru-RU" sz="16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Бэкап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лучше делать </a:t>
            </a:r>
            <a:r>
              <a:rPr lang="en-US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             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 реплики, а не мастера.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61454-A0B1-4A68-AE17-BFB1553E3EEC}"/>
              </a:ext>
            </a:extLst>
          </p:cNvPr>
          <p:cNvSpPr txBox="1"/>
          <p:nvPr/>
        </p:nvSpPr>
        <p:spPr>
          <a:xfrm>
            <a:off x="1716834" y="4561487"/>
            <a:ext cx="2040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</a:pPr>
            <a:r>
              <a:rPr lang="ru-RU" sz="16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Геораспределение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нагрузки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8AC4BA-1540-481C-B678-C86C093D4F6D}"/>
              </a:ext>
            </a:extLst>
          </p:cNvPr>
          <p:cNvSpPr txBox="1"/>
          <p:nvPr/>
        </p:nvSpPr>
        <p:spPr>
          <a:xfrm>
            <a:off x="4610830" y="4561487"/>
            <a:ext cx="272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Нагрузку по чтению </a:t>
            </a:r>
            <a:r>
              <a:rPr lang="en-US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          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 отчетам можно переложить на реплику</a:t>
            </a:r>
          </a:p>
        </p:txBody>
      </p:sp>
      <p:sp>
        <p:nvSpPr>
          <p:cNvPr id="29" name="Google Shape;569;g142b2dfbfff_0_234">
            <a:extLst>
              <a:ext uri="{FF2B5EF4-FFF2-40B4-BE49-F238E27FC236}">
                <a16:creationId xmlns:a16="http://schemas.microsoft.com/office/drawing/2014/main" id="{FAD17EBE-D44F-404A-BF8F-28609DF5DB0A}"/>
              </a:ext>
            </a:extLst>
          </p:cNvPr>
          <p:cNvSpPr txBox="1"/>
          <p:nvPr/>
        </p:nvSpPr>
        <p:spPr>
          <a:xfrm>
            <a:off x="1774825" y="15447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570;g142b2dfbfff_0_234">
            <a:extLst>
              <a:ext uri="{FF2B5EF4-FFF2-40B4-BE49-F238E27FC236}">
                <a16:creationId xmlns:a16="http://schemas.microsoft.com/office/drawing/2014/main" id="{95C7CA17-CD73-416B-8E83-BC696D201C73}"/>
              </a:ext>
            </a:extLst>
          </p:cNvPr>
          <p:cNvSpPr txBox="1"/>
          <p:nvPr/>
        </p:nvSpPr>
        <p:spPr>
          <a:xfrm>
            <a:off x="4658277" y="15447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570;g142b2dfbfff_0_234">
            <a:extLst>
              <a:ext uri="{FF2B5EF4-FFF2-40B4-BE49-F238E27FC236}">
                <a16:creationId xmlns:a16="http://schemas.microsoft.com/office/drawing/2014/main" id="{93272570-0C39-4A15-93A6-461C1D0F0AAF}"/>
              </a:ext>
            </a:extLst>
          </p:cNvPr>
          <p:cNvSpPr txBox="1"/>
          <p:nvPr/>
        </p:nvSpPr>
        <p:spPr>
          <a:xfrm>
            <a:off x="7714003" y="15447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569;g142b2dfbfff_0_234">
            <a:extLst>
              <a:ext uri="{FF2B5EF4-FFF2-40B4-BE49-F238E27FC236}">
                <a16:creationId xmlns:a16="http://schemas.microsoft.com/office/drawing/2014/main" id="{332E80DE-3DAA-480D-9DBD-55F148AB346C}"/>
              </a:ext>
            </a:extLst>
          </p:cNvPr>
          <p:cNvSpPr txBox="1"/>
          <p:nvPr/>
        </p:nvSpPr>
        <p:spPr>
          <a:xfrm>
            <a:off x="1774825" y="405869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570;g142b2dfbfff_0_234">
            <a:extLst>
              <a:ext uri="{FF2B5EF4-FFF2-40B4-BE49-F238E27FC236}">
                <a16:creationId xmlns:a16="http://schemas.microsoft.com/office/drawing/2014/main" id="{BC01380C-C1DE-40F9-8640-60116FB21B8D}"/>
              </a:ext>
            </a:extLst>
          </p:cNvPr>
          <p:cNvSpPr txBox="1"/>
          <p:nvPr/>
        </p:nvSpPr>
        <p:spPr>
          <a:xfrm>
            <a:off x="4658277" y="405869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10" name="Google Shape;210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" name="Google Shape;212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13" name="Google Shape;213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6" name="Google Shape;216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7" name="Google Shape;217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8" name="Google Shape;218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9" name="Google Shape;219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654628" y="359177"/>
            <a:ext cx="981763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В POSTGRESQL 2 ВИДА РЕПЛИКАЦИИ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3269B1-5227-44B0-AFDA-3550D8C6CF97}"/>
              </a:ext>
            </a:extLst>
          </p:cNvPr>
          <p:cNvSpPr/>
          <p:nvPr/>
        </p:nvSpPr>
        <p:spPr>
          <a:xfrm>
            <a:off x="1704392" y="3095266"/>
            <a:ext cx="3962399" cy="120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Логическая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 более расширенный поток данных и можно реплицировать конкретный </a:t>
            </a:r>
            <a:r>
              <a:rPr lang="ru-RU" sz="16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обьект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например, таблицу. Может быть двунаправленным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B56F53-4D97-4F61-8A62-6445F262AA47}"/>
              </a:ext>
            </a:extLst>
          </p:cNvPr>
          <p:cNvSpPr/>
          <p:nvPr/>
        </p:nvSpPr>
        <p:spPr>
          <a:xfrm>
            <a:off x="6096000" y="3095266"/>
            <a:ext cx="3664629" cy="91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Физическая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- полностью применяется весь поток изменений без разбора в одну сторону</a:t>
            </a:r>
          </a:p>
        </p:txBody>
      </p:sp>
      <p:sp>
        <p:nvSpPr>
          <p:cNvPr id="23" name="Google Shape;569;g142b2dfbfff_0_234">
            <a:extLst>
              <a:ext uri="{FF2B5EF4-FFF2-40B4-BE49-F238E27FC236}">
                <a16:creationId xmlns:a16="http://schemas.microsoft.com/office/drawing/2014/main" id="{594058DD-09E8-4F59-95F7-0BEC9F270931}"/>
              </a:ext>
            </a:extLst>
          </p:cNvPr>
          <p:cNvSpPr txBox="1"/>
          <p:nvPr/>
        </p:nvSpPr>
        <p:spPr>
          <a:xfrm>
            <a:off x="1774825" y="25902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570;g142b2dfbfff_0_234">
            <a:extLst>
              <a:ext uri="{FF2B5EF4-FFF2-40B4-BE49-F238E27FC236}">
                <a16:creationId xmlns:a16="http://schemas.microsoft.com/office/drawing/2014/main" id="{56F21E75-7B4D-48F5-A9A2-608B8F829C3D}"/>
              </a:ext>
            </a:extLst>
          </p:cNvPr>
          <p:cNvSpPr txBox="1"/>
          <p:nvPr/>
        </p:nvSpPr>
        <p:spPr>
          <a:xfrm>
            <a:off x="6132513" y="25902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163;p7">
            <a:extLst>
              <a:ext uri="{FF2B5EF4-FFF2-40B4-BE49-F238E27FC236}">
                <a16:creationId xmlns:a16="http://schemas.microsoft.com/office/drawing/2014/main" id="{EC020DD5-84BD-49FE-AA79-5571F6AEC0D7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163;p7">
            <a:extLst>
              <a:ext uri="{FF2B5EF4-FFF2-40B4-BE49-F238E27FC236}">
                <a16:creationId xmlns:a16="http://schemas.microsoft.com/office/drawing/2014/main" id="{F67B6BA2-91AE-46DD-BB06-7DC24686A997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4" name="Google Shape;234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7" name="Google Shape;237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0" name="Google Shape;240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41" name="Google Shape;241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3" name="Google Shape;243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1660848" y="359177"/>
            <a:ext cx="981141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ОСОБЕННОСТИ ФИЗИЧЕСКОЙ РЕПЛИКАЦИИ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body" idx="4294967295"/>
          </p:nvPr>
        </p:nvSpPr>
        <p:spPr>
          <a:xfrm>
            <a:off x="1660848" y="2618587"/>
            <a:ext cx="7333862" cy="1620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19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мастер-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слейв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: поток данных только в одну сторону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619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трансляция потока журнальных записей или файлов журнала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619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требуется двоичная совместимость серверов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619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возможна репликация только всего кластера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843A216A-193C-4640-9494-E1F91E6358D4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726699F5-CD13-40E2-A34B-71ABE4903EF0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58" name="Google Shape;258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61" name="Google Shape;261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" name="Google Shape;264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65" name="Google Shape;265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6" name="Google Shape;266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67" name="Google Shape;267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654628" y="359177"/>
            <a:ext cx="981763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ФИЗИЧЕСКАЯ РЕПЛИКАЦИЯ</a:t>
            </a:r>
          </a:p>
        </p:txBody>
      </p:sp>
      <p:sp>
        <p:nvSpPr>
          <p:cNvPr id="273" name="Google Shape;273;p23"/>
          <p:cNvSpPr txBox="1">
            <a:spLocks noGrp="1"/>
          </p:cNvSpPr>
          <p:nvPr>
            <p:ph type="body" idx="4294967295"/>
          </p:nvPr>
        </p:nvSpPr>
        <p:spPr>
          <a:xfrm>
            <a:off x="1698171" y="1706113"/>
            <a:ext cx="8192278" cy="323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Утилита для физической репликации та же, что и для физической резервной копии — 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pg_basebackup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Порядок действий для создания реплики:</a:t>
            </a: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создаем новый кластер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удаляем из него каталог с данными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разворачиваем резервную копию с ключом -R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запускаем новый сервер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BC2920A1-8158-40F7-9EFE-539B1281CCE4}"/>
              </a:ext>
            </a:extLst>
          </p:cNvPr>
          <p:cNvCxnSpPr/>
          <p:nvPr/>
        </p:nvCxnSpPr>
        <p:spPr>
          <a:xfrm>
            <a:off x="1774825" y="263676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82" name="Google Shape;282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" name="Google Shape;284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85" name="Google Shape;285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8" name="Google Shape;288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89" name="Google Shape;289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0" name="Google Shape;290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1" name="Google Shape;291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1667069" y="359177"/>
            <a:ext cx="8453536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ФИЗИЧЕСКАЯ РЕПЛИКАЦИЯ. ОГРАНИЧЕНИЯ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03693C-4C3E-4750-9D70-E5CA8B6D2737}"/>
              </a:ext>
            </a:extLst>
          </p:cNvPr>
          <p:cNvSpPr txBox="1"/>
          <p:nvPr/>
        </p:nvSpPr>
        <p:spPr>
          <a:xfrm>
            <a:off x="1667069" y="2357457"/>
            <a:ext cx="4372947" cy="2131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Допускаются на реплике</a:t>
            </a:r>
          </a:p>
          <a:p>
            <a:pPr marL="457200" lvl="0" indent="-34290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запросы на чтение данных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select, copy to, 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курсоры)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установка параметров сервера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set, reset)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управление транзакциями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begin, commit, rollback...)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создание резервной копии (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pg_basebackup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965BA6-7441-4BB8-9DC1-16E3F474F2B3}"/>
              </a:ext>
            </a:extLst>
          </p:cNvPr>
          <p:cNvSpPr/>
          <p:nvPr/>
        </p:nvSpPr>
        <p:spPr>
          <a:xfrm>
            <a:off x="6278026" y="2357379"/>
            <a:ext cx="4887608" cy="2886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 допускаются</a:t>
            </a:r>
          </a:p>
          <a:p>
            <a:pPr marL="457200" lvl="0" indent="-34290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любые изменения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insert, update, delete, truncate,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nextval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...)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блокировки, предполагающие изменение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select for update...)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команды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DDL (create, drop...), 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 том числе создание временных таблиц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команды сопровождения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vacuum, analyze,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reindex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...)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управление доступом (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grant, revoke...)</a:t>
            </a:r>
          </a:p>
          <a:p>
            <a:pPr marL="457200" lvl="0" indent="-342900">
              <a:lnSpc>
                <a:spcPct val="115000"/>
              </a:lnSpc>
              <a:buClr>
                <a:srgbClr val="3F3F3F"/>
              </a:buClr>
              <a:buSzPts val="1800"/>
              <a:buFont typeface="Open Sans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 срабатывают триггеры</a:t>
            </a: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30100AF5-8E33-418C-A199-A5CFDD31F53B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14E913AB-BDDF-4CEB-8D18-356C2459C20F}"/>
              </a:ext>
            </a:extLst>
          </p:cNvPr>
          <p:cNvCxnSpPr/>
          <p:nvPr/>
        </p:nvCxnSpPr>
        <p:spPr>
          <a:xfrm>
            <a:off x="1774825" y="556829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25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06" name="Google Shape;306;p25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07" name="Google Shape;307;p25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5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5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5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5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5"/>
            <p:cNvSpPr txBox="1"/>
            <p:nvPr/>
          </p:nvSpPr>
          <p:spPr>
            <a:xfrm>
              <a:off x="3260998" y="544530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21" name="Google Shape;321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3" name="Google Shape;323;p26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24" name="Google Shape;324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7" name="Google Shape;327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28" name="Google Shape;328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6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30" name="Google Shape;330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1A76D4E2-122E-4B9A-89CD-074F477A7D46}"/>
              </a:ext>
            </a:extLst>
          </p:cNvPr>
          <p:cNvSpPr/>
          <p:nvPr/>
        </p:nvSpPr>
        <p:spPr>
          <a:xfrm>
            <a:off x="1725839" y="1720676"/>
            <a:ext cx="4233312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что такое физическая репликация, для чего она нужна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F224A7FE-F883-4D3D-9C01-AB0BDC1C424F}"/>
              </a:ext>
            </a:extLst>
          </p:cNvPr>
          <p:cNvSpPr/>
          <p:nvPr/>
        </p:nvSpPr>
        <p:spPr>
          <a:xfrm>
            <a:off x="6239540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варианты физической репликации</a:t>
            </a:r>
          </a:p>
        </p:txBody>
      </p:sp>
      <p:pic>
        <p:nvPicPr>
          <p:cNvPr id="18" name="Google Shape;534;g142b2dfbfff_0_351">
            <a:extLst>
              <a:ext uri="{FF2B5EF4-FFF2-40B4-BE49-F238E27FC236}">
                <a16:creationId xmlns:a16="http://schemas.microsoft.com/office/drawing/2014/main" id="{16A952FB-02D6-450B-A6D6-6A0415FE38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91930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35;g142b2dfbfff_0_351">
            <a:extLst>
              <a:ext uri="{FF2B5EF4-FFF2-40B4-BE49-F238E27FC236}">
                <a16:creationId xmlns:a16="http://schemas.microsoft.com/office/drawing/2014/main" id="{446F896E-D39C-426D-BAFE-479E72A98F1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537;g142b2dfbfff_0_351">
            <a:extLst>
              <a:ext uri="{FF2B5EF4-FFF2-40B4-BE49-F238E27FC236}">
                <a16:creationId xmlns:a16="http://schemas.microsoft.com/office/drawing/2014/main" id="{09A6368C-58E3-4501-81DA-0DE7F4564239}"/>
              </a:ext>
            </a:extLst>
          </p:cNvPr>
          <p:cNvSpPr/>
          <p:nvPr/>
        </p:nvSpPr>
        <p:spPr>
          <a:xfrm>
            <a:off x="1725847" y="3578940"/>
            <a:ext cx="8219593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en-US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Создали свою физическую реплику</a:t>
            </a:r>
          </a:p>
        </p:txBody>
      </p:sp>
      <p:pic>
        <p:nvPicPr>
          <p:cNvPr id="21" name="Google Shape;538;g142b2dfbfff_0_351">
            <a:extLst>
              <a:ext uri="{FF2B5EF4-FFF2-40B4-BE49-F238E27FC236}">
                <a16:creationId xmlns:a16="http://schemas.microsoft.com/office/drawing/2014/main" id="{28ABE242-9E13-440D-BAC4-6879DF06353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39" name="Google Shape;339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40" name="Google Shape;340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43" name="Google Shape;343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6" name="Google Shape;346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47" name="Google Shape;347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" name="Google Shape;348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49" name="Google Shape;349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/>
          <p:nvPr/>
        </p:nvSpPr>
        <p:spPr>
          <a:xfrm>
            <a:off x="1651000" y="976091"/>
            <a:ext cx="10236600" cy="59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Создать свою физическую реплику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4A31AA9-EE77-4B77-A168-6950D315C86A}"/>
              </a:ext>
            </a:extLst>
          </p:cNvPr>
          <p:cNvSpPr/>
          <p:nvPr/>
        </p:nvSpPr>
        <p:spPr>
          <a:xfrm>
            <a:off x="1651000" y="2082549"/>
            <a:ext cx="8133702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  <a:endParaRPr lang="en-US" sz="1600" b="1" dirty="0">
              <a:solidFill>
                <a:schemeClr val="dk1"/>
              </a:solidFill>
            </a:endParaRP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Удалить 2 кластер, если он остался после предыдущих работ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</a:t>
            </a:r>
            <a:r>
              <a:rPr lang="ru-RU" sz="1600" b="1" dirty="0">
                <a:solidFill>
                  <a:schemeClr val="dk1"/>
                </a:solidFill>
              </a:rPr>
              <a:t>новый </a:t>
            </a:r>
            <a:r>
              <a:rPr lang="ru-RU" sz="1600" dirty="0">
                <a:solidFill>
                  <a:schemeClr val="dk1"/>
                </a:solidFill>
              </a:rPr>
              <a:t>кластер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Удалить все файлы данных из вновь созданного кластера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Использовать утилиту </a:t>
            </a:r>
            <a:r>
              <a:rPr lang="ru-RU" sz="1600" b="1" dirty="0" err="1">
                <a:solidFill>
                  <a:srgbClr val="3F3F3F"/>
                </a:solidFill>
              </a:rPr>
              <a:t>pg_basebackup</a:t>
            </a:r>
            <a:r>
              <a:rPr lang="ru-RU" sz="1600" dirty="0">
                <a:solidFill>
                  <a:schemeClr val="dk1"/>
                </a:solidFill>
              </a:rPr>
              <a:t>, чтобы создать физическую реплику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Запустить новый кластер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Убедиться, что данные поступают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7CCDD805-01A8-4262-9A9C-74A29F41A49A}"/>
              </a:ext>
            </a:extLst>
          </p:cNvPr>
          <p:cNvCxnSpPr/>
          <p:nvPr/>
        </p:nvCxnSpPr>
        <p:spPr>
          <a:xfrm>
            <a:off x="1774825" y="180322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7" name="Google Shape;357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Логическая репликация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61" name="Google Shape;361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8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8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8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65" name="Google Shape;365;p28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8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67" name="Google Shape;367;p28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516</Words>
  <Application>Microsoft Office PowerPoint</Application>
  <PresentationFormat>Широкоэкранный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Helvetica Neue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12</cp:revision>
  <dcterms:modified xsi:type="dcterms:W3CDTF">2022-09-15T10:52:17Z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F80E342C-B99A-4525-B859-0999AB6A25DB</vt:lpwstr>
  </property>
  <property fmtid="{D5CDD505-2E9C-101B-9397-08002B2CF9AE}" pid="3" name="ArticulatePath">
    <vt:lpwstr>34 Физическая репликация</vt:lpwstr>
  </property>
</Properties>
</file>