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7"/>
  </p:notes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Arial Black" panose="020B0A040201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Helvetica Neue" panose="020B0604020202020204" charset="0"/>
      <p:regular r:id="rId28"/>
      <p:bold r:id="rId29"/>
      <p:italic r:id="rId30"/>
      <p:boldItalic r:id="rId31"/>
    </p:embeddedFont>
    <p:embeddedFont>
      <p:font typeface="Open Sans" panose="020B0604020202020204" charset="0"/>
      <p:regular r:id="rId32"/>
      <p:bold r:id="rId33"/>
      <p:italic r:id="rId34"/>
      <p:boldItalic r:id="rId35"/>
    </p:embeddedFont>
    <p:embeddedFont>
      <p:font typeface="Proxima Nova" panose="020B060402020202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296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3242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e772340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e7723409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e7723409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3e367df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143e367dfa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143e367dfa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3e367dfa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43e367dfa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143e367dfa1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2e772340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2e7723409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142e7723409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2e772340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142e7723409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g142e7723409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42e772340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42e7723409_0_4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142e7723409_0_4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2e7723409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42e7723409_0_4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142e7723409_0_4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42e7723409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142e7723409_0_4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2" name="Google Shape;312;g142e7723409_0_4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A35BD879-D22A-40BB-A4A7-E8155E5958E7}"/>
              </a:ext>
            </a:extLst>
          </p:cNvPr>
          <p:cNvSpPr txBox="1">
            <a:spLocks/>
          </p:cNvSpPr>
          <p:nvPr/>
        </p:nvSpPr>
        <p:spPr>
          <a:xfrm>
            <a:off x="1622193" y="2096225"/>
            <a:ext cx="7024173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10. Обзор резервного копирования и репликации</a:t>
            </a:r>
          </a:p>
          <a:p>
            <a:pPr lvl="0">
              <a:buClr>
                <a:srgbClr val="000000"/>
              </a:buClr>
              <a:buSzPts val="2000"/>
            </a:pPr>
            <a:endParaRPr lang="ru-RU" sz="2800" dirty="0"/>
          </a:p>
          <a:p>
            <a:pPr lvl="0">
              <a:buClr>
                <a:srgbClr val="000000"/>
              </a:buClr>
              <a:buSzPts val="2000"/>
            </a:pPr>
            <a:endParaRPr lang="ru-RU" sz="2800" dirty="0"/>
          </a:p>
          <a:p>
            <a:pPr lvl="0">
              <a:buClr>
                <a:srgbClr val="000000"/>
              </a:buClr>
              <a:buSzPts val="2000"/>
            </a:pPr>
            <a:endParaRPr lang="ru-RU" sz="2800" dirty="0"/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F090636D-DA2F-40D7-B29C-64D1CA8A3437}"/>
              </a:ext>
            </a:extLst>
          </p:cNvPr>
          <p:cNvSpPr txBox="1">
            <a:spLocks/>
          </p:cNvSpPr>
          <p:nvPr/>
        </p:nvSpPr>
        <p:spPr>
          <a:xfrm>
            <a:off x="1609724" y="3132408"/>
            <a:ext cx="8358240" cy="211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РЕЗЕРВНОЕ КОПИРОВАНИЕ. ЛОГИЧЕСКОЕ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8525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B7FE2087-A9F4-4C97-8A31-944937DF59A0}"/>
              </a:ext>
            </a:extLst>
          </p:cNvPr>
          <p:cNvSpPr/>
          <p:nvPr/>
        </p:nvSpPr>
        <p:spPr>
          <a:xfrm>
            <a:off x="1763394" y="1259926"/>
            <a:ext cx="3119625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логический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r>
              <a:rPr lang="ru-RU" sz="1800" dirty="0">
                <a:solidFill>
                  <a:schemeClr val="dk1"/>
                </a:solidFill>
              </a:rPr>
              <a:t>, для чего он нужен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C0B79292-C337-42A4-B5C4-B8F5E75F51D9}"/>
              </a:ext>
            </a:extLst>
          </p:cNvPr>
          <p:cNvSpPr/>
          <p:nvPr/>
        </p:nvSpPr>
        <p:spPr>
          <a:xfrm>
            <a:off x="5144910" y="1259937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Разобрать варианты логического </a:t>
            </a:r>
            <a:r>
              <a:rPr lang="ru-RU" sz="1800" dirty="0" err="1">
                <a:solidFill>
                  <a:schemeClr val="dk1"/>
                </a:solidFill>
              </a:rPr>
              <a:t>бэкапа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2" name="Google Shape;285;p2">
            <a:extLst>
              <a:ext uri="{FF2B5EF4-FFF2-40B4-BE49-F238E27FC236}">
                <a16:creationId xmlns:a16="http://schemas.microsoft.com/office/drawing/2014/main" id="{7E6833D7-1BE6-47E3-B217-750F44EB6441}"/>
              </a:ext>
            </a:extLst>
          </p:cNvPr>
          <p:cNvSpPr/>
          <p:nvPr/>
        </p:nvSpPr>
        <p:spPr>
          <a:xfrm>
            <a:off x="1774824" y="3325187"/>
            <a:ext cx="7528385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Создать свой логический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endParaRPr lang="ru-RU" sz="1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88;p2">
            <a:extLst>
              <a:ext uri="{FF2B5EF4-FFF2-40B4-BE49-F238E27FC236}">
                <a16:creationId xmlns:a16="http://schemas.microsoft.com/office/drawing/2014/main" id="{D25BA23B-36ED-435F-8E50-C8CD2A3D8203}"/>
              </a:ext>
            </a:extLst>
          </p:cNvPr>
          <p:cNvSpPr/>
          <p:nvPr/>
        </p:nvSpPr>
        <p:spPr>
          <a:xfrm>
            <a:off x="1946275" y="136454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89;p2">
            <a:extLst>
              <a:ext uri="{FF2B5EF4-FFF2-40B4-BE49-F238E27FC236}">
                <a16:creationId xmlns:a16="http://schemas.microsoft.com/office/drawing/2014/main" id="{043C7CA5-15A5-44BD-B158-B5AF8A365BB4}"/>
              </a:ext>
            </a:extLst>
          </p:cNvPr>
          <p:cNvSpPr/>
          <p:nvPr/>
        </p:nvSpPr>
        <p:spPr>
          <a:xfrm>
            <a:off x="5327795" y="136454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91;p2">
            <a:extLst>
              <a:ext uri="{FF2B5EF4-FFF2-40B4-BE49-F238E27FC236}">
                <a16:creationId xmlns:a16="http://schemas.microsoft.com/office/drawing/2014/main" id="{4BE161AC-B1DA-41FA-9040-D0197EF4764D}"/>
              </a:ext>
            </a:extLst>
          </p:cNvPr>
          <p:cNvSpPr/>
          <p:nvPr/>
        </p:nvSpPr>
        <p:spPr>
          <a:xfrm>
            <a:off x="1946275" y="3471633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29674808-39B1-43ED-B21A-0C322E3A0DC8}"/>
              </a:ext>
            </a:extLst>
          </p:cNvPr>
          <p:cNvSpPr/>
          <p:nvPr/>
        </p:nvSpPr>
        <p:spPr>
          <a:xfrm>
            <a:off x="2863612" y="3517449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Варианты логического </a:t>
            </a:r>
            <a:r>
              <a:rPr lang="ru-RU" sz="2000" dirty="0" err="1">
                <a:solidFill>
                  <a:schemeClr val="dk1"/>
                </a:solidFill>
              </a:rPr>
              <a:t>бэкапа</a:t>
            </a:r>
            <a:endParaRPr lang="ru-RU" sz="4000" dirty="0">
              <a:solidFill>
                <a:schemeClr val="dk1"/>
              </a:solidFill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B26BE362-AAE0-48BE-8F12-EAB3649E1C15}"/>
              </a:ext>
            </a:extLst>
          </p:cNvPr>
          <p:cNvSpPr/>
          <p:nvPr/>
        </p:nvSpPr>
        <p:spPr>
          <a:xfrm>
            <a:off x="2863612" y="4787479"/>
            <a:ext cx="20645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Восстановление из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бэкапа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66D5C2D5-01E4-4192-A49F-B38ED373EC11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AE50FB74-A771-4B77-9BCE-70026E06DF7B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A570BE88-AED7-4C9F-BA96-BDB2393DF462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C135996B-DD17-488F-B578-31F8315B29C3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Логический </a:t>
            </a:r>
            <a:r>
              <a:rPr lang="ru-RU" sz="2000" dirty="0" err="1">
                <a:solidFill>
                  <a:schemeClr val="dk1"/>
                </a:solidFill>
              </a:rPr>
              <a:t>бэкап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3949F94F-55E1-497C-8A71-DA1B145EC66C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FCE53CBA-ECF2-47AD-9016-A6E9374A3F9E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5C27A6A3-8BF7-4B12-9722-5CC9CDE90FDF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78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682C33F7-7ADB-4365-9126-94928E0FE952}"/>
              </a:ext>
            </a:extLst>
          </p:cNvPr>
          <p:cNvSpPr/>
          <p:nvPr/>
        </p:nvSpPr>
        <p:spPr>
          <a:xfrm>
            <a:off x="1689101" y="957944"/>
            <a:ext cx="8889906" cy="4948948"/>
          </a:xfrm>
          <a:prstGeom prst="roundRect">
            <a:avLst>
              <a:gd name="adj" fmla="val 4126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667069" y="359177"/>
            <a:ext cx="2687218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en-US" dirty="0">
                <a:sym typeface="Open Sans"/>
              </a:rPr>
              <a:t>BACKUP</a:t>
            </a: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85947" y="1357184"/>
            <a:ext cx="4088144" cy="42554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4" name="Google Shape;184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" name="Google Shape;186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1" name="Google Shape;191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Google Shape;192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3" name="Google Shape;193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ЧТО ТАКОЕ БЭКАП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809CE-0AC9-4280-9C61-7356BE8A3C67}"/>
              </a:ext>
            </a:extLst>
          </p:cNvPr>
          <p:cNvSpPr txBox="1"/>
          <p:nvPr/>
        </p:nvSpPr>
        <p:spPr>
          <a:xfrm>
            <a:off x="1667068" y="2073964"/>
            <a:ext cx="7302761" cy="2358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Бэкап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или архив или резервная копия - создание и хранение копий данных в другом месте с рядом целей:</a:t>
            </a:r>
          </a:p>
          <a:p>
            <a:pPr lvl="0">
              <a:lnSpc>
                <a:spcPct val="115000"/>
              </a:lnSpc>
              <a:spcBef>
                <a:spcPts val="600"/>
              </a:spcBef>
            </a:pP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отказоустойчивость - при отказе основного сервера, можем восстановиться из архива</a:t>
            </a: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можем развернуть отдельный тестовый сервер</a:t>
            </a:r>
          </a:p>
          <a:p>
            <a:pPr marL="457200" lvl="0" indent="-3810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Open Sans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перенос инфраструктуры в другое место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1FC355E8-8F9B-4B6A-8475-71CB26531894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747ED3B5-104D-44AF-A207-5D1F11429A53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6" name="Google Shape;206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3" name="Google Shape;213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5" name="Google Shape;215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683831" y="359177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2 ВИДА БЭКАПОВ В POSTGRESQL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4C6B16-EAA3-4727-919C-44281A95871F}"/>
              </a:ext>
            </a:extLst>
          </p:cNvPr>
          <p:cNvSpPr/>
          <p:nvPr/>
        </p:nvSpPr>
        <p:spPr>
          <a:xfrm>
            <a:off x="6033797" y="3069335"/>
            <a:ext cx="2581469" cy="91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Физический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 в виде бинарной копии файлов данных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51E410-D7F7-49D9-8775-90CC4A7C6B0B}"/>
              </a:ext>
            </a:extLst>
          </p:cNvPr>
          <p:cNvSpPr/>
          <p:nvPr/>
        </p:nvSpPr>
        <p:spPr>
          <a:xfrm>
            <a:off x="1683831" y="3082806"/>
            <a:ext cx="3303037" cy="120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Логический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- в виде набора текстовых файлов извлеченных из БД по определенным правилам</a:t>
            </a:r>
          </a:p>
        </p:txBody>
      </p:sp>
      <p:sp>
        <p:nvSpPr>
          <p:cNvPr id="21" name="Google Shape;569;g142b2dfbfff_0_234">
            <a:extLst>
              <a:ext uri="{FF2B5EF4-FFF2-40B4-BE49-F238E27FC236}">
                <a16:creationId xmlns:a16="http://schemas.microsoft.com/office/drawing/2014/main" id="{B71A3687-7F7D-4F23-B8B8-80A635B379BF}"/>
              </a:ext>
            </a:extLst>
          </p:cNvPr>
          <p:cNvSpPr txBox="1"/>
          <p:nvPr/>
        </p:nvSpPr>
        <p:spPr>
          <a:xfrm>
            <a:off x="1774825" y="25902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70;g142b2dfbfff_0_234">
            <a:extLst>
              <a:ext uri="{FF2B5EF4-FFF2-40B4-BE49-F238E27FC236}">
                <a16:creationId xmlns:a16="http://schemas.microsoft.com/office/drawing/2014/main" id="{57C29207-AF9A-4DDD-856E-43B7DA608EF0}"/>
              </a:ext>
            </a:extLst>
          </p:cNvPr>
          <p:cNvSpPr txBox="1"/>
          <p:nvPr/>
        </p:nvSpPr>
        <p:spPr>
          <a:xfrm>
            <a:off x="6132513" y="25902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2BB9BBB9-B744-4E75-9F4A-54A4D0B04C36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DD7AA0BA-4D84-480A-AF19-E5E5E68D6214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8" name="Google Shape;228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1" name="Google Shape;231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" name="Google Shape;234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5" name="Google Shape;235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7" name="Google Shape;237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683831" y="359177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ЛОГИЧЕСКАЯ КОПИЯ</a:t>
            </a:r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4294967295"/>
          </p:nvPr>
        </p:nvSpPr>
        <p:spPr>
          <a:xfrm>
            <a:off x="1260042" y="2055107"/>
            <a:ext cx="9675436" cy="27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700" dirty="0">
                <a:solidFill>
                  <a:srgbClr val="0042C5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+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можно сделать копию отдельного объекта или базы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0042C5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+</a:t>
            </a:r>
            <a:r>
              <a:rPr lang="ru-RU" sz="1600" dirty="0">
                <a:solidFill>
                  <a:srgbClr val="0042C5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можно восстановиться на кластере другой основной версии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0042C5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+</a:t>
            </a:r>
            <a:r>
              <a:rPr lang="ru-RU" sz="1600" dirty="0">
                <a:solidFill>
                  <a:srgbClr val="0042C5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можно восстановиться на другой архитектуре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−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невысокая скорость относительно физической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E11CD999-69D0-4B4F-B942-0F31A9BFEDC8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C4B0D8D1-28F9-44B3-B8FF-AF53E8069E76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" name="Google Shape;252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3" name="Google Shape;253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6" name="Google Shape;256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7" name="Google Shape;257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8" name="Google Shape;258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9" name="Google Shape;259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1660848" y="359177"/>
            <a:ext cx="981141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ЛОГИЧЕСКОЕ АРХИВИРОВАНИЕ С ПОМОЩЬЮ УТИЛИТЫ COPY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F0F1A3-D6F3-4838-85DC-C9015A994D1F}"/>
              </a:ext>
            </a:extLst>
          </p:cNvPr>
          <p:cNvSpPr txBox="1"/>
          <p:nvPr/>
        </p:nvSpPr>
        <p:spPr>
          <a:xfrm>
            <a:off x="1712242" y="3213408"/>
            <a:ext cx="7736558" cy="1152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b="1" dirty="0"/>
              <a:t>COPY </a:t>
            </a:r>
            <a:r>
              <a:rPr lang="en-US" dirty="0"/>
              <a:t>{ </a:t>
            </a:r>
            <a:r>
              <a:rPr lang="ru-RU" i="1" dirty="0" err="1"/>
              <a:t>имя_таблицы</a:t>
            </a:r>
            <a:r>
              <a:rPr lang="ru-RU" dirty="0"/>
              <a:t> [ ( </a:t>
            </a:r>
            <a:r>
              <a:rPr lang="ru-RU" i="1" dirty="0" err="1"/>
              <a:t>имя_столбца</a:t>
            </a:r>
            <a:r>
              <a:rPr lang="ru-RU" dirty="0"/>
              <a:t> [, ...] ) ] | ( </a:t>
            </a:r>
            <a:r>
              <a:rPr lang="ru-RU" i="1" dirty="0"/>
              <a:t>запрос</a:t>
            </a:r>
            <a:r>
              <a:rPr lang="ru-RU" dirty="0"/>
              <a:t> ) }  </a:t>
            </a:r>
            <a:r>
              <a:rPr lang="en-US" b="1" dirty="0"/>
              <a:t>TO </a:t>
            </a:r>
            <a:r>
              <a:rPr lang="en-US" dirty="0"/>
              <a:t>{ '</a:t>
            </a:r>
            <a:r>
              <a:rPr lang="ru-RU" i="1" dirty="0" err="1"/>
              <a:t>имя_файла</a:t>
            </a:r>
            <a:r>
              <a:rPr lang="ru-RU" dirty="0"/>
              <a:t>' | </a:t>
            </a:r>
            <a:r>
              <a:rPr lang="en-US" dirty="0"/>
              <a:t>PROGRAM '</a:t>
            </a:r>
            <a:r>
              <a:rPr lang="ru-RU" i="1" dirty="0"/>
              <a:t>команда</a:t>
            </a:r>
            <a:r>
              <a:rPr lang="ru-RU" dirty="0"/>
              <a:t>' | </a:t>
            </a:r>
            <a:r>
              <a:rPr lang="en-US" dirty="0"/>
              <a:t>STDOUT }  [ [ WITH ] ( </a:t>
            </a:r>
            <a:r>
              <a:rPr lang="ru-RU" i="1" dirty="0"/>
              <a:t>параметр</a:t>
            </a:r>
            <a:r>
              <a:rPr lang="ru-RU" dirty="0"/>
              <a:t> [, ...] ) ]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en-US" b="1" dirty="0"/>
              <a:t>COPY </a:t>
            </a:r>
            <a:r>
              <a:rPr lang="ru-RU" i="1" dirty="0" err="1"/>
              <a:t>имя_таблицы</a:t>
            </a:r>
            <a:r>
              <a:rPr lang="ru-RU" dirty="0"/>
              <a:t> [ ( </a:t>
            </a:r>
            <a:r>
              <a:rPr lang="ru-RU" i="1" dirty="0" err="1"/>
              <a:t>имя_столбца</a:t>
            </a:r>
            <a:r>
              <a:rPr lang="ru-RU" dirty="0"/>
              <a:t> [, ...] ) ]  </a:t>
            </a:r>
            <a:r>
              <a:rPr lang="en-US" b="1" dirty="0"/>
              <a:t>FROM </a:t>
            </a:r>
            <a:r>
              <a:rPr lang="en-US" dirty="0"/>
              <a:t>{ '</a:t>
            </a:r>
            <a:r>
              <a:rPr lang="ru-RU" i="1" dirty="0" err="1"/>
              <a:t>имя_файла</a:t>
            </a:r>
            <a:r>
              <a:rPr lang="ru-RU" dirty="0"/>
              <a:t>' | </a:t>
            </a:r>
            <a:r>
              <a:rPr lang="en-US" dirty="0"/>
              <a:t>PROGRAM '</a:t>
            </a:r>
            <a:r>
              <a:rPr lang="ru-RU" i="1" dirty="0"/>
              <a:t>команда</a:t>
            </a:r>
            <a:r>
              <a:rPr lang="ru-RU" dirty="0"/>
              <a:t>' | </a:t>
            </a:r>
            <a:r>
              <a:rPr lang="en-US" dirty="0"/>
              <a:t>STDIN }  [ [ WITH ] ( </a:t>
            </a:r>
            <a:r>
              <a:rPr lang="ru-RU" i="1" dirty="0"/>
              <a:t>параметр</a:t>
            </a:r>
            <a:r>
              <a:rPr lang="ru-RU" dirty="0"/>
              <a:t> [, ...] ) ]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C1174A33-BC57-4114-B07F-6248E42C8D3F}"/>
              </a:ext>
            </a:extLst>
          </p:cNvPr>
          <p:cNvCxnSpPr/>
          <p:nvPr/>
        </p:nvCxnSpPr>
        <p:spPr>
          <a:xfrm>
            <a:off x="1774825" y="305975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331F81-A42C-409E-B3D0-DA3B2302BFB2}"/>
              </a:ext>
            </a:extLst>
          </p:cNvPr>
          <p:cNvSpPr/>
          <p:nvPr/>
        </p:nvSpPr>
        <p:spPr>
          <a:xfrm>
            <a:off x="1679508" y="2609513"/>
            <a:ext cx="1705916" cy="351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  <a:buClr>
                <a:srgbClr val="3F3F3F"/>
              </a:buClr>
              <a:buSzPts val="1800"/>
            </a:pPr>
            <a:r>
              <a:rPr lang="ru-RU" sz="1600" b="1" dirty="0">
                <a:solidFill>
                  <a:schemeClr val="tx1"/>
                </a:solidFill>
              </a:rPr>
              <a:t>Команда </a:t>
            </a:r>
            <a:r>
              <a:rPr lang="en-US" sz="1600" b="1" dirty="0">
                <a:solidFill>
                  <a:schemeClr val="tx1"/>
                </a:solidFill>
              </a:rPr>
              <a:t>COPY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25;p11">
            <a:extLst>
              <a:ext uri="{FF2B5EF4-FFF2-40B4-BE49-F238E27FC236}">
                <a16:creationId xmlns:a16="http://schemas.microsoft.com/office/drawing/2014/main" id="{4C912237-AE45-43E9-A180-CF003F613973}"/>
              </a:ext>
            </a:extLst>
          </p:cNvPr>
          <p:cNvSpPr/>
          <p:nvPr/>
        </p:nvSpPr>
        <p:spPr>
          <a:xfrm>
            <a:off x="1689101" y="1417808"/>
            <a:ext cx="8889906" cy="2849392"/>
          </a:xfrm>
          <a:prstGeom prst="roundRect">
            <a:avLst>
              <a:gd name="adj" fmla="val 5760"/>
            </a:avLst>
          </a:prstGeom>
          <a:solidFill>
            <a:srgbClr val="444444"/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72" name="Google Shape;272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5" name="Google Shape;275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8" name="Google Shape;278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9" name="Google Shape;279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81" name="Google Shape;281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ВАРИАНТЫ ЛОГИЧЕСКОГО АРХИВИРОВАНИЯ СПОМОЩЬЮ УТИЛИТЫ COPY</a:t>
            </a:r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4294967295"/>
          </p:nvPr>
        </p:nvSpPr>
        <p:spPr>
          <a:xfrm>
            <a:off x="1774825" y="1448478"/>
            <a:ext cx="8264914" cy="266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Server-Side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COPY [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Query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'[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/filename.csv]'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csv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Client-Side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psql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\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Query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'[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/filename.csv]'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csv</a:t>
            </a:r>
            <a:r>
              <a:rPr lang="ru-RU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D10CE-3D81-4555-8561-B6CAEC3D6675}"/>
              </a:ext>
            </a:extLst>
          </p:cNvPr>
          <p:cNvSpPr txBox="1"/>
          <p:nvPr/>
        </p:nvSpPr>
        <p:spPr>
          <a:xfrm>
            <a:off x="1667068" y="4626378"/>
            <a:ext cx="8130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Метакоманда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\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copy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вызывает COPY FROM STDIN или COPY TO STDOUT, а затем работает с данными в файле, доступном клиенту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psql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. </a:t>
            </a:r>
          </a:p>
          <a:p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Таким образом, когда применяется команда \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copy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, доступность файла и права доступа зависят от клиента, а не от сервера.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94" name="Google Shape;294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7" name="Google Shape;297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0" name="Google Shape;300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01" name="Google Shape;301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" name="Google Shape;302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3" name="Google Shape;303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ЛОГИЧЕСКОЕ АРХИВИРОВАНИЕ С ПОМОЩЬЮ УТИЛИТЫ PG_DUMP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83B23-9DE7-4811-B47A-328044D6BF23}"/>
              </a:ext>
            </a:extLst>
          </p:cNvPr>
          <p:cNvSpPr txBox="1"/>
          <p:nvPr/>
        </p:nvSpPr>
        <p:spPr>
          <a:xfrm>
            <a:off x="1679508" y="1322513"/>
            <a:ext cx="9604310" cy="2588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Архивирование - утилита PG_DUMP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выдает на консоль или в файл либо SQL-скрипт,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либо архив в специальном формате с оглавлением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Поддерживает параллельное выполнение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позволяет ограничить набор выгружаемых объектов</a:t>
            </a:r>
          </a:p>
          <a:p>
            <a:pPr lvl="0">
              <a:lnSpc>
                <a:spcPct val="115000"/>
              </a:lnSpc>
              <a:spcBef>
                <a:spcPts val="703"/>
              </a:spcBef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(таблицы --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table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схемы --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schema-only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данные --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data-only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и т.п.)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8C944-124A-4F2F-899D-B478AEBC7549}"/>
              </a:ext>
            </a:extLst>
          </p:cNvPr>
          <p:cNvSpPr txBox="1"/>
          <p:nvPr/>
        </p:nvSpPr>
        <p:spPr>
          <a:xfrm>
            <a:off x="1774825" y="5341016"/>
            <a:ext cx="4463081" cy="572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b="1" dirty="0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$ </a:t>
            </a:r>
            <a:r>
              <a:rPr lang="en-US" b="1" dirty="0" err="1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pg_dump</a:t>
            </a:r>
            <a:r>
              <a:rPr lang="en-US" b="1" dirty="0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-d backup --create – </a:t>
            </a:r>
            <a:r>
              <a:rPr lang="ru-RU" b="1" dirty="0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вывод на экран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b="1" dirty="0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$ </a:t>
            </a:r>
            <a:r>
              <a:rPr lang="en-US" b="1" dirty="0" err="1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pg_dump</a:t>
            </a:r>
            <a:r>
              <a:rPr lang="en-US" b="1" dirty="0"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-d backup --create &gt; 1.sql</a:t>
            </a:r>
            <a:endParaRPr lang="en-US" b="1" dirty="0"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094D8DA-4DB4-49DE-9CD0-F8EBF10B46D4}"/>
              </a:ext>
            </a:extLst>
          </p:cNvPr>
          <p:cNvGrpSpPr/>
          <p:nvPr/>
        </p:nvGrpSpPr>
        <p:grpSpPr>
          <a:xfrm>
            <a:off x="1774825" y="4078362"/>
            <a:ext cx="8497200" cy="717900"/>
            <a:chOff x="3881705" y="4731057"/>
            <a:chExt cx="8497200" cy="717900"/>
          </a:xfrm>
        </p:grpSpPr>
        <p:sp>
          <p:nvSpPr>
            <p:cNvPr id="23" name="Google Shape;372;p43">
              <a:extLst>
                <a:ext uri="{FF2B5EF4-FFF2-40B4-BE49-F238E27FC236}">
                  <a16:creationId xmlns:a16="http://schemas.microsoft.com/office/drawing/2014/main" id="{3126935D-FDE7-4E8D-B2CD-DD94632A225A}"/>
                </a:ext>
              </a:extLst>
            </p:cNvPr>
            <p:cNvSpPr/>
            <p:nvPr/>
          </p:nvSpPr>
          <p:spPr>
            <a:xfrm>
              <a:off x="3881705" y="4731057"/>
              <a:ext cx="8497200" cy="717900"/>
            </a:xfrm>
            <a:prstGeom prst="roundRect">
              <a:avLst>
                <a:gd name="adj" fmla="val 16667"/>
              </a:avLst>
            </a:prstGeom>
            <a:solidFill>
              <a:srgbClr val="E5E0F6"/>
            </a:solidFill>
            <a:ln>
              <a:noFill/>
            </a:ln>
          </p:spPr>
          <p:txBody>
            <a:bodyPr spcFirstLastPara="1" wrap="square" lIns="684000" tIns="108000" rIns="180000" bIns="108000" anchor="ctr" anchorCtr="0">
              <a:noAutofit/>
            </a:bodyPr>
            <a:lstStyle/>
            <a:p>
              <a:pPr lvl="0">
                <a:lnSpc>
                  <a:spcPct val="115000"/>
                </a:lnSpc>
                <a:spcBef>
                  <a:spcPts val="703"/>
                </a:spcBef>
              </a:pPr>
              <a:r>
                <a:rPr lang="ru-RU" dirty="0">
                  <a:solidFill>
                    <a:schemeClr val="tx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!!!по умолчанию не создает </a:t>
              </a:r>
              <a:r>
                <a:rPr lang="ru-RU" dirty="0" err="1">
                  <a:solidFill>
                    <a:schemeClr val="tx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tablespace</a:t>
              </a:r>
              <a:r>
                <a:rPr lang="ru-RU" dirty="0">
                  <a:solidFill>
                    <a:schemeClr val="tx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 и юзеров</a:t>
              </a:r>
            </a:p>
          </p:txBody>
        </p:sp>
        <p:pic>
          <p:nvPicPr>
            <p:cNvPr id="24" name="Google Shape;373;p43">
              <a:extLst>
                <a:ext uri="{FF2B5EF4-FFF2-40B4-BE49-F238E27FC236}">
                  <a16:creationId xmlns:a16="http://schemas.microsoft.com/office/drawing/2014/main" id="{CD477768-3A67-47C3-9DF5-B304FA2AB1F3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04325" y="4831421"/>
              <a:ext cx="485372" cy="48537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" name="Google Shape;163;p7">
            <a:extLst>
              <a:ext uri="{FF2B5EF4-FFF2-40B4-BE49-F238E27FC236}">
                <a16:creationId xmlns:a16="http://schemas.microsoft.com/office/drawing/2014/main" id="{9B18442E-5307-4F1C-9647-1E0FDEE1A2FA}"/>
              </a:ext>
            </a:extLst>
          </p:cNvPr>
          <p:cNvCxnSpPr/>
          <p:nvPr/>
        </p:nvCxnSpPr>
        <p:spPr>
          <a:xfrm>
            <a:off x="1774825" y="260566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163;p7">
            <a:extLst>
              <a:ext uri="{FF2B5EF4-FFF2-40B4-BE49-F238E27FC236}">
                <a16:creationId xmlns:a16="http://schemas.microsoft.com/office/drawing/2014/main" id="{371D9FAC-18F0-4A48-ADDA-6A86A898C5DA}"/>
              </a:ext>
            </a:extLst>
          </p:cNvPr>
          <p:cNvCxnSpPr/>
          <p:nvPr/>
        </p:nvCxnSpPr>
        <p:spPr>
          <a:xfrm>
            <a:off x="1774825" y="5120795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16" name="Google Shape;316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19" name="Google Shape;319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2" name="Google Shape;322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23" name="Google Shape;323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4" name="Google Shape;324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25" name="Google Shape;325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1653649" y="359175"/>
            <a:ext cx="98187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Open Sans"/>
              </a:rPr>
              <a:t>ВОССТАНОВЛЕНИЕ ИЗ ЛОГИЧЕСКОГО АРХИВА</a:t>
            </a:r>
          </a:p>
        </p:txBody>
      </p:sp>
      <p:sp>
        <p:nvSpPr>
          <p:cNvPr id="329" name="Google Shape;329;p26"/>
          <p:cNvSpPr txBox="1">
            <a:spLocks noGrp="1"/>
          </p:cNvSpPr>
          <p:nvPr>
            <p:ph type="body" idx="4294967295"/>
          </p:nvPr>
        </p:nvSpPr>
        <p:spPr>
          <a:xfrm>
            <a:off x="1602164" y="1877509"/>
            <a:ext cx="11289000" cy="3272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Восстановление - </a:t>
            </a:r>
            <a:r>
              <a:rPr lang="ru-RU" sz="1600" b="1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psql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так как это простой SQL скрипт</a:t>
            </a: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$ </a:t>
            </a:r>
            <a:r>
              <a:rPr lang="ru-RU" sz="1600" b="1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psql</a:t>
            </a: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&lt; 1.sql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заранее </a:t>
            </a: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должны быть </a:t>
            </a: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созданы роли и табличные пространства</a:t>
            </a:r>
            <a:endParaRPr sz="1600" b="1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(позволяет ограничить набор объектов при восстановлении)</a:t>
            </a: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поддерживает параллельное выполнение</a:t>
            </a:r>
            <a:endParaRPr sz="16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заранее должны быть созданы роли, табличные пространства и БД!!!</a:t>
            </a:r>
            <a:endParaRPr sz="1600" b="1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после восстановления имеет смысл выполнить сбор статистики (ANALIZE)</a:t>
            </a:r>
            <a:endParaRPr sz="1600" b="1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600" b="1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75324FFD-6DED-4E77-915F-8DCABA8C268F}"/>
              </a:ext>
            </a:extLst>
          </p:cNvPr>
          <p:cNvCxnSpPr/>
          <p:nvPr/>
        </p:nvCxnSpPr>
        <p:spPr>
          <a:xfrm>
            <a:off x="1774825" y="297210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27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38" name="Google Shape;338;p27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39" name="Google Shape;339;p27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27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7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7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27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7"/>
            <p:cNvSpPr txBox="1"/>
            <p:nvPr/>
          </p:nvSpPr>
          <p:spPr>
            <a:xfrm>
              <a:off x="3260998" y="5356698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52" name="Google Shape;352;p28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53" name="Google Shape;353;p2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2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28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56" name="Google Shape;356;p2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9" name="Google Shape;359;p2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60" name="Google Shape;360;p2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1" name="Google Shape;361;p28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62" name="Google Shape;362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ACE5C0C6-9D58-4053-BF63-A53A02E2CFF9}"/>
              </a:ext>
            </a:extLst>
          </p:cNvPr>
          <p:cNvSpPr/>
          <p:nvPr/>
        </p:nvSpPr>
        <p:spPr>
          <a:xfrm>
            <a:off x="1725839" y="1720676"/>
            <a:ext cx="4233312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что такое логический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r>
              <a:rPr lang="ru-RU" sz="1800" dirty="0">
                <a:solidFill>
                  <a:schemeClr val="dk1"/>
                </a:solidFill>
              </a:rPr>
              <a:t>, для чего он нужен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2C1416E1-9CC2-4CBA-A953-B53A0B47AC3E}"/>
              </a:ext>
            </a:extLst>
          </p:cNvPr>
          <p:cNvSpPr/>
          <p:nvPr/>
        </p:nvSpPr>
        <p:spPr>
          <a:xfrm>
            <a:off x="6239540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варианты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логического </a:t>
            </a:r>
            <a:r>
              <a:rPr lang="ru-RU" sz="1800" dirty="0" err="1">
                <a:solidFill>
                  <a:schemeClr val="dk1"/>
                </a:solidFill>
              </a:rPr>
              <a:t>бэкапа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FB610B27-9C3F-4DA1-B156-660FDE0EE6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91930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6C39AE1A-E411-45C6-B93B-8F5518BD1D2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61A53B5A-CFDE-4390-8C7A-1D7F62673544}"/>
              </a:ext>
            </a:extLst>
          </p:cNvPr>
          <p:cNvSpPr/>
          <p:nvPr/>
        </p:nvSpPr>
        <p:spPr>
          <a:xfrm>
            <a:off x="1725847" y="3578940"/>
            <a:ext cx="8219593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Создали свой логический </a:t>
            </a:r>
            <a:r>
              <a:rPr lang="ru-RU" sz="1800" dirty="0" err="1">
                <a:solidFill>
                  <a:schemeClr val="dk1"/>
                </a:solidFill>
              </a:rPr>
              <a:t>бэкап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9716D471-E5C4-48D2-BFC7-82AA3AA327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2789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0" i="0" u="none" strike="noStrike" cap="none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sz="3600" b="1" i="0" u="none" strike="noStrike" cap="none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71" name="Google Shape;371;p2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72" name="Google Shape;372;p2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" name="Google Shape;374;p2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75" name="Google Shape;375;p2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8" name="Google Shape;378;p2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79" name="Google Shape;379;p2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0" name="Google Shape;380;p2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81" name="Google Shape;381;p2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9"/>
          <p:cNvSpPr/>
          <p:nvPr/>
        </p:nvSpPr>
        <p:spPr>
          <a:xfrm>
            <a:off x="1710612" y="1478003"/>
            <a:ext cx="10236600" cy="74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Создать свой логический </a:t>
            </a:r>
            <a:r>
              <a:rPr lang="ru-RU" sz="1600" dirty="0" err="1">
                <a:solidFill>
                  <a:schemeClr val="dk1"/>
                </a:solidFill>
              </a:rPr>
              <a:t>бэкап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E7105C-F2C0-4B04-9E05-9C57529A9973}"/>
              </a:ext>
            </a:extLst>
          </p:cNvPr>
          <p:cNvSpPr/>
          <p:nvPr/>
        </p:nvSpPr>
        <p:spPr>
          <a:xfrm>
            <a:off x="1710612" y="2581049"/>
            <a:ext cx="7675984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каталог в папке </a:t>
            </a:r>
            <a:r>
              <a:rPr lang="ru-RU" sz="1600" dirty="0" err="1">
                <a:solidFill>
                  <a:schemeClr val="dk1"/>
                </a:solidFill>
              </a:rPr>
              <a:t>home</a:t>
            </a:r>
            <a:r>
              <a:rPr lang="ru-RU" sz="1600" dirty="0">
                <a:solidFill>
                  <a:schemeClr val="dk1"/>
                </a:solidFill>
              </a:rPr>
              <a:t> и выдать на него права всем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и наполнить данными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Использовать утилиту COPY, чтобы создать </a:t>
            </a:r>
            <a:r>
              <a:rPr lang="ru-RU" sz="1600" dirty="0" err="1">
                <a:solidFill>
                  <a:schemeClr val="dk1"/>
                </a:solidFill>
              </a:rPr>
              <a:t>бэкап</a:t>
            </a:r>
            <a:r>
              <a:rPr lang="ru-RU" sz="1600" dirty="0">
                <a:solidFill>
                  <a:schemeClr val="dk1"/>
                </a:solidFill>
              </a:rPr>
              <a:t> этой таблицы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Убедиться, что данные скопированы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D29BF8D5-E97A-4634-8880-A5CC35038B5C}"/>
              </a:ext>
            </a:extLst>
          </p:cNvPr>
          <p:cNvCxnSpPr/>
          <p:nvPr/>
        </p:nvCxnSpPr>
        <p:spPr>
          <a:xfrm>
            <a:off x="1774825" y="2329147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9" name="Google Shape;389;p30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0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0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 txBox="1"/>
          <p:nvPr/>
        </p:nvSpPr>
        <p:spPr>
          <a:xfrm>
            <a:off x="1721050" y="2718472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Резервное копирование. Физическое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93" name="Google Shape;393;p30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0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0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p30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97" name="Google Shape;397;p30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0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99" name="Google Shape;399;p30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627</Words>
  <Application>Microsoft Office PowerPoint</Application>
  <PresentationFormat>Широкоэкранный</PresentationFormat>
  <Paragraphs>131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Helvetica Neue</vt:lpstr>
      <vt:lpstr>Consolas</vt:lpstr>
      <vt:lpstr>Arial Black</vt:lpstr>
      <vt:lpstr>Proxima Nova</vt:lpstr>
      <vt:lpstr>Arial</vt:lpstr>
      <vt:lpstr>Open Sans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Кузьмичев Даниил Михайлович</cp:lastModifiedBy>
  <cp:revision>8</cp:revision>
  <dcterms:modified xsi:type="dcterms:W3CDTF">2022-09-15T10:52:10Z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55187F2F-5AC4-494A-A378-4279F510F50C</vt:lpwstr>
  </property>
  <property fmtid="{D5CDD505-2E9C-101B-9397-08002B2CF9AE}" pid="3" name="ArticulatePath">
    <vt:lpwstr>32 Резервное копирование. Логическое</vt:lpwstr>
  </property>
</Properties>
</file>