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15"/>
  </p:notesMasterIdLst>
  <p:sldIdLst>
    <p:sldId id="256" r:id="rId2"/>
    <p:sldId id="257" r:id="rId3"/>
    <p:sldId id="269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Arial Black" panose="020B0A04020102020204" pitchFamily="34" charset="0"/>
      <p:regular r:id="rId16"/>
      <p:bold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Helvetica Neue" panose="020B0604020202020204" charset="0"/>
      <p:regular r:id="rId22"/>
      <p:bold r:id="rId23"/>
      <p:italic r:id="rId24"/>
      <p:boldItalic r:id="rId25"/>
    </p:embeddedFont>
    <p:embeddedFont>
      <p:font typeface="Open Sans" panose="020B0604020202020204" charset="0"/>
      <p:regular r:id="rId26"/>
      <p:bold r:id="rId27"/>
      <p:italic r:id="rId28"/>
      <p:boldItalic r:id="rId29"/>
    </p:embeddedFont>
    <p:embeddedFont>
      <p:font typeface="Proxima Nova" panose="020B0604020202020204" charset="0"/>
      <p:regular r:id="rId30"/>
      <p:bold r:id="rId31"/>
      <p:italic r:id="rId32"/>
      <p:boldItalic r:id="rId33"/>
    </p:embeddedFont>
  </p:embeddedFontLst>
  <p:custDataLst>
    <p:tags r:id="rId3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84" y="1296"/>
      </p:cViewPr>
      <p:guideLst>
        <p:guide pos="3863"/>
        <p:guide pos="1118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fdaf37af4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fdaf37af43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fdaf37af43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0248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fdf0324c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fdf0324c0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gfdf0324c0c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fdf0324d1f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fdf0324d1f_0_1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fdf0324d1f_0_1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fdf0324d1f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fdf0324d1f_0_2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gfdf0324d1f_0_2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fdf0324d1f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gfdf0324d1f_0_2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3" name="Google Shape;233;gfdf0324d1f_0_2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fdf0324d1f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gfdf0324d1f_0_2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8" name="Google Shape;258;gfdf0324d1f_0_2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fdf0324d1f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fdf0324d1f_0_3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3" name="Google Shape;283;gfdf0324d1f_0_3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7" name="Google Shape;3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2" name="Google Shape;32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3e3b21b46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g13e3b21b463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1" name="Google Shape;341;g13e3b21b463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0" name="Google Shape;360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 1">
  <p:cSld name="Заголовок и объек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677333" y="469564"/>
            <a:ext cx="90621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Open Sans"/>
              <a:buNone/>
              <a:defRPr sz="3600">
                <a:solidFill>
                  <a:schemeClr val="accen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677334" y="1722475"/>
            <a:ext cx="8596800" cy="43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2000" b="0"/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2.jp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6"/>
          <p:cNvGrpSpPr/>
          <p:nvPr/>
        </p:nvGrpSpPr>
        <p:grpSpPr>
          <a:xfrm>
            <a:off x="0" y="0"/>
            <a:ext cx="12202649" cy="6858000"/>
            <a:chOff x="0" y="0"/>
            <a:chExt cx="24405297" cy="13716000"/>
          </a:xfrm>
        </p:grpSpPr>
        <p:sp>
          <p:nvSpPr>
            <p:cNvPr id="98" name="Google Shape;98;p16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99" name="Google Shape;99;p16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6" descr="A picture containing shape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10800000">
              <a:off x="0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6" descr="Background pattern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16"/>
          <p:cNvGrpSpPr/>
          <p:nvPr/>
        </p:nvGrpSpPr>
        <p:grpSpPr>
          <a:xfrm>
            <a:off x="8992643" y="6057900"/>
            <a:ext cx="800100" cy="800100"/>
            <a:chOff x="18033834" y="12096001"/>
            <a:chExt cx="1600200" cy="1600200"/>
          </a:xfrm>
        </p:grpSpPr>
        <p:pic>
          <p:nvPicPr>
            <p:cNvPr id="104" name="Google Shape;104;p16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8033834" y="12096001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6"/>
            <p:cNvSpPr txBox="1"/>
            <p:nvPr/>
          </p:nvSpPr>
          <p:spPr>
            <a:xfrm>
              <a:off x="18117946" y="12522493"/>
              <a:ext cx="1511670" cy="7290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ru-RU" sz="19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begin</a:t>
              </a:r>
              <a:endParaRPr sz="1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106" name="Google Shape;106;p16" descr="Shape, circle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99431" y="44513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 descr="Shape, circle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412708" y="6051550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81;p1">
            <a:extLst>
              <a:ext uri="{FF2B5EF4-FFF2-40B4-BE49-F238E27FC236}">
                <a16:creationId xmlns:a16="http://schemas.microsoft.com/office/drawing/2014/main" id="{F20EFE4A-1092-41B0-AF3A-C1EEFE78E1BF}"/>
              </a:ext>
            </a:extLst>
          </p:cNvPr>
          <p:cNvSpPr txBox="1">
            <a:spLocks/>
          </p:cNvSpPr>
          <p:nvPr/>
        </p:nvSpPr>
        <p:spPr>
          <a:xfrm>
            <a:off x="1631720" y="2052348"/>
            <a:ext cx="6308826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marL="9144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2pPr>
            <a:lvl3pPr marL="13716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3pPr>
            <a:lvl4pPr marL="18288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4pPr>
            <a:lvl5pPr marL="22860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5pPr>
            <a:lvl6pPr marL="2743200" indent="-431164">
              <a:spcBef>
                <a:spcPts val="2950"/>
              </a:spcBef>
              <a:buSzPts val="3190"/>
              <a:buChar char="•"/>
              <a:defRPr sz="2200"/>
            </a:lvl6pPr>
            <a:lvl7pPr marL="3200400" indent="-431164">
              <a:spcBef>
                <a:spcPts val="2950"/>
              </a:spcBef>
              <a:buSzPts val="3190"/>
              <a:buChar char="•"/>
              <a:defRPr sz="2200"/>
            </a:lvl7pPr>
            <a:lvl8pPr marL="3657600" indent="-431164">
              <a:spcBef>
                <a:spcPts val="2950"/>
              </a:spcBef>
              <a:buSzPts val="3190"/>
              <a:buChar char="•"/>
              <a:defRPr sz="2200"/>
            </a:lvl8pPr>
            <a:lvl9pPr marL="4114800" indent="-431165">
              <a:spcBef>
                <a:spcPts val="2950"/>
              </a:spcBef>
              <a:buSzPts val="3190"/>
              <a:buChar char="•"/>
              <a:defRPr sz="2200"/>
            </a:lvl9pPr>
          </a:lstStyle>
          <a:p>
            <a:pPr lvl="0">
              <a:buClr>
                <a:srgbClr val="000000"/>
              </a:buClr>
              <a:buSzPts val="2000"/>
            </a:pPr>
            <a:r>
              <a:rPr lang="ru-RU" sz="2800" dirty="0"/>
              <a:t>БЛОК 10. ОБЗОР РЕЗЕРВНОГО КОПИРОВАНИЯ И РЕПЛИКАЦИИ</a:t>
            </a:r>
          </a:p>
        </p:txBody>
      </p:sp>
      <p:sp>
        <p:nvSpPr>
          <p:cNvPr id="18" name="Google Shape;82;p1">
            <a:extLst>
              <a:ext uri="{FF2B5EF4-FFF2-40B4-BE49-F238E27FC236}">
                <a16:creationId xmlns:a16="http://schemas.microsoft.com/office/drawing/2014/main" id="{1EEE6094-DEA3-42FC-AFEE-CA965E954085}"/>
              </a:ext>
            </a:extLst>
          </p:cNvPr>
          <p:cNvSpPr txBox="1">
            <a:spLocks/>
          </p:cNvSpPr>
          <p:nvPr/>
        </p:nvSpPr>
        <p:spPr>
          <a:xfrm>
            <a:off x="1619250" y="3044476"/>
            <a:ext cx="8358240" cy="1412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85000"/>
              </a:lnSpc>
              <a:buClr>
                <a:schemeClr val="lt1"/>
              </a:buClr>
              <a:buSzPts val="5400"/>
              <a:buFont typeface="Arial Black"/>
              <a:buNone/>
              <a:defRPr sz="540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2pPr>
            <a:lvl3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3pPr>
            <a:lvl4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4pPr>
            <a:lvl5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5pPr>
            <a:lvl6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6pPr>
            <a:lvl7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7pPr>
            <a:lvl8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8pPr>
            <a:lvl9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9pPr>
          </a:lstStyle>
          <a:p>
            <a:r>
              <a:rPr lang="ru-RU" dirty="0">
                <a:sym typeface="Arial Black"/>
              </a:rPr>
              <a:t>ЛОГИЧЕСКАЯ РЕПЛИКАЦИЯ</a:t>
            </a:r>
            <a:endParaRPr lang="ru-RU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1661148" y="397696"/>
            <a:ext cx="18453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5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ЦЕЛЬ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7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119" name="Google Shape;119;p17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7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17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123" name="Google Shape;123;p17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7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7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6" name="Google Shape;126;p17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27" name="Google Shape;127;p17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" name="Google Shape;128;p17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9" name="Google Shape;129;p1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82;p2">
            <a:extLst>
              <a:ext uri="{FF2B5EF4-FFF2-40B4-BE49-F238E27FC236}">
                <a16:creationId xmlns:a16="http://schemas.microsoft.com/office/drawing/2014/main" id="{984631AF-3159-403B-BFE9-35E5B761D7F3}"/>
              </a:ext>
            </a:extLst>
          </p:cNvPr>
          <p:cNvSpPr/>
          <p:nvPr/>
        </p:nvSpPr>
        <p:spPr>
          <a:xfrm>
            <a:off x="1763395" y="1365673"/>
            <a:ext cx="3859854" cy="1822800"/>
          </a:xfrm>
          <a:prstGeom prst="roundRect">
            <a:avLst>
              <a:gd name="adj" fmla="val 7748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Понять, что такое логическая репликация, для чего она нужна</a:t>
            </a:r>
          </a:p>
        </p:txBody>
      </p:sp>
      <p:sp>
        <p:nvSpPr>
          <p:cNvPr id="21" name="Google Shape;283;p2">
            <a:extLst>
              <a:ext uri="{FF2B5EF4-FFF2-40B4-BE49-F238E27FC236}">
                <a16:creationId xmlns:a16="http://schemas.microsoft.com/office/drawing/2014/main" id="{28DC6DEC-CAA3-4FD8-9099-2C521104ED43}"/>
              </a:ext>
            </a:extLst>
          </p:cNvPr>
          <p:cNvSpPr/>
          <p:nvPr/>
        </p:nvSpPr>
        <p:spPr>
          <a:xfrm>
            <a:off x="5885141" y="1365684"/>
            <a:ext cx="4158300" cy="1822800"/>
          </a:xfrm>
          <a:prstGeom prst="roundRect">
            <a:avLst>
              <a:gd name="adj" fmla="val 6634"/>
            </a:avLst>
          </a:prstGeom>
          <a:solidFill>
            <a:srgbClr val="CCF3E9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Узнать варианты логической репликации</a:t>
            </a:r>
          </a:p>
        </p:txBody>
      </p:sp>
      <p:sp>
        <p:nvSpPr>
          <p:cNvPr id="22" name="Google Shape;285;p2">
            <a:extLst>
              <a:ext uri="{FF2B5EF4-FFF2-40B4-BE49-F238E27FC236}">
                <a16:creationId xmlns:a16="http://schemas.microsoft.com/office/drawing/2014/main" id="{2F02B896-05BE-4FD9-9E92-9325BF23C7FB}"/>
              </a:ext>
            </a:extLst>
          </p:cNvPr>
          <p:cNvSpPr/>
          <p:nvPr/>
        </p:nvSpPr>
        <p:spPr>
          <a:xfrm>
            <a:off x="1763391" y="3430934"/>
            <a:ext cx="8280049" cy="1822800"/>
          </a:xfrm>
          <a:prstGeom prst="roundRect">
            <a:avLst>
              <a:gd name="adj" fmla="val 5519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Создать свой логическую реплику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88;p2">
            <a:extLst>
              <a:ext uri="{FF2B5EF4-FFF2-40B4-BE49-F238E27FC236}">
                <a16:creationId xmlns:a16="http://schemas.microsoft.com/office/drawing/2014/main" id="{5D8DE6A6-667B-4811-A793-9BEA96345EF0}"/>
              </a:ext>
            </a:extLst>
          </p:cNvPr>
          <p:cNvSpPr/>
          <p:nvPr/>
        </p:nvSpPr>
        <p:spPr>
          <a:xfrm>
            <a:off x="1946275" y="1470291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289;p2">
            <a:extLst>
              <a:ext uri="{FF2B5EF4-FFF2-40B4-BE49-F238E27FC236}">
                <a16:creationId xmlns:a16="http://schemas.microsoft.com/office/drawing/2014/main" id="{269287B6-FA87-4209-9364-D890957FF64F}"/>
              </a:ext>
            </a:extLst>
          </p:cNvPr>
          <p:cNvSpPr/>
          <p:nvPr/>
        </p:nvSpPr>
        <p:spPr>
          <a:xfrm>
            <a:off x="6068026" y="1470291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CC596"/>
                </a:solidFill>
                <a:sym typeface="Arial"/>
              </a:rPr>
              <a:t>02</a:t>
            </a:r>
            <a:endParaRPr sz="1500" b="0" i="0" u="none" strike="noStrike" cap="none" dirty="0">
              <a:solidFill>
                <a:srgbClr val="0CC59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291;p2">
            <a:extLst>
              <a:ext uri="{FF2B5EF4-FFF2-40B4-BE49-F238E27FC236}">
                <a16:creationId xmlns:a16="http://schemas.microsoft.com/office/drawing/2014/main" id="{F7419AAE-76DC-4179-9211-2421131B4BB7}"/>
              </a:ext>
            </a:extLst>
          </p:cNvPr>
          <p:cNvSpPr/>
          <p:nvPr/>
        </p:nvSpPr>
        <p:spPr>
          <a:xfrm>
            <a:off x="1946275" y="3577380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7F6AD2"/>
                </a:solidFill>
                <a:sym typeface="Arial"/>
              </a:rPr>
              <a:t>03</a:t>
            </a:r>
            <a:endParaRPr sz="1500" b="0" i="0" u="none" strike="noStrike" cap="none" dirty="0">
              <a:solidFill>
                <a:srgbClr val="7F6AD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1651000" y="336950"/>
            <a:ext cx="87024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СОДЕРЖАНИЕ УРОКА</a:t>
            </a:r>
            <a:endParaRPr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40" name="Google Shape;140;p18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8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" name="Google Shape;142;p18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43" name="Google Shape;143;p18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8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8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6" name="Google Shape;146;p18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47" name="Google Shape;147;p18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" name="Google Shape;148;p18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3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49" name="Google Shape;149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01;p3">
            <a:extLst>
              <a:ext uri="{FF2B5EF4-FFF2-40B4-BE49-F238E27FC236}">
                <a16:creationId xmlns:a16="http://schemas.microsoft.com/office/drawing/2014/main" id="{723FEE51-D276-4A94-A5E1-A2C2C68F5FF6}"/>
              </a:ext>
            </a:extLst>
          </p:cNvPr>
          <p:cNvSpPr/>
          <p:nvPr/>
        </p:nvSpPr>
        <p:spPr>
          <a:xfrm>
            <a:off x="2863612" y="3517449"/>
            <a:ext cx="3145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dirty="0">
                <a:solidFill>
                  <a:schemeClr val="dk1"/>
                </a:solidFill>
              </a:rPr>
              <a:t>Особенности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02;p3">
            <a:extLst>
              <a:ext uri="{FF2B5EF4-FFF2-40B4-BE49-F238E27FC236}">
                <a16:creationId xmlns:a16="http://schemas.microsoft.com/office/drawing/2014/main" id="{5DFDBEAD-FF88-4CCE-B5D7-4F66A955E6A0}"/>
              </a:ext>
            </a:extLst>
          </p:cNvPr>
          <p:cNvSpPr/>
          <p:nvPr/>
        </p:nvSpPr>
        <p:spPr>
          <a:xfrm>
            <a:off x="2863612" y="4955105"/>
            <a:ext cx="20645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03;p3">
            <a:extLst>
              <a:ext uri="{FF2B5EF4-FFF2-40B4-BE49-F238E27FC236}">
                <a16:creationId xmlns:a16="http://schemas.microsoft.com/office/drawing/2014/main" id="{FFDE4E5D-7964-4F0C-ACC9-A546C982FD13}"/>
              </a:ext>
            </a:extLst>
          </p:cNvPr>
          <p:cNvSpPr/>
          <p:nvPr/>
        </p:nvSpPr>
        <p:spPr>
          <a:xfrm>
            <a:off x="1719852" y="1797011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Google Shape;104;p3">
            <a:extLst>
              <a:ext uri="{FF2B5EF4-FFF2-40B4-BE49-F238E27FC236}">
                <a16:creationId xmlns:a16="http://schemas.microsoft.com/office/drawing/2014/main" id="{8279E6D8-3D8A-431A-98A4-FAD928C9D39B}"/>
              </a:ext>
            </a:extLst>
          </p:cNvPr>
          <p:cNvSpPr/>
          <p:nvPr/>
        </p:nvSpPr>
        <p:spPr>
          <a:xfrm>
            <a:off x="1719852" y="3233001"/>
            <a:ext cx="876674" cy="876674"/>
          </a:xfrm>
          <a:prstGeom prst="ellipse">
            <a:avLst/>
          </a:prstGeom>
          <a:solidFill>
            <a:srgbClr val="CCF3E9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C391"/>
                </a:solidFill>
                <a:sym typeface="Arial"/>
              </a:rPr>
              <a:t>2</a:t>
            </a:r>
            <a:endParaRPr sz="1500" b="0" i="0" u="none" strike="noStrike" cap="none" dirty="0">
              <a:solidFill>
                <a:srgbClr val="00C3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105;p3">
            <a:extLst>
              <a:ext uri="{FF2B5EF4-FFF2-40B4-BE49-F238E27FC236}">
                <a16:creationId xmlns:a16="http://schemas.microsoft.com/office/drawing/2014/main" id="{284891FB-EF5D-4A6A-B0D9-E550E11C8369}"/>
              </a:ext>
            </a:extLst>
          </p:cNvPr>
          <p:cNvSpPr/>
          <p:nvPr/>
        </p:nvSpPr>
        <p:spPr>
          <a:xfrm>
            <a:off x="1719852" y="4668990"/>
            <a:ext cx="876674" cy="876674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836ED3"/>
                </a:solidFill>
                <a:sym typeface="Arial"/>
              </a:rPr>
              <a:t>3</a:t>
            </a:r>
            <a:endParaRPr sz="1500" b="0" i="0" u="none" strike="noStrike" cap="none" dirty="0">
              <a:solidFill>
                <a:srgbClr val="836ED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106;p3">
            <a:extLst>
              <a:ext uri="{FF2B5EF4-FFF2-40B4-BE49-F238E27FC236}">
                <a16:creationId xmlns:a16="http://schemas.microsoft.com/office/drawing/2014/main" id="{31F1B74D-2214-427B-845E-D9180EF60B7C}"/>
              </a:ext>
            </a:extLst>
          </p:cNvPr>
          <p:cNvSpPr txBox="1"/>
          <p:nvPr/>
        </p:nvSpPr>
        <p:spPr>
          <a:xfrm>
            <a:off x="2863612" y="2079793"/>
            <a:ext cx="32221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dirty="0">
                <a:solidFill>
                  <a:schemeClr val="dk1"/>
                </a:solidFill>
              </a:rPr>
              <a:t>Логическая репликация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107;p3">
            <a:extLst>
              <a:ext uri="{FF2B5EF4-FFF2-40B4-BE49-F238E27FC236}">
                <a16:creationId xmlns:a16="http://schemas.microsoft.com/office/drawing/2014/main" id="{397998BC-8C01-4574-B165-79FD5E4262FA}"/>
              </a:ext>
            </a:extLst>
          </p:cNvPr>
          <p:cNvCxnSpPr/>
          <p:nvPr/>
        </p:nvCxnSpPr>
        <p:spPr>
          <a:xfrm rot="10800000">
            <a:off x="2158189" y="2770917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108;p3">
            <a:extLst>
              <a:ext uri="{FF2B5EF4-FFF2-40B4-BE49-F238E27FC236}">
                <a16:creationId xmlns:a16="http://schemas.microsoft.com/office/drawing/2014/main" id="{8745E81B-3FD2-451A-8934-EA419B36F4F6}"/>
              </a:ext>
            </a:extLst>
          </p:cNvPr>
          <p:cNvCxnSpPr/>
          <p:nvPr/>
        </p:nvCxnSpPr>
        <p:spPr>
          <a:xfrm rot="10800000">
            <a:off x="2158189" y="4209909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354;p41">
            <a:extLst>
              <a:ext uri="{FF2B5EF4-FFF2-40B4-BE49-F238E27FC236}">
                <a16:creationId xmlns:a16="http://schemas.microsoft.com/office/drawing/2014/main" id="{024FAE86-A9E0-4EF3-83FC-A883E73B1E7A}"/>
              </a:ext>
            </a:extLst>
          </p:cNvPr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3692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19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62" name="Google Shape;162;p19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9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" name="Google Shape;164;p19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65" name="Google Shape;165;p19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9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9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8" name="Google Shape;168;p19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69" name="Google Shape;169;p19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0" name="Google Shape;170;p19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4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71" name="Google Shape;171;p1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1690052" y="359177"/>
            <a:ext cx="107526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Open Sans"/>
              </a:rPr>
              <a:t>ЛОГИЧЕСКАЯ РЕПЛИКАЦИЯ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3D0FC3-7D80-4B29-BAB7-701934FBDCAE}"/>
              </a:ext>
            </a:extLst>
          </p:cNvPr>
          <p:cNvSpPr txBox="1"/>
          <p:nvPr/>
        </p:nvSpPr>
        <p:spPr>
          <a:xfrm>
            <a:off x="1604865" y="2533113"/>
            <a:ext cx="6548588" cy="1791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3810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поставщик-подписчик: поток данных возможен в обе стороны</a:t>
            </a:r>
          </a:p>
          <a:p>
            <a:pPr marL="457200" lvl="0" indent="-3810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информация о строках (уровень журнала </a:t>
            </a:r>
            <a:r>
              <a:rPr lang="ru-RU" sz="1600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logical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)</a:t>
            </a:r>
          </a:p>
          <a:p>
            <a:pPr marL="457200" lvl="0" indent="-3810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требуется совместимость на уровне протокола</a:t>
            </a:r>
          </a:p>
          <a:p>
            <a:pPr marL="457200" lvl="0" indent="-3810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репликация между разными основными версиями </a:t>
            </a:r>
            <a:r>
              <a:rPr lang="ru-RU" sz="1600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Postgres</a:t>
            </a:r>
            <a:endParaRPr lang="ru-RU"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457200" lvl="0" indent="-3810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возможна выборочная репликация отдельных таблиц</a:t>
            </a:r>
          </a:p>
        </p:txBody>
      </p:sp>
      <p:cxnSp>
        <p:nvCxnSpPr>
          <p:cNvPr id="23" name="Google Shape;163;p7">
            <a:extLst>
              <a:ext uri="{FF2B5EF4-FFF2-40B4-BE49-F238E27FC236}">
                <a16:creationId xmlns:a16="http://schemas.microsoft.com/office/drawing/2014/main" id="{5166E5EA-C599-41B2-960B-38A5119020C6}"/>
              </a:ext>
            </a:extLst>
          </p:cNvPr>
          <p:cNvCxnSpPr/>
          <p:nvPr/>
        </p:nvCxnSpPr>
        <p:spPr>
          <a:xfrm>
            <a:off x="1774825" y="1697479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163;p7">
            <a:extLst>
              <a:ext uri="{FF2B5EF4-FFF2-40B4-BE49-F238E27FC236}">
                <a16:creationId xmlns:a16="http://schemas.microsoft.com/office/drawing/2014/main" id="{E0DC1A5D-A21D-4AC1-8C4B-2543B185722C}"/>
              </a:ext>
            </a:extLst>
          </p:cNvPr>
          <p:cNvCxnSpPr/>
          <p:nvPr/>
        </p:nvCxnSpPr>
        <p:spPr>
          <a:xfrm>
            <a:off x="1774825" y="5014682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" name="Google Shape;186;p20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87" name="Google Shape;187;p20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0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9" name="Google Shape;189;p20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90" name="Google Shape;190;p20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20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20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3" name="Google Shape;193;p20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94" name="Google Shape;194;p20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5" name="Google Shape;195;p20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5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96" name="Google Shape;196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1698170" y="359177"/>
            <a:ext cx="7980785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Open Sans"/>
              </a:rPr>
              <a:t>ЛОГИЧЕСКАЯ РЕПЛИКАЦИЯ. ВАРИАНТЫ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248D05-119A-4F3D-9033-5EF94F9605A8}"/>
              </a:ext>
            </a:extLst>
          </p:cNvPr>
          <p:cNvSpPr txBox="1"/>
          <p:nvPr/>
        </p:nvSpPr>
        <p:spPr>
          <a:xfrm>
            <a:off x="1585734" y="1121611"/>
            <a:ext cx="7980785" cy="917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342900" algn="just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Встроенная логическая репликация доступна в версиях </a:t>
            </a:r>
            <a:r>
              <a:rPr lang="ru-RU" sz="1600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PostgreSQL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начиная с 10. Для более ранних версий аналогичный функционал доступен в расширении </a:t>
            </a:r>
            <a:r>
              <a:rPr lang="ru-RU" sz="1600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pg_logical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51E6AB4-9624-4E49-8A57-5BB87C4CA6AB}"/>
              </a:ext>
            </a:extLst>
          </p:cNvPr>
          <p:cNvSpPr/>
          <p:nvPr/>
        </p:nvSpPr>
        <p:spPr>
          <a:xfrm>
            <a:off x="1585733" y="2429878"/>
            <a:ext cx="8093221" cy="9176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Для передачи логических изменений (на уровне строк) используется протокол репликации. Для работы такой репликации требуется установка уровня журнала </a:t>
            </a:r>
            <a:r>
              <a:rPr lang="ru-RU" sz="1600" b="1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logical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36E7B10-224F-471E-8B62-E9AE1E0F2EEA}"/>
              </a:ext>
            </a:extLst>
          </p:cNvPr>
          <p:cNvSpPr/>
          <p:nvPr/>
        </p:nvSpPr>
        <p:spPr>
          <a:xfrm>
            <a:off x="1554751" y="3738145"/>
            <a:ext cx="8093221" cy="1200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Другой способ организации логической репликации состоит в использовании триггеров для перехвата изменений, помещения этой информации в очередь событий и передача ее на другой сервер. Такой способ, однако, менее эффективен, и уходит в прошлое (</a:t>
            </a:r>
            <a:r>
              <a:rPr lang="ru-RU" sz="1600" b="1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Slony</a:t>
            </a: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-I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).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1980DEC-7CEE-421A-9289-2A4C4CA6951F}"/>
              </a:ext>
            </a:extLst>
          </p:cNvPr>
          <p:cNvSpPr/>
          <p:nvPr/>
        </p:nvSpPr>
        <p:spPr>
          <a:xfrm>
            <a:off x="1585733" y="5329566"/>
            <a:ext cx="8093221" cy="9176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При логической репликации у сервера нет выделенной роли мастера или реплики, что позволяет организовать в том числе и двунаправленную репликацию.</a:t>
            </a:r>
          </a:p>
        </p:txBody>
      </p:sp>
      <p:cxnSp>
        <p:nvCxnSpPr>
          <p:cNvPr id="28" name="Google Shape;163;p7">
            <a:extLst>
              <a:ext uri="{FF2B5EF4-FFF2-40B4-BE49-F238E27FC236}">
                <a16:creationId xmlns:a16="http://schemas.microsoft.com/office/drawing/2014/main" id="{7E0A862F-5B6D-4BAD-9CDF-0A5C0C2A16A1}"/>
              </a:ext>
            </a:extLst>
          </p:cNvPr>
          <p:cNvCxnSpPr/>
          <p:nvPr/>
        </p:nvCxnSpPr>
        <p:spPr>
          <a:xfrm>
            <a:off x="1774825" y="2219994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" name="Google Shape;163;p7">
            <a:extLst>
              <a:ext uri="{FF2B5EF4-FFF2-40B4-BE49-F238E27FC236}">
                <a16:creationId xmlns:a16="http://schemas.microsoft.com/office/drawing/2014/main" id="{0383FFAC-C21F-4397-9EC7-0688F85C7AC2}"/>
              </a:ext>
            </a:extLst>
          </p:cNvPr>
          <p:cNvCxnSpPr/>
          <p:nvPr/>
        </p:nvCxnSpPr>
        <p:spPr>
          <a:xfrm>
            <a:off x="1774825" y="3538720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163;p7">
            <a:extLst>
              <a:ext uri="{FF2B5EF4-FFF2-40B4-BE49-F238E27FC236}">
                <a16:creationId xmlns:a16="http://schemas.microsoft.com/office/drawing/2014/main" id="{5A2B1EFF-05D3-43B2-8051-79900BAE2A51}"/>
              </a:ext>
            </a:extLst>
          </p:cNvPr>
          <p:cNvCxnSpPr/>
          <p:nvPr/>
        </p:nvCxnSpPr>
        <p:spPr>
          <a:xfrm>
            <a:off x="1774825" y="5143585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1" name="Google Shape;211;p21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12" name="Google Shape;212;p21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21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4" name="Google Shape;214;p21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15" name="Google Shape;215;p21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21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1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8" name="Google Shape;218;p21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19" name="Google Shape;219;p21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0" name="Google Shape;220;p21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6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21" name="Google Shape;221;p2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1691951" y="359177"/>
            <a:ext cx="6780246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Open Sans"/>
              </a:rPr>
              <a:t>ЛОГИЧЕСКАЯ РЕПЛИКАЦИЯ. ПРИНЦИП РАБОТЫ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E43B34-A116-4959-A11C-3DA90757E993}"/>
              </a:ext>
            </a:extLst>
          </p:cNvPr>
          <p:cNvSpPr txBox="1"/>
          <p:nvPr/>
        </p:nvSpPr>
        <p:spPr>
          <a:xfrm>
            <a:off x="1691951" y="1403934"/>
            <a:ext cx="8540370" cy="4241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spcBef>
                <a:spcPts val="703"/>
              </a:spcBef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Публикующий сервер</a:t>
            </a:r>
          </a:p>
          <a:p>
            <a:pPr lvl="0">
              <a:lnSpc>
                <a:spcPct val="115000"/>
              </a:lnSpc>
              <a:spcBef>
                <a:spcPts val="703"/>
              </a:spcBef>
            </a:pPr>
            <a:endParaRPr lang="ru-RU" sz="1600" b="1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выдает изменения данных построчно в порядке их фиксации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(реплицируются команды INSERT, UPDATE, DELETE), в 11 версии добавили TRUNCATE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возможна начальная синхронизация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всегда используется слот логической репликации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b="1" dirty="0"/>
              <a:t>DDL не передаются, то есть таблицы-приемники на стороне подписчика надо создавать вручную.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Данные последовательностей не реплицируются.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Реплицировать данные возможно только из базовых таблиц в базовые таблицы. То есть таблицы на стороне публикации и на стороне подписки должны быть обычными, а не представлениями, мат. представлениями, секционированными или сторонними таблицами.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применение изменений происходит без выполнения команд SQL и связанных с этим накладных расходов на разбор и планирование, что уменьшает нагрузку на подписчика.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параметр </a:t>
            </a:r>
            <a:r>
              <a:rPr lang="ru-RU" b="1" dirty="0" err="1"/>
              <a:t>wal_level</a:t>
            </a:r>
            <a:r>
              <a:rPr lang="ru-RU" b="1" dirty="0"/>
              <a:t> = </a:t>
            </a:r>
            <a:r>
              <a:rPr lang="ru-RU" b="1" dirty="0" err="1"/>
              <a:t>logical</a:t>
            </a:r>
            <a:endParaRPr lang="ru-RU" sz="1600" b="1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cxnSp>
        <p:nvCxnSpPr>
          <p:cNvPr id="31" name="Google Shape;163;p7">
            <a:extLst>
              <a:ext uri="{FF2B5EF4-FFF2-40B4-BE49-F238E27FC236}">
                <a16:creationId xmlns:a16="http://schemas.microsoft.com/office/drawing/2014/main" id="{48DA1D26-D4A5-4F3C-919D-21C9C1FC0B99}"/>
              </a:ext>
            </a:extLst>
          </p:cNvPr>
          <p:cNvCxnSpPr/>
          <p:nvPr/>
        </p:nvCxnSpPr>
        <p:spPr>
          <a:xfrm>
            <a:off x="1774825" y="1927636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" name="Google Shape;236;p22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37" name="Google Shape;237;p22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22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9" name="Google Shape;239;p22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40" name="Google Shape;240;p22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2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22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3" name="Google Shape;243;p22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44" name="Google Shape;244;p22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5" name="Google Shape;245;p22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7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46" name="Google Shape;246;p2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 txBox="1"/>
          <p:nvPr/>
        </p:nvSpPr>
        <p:spPr>
          <a:xfrm>
            <a:off x="1698170" y="359177"/>
            <a:ext cx="6910875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Open Sans"/>
              </a:rPr>
              <a:t>ЛОГИЧЕСКАЯ РЕПЛИКАЦИЯ. ПРИНЦИП РАБОТЫ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B0479F-BB8E-48C1-B61D-009D746D04B6}"/>
              </a:ext>
            </a:extLst>
          </p:cNvPr>
          <p:cNvSpPr txBox="1"/>
          <p:nvPr/>
        </p:nvSpPr>
        <p:spPr>
          <a:xfrm>
            <a:off x="1698170" y="2388637"/>
            <a:ext cx="7135287" cy="2164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15000"/>
              </a:lnSpc>
              <a:spcBef>
                <a:spcPts val="703"/>
              </a:spcBef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Подписчики</a:t>
            </a:r>
          </a:p>
          <a:p>
            <a:pPr lvl="0">
              <a:lnSpc>
                <a:spcPct val="115000"/>
              </a:lnSpc>
              <a:spcBef>
                <a:spcPts val="703"/>
              </a:spcBef>
            </a:pPr>
            <a:endParaRPr lang="ru-RU" sz="1600" b="1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получают и применяют изменения</a:t>
            </a:r>
          </a:p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без разбора, трансформаций и планирования — сразу выполнение</a:t>
            </a:r>
          </a:p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возможны конфликты с локальными данными</a:t>
            </a:r>
          </a:p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триггеры срабатывают для каждого подписчика отдельно</a:t>
            </a:r>
          </a:p>
        </p:txBody>
      </p:sp>
      <p:cxnSp>
        <p:nvCxnSpPr>
          <p:cNvPr id="23" name="Google Shape;163;p7">
            <a:extLst>
              <a:ext uri="{FF2B5EF4-FFF2-40B4-BE49-F238E27FC236}">
                <a16:creationId xmlns:a16="http://schemas.microsoft.com/office/drawing/2014/main" id="{C9BF5343-07B8-4C3F-A83A-8A8F9FF6F1E4}"/>
              </a:ext>
            </a:extLst>
          </p:cNvPr>
          <p:cNvCxnSpPr/>
          <p:nvPr/>
        </p:nvCxnSpPr>
        <p:spPr>
          <a:xfrm>
            <a:off x="1774825" y="2941563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1" name="Google Shape;261;p23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62" name="Google Shape;262;p23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23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4" name="Google Shape;264;p23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65" name="Google Shape;265;p23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23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p23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8" name="Google Shape;268;p23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69" name="Google Shape;269;p23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0" name="Google Shape;270;p23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8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71" name="Google Shape;271;p2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3"/>
          <p:cNvSpPr txBox="1"/>
          <p:nvPr/>
        </p:nvSpPr>
        <p:spPr>
          <a:xfrm>
            <a:off x="1685730" y="359177"/>
            <a:ext cx="5461519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Open Sans"/>
              </a:rPr>
              <a:t>ЛОГИЧЕСКАЯ РЕПЛИКАЦИЯ. ОСОБЕННОСТИ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1158EA-F405-43EA-BA9E-6AACD73216B3}"/>
              </a:ext>
            </a:extLst>
          </p:cNvPr>
          <p:cNvSpPr/>
          <p:nvPr/>
        </p:nvSpPr>
        <p:spPr>
          <a:xfrm>
            <a:off x="6974079" y="2182359"/>
            <a:ext cx="4049486" cy="2281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Bef>
                <a:spcPts val="703"/>
              </a:spcBef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Конфликты — нарушение ограничений целостности</a:t>
            </a:r>
          </a:p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ts val="18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репликация приостанавливается до устранения конфликта вручную </a:t>
            </a:r>
          </a:p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ts val="18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либо исправление данных,</a:t>
            </a:r>
          </a:p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ts val="18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либо пропуск конфликтующей транзакции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8A280D-11E4-474D-A18B-AB958A33A665}"/>
              </a:ext>
            </a:extLst>
          </p:cNvPr>
          <p:cNvSpPr txBox="1"/>
          <p:nvPr/>
        </p:nvSpPr>
        <p:spPr>
          <a:xfrm>
            <a:off x="1685730" y="2182359"/>
            <a:ext cx="4801838" cy="2641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spcBef>
                <a:spcPts val="703"/>
              </a:spcBef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Режимы идентификации для изменения 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          </a:t>
            </a: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и удаления</a:t>
            </a:r>
          </a:p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столбцы первичного ключа (по умолчанию)</a:t>
            </a:r>
          </a:p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столбцы указанного уникального индекса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    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с ограничением NOT NULL</a:t>
            </a:r>
          </a:p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все столбцы</a:t>
            </a:r>
          </a:p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без идентификации (по умолчанию для системного каталога)</a:t>
            </a:r>
          </a:p>
        </p:txBody>
      </p:sp>
      <p:cxnSp>
        <p:nvCxnSpPr>
          <p:cNvPr id="24" name="Google Shape;163;p7">
            <a:extLst>
              <a:ext uri="{FF2B5EF4-FFF2-40B4-BE49-F238E27FC236}">
                <a16:creationId xmlns:a16="http://schemas.microsoft.com/office/drawing/2014/main" id="{37492CDA-1E78-4DB6-82E0-991D88F37D5E}"/>
              </a:ext>
            </a:extLst>
          </p:cNvPr>
          <p:cNvCxnSpPr/>
          <p:nvPr/>
        </p:nvCxnSpPr>
        <p:spPr>
          <a:xfrm>
            <a:off x="1774825" y="1805874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" name="Google Shape;163;p7">
            <a:extLst>
              <a:ext uri="{FF2B5EF4-FFF2-40B4-BE49-F238E27FC236}">
                <a16:creationId xmlns:a16="http://schemas.microsoft.com/office/drawing/2014/main" id="{39873A0E-F194-4237-8CFE-5C5AE193F366}"/>
              </a:ext>
            </a:extLst>
          </p:cNvPr>
          <p:cNvCxnSpPr/>
          <p:nvPr/>
        </p:nvCxnSpPr>
        <p:spPr>
          <a:xfrm>
            <a:off x="1774825" y="5123077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6" name="Google Shape;286;p24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87" name="Google Shape;287;p24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8" name="Google Shape;288;p24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9" name="Google Shape;289;p24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90" name="Google Shape;290;p24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p24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24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3" name="Google Shape;293;p24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94" name="Google Shape;294;p24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5" name="Google Shape;295;p24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9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96" name="Google Shape;296;p2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4"/>
          <p:cNvSpPr txBox="1"/>
          <p:nvPr/>
        </p:nvSpPr>
        <p:spPr>
          <a:xfrm>
            <a:off x="1696272" y="359177"/>
            <a:ext cx="7559695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Open Sans"/>
              </a:rPr>
              <a:t>ЛОГИЧЕСКАЯ РЕПЛИКАЦИЯ. ПРАКТИКА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4A9546C-EED9-49C3-92F7-6B4AB284D0A0}"/>
              </a:ext>
            </a:extLst>
          </p:cNvPr>
          <p:cNvSpPr/>
          <p:nvPr/>
        </p:nvSpPr>
        <p:spPr>
          <a:xfrm>
            <a:off x="1696272" y="1966356"/>
            <a:ext cx="1911101" cy="351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15000"/>
              </a:lnSpc>
              <a:spcBef>
                <a:spcPts val="703"/>
              </a:spcBef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Выполним шаги:</a:t>
            </a:r>
            <a:endParaRPr lang="en-US" sz="1600" b="1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cxnSp>
        <p:nvCxnSpPr>
          <p:cNvPr id="24" name="Google Shape;163;p7">
            <a:extLst>
              <a:ext uri="{FF2B5EF4-FFF2-40B4-BE49-F238E27FC236}">
                <a16:creationId xmlns:a16="http://schemas.microsoft.com/office/drawing/2014/main" id="{6EA7D930-4EA5-4589-A217-734998BB95FF}"/>
              </a:ext>
            </a:extLst>
          </p:cNvPr>
          <p:cNvCxnSpPr/>
          <p:nvPr/>
        </p:nvCxnSpPr>
        <p:spPr>
          <a:xfrm>
            <a:off x="1774825" y="2508993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6743273-5406-4822-B803-7F58D6E271C1}"/>
              </a:ext>
            </a:extLst>
          </p:cNvPr>
          <p:cNvSpPr/>
          <p:nvPr/>
        </p:nvSpPr>
        <p:spPr>
          <a:xfrm>
            <a:off x="1696272" y="2773994"/>
            <a:ext cx="7237331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spcBef>
                <a:spcPts val="600"/>
              </a:spcBef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Будем использовать 2 сервера с предыдущего урока</a:t>
            </a:r>
          </a:p>
          <a:p>
            <a:pPr marL="342900" indent="-342900" fontAlgn="base">
              <a:spcBef>
                <a:spcPts val="600"/>
              </a:spcBef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Сделаем </a:t>
            </a:r>
            <a:r>
              <a:rPr lang="ru-RU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promote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 сервера - получим 2 отдельных сервера!</a:t>
            </a:r>
          </a:p>
          <a:p>
            <a:pPr marL="342900" indent="-342900" fontAlgn="base">
              <a:spcBef>
                <a:spcPts val="600"/>
              </a:spcBef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Создадим публикацию таблицы на 1 сервере</a:t>
            </a:r>
          </a:p>
          <a:p>
            <a:pPr marL="342900" indent="-342900" fontAlgn="base">
              <a:spcBef>
                <a:spcPts val="600"/>
              </a:spcBef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Подпишемся на эту публикацию на 2 сервере</a:t>
            </a:r>
          </a:p>
          <a:p>
            <a:pPr marL="342900" indent="-342900" fontAlgn="base">
              <a:spcBef>
                <a:spcPts val="600"/>
              </a:spcBef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Добавим запись на 1 сервере в эту таблицу и убедимся, что она появилась на 2 сервере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5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96604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5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49" y="809625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1" name="Google Shape;311;p25"/>
          <p:cNvGrpSpPr/>
          <p:nvPr/>
        </p:nvGrpSpPr>
        <p:grpSpPr>
          <a:xfrm>
            <a:off x="1" y="0"/>
            <a:ext cx="12202649" cy="6858000"/>
            <a:chOff x="0" y="0"/>
            <a:chExt cx="24405297" cy="13716000"/>
          </a:xfrm>
        </p:grpSpPr>
        <p:sp>
          <p:nvSpPr>
            <p:cNvPr id="312" name="Google Shape;312;p25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313" name="Google Shape;313;p25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4" name="Google Shape;314;p25" descr="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25" descr="A picture containing shap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6" name="Google Shape;316;p25" descr="Icon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p25" descr="Shape, circle&#10;&#10;Description automatically generated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1204897" y="105219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8" name="Google Shape;318;p25"/>
            <p:cNvSpPr txBox="1"/>
            <p:nvPr/>
          </p:nvSpPr>
          <p:spPr>
            <a:xfrm>
              <a:off x="3260998" y="5742282"/>
              <a:ext cx="16917839" cy="2825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lnSpc>
                  <a:spcPct val="85000"/>
                </a:lnSpc>
                <a:buClr>
                  <a:schemeClr val="lt1"/>
                </a:buClr>
                <a:buSzPts val="5400"/>
                <a:buFont typeface="Arial Black"/>
                <a:buNone/>
                <a:defRPr sz="5400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</a:defRPr>
              </a:lvl1pPr>
              <a:lvl2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2pPr>
              <a:lvl3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3pPr>
              <a:lvl4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4pPr>
              <a:lvl5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5pPr>
              <a:lvl6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6pPr>
              <a:lvl7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7pPr>
              <a:lvl8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8pPr>
              <a:lvl9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9pPr>
            </a:lstStyle>
            <a:p>
              <a:r>
                <a:rPr lang="ru-RU" dirty="0">
                  <a:sym typeface="Arial Black"/>
                </a:rPr>
                <a:t>ПОДВЕДЕНИЕ </a:t>
              </a:r>
              <a:endParaRPr dirty="0"/>
            </a:p>
            <a:p>
              <a:r>
                <a:rPr lang="ru-RU" dirty="0">
                  <a:sym typeface="Arial Black"/>
                </a:rPr>
                <a:t>ИТОГОВ</a:t>
              </a:r>
              <a:endParaRPr dirty="0">
                <a:sym typeface="Calibri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6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6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ИТОГИ ЗАНЯТИЯ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26" name="Google Shape;326;p26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327" name="Google Shape;327;p26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p26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9" name="Google Shape;329;p26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330" name="Google Shape;330;p26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" name="Google Shape;331;p26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2" name="Google Shape;332;p26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3" name="Google Shape;333;p26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34" name="Google Shape;334;p26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5" name="Google Shape;335;p26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11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36" name="Google Shape;336;p2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531;g142b2dfbfff_0_351">
            <a:extLst>
              <a:ext uri="{FF2B5EF4-FFF2-40B4-BE49-F238E27FC236}">
                <a16:creationId xmlns:a16="http://schemas.microsoft.com/office/drawing/2014/main" id="{7626E238-A800-4B17-BFCA-64B830BC2A2A}"/>
              </a:ext>
            </a:extLst>
          </p:cNvPr>
          <p:cNvSpPr/>
          <p:nvPr/>
        </p:nvSpPr>
        <p:spPr>
          <a:xfrm>
            <a:off x="1725839" y="1821600"/>
            <a:ext cx="4233312" cy="1607400"/>
          </a:xfrm>
          <a:prstGeom prst="roundRect">
            <a:avLst>
              <a:gd name="adj" fmla="val 5760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01</a:t>
            </a:r>
            <a:endParaRPr lang="en-US" sz="1500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Поняли, что такое логическая репликация, для чего она нужна</a:t>
            </a:r>
          </a:p>
        </p:txBody>
      </p:sp>
      <p:sp>
        <p:nvSpPr>
          <p:cNvPr id="18" name="Google Shape;532;g142b2dfbfff_0_351">
            <a:extLst>
              <a:ext uri="{FF2B5EF4-FFF2-40B4-BE49-F238E27FC236}">
                <a16:creationId xmlns:a16="http://schemas.microsoft.com/office/drawing/2014/main" id="{57F32FAB-B1AD-4810-BADF-979EAC5D1611}"/>
              </a:ext>
            </a:extLst>
          </p:cNvPr>
          <p:cNvSpPr/>
          <p:nvPr/>
        </p:nvSpPr>
        <p:spPr>
          <a:xfrm>
            <a:off x="6239540" y="1821589"/>
            <a:ext cx="3705900" cy="1607400"/>
          </a:xfrm>
          <a:prstGeom prst="roundRect">
            <a:avLst>
              <a:gd name="adj" fmla="val 521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02</a:t>
            </a:r>
            <a:endParaRPr lang="en-US" sz="1500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Узнали варианты логической репликации</a:t>
            </a:r>
          </a:p>
        </p:txBody>
      </p:sp>
      <p:pic>
        <p:nvPicPr>
          <p:cNvPr id="19" name="Google Shape;534;g142b2dfbfff_0_351">
            <a:extLst>
              <a:ext uri="{FF2B5EF4-FFF2-40B4-BE49-F238E27FC236}">
                <a16:creationId xmlns:a16="http://schemas.microsoft.com/office/drawing/2014/main" id="{ABA0A19D-639E-4308-9DD3-0871C254C7B6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391930" y="1987080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535;g142b2dfbfff_0_351">
            <a:extLst>
              <a:ext uri="{FF2B5EF4-FFF2-40B4-BE49-F238E27FC236}">
                <a16:creationId xmlns:a16="http://schemas.microsoft.com/office/drawing/2014/main" id="{4D5E7E7D-8CE2-46DB-90A6-7833ED2BD7D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372789" y="1987080"/>
            <a:ext cx="383005" cy="38300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537;g142b2dfbfff_0_351">
            <a:extLst>
              <a:ext uri="{FF2B5EF4-FFF2-40B4-BE49-F238E27FC236}">
                <a16:creationId xmlns:a16="http://schemas.microsoft.com/office/drawing/2014/main" id="{63C1013B-7656-4740-B5B5-4022790C404E}"/>
              </a:ext>
            </a:extLst>
          </p:cNvPr>
          <p:cNvSpPr/>
          <p:nvPr/>
        </p:nvSpPr>
        <p:spPr>
          <a:xfrm>
            <a:off x="1725847" y="3679864"/>
            <a:ext cx="8219593" cy="1607400"/>
          </a:xfrm>
          <a:prstGeom prst="roundRect">
            <a:avLst>
              <a:gd name="adj" fmla="val 630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3</a:t>
            </a:r>
            <a:endParaRPr lang="en-US" sz="1500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Создали свой логическую реплику</a:t>
            </a:r>
          </a:p>
        </p:txBody>
      </p:sp>
      <p:pic>
        <p:nvPicPr>
          <p:cNvPr id="22" name="Google Shape;538;g142b2dfbfff_0_351">
            <a:extLst>
              <a:ext uri="{FF2B5EF4-FFF2-40B4-BE49-F238E27FC236}">
                <a16:creationId xmlns:a16="http://schemas.microsoft.com/office/drawing/2014/main" id="{431D64E1-EDEF-4E2D-9B23-4EB7F0A00EC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372789" y="3845355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7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7"/>
          <p:cNvSpPr/>
          <p:nvPr/>
        </p:nvSpPr>
        <p:spPr>
          <a:xfrm>
            <a:off x="1651000" y="336950"/>
            <a:ext cx="8560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ЗАДАНИЕ ДЛЯ САМОПРОВЕРКИ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45" name="Google Shape;345;p27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346" name="Google Shape;346;p27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7" name="Google Shape;347;p27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8" name="Google Shape;348;p27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349" name="Google Shape;349;p27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" name="Google Shape;350;p27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1" name="Google Shape;351;p27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2" name="Google Shape;352;p27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53" name="Google Shape;353;p27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4" name="Google Shape;354;p27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12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55" name="Google Shape;355;p2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7"/>
          <p:cNvSpPr/>
          <p:nvPr/>
        </p:nvSpPr>
        <p:spPr>
          <a:xfrm>
            <a:off x="1699761" y="1041601"/>
            <a:ext cx="6242918" cy="64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1" dirty="0">
                <a:solidFill>
                  <a:schemeClr val="tx1"/>
                </a:solidFill>
              </a:rPr>
              <a:t>Цель задания:</a:t>
            </a:r>
            <a:endParaRPr sz="1600" b="1" dirty="0">
              <a:solidFill>
                <a:schemeClr val="tx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chemeClr val="tx1"/>
                </a:solidFill>
              </a:rPr>
              <a:t>Создать свою логическую реплику 1 таблицы</a:t>
            </a:r>
            <a:endParaRPr sz="1600" dirty="0">
              <a:solidFill>
                <a:schemeClr val="tx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20C2AF8-9582-474E-890C-79BB9D91B9E2}"/>
              </a:ext>
            </a:extLst>
          </p:cNvPr>
          <p:cNvSpPr/>
          <p:nvPr/>
        </p:nvSpPr>
        <p:spPr>
          <a:xfrm>
            <a:off x="1699760" y="1881283"/>
            <a:ext cx="8511739" cy="4448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ts val="1800"/>
            </a:pPr>
            <a:r>
              <a:rPr lang="ru-RU" b="1" dirty="0">
                <a:solidFill>
                  <a:schemeClr val="tx1"/>
                </a:solidFill>
              </a:rPr>
              <a:t>Пошаговый план выполнения:</a:t>
            </a:r>
            <a:endParaRPr lang="en-US" b="1" dirty="0">
              <a:solidFill>
                <a:schemeClr val="tx1"/>
              </a:solidFill>
            </a:endParaRPr>
          </a:p>
          <a:p>
            <a:pPr lvl="0">
              <a:buSzPts val="1800"/>
            </a:pPr>
            <a:endParaRPr lang="ru-RU" dirty="0">
              <a:solidFill>
                <a:schemeClr val="tx1"/>
              </a:solidFill>
            </a:endParaRPr>
          </a:p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AutoNum type="arabicPeriod"/>
            </a:pPr>
            <a:r>
              <a:rPr lang="ru-RU" dirty="0">
                <a:solidFill>
                  <a:schemeClr val="tx1"/>
                </a:solidFill>
              </a:rPr>
              <a:t>Использовать 2 сервера с предыдущего урока</a:t>
            </a:r>
          </a:p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AutoNum type="arabicPeriod"/>
            </a:pPr>
            <a:r>
              <a:rPr lang="ru-RU" dirty="0">
                <a:solidFill>
                  <a:schemeClr val="tx1"/>
                </a:solidFill>
              </a:rPr>
              <a:t>Сделать </a:t>
            </a:r>
            <a:r>
              <a:rPr lang="ru-RU" dirty="0" err="1">
                <a:solidFill>
                  <a:schemeClr val="tx1"/>
                </a:solidFill>
              </a:rPr>
              <a:t>promote</a:t>
            </a:r>
            <a:r>
              <a:rPr lang="ru-RU" dirty="0">
                <a:solidFill>
                  <a:schemeClr val="tx1"/>
                </a:solidFill>
              </a:rPr>
              <a:t> 2 сервера - получить 2 отдельных сервера</a:t>
            </a:r>
          </a:p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AutoNum type="arabicPeriod"/>
            </a:pPr>
            <a:r>
              <a:rPr lang="ru-RU" dirty="0">
                <a:solidFill>
                  <a:schemeClr val="tx1"/>
                </a:solidFill>
              </a:rPr>
              <a:t>Включить логический уровень журналирования на 1 сервере </a:t>
            </a:r>
          </a:p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AutoNum type="arabicPeriod"/>
            </a:pPr>
            <a:r>
              <a:rPr lang="ru-RU" dirty="0">
                <a:solidFill>
                  <a:schemeClr val="tx1"/>
                </a:solidFill>
              </a:rPr>
              <a:t>Перезагрузить 1 сервер</a:t>
            </a:r>
          </a:p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AutoNum type="arabicPeriod"/>
            </a:pPr>
            <a:r>
              <a:rPr lang="ru-RU" dirty="0">
                <a:solidFill>
                  <a:schemeClr val="tx1"/>
                </a:solidFill>
              </a:rPr>
              <a:t>Создать публикацию таблицы на 1 сервере</a:t>
            </a:r>
          </a:p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AutoNum type="arabicPeriod"/>
            </a:pPr>
            <a:r>
              <a:rPr lang="ru-RU" dirty="0">
                <a:solidFill>
                  <a:schemeClr val="tx1"/>
                </a:solidFill>
              </a:rPr>
              <a:t>Создать аналогичную таблицу на 2 сервере, если ее там нет</a:t>
            </a:r>
          </a:p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AutoNum type="arabicPeriod"/>
            </a:pPr>
            <a:r>
              <a:rPr lang="ru-RU" dirty="0">
                <a:solidFill>
                  <a:schemeClr val="tx1"/>
                </a:solidFill>
              </a:rPr>
              <a:t>Подписаться на эту публикацию на 2 сервере</a:t>
            </a:r>
          </a:p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AutoNum type="arabicPeriod"/>
            </a:pPr>
            <a:r>
              <a:rPr lang="ru-RU" dirty="0">
                <a:solidFill>
                  <a:schemeClr val="tx1"/>
                </a:solidFill>
              </a:rPr>
              <a:t>Добавить запись на 1 сервере в эту таблицу </a:t>
            </a:r>
          </a:p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AutoNum type="arabicPeriod"/>
            </a:pPr>
            <a:r>
              <a:rPr lang="ru-RU" dirty="0">
                <a:solidFill>
                  <a:schemeClr val="tx1"/>
                </a:solidFill>
              </a:rPr>
              <a:t>Убедиться, что она появилась на 2 сервере</a:t>
            </a:r>
          </a:p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AutoNum type="arabicPeriod"/>
            </a:pPr>
            <a:r>
              <a:rPr lang="ru-RU" dirty="0">
                <a:solidFill>
                  <a:schemeClr val="tx1"/>
                </a:solidFill>
              </a:rPr>
              <a:t>Выполните задание самостоятельно. Свое решение вы можете сравнить с эталонным (приложено к уроку)</a:t>
            </a:r>
          </a:p>
          <a:p>
            <a:pPr lvl="0">
              <a:buSzPts val="1800"/>
            </a:pPr>
            <a:endParaRPr lang="ru-RU" dirty="0">
              <a:solidFill>
                <a:schemeClr val="tx1"/>
              </a:solidFill>
            </a:endParaRPr>
          </a:p>
          <a:p>
            <a:pPr lvl="0">
              <a:buSzPts val="1800"/>
            </a:pPr>
            <a:r>
              <a:rPr lang="ru-RU" dirty="0">
                <a:solidFill>
                  <a:schemeClr val="tx1"/>
                </a:solidFill>
              </a:rPr>
              <a:t>Задание закончено</a:t>
            </a:r>
          </a:p>
        </p:txBody>
      </p:sp>
      <p:cxnSp>
        <p:nvCxnSpPr>
          <p:cNvPr id="17" name="Google Shape;163;p7">
            <a:extLst>
              <a:ext uri="{FF2B5EF4-FFF2-40B4-BE49-F238E27FC236}">
                <a16:creationId xmlns:a16="http://schemas.microsoft.com/office/drawing/2014/main" id="{043C262A-E527-4206-A7CE-D320BDE44CEA}"/>
              </a:ext>
            </a:extLst>
          </p:cNvPr>
          <p:cNvCxnSpPr/>
          <p:nvPr/>
        </p:nvCxnSpPr>
        <p:spPr>
          <a:xfrm>
            <a:off x="1774825" y="1754780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8"/>
          <p:cNvSpPr/>
          <p:nvPr/>
        </p:nvSpPr>
        <p:spPr>
          <a:xfrm>
            <a:off x="0" y="3323684"/>
            <a:ext cx="12191400" cy="210633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00" tIns="35700" rIns="35700" bIns="3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63" name="Google Shape;363;p28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83094" y="605790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8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91300" y="4449796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8" descr="A picture containing background patter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5700" y="4432300"/>
            <a:ext cx="2425700" cy="24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8"/>
          <p:cNvSpPr txBox="1"/>
          <p:nvPr/>
        </p:nvSpPr>
        <p:spPr>
          <a:xfrm>
            <a:off x="1721050" y="2514714"/>
            <a:ext cx="7480200" cy="142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t" anchorCtr="0">
            <a:spAutoFit/>
          </a:bodyPr>
          <a:lstStyle/>
          <a:p>
            <a:pPr lvl="0">
              <a:lnSpc>
                <a:spcPct val="85000"/>
              </a:lnSpc>
              <a:buClr>
                <a:schemeClr val="lt1"/>
              </a:buClr>
              <a:buSzPts val="5400"/>
            </a:pPr>
            <a:r>
              <a:rPr lang="ru-RU" sz="5400" dirty="0">
                <a:solidFill>
                  <a:srgbClr val="FFFFFF"/>
                </a:solidFill>
                <a:latin typeface="Arial Black"/>
              </a:rPr>
              <a:t>СПАСИБО!</a:t>
            </a:r>
            <a:endParaRPr sz="1800" i="0" u="none" strike="noStrike" cap="none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</a:rPr>
              <a:t>На следующем занятии мы </a:t>
            </a:r>
            <a:r>
              <a:rPr lang="ru-RU" sz="1800" dirty="0">
                <a:solidFill>
                  <a:schemeClr val="lt1"/>
                </a:solidFill>
              </a:rPr>
              <a:t>рассмотрим тему</a:t>
            </a:r>
            <a:r>
              <a:rPr lang="ru-RU" sz="1800" i="0" u="none" strike="noStrike" cap="none" dirty="0">
                <a:solidFill>
                  <a:schemeClr val="lt1"/>
                </a:solidFill>
              </a:rPr>
              <a:t>:</a:t>
            </a:r>
            <a:endParaRPr sz="1800" dirty="0"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lt1"/>
                </a:solidFill>
              </a:rPr>
              <a:t> </a:t>
            </a:r>
            <a:r>
              <a:rPr lang="en-US" sz="1800" dirty="0">
                <a:solidFill>
                  <a:schemeClr val="lt1"/>
                </a:solidFill>
              </a:rPr>
              <a:t>Best practice</a:t>
            </a:r>
            <a:endParaRPr sz="1800" dirty="0">
              <a:solidFill>
                <a:schemeClr val="lt1"/>
              </a:solidFill>
            </a:endParaRPr>
          </a:p>
        </p:txBody>
      </p:sp>
      <p:pic>
        <p:nvPicPr>
          <p:cNvPr id="367" name="Google Shape;367;p28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97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8" descr="A picture containing shape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>
            <a:off x="0" y="0"/>
            <a:ext cx="16192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8" descr="Shape, circle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0" name="Google Shape;370;p28"/>
          <p:cNvGrpSpPr/>
          <p:nvPr/>
        </p:nvGrpSpPr>
        <p:grpSpPr>
          <a:xfrm>
            <a:off x="9769698" y="6067243"/>
            <a:ext cx="801286" cy="800100"/>
            <a:chOff x="15228655" y="2672088"/>
            <a:chExt cx="1602572" cy="1600200"/>
          </a:xfrm>
        </p:grpSpPr>
        <p:pic>
          <p:nvPicPr>
            <p:cNvPr id="371" name="Google Shape;371;p28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5231027" y="2672088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28"/>
            <p:cNvSpPr txBox="1"/>
            <p:nvPr/>
          </p:nvSpPr>
          <p:spPr>
            <a:xfrm>
              <a:off x="15228655" y="3030724"/>
              <a:ext cx="1511670" cy="8829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ru-RU" sz="24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end</a:t>
              </a:r>
              <a:endPara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373" name="Google Shape;373;p28" descr="Logo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8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6038668"/>
            <a:ext cx="800100" cy="8001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3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624</Words>
  <Application>Microsoft Office PowerPoint</Application>
  <PresentationFormat>Широкоэкранный</PresentationFormat>
  <Paragraphs>125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Helvetica Neue</vt:lpstr>
      <vt:lpstr>Arial Black</vt:lpstr>
      <vt:lpstr>Proxima Nova</vt:lpstr>
      <vt:lpstr>Arial</vt:lpstr>
      <vt:lpstr>Open Sans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Кузьмичев Даниил Михайлович</cp:lastModifiedBy>
  <cp:revision>12</cp:revision>
  <dcterms:modified xsi:type="dcterms:W3CDTF">2022-09-15T10:53:57Z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87D4F3F0-B4E2-47FC-8DF0-19E3C7A7DF5C</vt:lpwstr>
  </property>
  <property fmtid="{D5CDD505-2E9C-101B-9397-08002B2CF9AE}" pid="3" name="ArticulatePath">
    <vt:lpwstr>35 Логическая репликация</vt:lpwstr>
  </property>
</Properties>
</file>