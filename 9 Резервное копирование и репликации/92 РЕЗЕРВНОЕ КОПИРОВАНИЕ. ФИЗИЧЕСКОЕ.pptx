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3"/>
  </p:notesMasterIdLst>
  <p:sldIdLst>
    <p:sldId id="256" r:id="rId2"/>
    <p:sldId id="257" r:id="rId3"/>
    <p:sldId id="26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Arial Black" panose="020B0A04020102020204" pitchFamily="34" charset="0"/>
      <p:regular r:id="rId14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Helvetica Neue" panose="020B0604020202020204" charset="0"/>
      <p:regular r:id="rId20"/>
      <p:bold r:id="rId21"/>
      <p:italic r:id="rId22"/>
      <p:boldItalic r:id="rId23"/>
    </p:embeddedFont>
    <p:embeddedFont>
      <p:font typeface="Open Sans" panose="020B0604020202020204" charset="0"/>
      <p:regular r:id="rId24"/>
      <p:bold r:id="rId25"/>
      <p:italic r:id="rId26"/>
      <p:boldItalic r:id="rId27"/>
    </p:embeddedFont>
    <p:embeddedFont>
      <p:font typeface="Proxima Nova" panose="020B0604020202020204" charset="0"/>
      <p:regular r:id="rId28"/>
      <p:bold r:id="rId29"/>
      <p:italic r:id="rId30"/>
      <p:boldItalic r:id="rId31"/>
    </p:embeddedFont>
  </p:embeddedFontLst>
  <p:custDataLst>
    <p:tags r:id="rId3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4" y="1296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6718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2e772340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42e7723409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142e7723409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42e95f4e0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142e95f4e00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g142e95f4e00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2e95f4e0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142e95f4e00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g142e95f4e00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42e95f4e0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142e95f4e00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g142e95f4e00_0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3e3b21b46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13e3b21b463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g13e3b21b46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2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6"/>
          <p:cNvGrpSpPr/>
          <p:nvPr/>
        </p:nvGrpSpPr>
        <p:grpSpPr>
          <a:xfrm>
            <a:off x="0" y="0"/>
            <a:ext cx="12202649" cy="6858000"/>
            <a:chOff x="0" y="0"/>
            <a:chExt cx="24405297" cy="13716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9" name="Google Shape;99;p1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6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6" descr="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1;p1">
            <a:extLst>
              <a:ext uri="{FF2B5EF4-FFF2-40B4-BE49-F238E27FC236}">
                <a16:creationId xmlns:a16="http://schemas.microsoft.com/office/drawing/2014/main" id="{25F1F1E1-172A-4FFD-A127-AD961324D2A9}"/>
              </a:ext>
            </a:extLst>
          </p:cNvPr>
          <p:cNvSpPr txBox="1">
            <a:spLocks/>
          </p:cNvSpPr>
          <p:nvPr/>
        </p:nvSpPr>
        <p:spPr>
          <a:xfrm>
            <a:off x="1631720" y="1832497"/>
            <a:ext cx="6308826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pPr lvl="0">
              <a:buClr>
                <a:srgbClr val="000000"/>
              </a:buClr>
              <a:buSzPts val="2000"/>
            </a:pPr>
            <a:r>
              <a:rPr lang="ru-RU" sz="2800" dirty="0"/>
              <a:t>БЛОК 10. ОБЗОР РЕЗЕРВНОГО КОПИРОВАНИЯ И РЕПЛИКАЦИИ</a:t>
            </a:r>
          </a:p>
        </p:txBody>
      </p:sp>
      <p:sp>
        <p:nvSpPr>
          <p:cNvPr id="18" name="Google Shape;82;p1">
            <a:extLst>
              <a:ext uri="{FF2B5EF4-FFF2-40B4-BE49-F238E27FC236}">
                <a16:creationId xmlns:a16="http://schemas.microsoft.com/office/drawing/2014/main" id="{9C7DEDA3-FED7-4967-B4F2-25B6EA1269D5}"/>
              </a:ext>
            </a:extLst>
          </p:cNvPr>
          <p:cNvSpPr txBox="1">
            <a:spLocks/>
          </p:cNvSpPr>
          <p:nvPr/>
        </p:nvSpPr>
        <p:spPr>
          <a:xfrm>
            <a:off x="1619250" y="2824625"/>
            <a:ext cx="8358240" cy="211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ru-RU" dirty="0">
                <a:solidFill>
                  <a:srgbClr val="FFFFFF"/>
                </a:solidFill>
              </a:rPr>
              <a:t>РЕЗЕРВНОЕ КОПИРОВАНИЕ. ФИЗИЧЕСКОЕ</a:t>
            </a:r>
            <a:endParaRPr lang="ru-RU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61148" y="391476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327E376D-E6FA-467F-BA7F-70D5EF41E2CB}"/>
              </a:ext>
            </a:extLst>
          </p:cNvPr>
          <p:cNvSpPr/>
          <p:nvPr/>
        </p:nvSpPr>
        <p:spPr>
          <a:xfrm>
            <a:off x="1763395" y="1365673"/>
            <a:ext cx="3859854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Понять, что такое физический </a:t>
            </a:r>
            <a:r>
              <a:rPr lang="ru-RU" sz="1800" dirty="0" err="1">
                <a:solidFill>
                  <a:schemeClr val="dk1"/>
                </a:solidFill>
              </a:rPr>
              <a:t>бэкап</a:t>
            </a:r>
            <a:r>
              <a:rPr lang="ru-RU" sz="1800" dirty="0">
                <a:solidFill>
                  <a:schemeClr val="dk1"/>
                </a:solidFill>
              </a:rPr>
              <a:t>, для чего он нужен</a:t>
            </a:r>
          </a:p>
        </p:txBody>
      </p:sp>
      <p:sp>
        <p:nvSpPr>
          <p:cNvPr id="21" name="Google Shape;283;p2">
            <a:extLst>
              <a:ext uri="{FF2B5EF4-FFF2-40B4-BE49-F238E27FC236}">
                <a16:creationId xmlns:a16="http://schemas.microsoft.com/office/drawing/2014/main" id="{CCFDC515-3F8F-4CFA-9C30-D09387F333C5}"/>
              </a:ext>
            </a:extLst>
          </p:cNvPr>
          <p:cNvSpPr/>
          <p:nvPr/>
        </p:nvSpPr>
        <p:spPr>
          <a:xfrm>
            <a:off x="5885141" y="1365684"/>
            <a:ext cx="4158300" cy="1822800"/>
          </a:xfrm>
          <a:prstGeom prst="roundRect">
            <a:avLst>
              <a:gd name="adj" fmla="val 6634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Узнать варианты физического </a:t>
            </a:r>
            <a:r>
              <a:rPr lang="ru-RU" sz="1800" dirty="0" err="1">
                <a:solidFill>
                  <a:schemeClr val="dk1"/>
                </a:solidFill>
              </a:rPr>
              <a:t>бэкапа</a:t>
            </a:r>
            <a:endParaRPr lang="ru-RU" sz="1800" dirty="0">
              <a:solidFill>
                <a:schemeClr val="dk1"/>
              </a:solidFill>
            </a:endParaRPr>
          </a:p>
        </p:txBody>
      </p:sp>
      <p:sp>
        <p:nvSpPr>
          <p:cNvPr id="23" name="Google Shape;285;p2">
            <a:extLst>
              <a:ext uri="{FF2B5EF4-FFF2-40B4-BE49-F238E27FC236}">
                <a16:creationId xmlns:a16="http://schemas.microsoft.com/office/drawing/2014/main" id="{6CD4CB41-B258-47A1-9A60-BF3B8176D653}"/>
              </a:ext>
            </a:extLst>
          </p:cNvPr>
          <p:cNvSpPr/>
          <p:nvPr/>
        </p:nvSpPr>
        <p:spPr>
          <a:xfrm>
            <a:off x="1763391" y="3430934"/>
            <a:ext cx="8280049" cy="1822800"/>
          </a:xfrm>
          <a:prstGeom prst="roundRect">
            <a:avLst>
              <a:gd name="adj" fmla="val 551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Научиться создавать свой физический </a:t>
            </a:r>
            <a:r>
              <a:rPr lang="ru-RU" sz="1800" dirty="0" err="1">
                <a:solidFill>
                  <a:schemeClr val="dk1"/>
                </a:solidFill>
              </a:rPr>
              <a:t>бэкап</a:t>
            </a:r>
            <a:endParaRPr lang="ru-RU" sz="18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88;p2">
            <a:extLst>
              <a:ext uri="{FF2B5EF4-FFF2-40B4-BE49-F238E27FC236}">
                <a16:creationId xmlns:a16="http://schemas.microsoft.com/office/drawing/2014/main" id="{36242832-52F6-42FC-B18E-97B25D71AF23}"/>
              </a:ext>
            </a:extLst>
          </p:cNvPr>
          <p:cNvSpPr/>
          <p:nvPr/>
        </p:nvSpPr>
        <p:spPr>
          <a:xfrm>
            <a:off x="1946275" y="1470291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89;p2">
            <a:extLst>
              <a:ext uri="{FF2B5EF4-FFF2-40B4-BE49-F238E27FC236}">
                <a16:creationId xmlns:a16="http://schemas.microsoft.com/office/drawing/2014/main" id="{1A4D7B3A-6A08-4519-883E-D38ADD750F5C}"/>
              </a:ext>
            </a:extLst>
          </p:cNvPr>
          <p:cNvSpPr/>
          <p:nvPr/>
        </p:nvSpPr>
        <p:spPr>
          <a:xfrm>
            <a:off x="6068026" y="1470291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0CC59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Google Shape;291;p2">
            <a:extLst>
              <a:ext uri="{FF2B5EF4-FFF2-40B4-BE49-F238E27FC236}">
                <a16:creationId xmlns:a16="http://schemas.microsoft.com/office/drawing/2014/main" id="{81E83963-0703-43AD-B707-CDA06B590EFC}"/>
              </a:ext>
            </a:extLst>
          </p:cNvPr>
          <p:cNvSpPr/>
          <p:nvPr/>
        </p:nvSpPr>
        <p:spPr>
          <a:xfrm>
            <a:off x="1946275" y="3577380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7F6AD2"/>
                </a:solidFill>
                <a:sym typeface="Arial"/>
              </a:rPr>
              <a:t>03</a:t>
            </a:r>
            <a:endParaRPr sz="1500" b="0" i="0" u="none" strike="noStrike" cap="none" dirty="0">
              <a:solidFill>
                <a:srgbClr val="7F6AD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51000" y="33695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9F25BD4C-6EDB-41E4-BC25-9E0C0365CA15}"/>
              </a:ext>
            </a:extLst>
          </p:cNvPr>
          <p:cNvSpPr/>
          <p:nvPr/>
        </p:nvSpPr>
        <p:spPr>
          <a:xfrm>
            <a:off x="2863612" y="3363561"/>
            <a:ext cx="31455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Создание автономной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solidFill>
                  <a:schemeClr val="dk1"/>
                </a:solidFill>
              </a:rPr>
              <a:t>копии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02;p3">
            <a:extLst>
              <a:ext uri="{FF2B5EF4-FFF2-40B4-BE49-F238E27FC236}">
                <a16:creationId xmlns:a16="http://schemas.microsoft.com/office/drawing/2014/main" id="{73B1521D-21BE-4AE6-8CE0-52A2A72C5F5D}"/>
              </a:ext>
            </a:extLst>
          </p:cNvPr>
          <p:cNvSpPr/>
          <p:nvPr/>
        </p:nvSpPr>
        <p:spPr>
          <a:xfrm>
            <a:off x="2863612" y="4955105"/>
            <a:ext cx="20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03;p3">
            <a:extLst>
              <a:ext uri="{FF2B5EF4-FFF2-40B4-BE49-F238E27FC236}">
                <a16:creationId xmlns:a16="http://schemas.microsoft.com/office/drawing/2014/main" id="{AA14B9AA-D5B2-4C3D-AE24-0F1EFCD7230A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104;p3">
            <a:extLst>
              <a:ext uri="{FF2B5EF4-FFF2-40B4-BE49-F238E27FC236}">
                <a16:creationId xmlns:a16="http://schemas.microsoft.com/office/drawing/2014/main" id="{334BFA3F-EE65-47B4-8187-DC7E760E56FD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5;p3">
            <a:extLst>
              <a:ext uri="{FF2B5EF4-FFF2-40B4-BE49-F238E27FC236}">
                <a16:creationId xmlns:a16="http://schemas.microsoft.com/office/drawing/2014/main" id="{030D220E-847E-4645-9082-F3083EBC1DF2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6;p3">
            <a:extLst>
              <a:ext uri="{FF2B5EF4-FFF2-40B4-BE49-F238E27FC236}">
                <a16:creationId xmlns:a16="http://schemas.microsoft.com/office/drawing/2014/main" id="{083A76EB-9A3A-4C5A-B2EC-92111F971C22}"/>
              </a:ext>
            </a:extLst>
          </p:cNvPr>
          <p:cNvSpPr txBox="1"/>
          <p:nvPr/>
        </p:nvSpPr>
        <p:spPr>
          <a:xfrm>
            <a:off x="2863612" y="2079793"/>
            <a:ext cx="3222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Физический 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бэкап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07;p3">
            <a:extLst>
              <a:ext uri="{FF2B5EF4-FFF2-40B4-BE49-F238E27FC236}">
                <a16:creationId xmlns:a16="http://schemas.microsoft.com/office/drawing/2014/main" id="{8C37F2AE-F482-449E-B9BE-1CE39911C247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08;p3">
            <a:extLst>
              <a:ext uri="{FF2B5EF4-FFF2-40B4-BE49-F238E27FC236}">
                <a16:creationId xmlns:a16="http://schemas.microsoft.com/office/drawing/2014/main" id="{04E56DC3-A07A-41C2-817D-EAD4970BD40E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54;p41">
            <a:extLst>
              <a:ext uri="{FF2B5EF4-FFF2-40B4-BE49-F238E27FC236}">
                <a16:creationId xmlns:a16="http://schemas.microsoft.com/office/drawing/2014/main" id="{293607ED-3A0A-45FB-A0F4-4D0A99BE7A41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9101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2" name="Google Shape;162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5" name="Google Shape;165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" name="Google Shape;168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69" name="Google Shape;169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1" name="Google Shape;171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1677611" y="359177"/>
            <a:ext cx="6371597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ФИЗИЧЕСКОЕ РЕЗЕРВИРОВАНИЕ</a:t>
            </a:r>
          </a:p>
        </p:txBody>
      </p:sp>
      <p:sp>
        <p:nvSpPr>
          <p:cNvPr id="176" name="Google Shape;176;p19"/>
          <p:cNvSpPr txBox="1">
            <a:spLocks noGrp="1"/>
          </p:cNvSpPr>
          <p:nvPr>
            <p:ph type="body" idx="4294967295"/>
          </p:nvPr>
        </p:nvSpPr>
        <p:spPr>
          <a:xfrm>
            <a:off x="1677611" y="2515105"/>
            <a:ext cx="7043401" cy="2301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500" dirty="0">
                <a:solidFill>
                  <a:srgbClr val="00B0F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+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скорость восстановления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500" dirty="0">
                <a:solidFill>
                  <a:srgbClr val="00B0F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+ 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можно восстановить кластер на определенный момент времени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7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− 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нельзя восстановить отдельную базу данных, только весь кластер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7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− 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восстановление только на той же основной версии и архитектуре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5ED94492-C029-4FF0-88F9-F76C5A02B4E1}"/>
              </a:ext>
            </a:extLst>
          </p:cNvPr>
          <p:cNvCxnSpPr/>
          <p:nvPr/>
        </p:nvCxnSpPr>
        <p:spPr>
          <a:xfrm>
            <a:off x="1774825" y="2264656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163;p7">
            <a:extLst>
              <a:ext uri="{FF2B5EF4-FFF2-40B4-BE49-F238E27FC236}">
                <a16:creationId xmlns:a16="http://schemas.microsoft.com/office/drawing/2014/main" id="{BB46A085-36DF-49F6-B596-61AF33149BDC}"/>
              </a:ext>
            </a:extLst>
          </p:cNvPr>
          <p:cNvCxnSpPr/>
          <p:nvPr/>
        </p:nvCxnSpPr>
        <p:spPr>
          <a:xfrm>
            <a:off x="1774825" y="510176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4E87DAE-78A0-4383-83ED-CABAFB331DF7}"/>
              </a:ext>
            </a:extLst>
          </p:cNvPr>
          <p:cNvSpPr/>
          <p:nvPr/>
        </p:nvSpPr>
        <p:spPr>
          <a:xfrm>
            <a:off x="1677610" y="1411160"/>
            <a:ext cx="7740087" cy="634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Используется механизм восстановления после сбоя: копия данных и журналы 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предзаписи</a:t>
            </a:r>
            <a:endParaRPr lang="ru-RU"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2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85" name="Google Shape;185;p2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2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" name="Google Shape;187;p2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88" name="Google Shape;188;p2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2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1" name="Google Shape;191;p2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92" name="Google Shape;192;p2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3" name="Google Shape;193;p2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94" name="Google Shape;194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1660848" y="359177"/>
            <a:ext cx="981141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ВИДЫ ФИЗИЧЕСКОГО РЕЗЕРВИРОВАНИЯ</a:t>
            </a:r>
          </a:p>
        </p:txBody>
      </p:sp>
      <p:sp>
        <p:nvSpPr>
          <p:cNvPr id="200" name="Google Shape;200;p20"/>
          <p:cNvSpPr txBox="1">
            <a:spLocks noGrp="1"/>
          </p:cNvSpPr>
          <p:nvPr>
            <p:ph type="body" idx="4294967295"/>
          </p:nvPr>
        </p:nvSpPr>
        <p:spPr>
          <a:xfrm>
            <a:off x="1660848" y="1501370"/>
            <a:ext cx="7924802" cy="1281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Холодное 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- когда БД остановлена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361950" lvl="0" indent="-28575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сервер корректно остановлен (необходимы только файлы данных)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3619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некорректно выключенный (файлы данных и 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wal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сегменты)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6D6947F-62B0-4E75-B0D4-E63D276F5DE5}"/>
              </a:ext>
            </a:extLst>
          </p:cNvPr>
          <p:cNvSpPr/>
          <p:nvPr/>
        </p:nvSpPr>
        <p:spPr>
          <a:xfrm>
            <a:off x="1660848" y="3329028"/>
            <a:ext cx="8416212" cy="1856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Горячее 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- на работающем экземпляре</a:t>
            </a:r>
          </a:p>
          <a:p>
            <a:pPr marL="361950" lvl="0" indent="-285750">
              <a:lnSpc>
                <a:spcPct val="115000"/>
              </a:lnSpc>
              <a:spcBef>
                <a:spcPts val="703"/>
              </a:spcBef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необходимы как файлы данных, так и 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wal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сегменты, причем нужно проконтролировать, чтобы сервер сохранил все 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wal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файлы на время копирования основных данных</a:t>
            </a:r>
          </a:p>
          <a:p>
            <a:pPr marL="361950" lvl="0" indent="-285750">
              <a:lnSpc>
                <a:spcPct val="115000"/>
              </a:lnSpc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есть еще вариант 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снэпшотов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как в 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линуксе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так и в гипервизоре - оставим это для курса 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девопсов</a:t>
            </a:r>
            <a:endParaRPr lang="ru-RU" sz="1600" b="1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cxnSp>
        <p:nvCxnSpPr>
          <p:cNvPr id="21" name="Google Shape;163;p7">
            <a:extLst>
              <a:ext uri="{FF2B5EF4-FFF2-40B4-BE49-F238E27FC236}">
                <a16:creationId xmlns:a16="http://schemas.microsoft.com/office/drawing/2014/main" id="{37AD587C-0F9A-4EE5-B6F2-EE8D11AF8469}"/>
              </a:ext>
            </a:extLst>
          </p:cNvPr>
          <p:cNvCxnSpPr/>
          <p:nvPr/>
        </p:nvCxnSpPr>
        <p:spPr>
          <a:xfrm>
            <a:off x="1774825" y="300090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21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08" name="Google Shape;208;p21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21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0" name="Google Shape;210;p21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11" name="Google Shape;211;p21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1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1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4" name="Google Shape;214;p21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15" name="Google Shape;215;p21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6" name="Google Shape;216;p21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6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17" name="Google Shape;217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1667069" y="372230"/>
            <a:ext cx="654387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СОЗДАНИЕ АВТОНОМНОЙ КОПИИ</a:t>
            </a:r>
          </a:p>
        </p:txBody>
      </p:sp>
      <p:sp>
        <p:nvSpPr>
          <p:cNvPr id="223" name="Google Shape;223;p21"/>
          <p:cNvSpPr txBox="1">
            <a:spLocks noGrp="1"/>
          </p:cNvSpPr>
          <p:nvPr>
            <p:ph type="body" idx="4294967295"/>
          </p:nvPr>
        </p:nvSpPr>
        <p:spPr>
          <a:xfrm>
            <a:off x="1717755" y="1266685"/>
            <a:ext cx="7538213" cy="2653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Автономная копия содержит и файлы данных, и WAL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Резервное копирование — утилита 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pg_basebackup</a:t>
            </a:r>
            <a:endParaRPr sz="1600" b="1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подключается к серверу по протоколу репликации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выполняет контрольную точку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переключается на следующий сегмент WAL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копирует файловую систему в указанный каталог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переключается на следующий сегмент WAL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сохраняет все сегменты WAL, сгенерированные за время копирования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CB430F3-4FA7-4C4F-80D7-642FD6CD9395}"/>
              </a:ext>
            </a:extLst>
          </p:cNvPr>
          <p:cNvSpPr/>
          <p:nvPr/>
        </p:nvSpPr>
        <p:spPr>
          <a:xfrm>
            <a:off x="1717754" y="4385324"/>
            <a:ext cx="8334425" cy="1007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  <a:buClr>
                <a:schemeClr val="dk1"/>
              </a:buClr>
              <a:buSzPts val="1100"/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Восстановление</a:t>
            </a:r>
          </a:p>
          <a:p>
            <a:pPr marL="457200" lvl="0" indent="-342900">
              <a:lnSpc>
                <a:spcPct val="115000"/>
              </a:lnSpc>
              <a:spcBef>
                <a:spcPts val="703"/>
              </a:spcBef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разворачиваем созданную автономную копию</a:t>
            </a:r>
          </a:p>
          <a:p>
            <a:pPr marL="457200" lvl="0" indent="-342900">
              <a:lnSpc>
                <a:spcPct val="115000"/>
              </a:lnSpc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запускаем сервер</a:t>
            </a:r>
          </a:p>
        </p:txBody>
      </p:sp>
      <p:cxnSp>
        <p:nvCxnSpPr>
          <p:cNvPr id="21" name="Google Shape;163;p7">
            <a:extLst>
              <a:ext uri="{FF2B5EF4-FFF2-40B4-BE49-F238E27FC236}">
                <a16:creationId xmlns:a16="http://schemas.microsoft.com/office/drawing/2014/main" id="{E5521141-012A-4158-8C59-6203C947D483}"/>
              </a:ext>
            </a:extLst>
          </p:cNvPr>
          <p:cNvCxnSpPr/>
          <p:nvPr/>
        </p:nvCxnSpPr>
        <p:spPr>
          <a:xfrm>
            <a:off x="1774825" y="4151684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" name="Google Shape;230;p22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31" name="Google Shape;231;p2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2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3" name="Google Shape;233;p22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34" name="Google Shape;234;p2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2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7" name="Google Shape;237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38" name="Google Shape;238;p2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9" name="Google Shape;239;p22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40" name="Google Shape;240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1665170" y="359177"/>
            <a:ext cx="107526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СОЗДАНИЕ АВТОНОМНОЙ КОПИИ</a:t>
            </a:r>
          </a:p>
        </p:txBody>
      </p:sp>
      <p:sp>
        <p:nvSpPr>
          <p:cNvPr id="246" name="Google Shape;246;p22"/>
          <p:cNvSpPr txBox="1">
            <a:spLocks noGrp="1"/>
          </p:cNvSpPr>
          <p:nvPr>
            <p:ph type="body" idx="4294967295"/>
          </p:nvPr>
        </p:nvSpPr>
        <p:spPr>
          <a:xfrm>
            <a:off x="1665170" y="1302675"/>
            <a:ext cx="9077476" cy="4158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Создадим 2 кластер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$ 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pg_createcluster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14 main2</a:t>
            </a:r>
            <a:endParaRPr sz="1600" b="1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Удалим оттуда файлы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$ 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rm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-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rf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/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var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/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lib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/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postgresql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/14/main2</a:t>
            </a:r>
            <a:endParaRPr sz="1600" b="1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Сделаем 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бэкап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нашей БД (запуск на вторичном сервере, если другой хост то -h и настройка в 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pg_hba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доступа по слоту репликации)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$ 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pg_basebackup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-p 5432 -D /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var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/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lib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/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postgresql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/14/main2</a:t>
            </a:r>
            <a:endParaRPr sz="1600" b="1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Стартуем кластер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$ 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pg_ctlcluster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14 main2 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start</a:t>
            </a:r>
            <a:endParaRPr sz="1600" b="1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Смотрим как стартовал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$ 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pg_lsclusters</a:t>
            </a:r>
            <a:endParaRPr sz="1600" b="1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3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3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254" name="Google Shape;254;p23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55" name="Google Shape;255;p23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23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3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23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23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23"/>
            <p:cNvSpPr txBox="1"/>
            <p:nvPr/>
          </p:nvSpPr>
          <p:spPr>
            <a:xfrm>
              <a:off x="3260998" y="5445306"/>
              <a:ext cx="16917839" cy="2825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5400"/>
                <a:buFont typeface="Arial Black"/>
                <a:buNone/>
                <a:defRPr sz="54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68" name="Google Shape;268;p24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269" name="Google Shape;269;p24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24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1" name="Google Shape;271;p24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272" name="Google Shape;272;p24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4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24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5" name="Google Shape;275;p24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76" name="Google Shape;276;p24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7" name="Google Shape;277;p24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9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78" name="Google Shape;278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531;g142b2dfbfff_0_351">
            <a:extLst>
              <a:ext uri="{FF2B5EF4-FFF2-40B4-BE49-F238E27FC236}">
                <a16:creationId xmlns:a16="http://schemas.microsoft.com/office/drawing/2014/main" id="{8D96BFF1-A0CD-4517-9B98-968919AF6ACA}"/>
              </a:ext>
            </a:extLst>
          </p:cNvPr>
          <p:cNvSpPr/>
          <p:nvPr/>
        </p:nvSpPr>
        <p:spPr>
          <a:xfrm>
            <a:off x="1725838" y="1720676"/>
            <a:ext cx="4189769" cy="1607400"/>
          </a:xfrm>
          <a:prstGeom prst="roundRect">
            <a:avLst>
              <a:gd name="adj" fmla="val 5760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01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Поняли, что такое физический </a:t>
            </a:r>
            <a:r>
              <a:rPr lang="ru-RU" sz="1800" dirty="0" err="1">
                <a:solidFill>
                  <a:schemeClr val="dk1"/>
                </a:solidFill>
              </a:rPr>
              <a:t>бэкап</a:t>
            </a:r>
            <a:r>
              <a:rPr lang="ru-RU" sz="1800" dirty="0">
                <a:solidFill>
                  <a:schemeClr val="dk1"/>
                </a:solidFill>
              </a:rPr>
              <a:t>, для чего он нужен</a:t>
            </a:r>
          </a:p>
        </p:txBody>
      </p:sp>
      <p:sp>
        <p:nvSpPr>
          <p:cNvPr id="25" name="Google Shape;532;g142b2dfbfff_0_351">
            <a:extLst>
              <a:ext uri="{FF2B5EF4-FFF2-40B4-BE49-F238E27FC236}">
                <a16:creationId xmlns:a16="http://schemas.microsoft.com/office/drawing/2014/main" id="{C7B6683B-7C27-419E-A470-AD664D6D84C4}"/>
              </a:ext>
            </a:extLst>
          </p:cNvPr>
          <p:cNvSpPr/>
          <p:nvPr/>
        </p:nvSpPr>
        <p:spPr>
          <a:xfrm>
            <a:off x="6239540" y="1720665"/>
            <a:ext cx="3705900" cy="1607400"/>
          </a:xfrm>
          <a:prstGeom prst="roundRect">
            <a:avLst>
              <a:gd name="adj" fmla="val 521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Узнали варианты физического </a:t>
            </a:r>
            <a:r>
              <a:rPr lang="ru-RU" sz="1800" dirty="0" err="1">
                <a:solidFill>
                  <a:schemeClr val="dk1"/>
                </a:solidFill>
              </a:rPr>
              <a:t>бэкапа</a:t>
            </a:r>
            <a:endParaRPr lang="ru-RU" sz="1800" dirty="0">
              <a:solidFill>
                <a:schemeClr val="dk1"/>
              </a:solidFill>
            </a:endParaRPr>
          </a:p>
        </p:txBody>
      </p:sp>
      <p:pic>
        <p:nvPicPr>
          <p:cNvPr id="27" name="Google Shape;534;g142b2dfbfff_0_351">
            <a:extLst>
              <a:ext uri="{FF2B5EF4-FFF2-40B4-BE49-F238E27FC236}">
                <a16:creationId xmlns:a16="http://schemas.microsoft.com/office/drawing/2014/main" id="{E89912E1-6566-458E-AF0F-16AEF7EF89B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339685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535;g142b2dfbfff_0_351">
            <a:extLst>
              <a:ext uri="{FF2B5EF4-FFF2-40B4-BE49-F238E27FC236}">
                <a16:creationId xmlns:a16="http://schemas.microsoft.com/office/drawing/2014/main" id="{B01D3F20-8433-42BC-B010-3C19AE9F06B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72789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537;g142b2dfbfff_0_351">
            <a:extLst>
              <a:ext uri="{FF2B5EF4-FFF2-40B4-BE49-F238E27FC236}">
                <a16:creationId xmlns:a16="http://schemas.microsoft.com/office/drawing/2014/main" id="{FC64885B-34C6-480E-8BCB-8A065A2B45A4}"/>
              </a:ext>
            </a:extLst>
          </p:cNvPr>
          <p:cNvSpPr/>
          <p:nvPr/>
        </p:nvSpPr>
        <p:spPr>
          <a:xfrm>
            <a:off x="1725847" y="3578940"/>
            <a:ext cx="8219593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3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Создали свой физический </a:t>
            </a:r>
            <a:r>
              <a:rPr lang="ru-RU" sz="1800" dirty="0" err="1">
                <a:solidFill>
                  <a:schemeClr val="dk1"/>
                </a:solidFill>
              </a:rPr>
              <a:t>бэкап</a:t>
            </a:r>
            <a:endParaRPr lang="ru-RU" sz="1800" dirty="0">
              <a:solidFill>
                <a:schemeClr val="dk1"/>
              </a:solidFill>
            </a:endParaRPr>
          </a:p>
        </p:txBody>
      </p:sp>
      <p:pic>
        <p:nvPicPr>
          <p:cNvPr id="31" name="Google Shape;538;g142b2dfbfff_0_351">
            <a:extLst>
              <a:ext uri="{FF2B5EF4-FFF2-40B4-BE49-F238E27FC236}">
                <a16:creationId xmlns:a16="http://schemas.microsoft.com/office/drawing/2014/main" id="{A3568935-F925-4B39-862E-40FFDB4CE77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72788" y="3744431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1651000" y="336950"/>
            <a:ext cx="8560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 ДЛЯ САМОПРОВЕРКИ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87" name="Google Shape;287;p25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88" name="Google Shape;288;p25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25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0" name="Google Shape;290;p25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91" name="Google Shape;291;p25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25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5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4" name="Google Shape;294;p25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95" name="Google Shape;295;p25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6" name="Google Shape;296;p25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10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97" name="Google Shape;297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361CF85-CCE4-4E8C-9A52-435C23AAE13B}"/>
              </a:ext>
            </a:extLst>
          </p:cNvPr>
          <p:cNvSpPr/>
          <p:nvPr/>
        </p:nvSpPr>
        <p:spPr>
          <a:xfrm>
            <a:off x="1710611" y="1491654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buSzPts val="1800"/>
            </a:pPr>
            <a:r>
              <a:rPr lang="ru-RU" sz="1600" b="1" dirty="0">
                <a:solidFill>
                  <a:schemeClr val="dk1"/>
                </a:solidFill>
              </a:rPr>
              <a:t>Цель задания:</a:t>
            </a:r>
          </a:p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Создать свой физический </a:t>
            </a:r>
            <a:r>
              <a:rPr lang="ru-RU" sz="1600" dirty="0" err="1">
                <a:solidFill>
                  <a:schemeClr val="dk1"/>
                </a:solidFill>
              </a:rPr>
              <a:t>бэкап</a:t>
            </a:r>
            <a:endParaRPr lang="ru-RU" sz="1600" dirty="0">
              <a:solidFill>
                <a:schemeClr val="dk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2584CC1-BA4C-4310-BDB1-C1909656CFA1}"/>
              </a:ext>
            </a:extLst>
          </p:cNvPr>
          <p:cNvSpPr/>
          <p:nvPr/>
        </p:nvSpPr>
        <p:spPr>
          <a:xfrm>
            <a:off x="1710611" y="2511306"/>
            <a:ext cx="9100458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ts val="1800"/>
            </a:pPr>
            <a:r>
              <a:rPr lang="ru-RU" sz="1600" b="1" dirty="0">
                <a:solidFill>
                  <a:schemeClr val="dk1"/>
                </a:solidFill>
              </a:rPr>
              <a:t>Пошаговый план выполнения: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Создать </a:t>
            </a:r>
            <a:r>
              <a:rPr lang="ru-RU" sz="1600" b="1" dirty="0">
                <a:solidFill>
                  <a:schemeClr val="tx1"/>
                </a:solidFill>
              </a:rPr>
              <a:t>новый </a:t>
            </a:r>
            <a:r>
              <a:rPr lang="ru-RU" sz="1600" dirty="0">
                <a:solidFill>
                  <a:schemeClr val="tx1"/>
                </a:solidFill>
              </a:rPr>
              <a:t>каталог в папке </a:t>
            </a:r>
            <a:r>
              <a:rPr lang="ru-RU" sz="1600" dirty="0" err="1">
                <a:solidFill>
                  <a:schemeClr val="tx1"/>
                </a:solidFill>
              </a:rPr>
              <a:t>home</a:t>
            </a:r>
            <a:r>
              <a:rPr lang="ru-RU" sz="1600" dirty="0">
                <a:solidFill>
                  <a:schemeClr val="tx1"/>
                </a:solidFill>
              </a:rPr>
              <a:t> и выдать на него права всем 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Использовать утилиту </a:t>
            </a:r>
            <a:r>
              <a:rPr lang="ru-RU" sz="1600" b="1" dirty="0" err="1">
                <a:solidFill>
                  <a:schemeClr val="tx1"/>
                </a:solidFill>
              </a:rPr>
              <a:t>pg_basebackup</a:t>
            </a:r>
            <a:r>
              <a:rPr lang="ru-RU" sz="1600" dirty="0">
                <a:solidFill>
                  <a:schemeClr val="tx1"/>
                </a:solidFill>
              </a:rPr>
              <a:t>, чтобы создать </a:t>
            </a:r>
            <a:r>
              <a:rPr lang="ru-RU" sz="1600" dirty="0" err="1">
                <a:solidFill>
                  <a:schemeClr val="tx1"/>
                </a:solidFill>
              </a:rPr>
              <a:t>бэкап</a:t>
            </a:r>
            <a:r>
              <a:rPr lang="ru-RU" sz="1600" dirty="0">
                <a:solidFill>
                  <a:schemeClr val="tx1"/>
                </a:solidFill>
              </a:rPr>
              <a:t> БД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Убедиться, что данные скопированы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Выполните задание самостоятельно. Свое решение вы можете сравнить с эталонным (приложено к уроку)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Задание закончено</a:t>
            </a:r>
          </a:p>
        </p:txBody>
      </p:sp>
      <p:cxnSp>
        <p:nvCxnSpPr>
          <p:cNvPr id="18" name="Google Shape;163;p7">
            <a:extLst>
              <a:ext uri="{FF2B5EF4-FFF2-40B4-BE49-F238E27FC236}">
                <a16:creationId xmlns:a16="http://schemas.microsoft.com/office/drawing/2014/main" id="{BE4ABA1B-8FD9-43A2-A46E-21FBC8681CED}"/>
              </a:ext>
            </a:extLst>
          </p:cNvPr>
          <p:cNvCxnSpPr/>
          <p:nvPr/>
        </p:nvCxnSpPr>
        <p:spPr>
          <a:xfrm>
            <a:off x="1774825" y="2278486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6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5" name="Google Shape;305;p26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6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6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1721050" y="2441204"/>
            <a:ext cx="7480200" cy="142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lvl="0">
              <a:lnSpc>
                <a:spcPct val="85000"/>
              </a:lnSpc>
              <a:buClr>
                <a:schemeClr val="lt1"/>
              </a:buClr>
              <a:buSzPts val="5400"/>
            </a:pPr>
            <a:r>
              <a:rPr lang="ru-RU" sz="5400" dirty="0">
                <a:solidFill>
                  <a:srgbClr val="FFFFFF"/>
                </a:solidFill>
                <a:latin typeface="Arial Black"/>
              </a:rPr>
              <a:t>СПАСИБО!</a:t>
            </a:r>
            <a:endParaRPr sz="1800" i="0" u="none" strike="noStrike" cap="none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</a:rPr>
              <a:t>На следующем занятии мы </a:t>
            </a:r>
            <a:r>
              <a:rPr lang="ru-RU" sz="1800" dirty="0">
                <a:solidFill>
                  <a:schemeClr val="lt1"/>
                </a:solidFill>
              </a:rPr>
              <a:t>рассмотрим тему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:</a:t>
            </a:r>
            <a:endParaRPr sz="1800" dirty="0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Физическая репликация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309" name="Google Shape;309;p26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6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6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26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313" name="Google Shape;313;p2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26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315" name="Google Shape;315;p26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6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439</Words>
  <Application>Microsoft Office PowerPoint</Application>
  <PresentationFormat>Широкоэкранный</PresentationFormat>
  <Paragraphs>103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Helvetica Neue</vt:lpstr>
      <vt:lpstr>Arial Black</vt:lpstr>
      <vt:lpstr>Proxima Nova</vt:lpstr>
      <vt:lpstr>Arial</vt:lpstr>
      <vt:lpstr>Open Sans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Кузьмичев Даниил Михайлович</cp:lastModifiedBy>
  <cp:revision>9</cp:revision>
  <dcterms:modified xsi:type="dcterms:W3CDTF">2022-09-15T09:58:00Z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100F1139-43D3-4CA6-9D6A-F2594BBD8675</vt:lpwstr>
  </property>
  <property fmtid="{D5CDD505-2E9C-101B-9397-08002B2CF9AE}" pid="3" name="ArticulatePath">
    <vt:lpwstr>33 Резервное копирование. Физическое</vt:lpwstr>
  </property>
</Properties>
</file>