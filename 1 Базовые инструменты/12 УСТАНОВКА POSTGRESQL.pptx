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12192000" cy="6858000"/>
  <p:embeddedFontLst>
    <p:embeddedFont>
      <p:font typeface="Arial Black" panose="020B0A04020102020204" pitchFamily="34" charset="0"/>
      <p:regular r:id="rId17"/>
      <p:bold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Consolas" panose="020B0609020204030204" pitchFamily="49" charset="0"/>
      <p:regular r:id="rId23"/>
      <p:bold r:id="rId24"/>
      <p:italic r:id="rId25"/>
      <p:boldItalic r:id="rId26"/>
    </p:embeddedFont>
    <p:embeddedFont>
      <p:font typeface="Helvetica Neue" panose="020B060402020202020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hovcdmhHgKdFocY7SaopRTRdPn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318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1100"/>
              <a:t>Добрый день, приветствую Вас на обучающем курсе по основам безопасной разработки. Все вы опытные люди, не первый день работающие в сфере ИТ. </a:t>
            </a:r>
            <a:endParaRPr/>
          </a:p>
        </p:txBody>
      </p:sp>
      <p:sp>
        <p:nvSpPr>
          <p:cNvPr id="98" name="Google Shape;9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ЗДЕСЬ ТЕКСТ,КОТОРЫЙ БУДЕТ ПРОГОВАРИВАТЬСЯ ДЛЯ ЭТОГО СЛАЙДА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ЦЕЛЬ урока должна быть понятной и понятна ценность. В тексте важно проговорить как эта тема связана с предыдущей и какую ценность несет в общейй программе.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Каждая цель начинается с глагола. Например “изучить”, “подготовить”, “обосновать”, “обобщить”, “рассмотреть”, “выяснить” ит.д.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ользовательский макет">
  <p:cSld name="1_Пользовательский макет">
    <p:bg>
      <p:bgPr>
        <a:solidFill>
          <a:srgbClr val="012089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6"/>
          <p:cNvSpPr txBox="1">
            <a:spLocks noGrp="1"/>
          </p:cNvSpPr>
          <p:nvPr>
            <p:ph type="body" idx="1"/>
          </p:nvPr>
        </p:nvSpPr>
        <p:spPr>
          <a:xfrm>
            <a:off x="1622194" y="2544108"/>
            <a:ext cx="5383724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627" cy="79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21" name="Google Shape;21;p16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6"/>
          <p:cNvSpPr/>
          <p:nvPr/>
        </p:nvSpPr>
        <p:spPr>
          <a:xfrm>
            <a:off x="10554128" y="1"/>
            <a:ext cx="1634583" cy="684851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6"/>
          <p:cNvSpPr/>
          <p:nvPr/>
        </p:nvSpPr>
        <p:spPr>
          <a:xfrm>
            <a:off x="8936199" y="3627175"/>
            <a:ext cx="3235859" cy="3235858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6"/>
          <p:cNvSpPr/>
          <p:nvPr/>
        </p:nvSpPr>
        <p:spPr>
          <a:xfrm>
            <a:off x="8945468" y="6058220"/>
            <a:ext cx="798993" cy="798993"/>
          </a:xfrm>
          <a:prstGeom prst="roundRect">
            <a:avLst>
              <a:gd name="adj" fmla="val 3204"/>
            </a:avLst>
          </a:prstGeom>
          <a:blipFill rotWithShape="1">
            <a:blip r:embed="rId4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6"/>
          <p:cNvSpPr/>
          <p:nvPr/>
        </p:nvSpPr>
        <p:spPr>
          <a:xfrm>
            <a:off x="10560950" y="4448096"/>
            <a:ext cx="798993" cy="798993"/>
          </a:xfrm>
          <a:prstGeom prst="roundRect">
            <a:avLst>
              <a:gd name="adj" fmla="val 3204"/>
            </a:avLst>
          </a:prstGeom>
          <a:blipFill rotWithShape="1">
            <a:blip r:embed="rId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6"/>
          <p:cNvSpPr/>
          <p:nvPr/>
        </p:nvSpPr>
        <p:spPr>
          <a:xfrm>
            <a:off x="11393008" y="6058220"/>
            <a:ext cx="798993" cy="798993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6"/>
          <p:cNvSpPr/>
          <p:nvPr/>
        </p:nvSpPr>
        <p:spPr>
          <a:xfrm>
            <a:off x="5889" y="1"/>
            <a:ext cx="1617009" cy="1617009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" name="Google Shape;28;p16" descr="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51" cy="246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810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35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Пользовательский макет">
  <p:cSld name="2_Пользовательский макет">
    <p:bg>
      <p:bgPr>
        <a:solidFill>
          <a:srgbClr val="012089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627" cy="79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43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6" name="Google Shape;36;p18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18"/>
          <p:cNvSpPr/>
          <p:nvPr/>
        </p:nvSpPr>
        <p:spPr>
          <a:xfrm>
            <a:off x="10554128" y="1"/>
            <a:ext cx="1634583" cy="684851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8"/>
          <p:cNvSpPr/>
          <p:nvPr/>
        </p:nvSpPr>
        <p:spPr>
          <a:xfrm>
            <a:off x="8936199" y="3627175"/>
            <a:ext cx="3235859" cy="3235858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8"/>
          <p:cNvSpPr/>
          <p:nvPr/>
        </p:nvSpPr>
        <p:spPr>
          <a:xfrm>
            <a:off x="5889" y="1"/>
            <a:ext cx="1617009" cy="1617009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" name="Google Shape;40;p18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8"/>
          <p:cNvSpPr/>
          <p:nvPr/>
        </p:nvSpPr>
        <p:spPr>
          <a:xfrm>
            <a:off x="10554128" y="3236706"/>
            <a:ext cx="1634583" cy="3751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" name="Google Shape;42;p18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18"/>
          <p:cNvSpPr/>
          <p:nvPr/>
        </p:nvSpPr>
        <p:spPr>
          <a:xfrm>
            <a:off x="8945468" y="6058220"/>
            <a:ext cx="798993" cy="798993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8"/>
          <p:cNvSpPr/>
          <p:nvPr/>
        </p:nvSpPr>
        <p:spPr>
          <a:xfrm>
            <a:off x="10560950" y="4448096"/>
            <a:ext cx="798993" cy="798993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8"/>
          <p:cNvSpPr/>
          <p:nvPr/>
        </p:nvSpPr>
        <p:spPr>
          <a:xfrm>
            <a:off x="11393008" y="6058220"/>
            <a:ext cx="798993" cy="798993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ользовательский макет">
  <p:cSld name="Пользовательский макет">
    <p:bg>
      <p:bgPr>
        <a:solidFill>
          <a:srgbClr val="012089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9"/>
          <p:cNvSpPr txBox="1">
            <a:spLocks noGrp="1"/>
          </p:cNvSpPr>
          <p:nvPr>
            <p:ph type="body" idx="1"/>
          </p:nvPr>
        </p:nvSpPr>
        <p:spPr>
          <a:xfrm>
            <a:off x="1622194" y="2404183"/>
            <a:ext cx="7323435" cy="19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sz="12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627" cy="79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body" idx="2"/>
          </p:nvPr>
        </p:nvSpPr>
        <p:spPr>
          <a:xfrm>
            <a:off x="1622194" y="4100287"/>
            <a:ext cx="7303464" cy="32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50" name="Google Shape;50;p19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9"/>
          <p:cNvSpPr/>
          <p:nvPr/>
        </p:nvSpPr>
        <p:spPr>
          <a:xfrm>
            <a:off x="10554128" y="1"/>
            <a:ext cx="1634583" cy="684851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9"/>
          <p:cNvSpPr/>
          <p:nvPr/>
        </p:nvSpPr>
        <p:spPr>
          <a:xfrm>
            <a:off x="8936199" y="3627175"/>
            <a:ext cx="3235859" cy="3235858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9"/>
          <p:cNvSpPr/>
          <p:nvPr/>
        </p:nvSpPr>
        <p:spPr>
          <a:xfrm>
            <a:off x="5889" y="1"/>
            <a:ext cx="1617009" cy="1617009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19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9"/>
          <p:cNvSpPr/>
          <p:nvPr/>
        </p:nvSpPr>
        <p:spPr>
          <a:xfrm>
            <a:off x="10554128" y="3236706"/>
            <a:ext cx="1634583" cy="3751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" name="Google Shape;56;p19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9"/>
          <p:cNvSpPr/>
          <p:nvPr/>
        </p:nvSpPr>
        <p:spPr>
          <a:xfrm>
            <a:off x="8945468" y="6058220"/>
            <a:ext cx="798993" cy="798993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9"/>
          <p:cNvSpPr/>
          <p:nvPr/>
        </p:nvSpPr>
        <p:spPr>
          <a:xfrm>
            <a:off x="10560950" y="4448096"/>
            <a:ext cx="798993" cy="798993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9"/>
          <p:cNvSpPr/>
          <p:nvPr/>
        </p:nvSpPr>
        <p:spPr>
          <a:xfrm>
            <a:off x="11393008" y="6058220"/>
            <a:ext cx="798993" cy="798993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0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16" cy="246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810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6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35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5" name="Google Shape;65;p20"/>
          <p:cNvSpPr/>
          <p:nvPr/>
        </p:nvSpPr>
        <p:spPr>
          <a:xfrm>
            <a:off x="9769004" y="4436887"/>
            <a:ext cx="2422997" cy="2422997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21"/>
          <p:cNvPicPr preferRelativeResize="0"/>
          <p:nvPr/>
        </p:nvPicPr>
        <p:blipFill rotWithShape="1">
          <a:blip r:embed="rId2">
            <a:alphaModFix/>
          </a:blip>
          <a:srcRect l="-1" r="35292" b="425"/>
          <a:stretch/>
        </p:blipFill>
        <p:spPr>
          <a:xfrm>
            <a:off x="5506709" y="1"/>
            <a:ext cx="6685292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21"/>
          <p:cNvSpPr/>
          <p:nvPr/>
        </p:nvSpPr>
        <p:spPr>
          <a:xfrm>
            <a:off x="3853558" y="277"/>
            <a:ext cx="8335499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1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51" cy="246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70" name="Google Shape;70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1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810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35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73" name="Google Shape;73;p21"/>
          <p:cNvSpPr/>
          <p:nvPr/>
        </p:nvSpPr>
        <p:spPr>
          <a:xfrm>
            <a:off x="9769004" y="4436887"/>
            <a:ext cx="2422997" cy="242299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22"/>
          <p:cNvPicPr preferRelativeResize="0"/>
          <p:nvPr/>
        </p:nvPicPr>
        <p:blipFill rotWithShape="1">
          <a:blip r:embed="rId2">
            <a:alphaModFix/>
          </a:blip>
          <a:srcRect l="-1" r="35292" b="425"/>
          <a:stretch/>
        </p:blipFill>
        <p:spPr>
          <a:xfrm>
            <a:off x="5506709" y="1"/>
            <a:ext cx="6685292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22"/>
          <p:cNvSpPr/>
          <p:nvPr/>
        </p:nvSpPr>
        <p:spPr>
          <a:xfrm>
            <a:off x="3853558" y="277"/>
            <a:ext cx="8335499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2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16" cy="246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78" name="Google Shape;78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22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810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2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6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35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82" name="Google Shape;82;p22"/>
          <p:cNvSpPr/>
          <p:nvPr/>
        </p:nvSpPr>
        <p:spPr>
          <a:xfrm>
            <a:off x="9769004" y="4436887"/>
            <a:ext cx="2422997" cy="242299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1">
  <p:cSld name="Титульный 1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3"/>
          <p:cNvSpPr txBox="1">
            <a:spLocks noGrp="1"/>
          </p:cNvSpPr>
          <p:nvPr>
            <p:ph type="body" idx="1"/>
          </p:nvPr>
        </p:nvSpPr>
        <p:spPr>
          <a:xfrm>
            <a:off x="339530" y="6178218"/>
            <a:ext cx="977423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22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>
            <a:off x="339530" y="4415757"/>
            <a:ext cx="9774236" cy="1576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6000" b="0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ол. заголовок + текст">
  <p:cSld name="Бол. заголовок + текст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4"/>
          <p:cNvSpPr txBox="1">
            <a:spLocks noGrp="1"/>
          </p:cNvSpPr>
          <p:nvPr>
            <p:ph type="body" idx="1"/>
          </p:nvPr>
        </p:nvSpPr>
        <p:spPr>
          <a:xfrm>
            <a:off x="334962" y="1042988"/>
            <a:ext cx="8555037" cy="1679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" name="Google Shape;88;p24"/>
          <p:cNvSpPr txBox="1">
            <a:spLocks noGrp="1"/>
          </p:cNvSpPr>
          <p:nvPr>
            <p:ph type="ftr" idx="11"/>
          </p:nvPr>
        </p:nvSpPr>
        <p:spPr>
          <a:xfrm>
            <a:off x="336154" y="5895439"/>
            <a:ext cx="8553846" cy="110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9" name="Google Shape;89;p24"/>
          <p:cNvSpPr txBox="1">
            <a:spLocks noGrp="1"/>
          </p:cNvSpPr>
          <p:nvPr>
            <p:ph type="title"/>
          </p:nvPr>
        </p:nvSpPr>
        <p:spPr>
          <a:xfrm>
            <a:off x="334962" y="290923"/>
            <a:ext cx="8555037" cy="526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sz="3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90" name="Google Shape;90;p24"/>
          <p:cNvSpPr txBox="1">
            <a:spLocks noGrp="1"/>
          </p:cNvSpPr>
          <p:nvPr>
            <p:ph type="sldNum" idx="12"/>
          </p:nvPr>
        </p:nvSpPr>
        <p:spPr>
          <a:xfrm>
            <a:off x="11518829" y="6400448"/>
            <a:ext cx="342969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еребивка 2">
  <p:cSld name="Перебивка 2">
    <p:bg>
      <p:bgPr>
        <a:solidFill>
          <a:schemeClr val="dk2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5"/>
          <p:cNvSpPr txBox="1">
            <a:spLocks noGrp="1"/>
          </p:cNvSpPr>
          <p:nvPr>
            <p:ph type="title"/>
          </p:nvPr>
        </p:nvSpPr>
        <p:spPr>
          <a:xfrm>
            <a:off x="334963" y="295258"/>
            <a:ext cx="8553450" cy="1403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4800" b="1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93" name="Google Shape;93;p25"/>
          <p:cNvSpPr txBox="1">
            <a:spLocks noGrp="1"/>
          </p:cNvSpPr>
          <p:nvPr>
            <p:ph type="body" idx="1"/>
          </p:nvPr>
        </p:nvSpPr>
        <p:spPr>
          <a:xfrm>
            <a:off x="334963" y="1861246"/>
            <a:ext cx="8553450" cy="295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Финальный слайд 1">
  <p:cSld name="Финальный слайд 1">
    <p:bg>
      <p:bgPr>
        <a:solidFill>
          <a:schemeClr val="dk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6"/>
          <p:cNvSpPr txBox="1">
            <a:spLocks noGrp="1"/>
          </p:cNvSpPr>
          <p:nvPr>
            <p:ph type="body" idx="1"/>
          </p:nvPr>
        </p:nvSpPr>
        <p:spPr>
          <a:xfrm>
            <a:off x="340037" y="1861806"/>
            <a:ext cx="8548375" cy="295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810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sz="25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11" name="Google Shape;11;p15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5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35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3" name="Google Shape;13;p15"/>
          <p:cNvSpPr/>
          <p:nvPr/>
        </p:nvSpPr>
        <p:spPr>
          <a:xfrm>
            <a:off x="5889" y="0"/>
            <a:ext cx="1617446" cy="1617446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5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5"/>
          <p:cNvSpPr/>
          <p:nvPr/>
        </p:nvSpPr>
        <p:spPr>
          <a:xfrm>
            <a:off x="9763006" y="4436887"/>
            <a:ext cx="2425700" cy="242570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5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5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stgresql.org/download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postgresql.org/download/linux/ubuntu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stgresql.org/download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stgresql.org/download/linux/ubuntu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ftp.postgresql.org/pub/source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hub.docker.com/_/postgre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hyperlink" Target="https://postgres-operator.readthedocs.io/en/latest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>
            <a:spLocks noGrp="1"/>
          </p:cNvSpPr>
          <p:nvPr>
            <p:ph type="body" idx="1"/>
          </p:nvPr>
        </p:nvSpPr>
        <p:spPr>
          <a:xfrm>
            <a:off x="1622193" y="2544108"/>
            <a:ext cx="6223093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</a:pPr>
            <a:r>
              <a:rPr lang="ru-RU"/>
              <a:t>БЛОК 2. БАЗОВЫЙ ИНСТРУМЕНТАРИЙ</a:t>
            </a:r>
            <a:endParaRPr/>
          </a:p>
        </p:txBody>
      </p:sp>
      <p:sp>
        <p:nvSpPr>
          <p:cNvPr id="101" name="Google Shape;101;p1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627" cy="79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</a:pPr>
            <a:r>
              <a:rPr lang="ru-RU"/>
              <a:t>УСТАНОВКА POSTGRESQL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810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ЦЕЛЬ УРОКА</a:t>
            </a:r>
            <a:endParaRPr/>
          </a:p>
        </p:txBody>
      </p:sp>
      <p:sp>
        <p:nvSpPr>
          <p:cNvPr id="108" name="Google Shape;108;p2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35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1719852" y="2395182"/>
            <a:ext cx="1033818" cy="1033818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lang="ru-RU" sz="3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4654361" y="2395182"/>
            <a:ext cx="1033818" cy="1033818"/>
          </a:xfrm>
          <a:prstGeom prst="ellipse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Arial"/>
              <a:buNone/>
            </a:pPr>
            <a:r>
              <a:rPr lang="ru-RU" sz="36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7535863" y="2395182"/>
            <a:ext cx="1033818" cy="1033818"/>
          </a:xfrm>
          <a:prstGeom prst="ellipse">
            <a:avLst/>
          </a:prstGeom>
          <a:solidFill>
            <a:srgbClr val="E5E0F6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None/>
            </a:pPr>
            <a:r>
              <a:rPr lang="ru-RU" sz="36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1719852" y="3583202"/>
            <a:ext cx="257079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Разобраться, </a:t>
            </a:r>
            <a:b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какие есть варианты установки Постгреса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" name="Google Shape;113;p2"/>
          <p:cNvCxnSpPr/>
          <p:nvPr/>
        </p:nvCxnSpPr>
        <p:spPr>
          <a:xfrm rot="10800000">
            <a:off x="5857705" y="2912091"/>
            <a:ext cx="1482127" cy="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4" name="Google Shape;114;p2"/>
          <p:cNvSpPr txBox="1"/>
          <p:nvPr/>
        </p:nvSpPr>
        <p:spPr>
          <a:xfrm>
            <a:off x="4671580" y="3583202"/>
            <a:ext cx="2312316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Узнать, для чего нужен каждый вариант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7535863" y="3583202"/>
            <a:ext cx="3223154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Установить Постгрес </a:t>
            </a:r>
            <a:b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 ВМ с Ubuntu22.04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16" name="Google Shape;116;p2"/>
          <p:cNvCxnSpPr/>
          <p:nvPr/>
        </p:nvCxnSpPr>
        <p:spPr>
          <a:xfrm rot="10800000">
            <a:off x="2949700" y="2912091"/>
            <a:ext cx="1482127" cy="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810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СОДЕРЖАНИЕ УРОКА</a:t>
            </a:r>
            <a:endParaRPr/>
          </a:p>
        </p:txBody>
      </p:sp>
      <p:sp>
        <p:nvSpPr>
          <p:cNvPr id="122" name="Google Shape;122;p3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35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1719852" y="1361364"/>
            <a:ext cx="926432" cy="926432"/>
          </a:xfrm>
          <a:prstGeom prst="ellipse">
            <a:avLst/>
          </a:prstGeom>
          <a:solidFill>
            <a:srgbClr val="CBF2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1719852" y="3129109"/>
            <a:ext cx="926432" cy="926432"/>
          </a:xfrm>
          <a:prstGeom prst="ellipse">
            <a:avLst/>
          </a:prstGeom>
          <a:solidFill>
            <a:srgbClr val="CBF2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1719852" y="4896852"/>
            <a:ext cx="926432" cy="926432"/>
          </a:xfrm>
          <a:prstGeom prst="ellipse">
            <a:avLst/>
          </a:prstGeom>
          <a:solidFill>
            <a:srgbClr val="CBF2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26" name="Google Shape;126;p3"/>
          <p:cNvCxnSpPr/>
          <p:nvPr/>
        </p:nvCxnSpPr>
        <p:spPr>
          <a:xfrm rot="10800000">
            <a:off x="2183068" y="2395856"/>
            <a:ext cx="0" cy="625193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7" name="Google Shape;127;p3"/>
          <p:cNvCxnSpPr/>
          <p:nvPr/>
        </p:nvCxnSpPr>
        <p:spPr>
          <a:xfrm rot="10800000">
            <a:off x="2183068" y="4163601"/>
            <a:ext cx="0" cy="625193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8" name="Google Shape;128;p3"/>
          <p:cNvSpPr txBox="1"/>
          <p:nvPr/>
        </p:nvSpPr>
        <p:spPr>
          <a:xfrm>
            <a:off x="2860569" y="1547581"/>
            <a:ext cx="2570794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Виды установки Постгреса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2860569" y="3315325"/>
            <a:ext cx="2288946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Преимущества каждого варианта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2860569" y="5083068"/>
            <a:ext cx="2570794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Установка Постгреса </a:t>
            </a:r>
            <a:b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 Ubuntu 22.04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6632052" y="1361364"/>
            <a:ext cx="3643312" cy="4461920"/>
          </a:xfrm>
          <a:prstGeom prst="roundRect">
            <a:avLst>
              <a:gd name="adj" fmla="val 5294"/>
            </a:avLst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/>
          <p:nvPr/>
        </p:nvSpPr>
        <p:spPr>
          <a:xfrm>
            <a:off x="1719852" y="1614489"/>
            <a:ext cx="2570794" cy="1822713"/>
          </a:xfrm>
          <a:prstGeom prst="roundRect">
            <a:avLst>
              <a:gd name="adj" fmla="val 7748"/>
            </a:avLst>
          </a:prstGeom>
          <a:solidFill>
            <a:srgbClr val="CEE6FF"/>
          </a:solidFill>
          <a:ln>
            <a:noFill/>
          </a:ln>
        </p:spPr>
        <p:txBody>
          <a:bodyPr spcFirstLastPara="1" wrap="square" lIns="144000" tIns="756000" rIns="144000" bIns="1440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On-premise</a:t>
            </a:r>
            <a:r>
              <a:rPr lang="ru-R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ru-R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 любой ОС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4569979" y="1614489"/>
            <a:ext cx="2570794" cy="1822713"/>
          </a:xfrm>
          <a:prstGeom prst="roundRect">
            <a:avLst>
              <a:gd name="adj" fmla="val 6634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144000" tIns="756000" rIns="144000" bIns="1440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Из репозитория Linux (команда sudo apt install postgresql)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7420106" y="1614488"/>
            <a:ext cx="2570794" cy="1822713"/>
          </a:xfrm>
          <a:prstGeom prst="roundRect">
            <a:avLst>
              <a:gd name="adj" fmla="val 8306"/>
            </a:avLst>
          </a:prstGeom>
          <a:solidFill>
            <a:srgbClr val="E5E0F6"/>
          </a:solidFill>
          <a:ln>
            <a:noFill/>
          </a:ln>
        </p:spPr>
        <p:txBody>
          <a:bodyPr spcFirstLastPara="1" wrap="square" lIns="144000" tIns="756000" rIns="144000" bIns="1440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Используя </a:t>
            </a:r>
            <a:r>
              <a:rPr lang="ru-RU" sz="16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репозиторий postgresql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1719852" y="3679761"/>
            <a:ext cx="2570794" cy="1822714"/>
          </a:xfrm>
          <a:prstGeom prst="roundRect">
            <a:avLst>
              <a:gd name="adj" fmla="val 5519"/>
            </a:avLst>
          </a:prstGeom>
          <a:solidFill>
            <a:srgbClr val="CBF2FF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Собрать Постгрес </a:t>
            </a:r>
            <a:br>
              <a:rPr lang="ru-R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из исходных кодов </a:t>
            </a:r>
            <a:br>
              <a:rPr lang="ru-R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 языке С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4569980" y="3679760"/>
            <a:ext cx="2570794" cy="1822713"/>
          </a:xfrm>
          <a:prstGeom prst="roundRect">
            <a:avLst>
              <a:gd name="adj" fmla="val 4961"/>
            </a:avLst>
          </a:prstGeom>
          <a:solidFill>
            <a:srgbClr val="E5E0F6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Docker-контейнер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7420107" y="3679761"/>
            <a:ext cx="2570794" cy="1822713"/>
          </a:xfrm>
          <a:prstGeom prst="roundRect">
            <a:avLst>
              <a:gd name="adj" fmla="val 6076"/>
            </a:avLst>
          </a:prstGeom>
          <a:solidFill>
            <a:srgbClr val="CEE6FF"/>
          </a:solidFill>
          <a:ln>
            <a:noFill/>
          </a:ln>
        </p:spPr>
        <p:txBody>
          <a:bodyPr spcFirstLastPara="1" wrap="square" lIns="144000" tIns="756000" rIns="144000" bIns="1440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Kubernetes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" name="Google Shape;142;p4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810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ВАРИАНТЫ УСТАНОВКИ POSTGRESQL</a:t>
            </a:r>
            <a:endParaRPr/>
          </a:p>
        </p:txBody>
      </p:sp>
      <p:sp>
        <p:nvSpPr>
          <p:cNvPr id="143" name="Google Shape;143;p4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35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1902732" y="1719107"/>
            <a:ext cx="876674" cy="63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4752860" y="1719107"/>
            <a:ext cx="876674" cy="63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7602987" y="1719107"/>
            <a:ext cx="876674" cy="63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1902732" y="3826196"/>
            <a:ext cx="876674" cy="63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4752860" y="3826196"/>
            <a:ext cx="876674" cy="63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7602987" y="3826196"/>
            <a:ext cx="876674" cy="63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3200" b="0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"/>
          <p:cNvSpPr txBox="1">
            <a:spLocks noGrp="1"/>
          </p:cNvSpPr>
          <p:nvPr>
            <p:ph type="title"/>
          </p:nvPr>
        </p:nvSpPr>
        <p:spPr>
          <a:xfrm>
            <a:off x="1725848" y="502442"/>
            <a:ext cx="7990907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1. УСТАНОВКА </a:t>
            </a:r>
            <a:r>
              <a:rPr lang="ru-RU" u="sng">
                <a:solidFill>
                  <a:schemeClr val="hlink"/>
                </a:solidFill>
                <a:hlinkClick r:id="rId3"/>
              </a:rPr>
              <a:t>ON-PREMISE</a:t>
            </a:r>
            <a:r>
              <a:rPr lang="ru-RU"/>
              <a:t> НА ЛЮБОЙ ОС </a:t>
            </a:r>
            <a:endParaRPr/>
          </a:p>
        </p:txBody>
      </p:sp>
      <p:sp>
        <p:nvSpPr>
          <p:cNvPr id="155" name="Google Shape;155;p5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35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  <p:sp>
        <p:nvSpPr>
          <p:cNvPr id="156" name="Google Shape;156;p5"/>
          <p:cNvSpPr txBox="1"/>
          <p:nvPr/>
        </p:nvSpPr>
        <p:spPr>
          <a:xfrm>
            <a:off x="1263625" y="6355558"/>
            <a:ext cx="11031600" cy="51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" name="Google Shape;157;p5"/>
          <p:cNvSpPr txBox="1"/>
          <p:nvPr/>
        </p:nvSpPr>
        <p:spPr>
          <a:xfrm>
            <a:off x="1703388" y="3334512"/>
            <a:ext cx="2034599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Установка из файла - в случае Windows *.exe, в Linux - *.rpm из магазина и т.д.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4656138" y="3334512"/>
            <a:ext cx="242836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Далее просто нажимая кнопки Далее </a:t>
            </a:r>
            <a:br>
              <a:rPr lang="ru-RU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мы установим Постгрес на ВМ как приложение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"/>
          <p:cNvSpPr txBox="1"/>
          <p:nvPr/>
        </p:nvSpPr>
        <p:spPr>
          <a:xfrm>
            <a:off x="7535862" y="3334512"/>
            <a:ext cx="3497228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Обычно используется </a:t>
            </a:r>
            <a:br>
              <a:rPr lang="ru-RU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 качестве тестового окружения, </a:t>
            </a:r>
            <a:br>
              <a:rPr lang="ru-RU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так как требует GUI для установки, а на промышленных серверах используется только консольные сервера, без графической оболочки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1719852" y="2256491"/>
            <a:ext cx="876674" cy="876674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4656138" y="2256491"/>
            <a:ext cx="876674" cy="876674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7535863" y="2256491"/>
            <a:ext cx="876674" cy="876674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63" name="Google Shape;163;p5"/>
          <p:cNvCxnSpPr/>
          <p:nvPr/>
        </p:nvCxnSpPr>
        <p:spPr>
          <a:xfrm rot="10800000">
            <a:off x="5694601" y="2694828"/>
            <a:ext cx="1684036" cy="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4" name="Google Shape;164;p5"/>
          <p:cNvCxnSpPr/>
          <p:nvPr/>
        </p:nvCxnSpPr>
        <p:spPr>
          <a:xfrm rot="10800000">
            <a:off x="2740386" y="2694828"/>
            <a:ext cx="1684036" cy="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"/>
          <p:cNvSpPr txBox="1">
            <a:spLocks noGrp="1"/>
          </p:cNvSpPr>
          <p:nvPr>
            <p:ph type="body" idx="1"/>
          </p:nvPr>
        </p:nvSpPr>
        <p:spPr>
          <a:xfrm>
            <a:off x="1725849" y="1426669"/>
            <a:ext cx="724987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>
                <a:solidFill>
                  <a:schemeClr val="dk1"/>
                </a:solidFill>
              </a:rPr>
              <a:t>В курсе используем данный вариант</a:t>
            </a:r>
            <a:endParaRPr/>
          </a:p>
        </p:txBody>
      </p:sp>
      <p:sp>
        <p:nvSpPr>
          <p:cNvPr id="170" name="Google Shape;170;p6"/>
          <p:cNvSpPr txBox="1">
            <a:spLocks noGrp="1"/>
          </p:cNvSpPr>
          <p:nvPr>
            <p:ph type="title"/>
          </p:nvPr>
        </p:nvSpPr>
        <p:spPr>
          <a:xfrm>
            <a:off x="1725848" y="502442"/>
            <a:ext cx="834259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2. УСТАНОВКА ИЗ РЕПОЗИТОРИЯ LINUX </a:t>
            </a:r>
            <a:br>
              <a:rPr lang="ru-RU"/>
            </a:br>
            <a:r>
              <a:rPr lang="ru-RU"/>
              <a:t>(КОМАНДА SUDO APT INSTALL POSTGRESQL)</a:t>
            </a:r>
            <a:endParaRPr/>
          </a:p>
        </p:txBody>
      </p:sp>
      <p:sp>
        <p:nvSpPr>
          <p:cNvPr id="171" name="Google Shape;171;p6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35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1725850" y="2579371"/>
            <a:ext cx="4125640" cy="1253313"/>
          </a:xfrm>
          <a:prstGeom prst="roundRect">
            <a:avLst>
              <a:gd name="adj" fmla="val 7794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180000" tIns="144000" rIns="144000" bIns="144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None/>
            </a:pPr>
            <a:r>
              <a:rPr lang="ru-RU" sz="2000" b="1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Плюс 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Он самый простой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6340510" y="2579371"/>
            <a:ext cx="4125640" cy="1253313"/>
          </a:xfrm>
          <a:prstGeom prst="roundRect">
            <a:avLst>
              <a:gd name="adj" fmla="val 4568"/>
            </a:avLst>
          </a:prstGeom>
          <a:solidFill>
            <a:srgbClr val="E5E0F6"/>
          </a:solidFill>
          <a:ln>
            <a:noFill/>
          </a:ln>
        </p:spPr>
        <p:txBody>
          <a:bodyPr spcFirstLastPara="1" wrap="square" lIns="180000" tIns="144000" rIns="144000" bIns="144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Arial"/>
              <a:buNone/>
            </a:pPr>
            <a:r>
              <a:rPr lang="ru-RU" sz="2000" b="1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Минус 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Версия Постгреса будет зависеть от версии ОС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 txBox="1"/>
          <p:nvPr/>
        </p:nvSpPr>
        <p:spPr>
          <a:xfrm>
            <a:off x="1725848" y="5766678"/>
            <a:ext cx="7249877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 целом тоже можно использовать в продуктовой среде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5" name="Google Shape;175;p6"/>
          <p:cNvSpPr txBox="1"/>
          <p:nvPr/>
        </p:nvSpPr>
        <p:spPr>
          <a:xfrm>
            <a:off x="6340510" y="3948088"/>
            <a:ext cx="3295859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A6E4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3A6E4"/>
                </a:solidFill>
                <a:latin typeface="Arial"/>
                <a:ea typeface="Arial"/>
                <a:cs typeface="Arial"/>
                <a:sym typeface="Arial"/>
              </a:rPr>
              <a:t>Ubuntu 22.04 — Постгрес 14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A6E4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3A6E4"/>
                </a:solidFill>
                <a:latin typeface="Arial"/>
                <a:ea typeface="Arial"/>
                <a:cs typeface="Arial"/>
                <a:sym typeface="Arial"/>
              </a:rPr>
              <a:t>Ubuntu 20.04 — Постгрес 12 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A6E4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B3A6E4"/>
                </a:solidFill>
                <a:latin typeface="Arial"/>
                <a:ea typeface="Arial"/>
                <a:cs typeface="Arial"/>
                <a:sym typeface="Arial"/>
              </a:rPr>
              <a:t>и т.д.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"/>
          <p:cNvSpPr txBox="1">
            <a:spLocks noGrp="1"/>
          </p:cNvSpPr>
          <p:nvPr>
            <p:ph type="body" idx="1"/>
          </p:nvPr>
        </p:nvSpPr>
        <p:spPr>
          <a:xfrm>
            <a:off x="1725849" y="1419881"/>
            <a:ext cx="611428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/>
              <a:t>Позволяет установить нужную нам версию Постгреса 9.6-14.  </a:t>
            </a:r>
            <a:endParaRPr/>
          </a:p>
        </p:txBody>
      </p:sp>
      <p:sp>
        <p:nvSpPr>
          <p:cNvPr id="181" name="Google Shape;181;p7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824211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3. УСТАНОВИТЬ, ИСПОЛЬЗУЯ </a:t>
            </a:r>
            <a:br>
              <a:rPr lang="ru-RU"/>
            </a:br>
            <a:r>
              <a:rPr lang="ru-RU" u="sng">
                <a:solidFill>
                  <a:schemeClr val="hlink"/>
                </a:solidFill>
                <a:hlinkClick r:id="rId3"/>
              </a:rPr>
              <a:t>РЕПОЗИТОРИЙ POSTGRESQL  </a:t>
            </a:r>
            <a:endParaRPr/>
          </a:p>
        </p:txBody>
      </p:sp>
      <p:sp>
        <p:nvSpPr>
          <p:cNvPr id="182" name="Google Shape;182;p7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35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  <p:sp>
        <p:nvSpPr>
          <p:cNvPr id="183" name="Google Shape;183;p7"/>
          <p:cNvSpPr txBox="1"/>
          <p:nvPr/>
        </p:nvSpPr>
        <p:spPr>
          <a:xfrm>
            <a:off x="2020063" y="6858000"/>
            <a:ext cx="11031600" cy="51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1725849" y="2391180"/>
            <a:ext cx="8762764" cy="2246996"/>
          </a:xfrm>
          <a:prstGeom prst="roundRect">
            <a:avLst>
              <a:gd name="adj" fmla="val 5831"/>
            </a:avLst>
          </a:prstGeom>
          <a:solidFill>
            <a:srgbClr val="444444"/>
          </a:solidFill>
          <a:ln>
            <a:noFill/>
          </a:ln>
        </p:spPr>
        <p:txBody>
          <a:bodyPr spcFirstLastPara="1" wrap="square" lIns="216000" tIns="360000" rIns="216000" bIns="360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600"/>
              <a:buFont typeface="Consolas"/>
              <a:buNone/>
            </a:pPr>
            <a:r>
              <a:rPr lang="ru-RU" sz="1600" b="0" i="0" u="none" strike="noStrike" cap="none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sudo sh -c 'echo "deb http://apt.postgresql.org/pub/repos/apt $(lsb_release -cs)-pgdg main" &gt; /etc/apt/sources.list.d/pgdg.list'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600"/>
              <a:buFont typeface="Consolas"/>
              <a:buNone/>
            </a:pPr>
            <a:r>
              <a:rPr lang="ru-RU" sz="1600" b="0" i="0" u="none" strike="noStrike" cap="none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wget --quiet -O - https://www.postgresql.org/media/keys/ACCC4CF8.asc | sudo apt-key add -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600"/>
              <a:buFont typeface="Consolas"/>
              <a:buNone/>
            </a:pPr>
            <a:r>
              <a:rPr lang="ru-RU" sz="1600" b="0" i="0" u="none" strike="noStrike" cap="none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sudo apt-get update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600"/>
              <a:buFont typeface="Consolas"/>
              <a:buNone/>
            </a:pPr>
            <a:r>
              <a:rPr lang="ru-RU" sz="1600" b="0" i="0" u="none" strike="noStrike" cap="none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sudo apt-get -y install postgresql-12/13/14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3969269" y="3226524"/>
            <a:ext cx="333754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endParaRPr sz="2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6" name="Google Shape;186;p7"/>
          <p:cNvSpPr txBox="1"/>
          <p:nvPr/>
        </p:nvSpPr>
        <p:spPr>
          <a:xfrm>
            <a:off x="1725849" y="5757474"/>
            <a:ext cx="611428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Продакшн реди вариант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"/>
          <p:cNvSpPr txBox="1">
            <a:spLocks noGrp="1"/>
          </p:cNvSpPr>
          <p:nvPr>
            <p:ph type="body" idx="1"/>
          </p:nvPr>
        </p:nvSpPr>
        <p:spPr>
          <a:xfrm>
            <a:off x="1725849" y="1425931"/>
            <a:ext cx="849730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/>
              <a:t>Самый сложный вариант. Очень редко используется в продакшн. Обычно предназначен для добавления собственного функционала в исходный код Постгреса. </a:t>
            </a:r>
            <a:endParaRPr/>
          </a:p>
        </p:txBody>
      </p:sp>
      <p:sp>
        <p:nvSpPr>
          <p:cNvPr id="192" name="Google Shape;192;p8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81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4. СОБРАТЬ ПОСТГРЕС </a:t>
            </a:r>
            <a:br>
              <a:rPr lang="ru-RU"/>
            </a:br>
            <a:r>
              <a:rPr lang="ru-RU"/>
              <a:t>ИЗ ИСХОДНЫХ КОДОВ НА ЯЗЫКЕ С </a:t>
            </a:r>
            <a:endParaRPr/>
          </a:p>
        </p:txBody>
      </p:sp>
      <p:sp>
        <p:nvSpPr>
          <p:cNvPr id="193" name="Google Shape;193;p8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35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1703388" y="3166695"/>
            <a:ext cx="8233092" cy="2854692"/>
          </a:xfrm>
          <a:prstGeom prst="roundRect">
            <a:avLst>
              <a:gd name="adj" fmla="val 4323"/>
            </a:avLst>
          </a:prstGeom>
          <a:solidFill>
            <a:srgbClr val="444444"/>
          </a:solidFill>
          <a:ln>
            <a:noFill/>
          </a:ln>
        </p:spPr>
        <p:txBody>
          <a:bodyPr spcFirstLastPara="1" wrap="square" lIns="216000" tIns="180000" rIns="216000" bIns="216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200"/>
              <a:buFont typeface="Consolas"/>
              <a:buNone/>
            </a:pPr>
            <a:r>
              <a:rPr lang="ru-RU" sz="1200" b="0" i="0" u="none" strike="noStrike" cap="none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INSTALL Short Version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200"/>
              <a:buFont typeface="Consolas"/>
              <a:buNone/>
            </a:pPr>
            <a:r>
              <a:rPr lang="ru-RU" sz="1200" b="0" i="0" u="none" strike="noStrike" cap="none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	./configure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200"/>
              <a:buFont typeface="Consolas"/>
              <a:buNone/>
            </a:pPr>
            <a:r>
              <a:rPr lang="ru-RU" sz="1200" b="0" i="0" u="none" strike="noStrike" cap="none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	make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200"/>
              <a:buFont typeface="Consolas"/>
              <a:buNone/>
            </a:pPr>
            <a:r>
              <a:rPr lang="ru-RU" sz="1200" b="0" i="0" u="none" strike="noStrike" cap="none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	su</a:t>
            </a:r>
            <a:endParaRPr sz="1200" b="0" i="0" u="none" strike="noStrike" cap="none">
              <a:solidFill>
                <a:srgbClr val="DDDDD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200"/>
              <a:buFont typeface="Consolas"/>
              <a:buNone/>
            </a:pPr>
            <a:r>
              <a:rPr lang="ru-RU" sz="1200" b="0" i="0" u="none" strike="noStrike" cap="none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	make install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200"/>
              <a:buFont typeface="Consolas"/>
              <a:buNone/>
            </a:pPr>
            <a:r>
              <a:rPr lang="ru-RU" sz="1200" b="0" i="0" u="none" strike="noStrike" cap="none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	adduser postgres</a:t>
            </a:r>
            <a:endParaRPr sz="1200" b="0" i="0" u="none" strike="noStrike" cap="none">
              <a:solidFill>
                <a:srgbClr val="DDDDD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200"/>
              <a:buFont typeface="Consolas"/>
              <a:buNone/>
            </a:pPr>
            <a:r>
              <a:rPr lang="ru-RU" sz="1200" b="0" i="0" u="none" strike="noStrike" cap="none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	mkdir /usr/local/pgsql/data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200"/>
              <a:buFont typeface="Consolas"/>
              <a:buNone/>
            </a:pPr>
            <a:r>
              <a:rPr lang="ru-RU" sz="1200" b="0" i="0" u="none" strike="noStrike" cap="none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	chown postgres /usr/local/pgsql/data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200"/>
              <a:buFont typeface="Consolas"/>
              <a:buNone/>
            </a:pPr>
            <a:r>
              <a:rPr lang="ru-RU" sz="1200" b="0" i="0" u="none" strike="noStrike" cap="none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	su - postgres</a:t>
            </a:r>
            <a:endParaRPr sz="1200" b="0" i="0" u="none" strike="noStrike" cap="none">
              <a:solidFill>
                <a:srgbClr val="DDDDD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200"/>
              <a:buFont typeface="Consolas"/>
              <a:buNone/>
            </a:pPr>
            <a:r>
              <a:rPr lang="ru-RU" sz="1200" b="0" i="0" u="none" strike="noStrike" cap="none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	/usr/local/pgsql/bin/initdb -D /usr/local/pgsql/data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200"/>
              <a:buFont typeface="Consolas"/>
              <a:buNone/>
            </a:pPr>
            <a:r>
              <a:rPr lang="ru-RU" sz="1200" b="0" i="0" u="none" strike="noStrike" cap="none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	/usr/local/pgsql/bin/pg_ctl -D /usr/local/pgsql/data -l logfile start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200"/>
              <a:buFont typeface="Consolas"/>
              <a:buNone/>
            </a:pPr>
            <a:r>
              <a:rPr lang="ru-RU" sz="1200" b="0" i="0" u="none" strike="noStrike" cap="none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	/usr/local/pgsql/bin/createdb test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200"/>
              <a:buFont typeface="Consolas"/>
              <a:buNone/>
            </a:pPr>
            <a:r>
              <a:rPr lang="ru-RU" sz="1200" b="0" i="0" u="none" strike="noStrike" cap="none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	/usr/local/pgsql/bin/psql test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5" name="Google Shape;195;p8"/>
          <p:cNvSpPr txBox="1"/>
          <p:nvPr/>
        </p:nvSpPr>
        <p:spPr>
          <a:xfrm>
            <a:off x="2464207" y="2269889"/>
            <a:ext cx="326175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Скачиваем исходные коды </a:t>
            </a:r>
            <a:br>
              <a:rPr lang="ru-RU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 </a:t>
            </a:r>
            <a:r>
              <a:rPr lang="ru-RU" sz="16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ftp postgresql.org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8"/>
          <p:cNvSpPr txBox="1"/>
          <p:nvPr/>
        </p:nvSpPr>
        <p:spPr>
          <a:xfrm>
            <a:off x="6840355" y="2269889"/>
            <a:ext cx="367973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Далее даже самая короткая инструкция довольно обширна: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1719853" y="2217796"/>
            <a:ext cx="596628" cy="596628"/>
          </a:xfrm>
          <a:prstGeom prst="ellipse">
            <a:avLst/>
          </a:prstGeom>
          <a:solidFill>
            <a:srgbClr val="E5E0F6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None/>
            </a:pPr>
            <a:r>
              <a:rPr lang="ru-RU" sz="24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6096001" y="2217796"/>
            <a:ext cx="596628" cy="596628"/>
          </a:xfrm>
          <a:prstGeom prst="ellipse">
            <a:avLst/>
          </a:prstGeom>
          <a:solidFill>
            <a:srgbClr val="E5E0F6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None/>
            </a:pPr>
            <a:r>
              <a:rPr lang="ru-RU" sz="24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"/>
          <p:cNvSpPr txBox="1">
            <a:spLocks noGrp="1"/>
          </p:cNvSpPr>
          <p:nvPr>
            <p:ph type="body" idx="1"/>
          </p:nvPr>
        </p:nvSpPr>
        <p:spPr>
          <a:xfrm>
            <a:off x="1725849" y="1420257"/>
            <a:ext cx="8762764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/>
              <a:t>Предназначены для автоматизированного развертывания Постгреса в промышленных масштабах, а также для использования в микросервисной архитектуре</a:t>
            </a:r>
            <a:endParaRPr/>
          </a:p>
        </p:txBody>
      </p:sp>
      <p:sp>
        <p:nvSpPr>
          <p:cNvPr id="204" name="Google Shape;204;p9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81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5 И 6. УСТАНОВКА ЧЕРЕЗ</a:t>
            </a:r>
            <a:br>
              <a:rPr lang="ru-RU"/>
            </a:br>
            <a:r>
              <a:rPr lang="ru-RU" u="sng">
                <a:solidFill>
                  <a:schemeClr val="hlink"/>
                </a:solidFill>
                <a:hlinkClick r:id="rId3"/>
              </a:rPr>
              <a:t>DOCKER КОНТЕЙНЕР</a:t>
            </a:r>
            <a:r>
              <a:rPr lang="ru-RU"/>
              <a:t> &amp; </a:t>
            </a:r>
            <a:r>
              <a:rPr lang="ru-RU" u="sng">
                <a:solidFill>
                  <a:schemeClr val="hlink"/>
                </a:solidFill>
                <a:hlinkClick r:id="rId4"/>
              </a:rPr>
              <a:t>KUBERNETES</a:t>
            </a:r>
            <a:endParaRPr/>
          </a:p>
        </p:txBody>
      </p:sp>
      <p:sp>
        <p:nvSpPr>
          <p:cNvPr id="205" name="Google Shape;205;p9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35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  <p:pic>
        <p:nvPicPr>
          <p:cNvPr id="206" name="Google Shape;206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03389" y="2570480"/>
            <a:ext cx="4287644" cy="2682240"/>
          </a:xfrm>
          <a:prstGeom prst="roundRect">
            <a:avLst>
              <a:gd name="adj" fmla="val 3580"/>
            </a:avLst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7" name="Google Shape;207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93270" y="2570479"/>
            <a:ext cx="3762720" cy="2682241"/>
          </a:xfrm>
          <a:prstGeom prst="roundRect">
            <a:avLst>
              <a:gd name="adj" fmla="val 3580"/>
            </a:avLst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"/>
          <p:cNvSpPr txBox="1">
            <a:spLocks noGrp="1"/>
          </p:cNvSpPr>
          <p:nvPr>
            <p:ph type="body" idx="1"/>
          </p:nvPr>
        </p:nvSpPr>
        <p:spPr>
          <a:xfrm>
            <a:off x="1725849" y="1050007"/>
            <a:ext cx="44844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/>
              <a:t>Порядок действий</a:t>
            </a:r>
            <a:endParaRPr/>
          </a:p>
        </p:txBody>
      </p:sp>
      <p:sp>
        <p:nvSpPr>
          <p:cNvPr id="213" name="Google Shape;213;p10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810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УСТАНОВКА UBUNTU 22.04 LTS</a:t>
            </a:r>
            <a:endParaRPr/>
          </a:p>
        </p:txBody>
      </p:sp>
      <p:sp>
        <p:nvSpPr>
          <p:cNvPr id="214" name="Google Shape;214;p10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35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1719852" y="2343926"/>
            <a:ext cx="876674" cy="876674"/>
          </a:xfrm>
          <a:prstGeom prst="ellipse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4671580" y="2343926"/>
            <a:ext cx="876674" cy="876674"/>
          </a:xfrm>
          <a:prstGeom prst="ellipse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7535863" y="2343926"/>
            <a:ext cx="876674" cy="876674"/>
          </a:xfrm>
          <a:prstGeom prst="ellipse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8" name="Google Shape;218;p10"/>
          <p:cNvSpPr txBox="1"/>
          <p:nvPr/>
        </p:nvSpPr>
        <p:spPr>
          <a:xfrm>
            <a:off x="1719852" y="3348298"/>
            <a:ext cx="2352218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Открыть ВМ, созданную на предыдущем занятии. Она должна восстановиться </a:t>
            </a:r>
            <a:br>
              <a:rPr lang="ru-R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из сохраненного состояния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19" name="Google Shape;219;p10"/>
          <p:cNvCxnSpPr/>
          <p:nvPr/>
        </p:nvCxnSpPr>
        <p:spPr>
          <a:xfrm rot="10800000">
            <a:off x="2753670" y="2782263"/>
            <a:ext cx="1690330" cy="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0" name="Google Shape;220;p10"/>
          <p:cNvCxnSpPr/>
          <p:nvPr/>
        </p:nvCxnSpPr>
        <p:spPr>
          <a:xfrm rot="10800000">
            <a:off x="5675762" y="2782263"/>
            <a:ext cx="1690330" cy="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1" name="Google Shape;221;p10"/>
          <p:cNvSpPr txBox="1"/>
          <p:nvPr/>
        </p:nvSpPr>
        <p:spPr>
          <a:xfrm>
            <a:off x="4671580" y="3348298"/>
            <a:ext cx="2352218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Открыть окно терминала, которое </a:t>
            </a:r>
            <a:br>
              <a:rPr lang="ru-R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мы закрепили слева </a:t>
            </a:r>
            <a:br>
              <a:rPr lang="ru-R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 избранном </a:t>
            </a:r>
            <a:br>
              <a:rPr lang="ru-R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 предыдущем занятии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2" name="Google Shape;222;p10"/>
          <p:cNvSpPr txBox="1"/>
          <p:nvPr/>
        </p:nvSpPr>
        <p:spPr>
          <a:xfrm>
            <a:off x="7535863" y="3348298"/>
            <a:ext cx="208565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Набрать команду </a:t>
            </a:r>
            <a:r>
              <a:rPr lang="ru-RU" sz="16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sudo apt install postgresql</a:t>
            </a:r>
            <a:endParaRPr sz="16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3" name="Google Shape;223;p10"/>
          <p:cNvCxnSpPr/>
          <p:nvPr/>
        </p:nvCxnSpPr>
        <p:spPr>
          <a:xfrm rot="10800000">
            <a:off x="8559639" y="2782263"/>
            <a:ext cx="1690330" cy="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"/>
          <p:cNvSpPr txBox="1">
            <a:spLocks noGrp="1"/>
          </p:cNvSpPr>
          <p:nvPr>
            <p:ph type="body" idx="1"/>
          </p:nvPr>
        </p:nvSpPr>
        <p:spPr>
          <a:xfrm>
            <a:off x="1725849" y="1050007"/>
            <a:ext cx="44844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/>
              <a:t>Порядок действий</a:t>
            </a:r>
            <a:endParaRPr/>
          </a:p>
        </p:txBody>
      </p:sp>
      <p:sp>
        <p:nvSpPr>
          <p:cNvPr id="229" name="Google Shape;229;p11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810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УСТАНОВКА UBUNTU 22.04 LTS</a:t>
            </a:r>
            <a:endParaRPr/>
          </a:p>
        </p:txBody>
      </p:sp>
      <p:sp>
        <p:nvSpPr>
          <p:cNvPr id="230" name="Google Shape;230;p11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35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  <p:sp>
        <p:nvSpPr>
          <p:cNvPr id="231" name="Google Shape;231;p11"/>
          <p:cNvSpPr txBox="1"/>
          <p:nvPr/>
        </p:nvSpPr>
        <p:spPr>
          <a:xfrm>
            <a:off x="1703388" y="6178408"/>
            <a:ext cx="11118299" cy="51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marR="0" lvl="0" indent="0" algn="l" rtl="0">
              <a:lnSpc>
                <a:spcPct val="114999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1719852" y="2343926"/>
            <a:ext cx="876674" cy="876674"/>
          </a:xfrm>
          <a:prstGeom prst="ellipse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6096000" y="2343926"/>
            <a:ext cx="876674" cy="876674"/>
          </a:xfrm>
          <a:prstGeom prst="ellipse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4" name="Google Shape;234;p11"/>
          <p:cNvSpPr txBox="1"/>
          <p:nvPr/>
        </p:nvSpPr>
        <p:spPr>
          <a:xfrm>
            <a:off x="1719852" y="3348298"/>
            <a:ext cx="235221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Подтвердить установку кнопкой Y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5" name="Google Shape;235;p11"/>
          <p:cNvCxnSpPr/>
          <p:nvPr/>
        </p:nvCxnSpPr>
        <p:spPr>
          <a:xfrm rot="10800000">
            <a:off x="2753670" y="2782263"/>
            <a:ext cx="3169610" cy="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6" name="Google Shape;236;p11"/>
          <p:cNvSpPr txBox="1"/>
          <p:nvPr/>
        </p:nvSpPr>
        <p:spPr>
          <a:xfrm>
            <a:off x="6096000" y="3348298"/>
            <a:ext cx="422656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Убедиться, что кластер 14 версии у нас установлен и запущен на порту 5432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810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ИТОГИ ЗАНЯТИЯ</a:t>
            </a:r>
            <a:endParaRPr/>
          </a:p>
        </p:txBody>
      </p:sp>
      <p:sp>
        <p:nvSpPr>
          <p:cNvPr id="242" name="Google Shape;242;p12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35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  <p:sp>
        <p:nvSpPr>
          <p:cNvPr id="243" name="Google Shape;243;p12"/>
          <p:cNvSpPr/>
          <p:nvPr/>
        </p:nvSpPr>
        <p:spPr>
          <a:xfrm>
            <a:off x="1703389" y="2393236"/>
            <a:ext cx="2714232" cy="1607265"/>
          </a:xfrm>
          <a:prstGeom prst="roundRect">
            <a:avLst>
              <a:gd name="adj" fmla="val 5760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1113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Разобрались какие есть варианты установки Постгреса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4738885" y="2393235"/>
            <a:ext cx="2714232" cy="1607265"/>
          </a:xfrm>
          <a:prstGeom prst="roundRect">
            <a:avLst>
              <a:gd name="adj" fmla="val 5215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1113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Узнали для чего нужен каждый вариант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7774381" y="2393236"/>
            <a:ext cx="2714232" cy="1607265"/>
          </a:xfrm>
          <a:prstGeom prst="roundRect">
            <a:avLst>
              <a:gd name="adj" fmla="val 6305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1113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Установили Постгрес </a:t>
            </a:r>
            <a:br>
              <a:rPr lang="ru-RU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 ВМ с Ubuntu22.04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46" name="Google Shape;246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4141" y="2558716"/>
            <a:ext cx="383005" cy="38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96099" y="2558716"/>
            <a:ext cx="383005" cy="38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16025" y="2558716"/>
            <a:ext cx="383005" cy="383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"/>
          <p:cNvSpPr txBox="1">
            <a:spLocks noGrp="1"/>
          </p:cNvSpPr>
          <p:nvPr>
            <p:ph type="body" idx="1"/>
          </p:nvPr>
        </p:nvSpPr>
        <p:spPr>
          <a:xfrm>
            <a:off x="1725849" y="2666650"/>
            <a:ext cx="5246451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/>
              <a:t>Установить Постгрес 14 </a:t>
            </a:r>
            <a:br>
              <a:rPr lang="ru-RU" sz="2400"/>
            </a:br>
            <a:r>
              <a:rPr lang="ru-RU" sz="2400"/>
              <a:t>на созданной на предыдущем занятии ВМ, повторив шаги из урока</a:t>
            </a:r>
            <a:endParaRPr/>
          </a:p>
        </p:txBody>
      </p:sp>
      <p:sp>
        <p:nvSpPr>
          <p:cNvPr id="254" name="Google Shape;254;p13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810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ЗАДАНИЕ НА САМОПРОВЕРКУ</a:t>
            </a:r>
            <a:endParaRPr/>
          </a:p>
        </p:txBody>
      </p:sp>
      <p:pic>
        <p:nvPicPr>
          <p:cNvPr id="255" name="Google Shape;25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94865" y="1965841"/>
            <a:ext cx="2571286" cy="2446081"/>
          </a:xfrm>
          <a:prstGeom prst="roundRect">
            <a:avLst>
              <a:gd name="adj" fmla="val 5112"/>
            </a:avLst>
          </a:prstGeom>
          <a:noFill/>
          <a:ln w="1905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56" name="Google Shape;256;p13"/>
          <p:cNvSpPr/>
          <p:nvPr/>
        </p:nvSpPr>
        <p:spPr>
          <a:xfrm>
            <a:off x="1703388" y="5303349"/>
            <a:ext cx="5383212" cy="718039"/>
          </a:xfrm>
          <a:prstGeom prst="roundRect">
            <a:avLst>
              <a:gd name="adj" fmla="val 16667"/>
            </a:avLst>
          </a:prstGeom>
          <a:solidFill>
            <a:srgbClr val="E5E0F6"/>
          </a:solidFill>
          <a:ln>
            <a:noFill/>
          </a:ln>
        </p:spPr>
        <p:txBody>
          <a:bodyPr spcFirstLastPara="1" wrap="square" lIns="684000" tIns="108000" rIns="180000" bIns="108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Чтобы убедиться, что Постгрес успешно установлен в консоли, наберите команду </a:t>
            </a:r>
            <a:r>
              <a:rPr lang="ru-RU"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pg_lsclusters</a:t>
            </a: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7" name="Google Shape;257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6027" y="5403714"/>
            <a:ext cx="485372" cy="485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4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627" cy="79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</a:pPr>
            <a:r>
              <a:rPr lang="ru-RU"/>
              <a:t>СПАСИБО</a:t>
            </a:r>
            <a:endParaRPr/>
          </a:p>
        </p:txBody>
      </p:sp>
      <p:sp>
        <p:nvSpPr>
          <p:cNvPr id="263" name="Google Shape;263;p14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43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ru-RU"/>
              <a:t>На следующем занятии мы настроим авторизацию </a:t>
            </a:r>
            <a:br>
              <a:rPr lang="ru-RU"/>
            </a:br>
            <a:r>
              <a:rPr lang="ru-RU"/>
              <a:t>и проверим подключение к Постгресу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755</Words>
  <Application>Microsoft Office PowerPoint</Application>
  <PresentationFormat>Широкоэкранный</PresentationFormat>
  <Paragraphs>118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1" baseType="lpstr">
      <vt:lpstr>Arial Black</vt:lpstr>
      <vt:lpstr>Consolas</vt:lpstr>
      <vt:lpstr>Helvetica Neue</vt:lpstr>
      <vt:lpstr>Courier New</vt:lpstr>
      <vt:lpstr>Arial</vt:lpstr>
      <vt:lpstr>Calibri</vt:lpstr>
      <vt:lpstr>Template_StepUP</vt:lpstr>
      <vt:lpstr>УСТАНОВКА POSTGRESQL</vt:lpstr>
      <vt:lpstr>ЦЕЛЬ УРОКА</vt:lpstr>
      <vt:lpstr>СОДЕРЖАНИЕ УРОКА</vt:lpstr>
      <vt:lpstr>ВАРИАНТЫ УСТАНОВКИ POSTGRESQL</vt:lpstr>
      <vt:lpstr>1. УСТАНОВКА ON-PREMISE НА ЛЮБОЙ ОС </vt:lpstr>
      <vt:lpstr>2. УСТАНОВКА ИЗ РЕПОЗИТОРИЯ LINUX  (КОМАНДА SUDO APT INSTALL POSTGRESQL)</vt:lpstr>
      <vt:lpstr>3. УСТАНОВИТЬ, ИСПОЛЬЗУЯ  РЕПОЗИТОРИЙ POSTGRESQL  </vt:lpstr>
      <vt:lpstr>4. СОБРАТЬ ПОСТГРЕС  ИЗ ИСХОДНЫХ КОДОВ НА ЯЗЫКЕ С </vt:lpstr>
      <vt:lpstr>5 И 6. УСТАНОВКА ЧЕРЕЗ DOCKER КОНТЕЙНЕР &amp; KUBERNETES</vt:lpstr>
      <vt:lpstr>УСТАНОВКА UBUNTU 22.04 LTS</vt:lpstr>
      <vt:lpstr>УСТАНОВКА UBUNTU 22.04 LTS</vt:lpstr>
      <vt:lpstr>ИТОГИ ЗАНЯТИЯ</vt:lpstr>
      <vt:lpstr>ЗАДАНИЕ НА САМОПРОВЕРКУ</vt:lpstr>
      <vt:lpstr>СПАСИБО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УСТАНОВКА POSTGRESQL</dc:title>
  <cp:lastModifiedBy>Кузьмичев Даниил Михайлович</cp:lastModifiedBy>
  <cp:revision>1</cp:revision>
  <dcterms:modified xsi:type="dcterms:W3CDTF">2022-09-15T09:42:05Z</dcterms:modified>
</cp:coreProperties>
</file>