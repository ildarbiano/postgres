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12192000" cy="6858000"/>
  <p:embeddedFontLst>
    <p:embeddedFont>
      <p:font typeface="Helvetica Neue"/>
      <p:regular r:id="rId31"/>
      <p:bold r:id="rId32"/>
      <p:italic r:id="rId33"/>
      <p:boldItalic r:id="rId34"/>
    </p:embeddedFon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6" roundtripDataSignature="AMtx7mig7Lj/iOh6J64r05QEfVr9TmSH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ЗДЕСЬ ТЕКСТ,КОТОРЫЙ БУДЕТ ПРОГОВАРИВАТЬСЯ ДЛЯ ЭТОГО СЛАЙДА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ЦЕЛЬ урока должна быть понятной и понятна ценность. В тексте важно проговорить как эта тема связана с предыдущей и какую ценность несет в общейй программе.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Каждая цель начинается с глагола. Например “изучить”, “подготовить”, “обосновать”, “обобщить”, “рассмотреть”, “выяснить” ит.д.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ЗДЕСЬ ТЕКСТ,КОТОРЫЙ БУДЕТ ПРОГОВАРИВАТЬСЯ ДЛЯ ЭТОГО СЛАЙДА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ЦЕЛЬ урока должна быть понятной и понятна ценность. В тексте важно проговорить как эта тема связана с предыдущей и какую ценность несет в общейй программе.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Каждая цель начинается с глагола. Например “изучить”, “подготовить”, “обосновать”, “обобщить”, “рассмотреть”, “выяснить” ит.д.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g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g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 showMasterSp="0">
  <p:cSld name="1_Пользовательский макет">
    <p:bg>
      <p:bgPr>
        <a:solidFill>
          <a:srgbClr val="01208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/>
          <p:nvPr>
            <p:ph idx="1" type="body"/>
          </p:nvPr>
        </p:nvSpPr>
        <p:spPr>
          <a:xfrm>
            <a:off x="1622194" y="2544108"/>
            <a:ext cx="538372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Shape, circle&#10;&#10;Description automatically generated" id="21" name="Google Shape;2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7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7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28" name="Google Shape;2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1725849" y="999207"/>
            <a:ext cx="4484451" cy="246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8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 showMasterSp="0">
  <p:cSld name="2_Пользовательский макет">
    <p:bg>
      <p:bgPr>
        <a:solidFill>
          <a:srgbClr val="01208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612209" y="4166475"/>
            <a:ext cx="73234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36" name="Google Shape;3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9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0" name="Google Shape;4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9"/>
          <p:cNvSpPr/>
          <p:nvPr/>
        </p:nvSpPr>
        <p:spPr>
          <a:xfrm>
            <a:off x="10554128" y="3236706"/>
            <a:ext cx="1634583" cy="3751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2" name="Google Shape;4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9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 showMasterSp="0">
  <p:cSld name="Пользовательский макет">
    <p:bg>
      <p:bgPr>
        <a:solidFill>
          <a:srgbClr val="012089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1622194" y="2404183"/>
            <a:ext cx="7323435" cy="19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b="0" i="0" sz="12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b="0" i="0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2" type="body"/>
          </p:nvPr>
        </p:nvSpPr>
        <p:spPr>
          <a:xfrm>
            <a:off x="1622194" y="4100287"/>
            <a:ext cx="7303464" cy="327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hape, circle&#10;&#10;Description automatically generated" id="50" name="Google Shape;5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/>
          <p:nvPr/>
        </p:nvSpPr>
        <p:spPr>
          <a:xfrm>
            <a:off x="10554128" y="1"/>
            <a:ext cx="1634583" cy="684851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0"/>
          <p:cNvSpPr/>
          <p:nvPr/>
        </p:nvSpPr>
        <p:spPr>
          <a:xfrm>
            <a:off x="8936199" y="3627175"/>
            <a:ext cx="3235859" cy="3235858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0"/>
          <p:cNvSpPr/>
          <p:nvPr/>
        </p:nvSpPr>
        <p:spPr>
          <a:xfrm>
            <a:off x="5889" y="1"/>
            <a:ext cx="1617009" cy="1617009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4" name="Google Shape;5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0"/>
          <p:cNvSpPr/>
          <p:nvPr/>
        </p:nvSpPr>
        <p:spPr>
          <a:xfrm>
            <a:off x="10554128" y="3236706"/>
            <a:ext cx="1634583" cy="3751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56" name="Google Shape;5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0"/>
          <p:cNvSpPr/>
          <p:nvPr/>
        </p:nvSpPr>
        <p:spPr>
          <a:xfrm>
            <a:off x="894546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0"/>
          <p:cNvSpPr/>
          <p:nvPr/>
        </p:nvSpPr>
        <p:spPr>
          <a:xfrm>
            <a:off x="10560950" y="4448096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7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144000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ru-RU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0"/>
          <p:cNvSpPr/>
          <p:nvPr/>
        </p:nvSpPr>
        <p:spPr>
          <a:xfrm>
            <a:off x="11393008" y="6058220"/>
            <a:ext cx="798993" cy="798993"/>
          </a:xfrm>
          <a:prstGeom prst="roundRect">
            <a:avLst>
              <a:gd fmla="val 3204" name="adj"/>
            </a:avLst>
          </a:prstGeom>
          <a:blipFill rotWithShape="1">
            <a:blip r:embed="rId8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idx="1" type="body"/>
          </p:nvPr>
        </p:nvSpPr>
        <p:spPr>
          <a:xfrm>
            <a:off x="1725849" y="1290038"/>
            <a:ext cx="6164116" cy="246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1"/>
          <p:cNvSpPr txBox="1"/>
          <p:nvPr>
            <p:ph type="title"/>
          </p:nvPr>
        </p:nvSpPr>
        <p:spPr>
          <a:xfrm>
            <a:off x="1725849" y="799038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2" type="body"/>
          </p:nvPr>
        </p:nvSpPr>
        <p:spPr>
          <a:xfrm>
            <a:off x="1725849" y="453789"/>
            <a:ext cx="44970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31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2"/>
          <p:cNvPicPr preferRelativeResize="0"/>
          <p:nvPr/>
        </p:nvPicPr>
        <p:blipFill rotWithShape="1">
          <a:blip r:embed="rId2">
            <a:alphaModFix/>
          </a:blip>
          <a:srcRect b="425" l="-1" r="35292" t="0"/>
          <a:stretch/>
        </p:blipFill>
        <p:spPr>
          <a:xfrm>
            <a:off x="5506709" y="1"/>
            <a:ext cx="6685292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2"/>
          <p:cNvSpPr/>
          <p:nvPr/>
        </p:nvSpPr>
        <p:spPr>
          <a:xfrm>
            <a:off x="3853558" y="277"/>
            <a:ext cx="8335499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 txBox="1"/>
          <p:nvPr>
            <p:ph idx="1" type="body"/>
          </p:nvPr>
        </p:nvSpPr>
        <p:spPr>
          <a:xfrm>
            <a:off x="1725849" y="999207"/>
            <a:ext cx="4484451" cy="246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0" name="Google Shape;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2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3" name="Google Shape;73;p32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3"/>
          <p:cNvPicPr preferRelativeResize="0"/>
          <p:nvPr/>
        </p:nvPicPr>
        <p:blipFill rotWithShape="1">
          <a:blip r:embed="rId2">
            <a:alphaModFix/>
          </a:blip>
          <a:srcRect b="425" l="-1" r="35292" t="0"/>
          <a:stretch/>
        </p:blipFill>
        <p:spPr>
          <a:xfrm>
            <a:off x="5506709" y="1"/>
            <a:ext cx="6685292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3"/>
          <p:cNvSpPr/>
          <p:nvPr/>
        </p:nvSpPr>
        <p:spPr>
          <a:xfrm>
            <a:off x="3853558" y="277"/>
            <a:ext cx="8335499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r>
              <a:t/>
            </a:r>
            <a:endParaRPr b="0" i="0" sz="7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 txBox="1"/>
          <p:nvPr>
            <p:ph idx="1" type="body"/>
          </p:nvPr>
        </p:nvSpPr>
        <p:spPr>
          <a:xfrm>
            <a:off x="1725849" y="1290038"/>
            <a:ext cx="6164116" cy="246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8" name="Google Shape;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3"/>
          <p:cNvSpPr txBox="1"/>
          <p:nvPr>
            <p:ph type="title"/>
          </p:nvPr>
        </p:nvSpPr>
        <p:spPr>
          <a:xfrm>
            <a:off x="1725849" y="799038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2" type="body"/>
          </p:nvPr>
        </p:nvSpPr>
        <p:spPr>
          <a:xfrm>
            <a:off x="1725849" y="453789"/>
            <a:ext cx="44970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164" lvl="5" marL="27432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164" lvl="6" marL="32004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164" lvl="7" marL="36576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165" lvl="8" marL="4114800" marR="0" rtl="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33"/>
          <p:cNvSpPr/>
          <p:nvPr/>
        </p:nvSpPr>
        <p:spPr>
          <a:xfrm>
            <a:off x="9769004" y="4436887"/>
            <a:ext cx="2422997" cy="2422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.xml"/><Relationship Id="rId10" Type="http://schemas.openxmlformats.org/officeDocument/2006/relationships/slideLayout" Target="../slideLayouts/slideLayout4.xml"/><Relationship Id="rId1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6.xml"/><Relationship Id="rId1" Type="http://schemas.openxmlformats.org/officeDocument/2006/relationships/image" Target="../media/image20.png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slideLayout" Target="../slideLayouts/slideLayout3.xml"/><Relationship Id="rId14" Type="http://schemas.openxmlformats.org/officeDocument/2006/relationships/theme" Target="../theme/theme1.xml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 sz="25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b="0" i="0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1" name="Google Shape;11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" name="Google Shape;13;p26"/>
          <p:cNvSpPr/>
          <p:nvPr/>
        </p:nvSpPr>
        <p:spPr>
          <a:xfrm>
            <a:off x="5889" y="0"/>
            <a:ext cx="1617446" cy="161744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6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3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/>
          <p:nvPr/>
        </p:nvSpPr>
        <p:spPr>
          <a:xfrm>
            <a:off x="9763006" y="4436887"/>
            <a:ext cx="2425700" cy="2425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6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5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fmla="val 3204" name="adj"/>
            </a:avLst>
          </a:prstGeom>
          <a:blipFill rotWithShape="1">
            <a:blip r:embed="rId6">
              <a:alphaModFix amt="6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59.png"/><Relationship Id="rId5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virtualbox.org/" TargetMode="External"/><Relationship Id="rId4" Type="http://schemas.openxmlformats.org/officeDocument/2006/relationships/hyperlink" Target="https://www.virtualbox.org/wiki/Downloads" TargetMode="External"/><Relationship Id="rId5" Type="http://schemas.openxmlformats.org/officeDocument/2006/relationships/hyperlink" Target="https://itigic.com/ru/use-virtualbox-and-vmware-alongside-hyper-v/" TargetMode="External"/><Relationship Id="rId6" Type="http://schemas.openxmlformats.org/officeDocument/2006/relationships/image" Target="../media/image60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Relationship Id="rId7" Type="http://schemas.openxmlformats.org/officeDocument/2006/relationships/image" Target="../media/image58.png"/><Relationship Id="rId8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ubuntu.com/download/deskto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ubuntu.com/download/alternative-download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itzgeek.com/how-tos/linux/ubuntu-how-tos/how-to-install-virtualbox-guest-additions-on-ubuntu-22-04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aketecheasier.com/fix-ubuntu-freezing-virtualbox/" TargetMode="External"/><Relationship Id="rId4" Type="http://schemas.openxmlformats.org/officeDocument/2006/relationships/image" Target="../media/image57.png"/><Relationship Id="rId5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idx="1" type="body"/>
          </p:nvPr>
        </p:nvSpPr>
        <p:spPr>
          <a:xfrm>
            <a:off x="1622194" y="2544108"/>
            <a:ext cx="6316004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ru-RU"/>
              <a:t>БЛОК 2. БАЗОВЫЙ ИНСТРУМЕНТАРИЙ</a:t>
            </a:r>
            <a:endParaRPr/>
          </a:p>
        </p:txBody>
      </p:sp>
      <p:sp>
        <p:nvSpPr>
          <p:cNvPr id="88" name="Google Shape;88;p1"/>
          <p:cNvSpPr txBox="1"/>
          <p:nvPr>
            <p:ph type="title"/>
          </p:nvPr>
        </p:nvSpPr>
        <p:spPr>
          <a:xfrm>
            <a:off x="1609724" y="3118888"/>
            <a:ext cx="7520627" cy="236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УСТАНОВКА VIRTUALBOX </a:t>
            </a:r>
            <a:br>
              <a:rPr lang="ru-RU"/>
            </a:br>
            <a:r>
              <a:rPr lang="ru-RU"/>
              <a:t>И UBUNTU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idx="1" type="body"/>
          </p:nvPr>
        </p:nvSpPr>
        <p:spPr>
          <a:xfrm>
            <a:off x="1725849" y="999207"/>
            <a:ext cx="4484451" cy="246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719852" y="1511425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671580" y="1511425"/>
            <a:ext cx="876674" cy="876674"/>
          </a:xfrm>
          <a:prstGeom prst="ellips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535863" y="1511425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719852" y="2515797"/>
            <a:ext cx="257079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Разобраться,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что из себя представляет Виртуальная машина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 rot="10800000">
            <a:off x="2753670" y="1949762"/>
            <a:ext cx="169033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"/>
          <p:cNvCxnSpPr/>
          <p:nvPr/>
        </p:nvCxnSpPr>
        <p:spPr>
          <a:xfrm rot="10800000">
            <a:off x="5675762" y="1949762"/>
            <a:ext cx="169033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4671580" y="2515797"/>
            <a:ext cx="235221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Установить менеджер ВМ – VirtualBox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535863" y="2515797"/>
            <a:ext cx="3223154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Понять, что такое Linux,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почему именно его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мы установим в качестве операционной системы на ВМ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719852" y="4188519"/>
            <a:ext cx="876674" cy="876674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671580" y="4188519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2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719852" y="5192891"/>
            <a:ext cx="257079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Понять, почему именно Ubuntu 22.04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>
            <a:off x="2753670" y="4626856"/>
            <a:ext cx="169033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>
            <a:off x="4671580" y="5192891"/>
            <a:ext cx="235221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Скачать и установить Ubuntu22.04 на ВМ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 rot="10800000">
            <a:off x="8559639" y="1949762"/>
            <a:ext cx="1690330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117" name="Google Shape;117;p3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7377856" y="2264488"/>
            <a:ext cx="3341869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9563" lvl="0" marL="3095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Виртуальные машины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3" lvl="0" marL="30956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VirtualBox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3" lvl="0" marL="30956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3" lvl="0" marL="30956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Ubuntu 22.04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3" lvl="0" marL="309563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703388" y="1338994"/>
            <a:ext cx="5089298" cy="4313202"/>
          </a:xfrm>
          <a:prstGeom prst="roundRect">
            <a:avLst>
              <a:gd fmla="val 3341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2279119" y="1905506"/>
            <a:ext cx="535217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Виртуальная машина (часто сокращается до ВМ) </a:t>
            </a:r>
            <a:br>
              <a:rPr lang="ru-RU"/>
            </a:br>
            <a:r>
              <a:rPr lang="ru-RU"/>
              <a:t>не отличается от физических компьютеров, </a:t>
            </a:r>
            <a:br>
              <a:rPr lang="ru-RU"/>
            </a:br>
            <a:r>
              <a:rPr lang="ru-RU"/>
              <a:t>например ноутбука, смартфона или сервера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ВМ имеет ЦП, память, диски для хранения файлов </a:t>
            </a:r>
            <a:br>
              <a:rPr lang="ru-RU"/>
            </a:br>
            <a:r>
              <a:rPr lang="ru-RU">
                <a:latin typeface="Arial"/>
                <a:ea typeface="Arial"/>
                <a:cs typeface="Arial"/>
                <a:sym typeface="Arial"/>
              </a:rPr>
              <a:t>и при необходимости может подключаться к Интернету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Компоненты вашего компьютера (аппаратная часть) материальны, а ВМ существуют только в виде кода, забирая часть ресурсов хоста на себя</a:t>
            </a:r>
            <a:endParaRPr/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ВИРТУАЛЬНЫЕ МАШИНЫ</a:t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-10506" l="-10507" r="-10506" t="-10507"/>
          <a:stretch/>
        </p:blipFill>
        <p:spPr>
          <a:xfrm>
            <a:off x="8178110" y="1851865"/>
            <a:ext cx="2310503" cy="3154270"/>
          </a:xfrm>
          <a:prstGeom prst="roundRect">
            <a:avLst>
              <a:gd fmla="val 7045" name="adj"/>
            </a:avLst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9637" y="3187162"/>
            <a:ext cx="422296" cy="42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637" y="1880268"/>
            <a:ext cx="422296" cy="42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9637" y="4170725"/>
            <a:ext cx="422296" cy="42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2279119" y="1905506"/>
            <a:ext cx="5256744" cy="201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ВМ — это компьютерный файл (обычно его называют образом), который действует как обычный компьютер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ВМ отделена от остальной части системы, то есть программное обеспечение виртуальной машины </a:t>
            </a:r>
            <a:br>
              <a:rPr lang="ru-RU"/>
            </a:br>
            <a:r>
              <a:rPr lang="ru-RU"/>
              <a:t>не может вмешиваться в работу основной операционной системы компьютера</a:t>
            </a:r>
            <a:endParaRPr/>
          </a:p>
        </p:txBody>
      </p:sp>
      <p:sp>
        <p:nvSpPr>
          <p:cNvPr id="136" name="Google Shape;136;p5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ВИРТУАЛЬНЫЕ МАШИНЫ</a:t>
            </a:r>
            <a:endParaRPr/>
          </a:p>
        </p:txBody>
      </p:sp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-10506" l="-10507" r="-10506" t="-10507"/>
          <a:stretch/>
        </p:blipFill>
        <p:spPr>
          <a:xfrm>
            <a:off x="8178110" y="1851865"/>
            <a:ext cx="2310503" cy="3154270"/>
          </a:xfrm>
          <a:prstGeom prst="roundRect">
            <a:avLst>
              <a:gd fmla="val 7045" name="adj"/>
            </a:avLst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9637" y="2913474"/>
            <a:ext cx="422296" cy="42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9637" y="1905506"/>
            <a:ext cx="422296" cy="42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ДЛЯ ЧЕГО ИСПОЛЬЗУЮТСЯ ВМ</a:t>
            </a:r>
            <a:endParaRPr/>
          </a:p>
        </p:txBody>
      </p:sp>
      <p:sp>
        <p:nvSpPr>
          <p:cNvPr id="146" name="Google Shape;146;p6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725850" y="2339480"/>
            <a:ext cx="365301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Создание и развертывание приложений в облаке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096000" y="2339480"/>
            <a:ext cx="365301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 новых операционных систем, в том числе бета-версий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725850" y="4464863"/>
            <a:ext cx="365301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 нового ПО –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в нашем случае Постгреса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096000" y="4464863"/>
            <a:ext cx="365301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Развертывание новой среды,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чтобы упростить и ускорить выполнение сценариев разработки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 тестирования для разработчиков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096000" y="1676074"/>
            <a:ext cx="43542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β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960" y="3853903"/>
            <a:ext cx="518287" cy="51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773" y="3836685"/>
            <a:ext cx="518287" cy="51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6773" y="1759200"/>
            <a:ext cx="518287" cy="51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ДЛЯ ЧЕГО ИСПОЛЬЗУЮТСЯ ВМ</a:t>
            </a:r>
            <a:endParaRPr/>
          </a:p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1725850" y="2339480"/>
            <a:ext cx="365301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Резервное копирование существующей ОС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6095999" y="2339480"/>
            <a:ext cx="407528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Доступ к зараженным вирусом данным или выполнение старого приложения путем установки старой версии ОС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725850" y="4464863"/>
            <a:ext cx="365301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Запуск программного обеспечения или приложений в операционных системах, для которых они изначально не предназначались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221" y="3873812"/>
            <a:ext cx="518287" cy="51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1711532"/>
            <a:ext cx="518287" cy="51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1210" y="1711531"/>
            <a:ext cx="518287" cy="51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ПРЕИМУЩЕСТВА ВМ</a:t>
            </a:r>
            <a:endParaRPr/>
          </a:p>
        </p:txBody>
      </p:sp>
      <p:sp>
        <p:nvSpPr>
          <p:cNvPr id="172" name="Google Shape;172;p8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1725849" y="2793848"/>
            <a:ext cx="2405884" cy="22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Экономия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Благодаря запуску нескольких виртуальных сред из одной части инфраструктуры вы можете существенно сократить размер физической инфраструктуры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4656138" y="2793848"/>
            <a:ext cx="2879725" cy="1554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Гибкость и скорость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Запустить виртуальную машину легче, быстрее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намного проще, чем выполнять подготовку новой среды для разработчиков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8257001" y="2793848"/>
            <a:ext cx="2535178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Сокращенное время простоев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Виртуальные машины очень портативны и легко перемещаются из одного гипервизора в другой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другом компьютере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388" y="2075976"/>
            <a:ext cx="612300" cy="6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971" y="2040351"/>
            <a:ext cx="612300" cy="6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7001" y="2075976"/>
            <a:ext cx="612300" cy="6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ПРЕИМУЩЕСТВА ВМ</a:t>
            </a:r>
            <a:endParaRPr/>
          </a:p>
        </p:txBody>
      </p:sp>
      <p:sp>
        <p:nvSpPr>
          <p:cNvPr id="184" name="Google Shape;184;p9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1504711" y="6858000"/>
            <a:ext cx="7374000" cy="5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725848" y="2793848"/>
            <a:ext cx="3658951" cy="22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Масштабируемость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Виртуальные машины позволяют упростить масштабирование приложений. Вам всего лишь нужно добавить дополнительные физические или виртуальные серверы для распределения рабочей нагрузки между несколькими виртуальными машинами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6096000" y="2793848"/>
            <a:ext cx="3883378" cy="2046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Преимущества безопасности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Так как виртуальные машины работают в нескольких операционных системах, использование гостевой операционной системы на виртуальной машине позволяет запускать приложения </a:t>
            </a:r>
            <a:b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недостаточным уровнем безопасности и защитить операционную систему узла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223" y="2075976"/>
            <a:ext cx="612300" cy="6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548" y="2075976"/>
            <a:ext cx="612300" cy="6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1703388" y="1601364"/>
            <a:ext cx="2714234" cy="3559103"/>
          </a:xfrm>
          <a:prstGeom prst="roundRect">
            <a:avLst>
              <a:gd fmla="val 5332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44000" lIns="0" spcFirstLastPara="1" rIns="71425" wrap="square" tIns="259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VirtualBox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738884" y="1601364"/>
            <a:ext cx="2714234" cy="3559103"/>
          </a:xfrm>
          <a:prstGeom prst="roundRect">
            <a:avLst>
              <a:gd fmla="val 5332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44000" lIns="0" spcFirstLastPara="1" rIns="71425" wrap="square" tIns="259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Hyper-V, ESXI, Proxmos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774379" y="1601364"/>
            <a:ext cx="2714234" cy="3559103"/>
          </a:xfrm>
          <a:prstGeom prst="roundRect">
            <a:avLst>
              <a:gd fmla="val 5332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44000" lIns="0" spcFirstLastPara="1" rIns="71425" wrap="square" tIns="259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Яндекс.Облако </a:t>
            </a:r>
            <a:b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аналоги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0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ВАРИАНТЫ ВМ</a:t>
            </a:r>
            <a:endParaRPr/>
          </a:p>
        </p:txBody>
      </p:sp>
      <p:sp>
        <p:nvSpPr>
          <p:cNvPr id="198" name="Google Shape;198;p10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2051920" y="3787270"/>
            <a:ext cx="24058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8257001" y="3787270"/>
            <a:ext cx="25351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6230" y="2732463"/>
            <a:ext cx="1910532" cy="37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3769" y="2746543"/>
            <a:ext cx="1822161" cy="36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5880" y="3410561"/>
            <a:ext cx="1232247" cy="36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36017" y="2088478"/>
            <a:ext cx="1633187" cy="163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35880" y="1901284"/>
            <a:ext cx="1257941" cy="5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4739650" y="1601364"/>
            <a:ext cx="2714234" cy="2752477"/>
          </a:xfrm>
          <a:prstGeom prst="roundRect">
            <a:avLst>
              <a:gd fmla="val 5332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08000" lIns="0" spcFirstLastPara="1" rIns="71425" wrap="square" tIns="21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 OS X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774379" y="1601364"/>
            <a:ext cx="2714234" cy="2752477"/>
          </a:xfrm>
          <a:prstGeom prst="roundRect">
            <a:avLst>
              <a:gd fmla="val 5332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08000" lIns="0" spcFirstLastPara="1" rIns="71425" wrap="square" tIns="21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703388" y="1601364"/>
            <a:ext cx="2714234" cy="2752477"/>
          </a:xfrm>
          <a:prstGeom prst="roundRect">
            <a:avLst>
              <a:gd fmla="val 5332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08000" lIns="0" spcFirstLastPara="1" rIns="71425" wrap="square" tIns="2160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1"/>
          <p:cNvSpPr txBox="1"/>
          <p:nvPr>
            <p:ph idx="1" type="body"/>
          </p:nvPr>
        </p:nvSpPr>
        <p:spPr>
          <a:xfrm>
            <a:off x="1725849" y="999207"/>
            <a:ext cx="44844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Поддерживаются все современные системы</a:t>
            </a:r>
            <a:endParaRPr/>
          </a:p>
        </p:txBody>
      </p:sp>
      <p:sp>
        <p:nvSpPr>
          <p:cNvPr id="214" name="Google Shape;214;p11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ORACLE VIRTUALBOX 6.1</a:t>
            </a:r>
            <a:endParaRPr/>
          </a:p>
        </p:txBody>
      </p:sp>
      <p:sp>
        <p:nvSpPr>
          <p:cNvPr id="215" name="Google Shape;215;p11"/>
          <p:cNvSpPr txBox="1"/>
          <p:nvPr>
            <p:ph idx="12" type="sldNum"/>
          </p:nvPr>
        </p:nvSpPr>
        <p:spPr>
          <a:xfrm>
            <a:off x="250594" y="6446580"/>
            <a:ext cx="84960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1703388" y="4727403"/>
            <a:ext cx="7606200" cy="1295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Полезные ссылки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Сайт компании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Скачать версию под вашу ОС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-RU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Если возникли проблемы с установкой под Windows 10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9367" y="2130597"/>
            <a:ext cx="1982275" cy="139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64953" y="2223990"/>
            <a:ext cx="1021544" cy="1236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1"/>
          <p:cNvPicPr preferRelativeResize="0"/>
          <p:nvPr/>
        </p:nvPicPr>
        <p:blipFill rotWithShape="1">
          <a:blip r:embed="rId8">
            <a:alphaModFix/>
          </a:blip>
          <a:srcRect b="25914" l="0" r="0" t="0"/>
          <a:stretch/>
        </p:blipFill>
        <p:spPr>
          <a:xfrm>
            <a:off x="5286287" y="2151613"/>
            <a:ext cx="1619426" cy="1199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>
            <p:ph idx="1" type="body"/>
          </p:nvPr>
        </p:nvSpPr>
        <p:spPr>
          <a:xfrm>
            <a:off x="1725849" y="2615576"/>
            <a:ext cx="3556000" cy="1626847"/>
          </a:xfrm>
          <a:prstGeom prst="roundRect">
            <a:avLst>
              <a:gd fmla="val 8663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t" bIns="108000" lIns="180000" spcFirstLastPara="1" rIns="108000" wrap="square" tIns="108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ru-RU" sz="3600">
                <a:solidFill>
                  <a:schemeClr val="accent3"/>
                </a:solidFill>
              </a:rPr>
              <a:t>15 Гб+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/>
              <a:t>На жестком диске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</a:pPr>
            <a:r>
              <a:rPr lang="ru-RU" sz="2000">
                <a:solidFill>
                  <a:srgbClr val="A5A5A5"/>
                </a:solidFill>
              </a:rPr>
              <a:t>Не меньше</a:t>
            </a:r>
            <a:endParaRPr/>
          </a:p>
        </p:txBody>
      </p:sp>
      <p:sp>
        <p:nvSpPr>
          <p:cNvPr id="225" name="Google Shape;225;p12"/>
          <p:cNvSpPr txBox="1"/>
          <p:nvPr>
            <p:ph type="title"/>
          </p:nvPr>
        </p:nvSpPr>
        <p:spPr>
          <a:xfrm>
            <a:off x="1725849" y="502442"/>
            <a:ext cx="635770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ПРИ СОЗДАНИИ ВМ ORACLE VIRTUALBOX 6.1 УКАЗЫВАЕМ:</a:t>
            </a:r>
            <a:endParaRPr/>
          </a:p>
        </p:txBody>
      </p:sp>
      <p:sp>
        <p:nvSpPr>
          <p:cNvPr id="226" name="Google Shape;226;p12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6096000" y="2615576"/>
            <a:ext cx="3556000" cy="1626847"/>
          </a:xfrm>
          <a:prstGeom prst="roundRect">
            <a:avLst>
              <a:gd fmla="val 8663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08000" lIns="180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b="0" i="0" lang="ru-RU" sz="3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4 Гб+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ОЗУ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Не меньше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idx="1" type="body"/>
          </p:nvPr>
        </p:nvSpPr>
        <p:spPr>
          <a:xfrm>
            <a:off x="1725850" y="999207"/>
            <a:ext cx="8366418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/>
              <a:t>Cемейство операционных систем (ОС), работающих на основе одноименного ядра. Нет одной операционной системы Linux, как, например, Windows </a:t>
            </a:r>
            <a:br>
              <a:rPr lang="ru-RU" sz="1800"/>
            </a:br>
            <a:r>
              <a:rPr lang="ru-RU" sz="1800"/>
              <a:t>или MacOS. Есть множество дистрибутивов (набор файлов, необходимых для установки ПО), выполняющих конкретные задачи.</a:t>
            </a:r>
            <a:endParaRPr/>
          </a:p>
        </p:txBody>
      </p:sp>
      <p:sp>
        <p:nvSpPr>
          <p:cNvPr id="233" name="Google Shape;233;p13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ЧТО ТАКОЕ LINUX</a:t>
            </a:r>
            <a:endParaRPr/>
          </a:p>
        </p:txBody>
      </p:sp>
      <p:sp>
        <p:nvSpPr>
          <p:cNvPr id="234" name="Google Shape;234;p13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Ubuntu 22.04: что делать после установки Jammy Jellyfish | удалить журнал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5849" y="2459831"/>
            <a:ext cx="6605351" cy="3561557"/>
          </a:xfrm>
          <a:prstGeom prst="roundRect">
            <a:avLst>
              <a:gd fmla="val 270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>
            <p:ph idx="1" type="body"/>
          </p:nvPr>
        </p:nvSpPr>
        <p:spPr>
          <a:xfrm>
            <a:off x="1725850" y="1289933"/>
            <a:ext cx="4968462" cy="4680423"/>
          </a:xfrm>
          <a:prstGeom prst="roundRect">
            <a:avLst>
              <a:gd fmla="val 2570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44000" wrap="square" tIns="144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</a:pPr>
            <a:r>
              <a:rPr b="1" lang="ru-RU" sz="2000">
                <a:solidFill>
                  <a:schemeClr val="accent5"/>
                </a:solidFill>
              </a:rPr>
              <a:t>Плюсы Linux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Бесплатное использование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Открытый исходный код системы/программы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Актуальность и производительность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Безопасность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Универсальность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Дистрибутивы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Установка ПО из централизованного места — репозитория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+"/>
            </a:pPr>
            <a:r>
              <a:rPr lang="ru-RU" sz="1800"/>
              <a:t>В случае с Постгресом - оптимальная </a:t>
            </a:r>
            <a:br>
              <a:rPr lang="ru-RU" sz="1800"/>
            </a:br>
            <a:r>
              <a:rPr lang="ru-RU" sz="1800"/>
              <a:t>для него система по скорости </a:t>
            </a:r>
            <a:br>
              <a:rPr lang="ru-RU" sz="1800"/>
            </a:br>
            <a:r>
              <a:rPr lang="ru-RU" sz="1800"/>
              <a:t>и надежности работы. </a:t>
            </a:r>
            <a:br>
              <a:rPr lang="ru-RU" sz="1800"/>
            </a:br>
            <a:r>
              <a:rPr lang="ru-RU" sz="1800"/>
              <a:t>Windows НЕ рекомендован!  </a:t>
            </a:r>
            <a:endParaRPr/>
          </a:p>
        </p:txBody>
      </p:sp>
      <p:sp>
        <p:nvSpPr>
          <p:cNvPr id="241" name="Google Shape;241;p14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ПЛЮСЫ И МИНУСЫ LINUX</a:t>
            </a:r>
            <a:endParaRPr/>
          </a:p>
        </p:txBody>
      </p:sp>
      <p:sp>
        <p:nvSpPr>
          <p:cNvPr id="242" name="Google Shape;242;p14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920090" y="1289933"/>
            <a:ext cx="3568524" cy="998593"/>
          </a:xfrm>
          <a:prstGeom prst="roundRect">
            <a:avLst>
              <a:gd fmla="val 9169" name="adj"/>
            </a:avLst>
          </a:prstGeom>
          <a:solidFill>
            <a:srgbClr val="E5E0F6"/>
          </a:solidFill>
          <a:ln>
            <a:noFill/>
          </a:ln>
        </p:spPr>
        <p:txBody>
          <a:bodyPr anchorCtr="0" anchor="t" bIns="144000" lIns="180000" spcFirstLastPara="1" rIns="144000" wrap="square" tIns="144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Минус Linux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Сложности с освоением ОС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1725849" y="1724092"/>
            <a:ext cx="44844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accent4"/>
                </a:solidFill>
              </a:rPr>
              <a:t>Преимущества Ubuntu 22.04 LTS</a:t>
            </a:r>
            <a:endParaRPr/>
          </a:p>
        </p:txBody>
      </p:sp>
      <p:sp>
        <p:nvSpPr>
          <p:cNvPr id="249" name="Google Shape;249;p15"/>
          <p:cNvSpPr txBox="1"/>
          <p:nvPr>
            <p:ph type="title"/>
          </p:nvPr>
        </p:nvSpPr>
        <p:spPr>
          <a:xfrm>
            <a:off x="1725849" y="502442"/>
            <a:ext cx="698917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ДИСТРИБУТИВОВ ОЧЕНЬ МНОГО. ПОЧЕМУ UBUNTU?</a:t>
            </a:r>
            <a:endParaRPr/>
          </a:p>
        </p:txBody>
      </p:sp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1703388" y="3095662"/>
            <a:ext cx="27783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Безопасность. Ubuntu — один из самых самых безопасных Линуксов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5226756" y="3095662"/>
            <a:ext cx="27783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Бесплатность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8226495" y="3095662"/>
            <a:ext cx="226211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Большое дружелюбное сообщество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1703388" y="4976889"/>
            <a:ext cx="2778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Простота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использовании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5226756" y="4976889"/>
            <a:ext cx="230910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Удобный центр приложений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8207022" y="4976889"/>
            <a:ext cx="194169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Релизы выходят каждые полгода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261" y="2510555"/>
            <a:ext cx="524197" cy="52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0434" y="2510555"/>
            <a:ext cx="524197" cy="52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6495" y="2510555"/>
            <a:ext cx="524197" cy="52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5608" y="4347445"/>
            <a:ext cx="524197" cy="52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20435" y="4347445"/>
            <a:ext cx="524197" cy="52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0825" y="4347444"/>
            <a:ext cx="524197" cy="524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 txBox="1"/>
          <p:nvPr>
            <p:ph idx="1" type="body"/>
          </p:nvPr>
        </p:nvSpPr>
        <p:spPr>
          <a:xfrm>
            <a:off x="1725849" y="1724092"/>
            <a:ext cx="44844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accent2"/>
                </a:solidFill>
              </a:rPr>
              <a:t>Преимущества версии 22.04</a:t>
            </a:r>
            <a:endParaRPr/>
          </a:p>
        </p:txBody>
      </p:sp>
      <p:sp>
        <p:nvSpPr>
          <p:cNvPr id="268" name="Google Shape;268;p16"/>
          <p:cNvSpPr txBox="1"/>
          <p:nvPr>
            <p:ph type="title"/>
          </p:nvPr>
        </p:nvSpPr>
        <p:spPr>
          <a:xfrm>
            <a:off x="1725849" y="502442"/>
            <a:ext cx="698917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ДИСТРИБУТИВОВ ОЧЕНЬ МНОГО. ПОЧЕМУ UBUNTU?</a:t>
            </a:r>
            <a:endParaRPr/>
          </a:p>
        </p:txBody>
      </p:sp>
      <p:sp>
        <p:nvSpPr>
          <p:cNvPr id="269" name="Google Shape;269;p16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1703388" y="3440876"/>
            <a:ext cx="27783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Самый современный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5220435" y="3440876"/>
            <a:ext cx="4623476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Дистрибутив является LTS - Long Time Support, то есть обновления этого дистрибутива будут выходить еще 5 лет. У остальных (не LTS)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более 2 лет, обычно намного меньше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1088400" y="6984800"/>
            <a:ext cx="10243800" cy="51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50" y="2741289"/>
            <a:ext cx="598660" cy="59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220435" y="2765039"/>
            <a:ext cx="524197" cy="524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idx="1" type="body"/>
          </p:nvPr>
        </p:nvSpPr>
        <p:spPr>
          <a:xfrm>
            <a:off x="1725849" y="999207"/>
            <a:ext cx="44844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Порядок действий</a:t>
            </a:r>
            <a:endParaRPr/>
          </a:p>
        </p:txBody>
      </p:sp>
      <p:sp>
        <p:nvSpPr>
          <p:cNvPr id="280" name="Google Shape;280;p17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281" name="Google Shape;281;p17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1703388" y="3334512"/>
            <a:ext cx="295275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Скачиваем образ в формате ISO (цифровой образ оптического диска)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 </a:t>
            </a:r>
            <a:r>
              <a:rPr b="0" i="0" lang="ru-RU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официального сайта</a:t>
            </a: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после скачивания при запуске ВМ указываем его в качестве загрузочного диска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виртуальном приводе оптических дисков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5318919" y="3334512"/>
            <a:ext cx="155416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Выбираем «Установить Ubuntu»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8268582" y="3334512"/>
            <a:ext cx="222003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Отмечаем галочкой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 устанавливаем обновления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719852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5318919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8268582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8" name="Google Shape;288;p17"/>
          <p:cNvCxnSpPr/>
          <p:nvPr/>
        </p:nvCxnSpPr>
        <p:spPr>
          <a:xfrm rot="10800000">
            <a:off x="2729920" y="2694828"/>
            <a:ext cx="2406524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7"/>
          <p:cNvCxnSpPr/>
          <p:nvPr/>
        </p:nvCxnSpPr>
        <p:spPr>
          <a:xfrm rot="10800000">
            <a:off x="6387520" y="2694828"/>
            <a:ext cx="1684036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17"/>
          <p:cNvCxnSpPr/>
          <p:nvPr/>
        </p:nvCxnSpPr>
        <p:spPr>
          <a:xfrm rot="10800000">
            <a:off x="9277476" y="2694828"/>
            <a:ext cx="1211137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/>
          <p:nvPr>
            <p:ph idx="1" type="body"/>
          </p:nvPr>
        </p:nvSpPr>
        <p:spPr>
          <a:xfrm>
            <a:off x="1725849" y="999207"/>
            <a:ext cx="44844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Порядок действий</a:t>
            </a:r>
            <a:endParaRPr/>
          </a:p>
        </p:txBody>
      </p:sp>
      <p:sp>
        <p:nvSpPr>
          <p:cNvPr id="296" name="Google Shape;296;p18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297" name="Google Shape;297;p18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1703388" y="3329630"/>
            <a:ext cx="2451982" cy="12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Указываем: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113" marR="0" rtl="0" algn="l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Пользователь: «student»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113" marR="0" rtl="0" algn="l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Имя ВМ: «postgres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113" marR="0" rtl="0" algn="l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Пароль: «123»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4772113" y="3329630"/>
            <a:ext cx="2647774" cy="1108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После установки Ubuntu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настройках меняем разрешение экрана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удобное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8211254" y="3329630"/>
            <a:ext cx="2220030" cy="82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Закрепляем приложение терминал в избранном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1703388" y="5762342"/>
            <a:ext cx="633871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Альтернативные версии Ubuntu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1719852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4772113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8211254" y="225649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05" name="Google Shape;305;p18"/>
          <p:cNvCxnSpPr/>
          <p:nvPr/>
        </p:nvCxnSpPr>
        <p:spPr>
          <a:xfrm rot="10800000">
            <a:off x="2729920" y="2694828"/>
            <a:ext cx="1808212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8"/>
          <p:cNvCxnSpPr/>
          <p:nvPr/>
        </p:nvCxnSpPr>
        <p:spPr>
          <a:xfrm rot="10800000">
            <a:off x="5777920" y="2694828"/>
            <a:ext cx="2237191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idx="1" type="body"/>
          </p:nvPr>
        </p:nvSpPr>
        <p:spPr>
          <a:xfrm>
            <a:off x="1725849" y="999207"/>
            <a:ext cx="662792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Последним этапом нужно включить двунаправленный буфер обмена для копирования текста в и из ВМ </a:t>
            </a:r>
            <a:endParaRPr/>
          </a:p>
        </p:txBody>
      </p:sp>
      <p:sp>
        <p:nvSpPr>
          <p:cNvPr id="312" name="Google Shape;312;p19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313" name="Google Shape;313;p19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725849" y="5771896"/>
            <a:ext cx="502490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Подробнее об установке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1703388" y="3334512"/>
            <a:ext cx="2952750" cy="82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Добавим цифровой диск «Подключить образ диска Дополненной гостевой ОС»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5039814" y="3334512"/>
            <a:ext cx="2496050" cy="1674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Переходим: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86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Char char="»"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86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Char char="»"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 Drive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(VBOX_GAs_6.1.32)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86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Char char="»"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autorun.sh (Right-click)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9686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Char char="»"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as a Program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8268582" y="3334512"/>
            <a:ext cx="2220030" cy="1391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Включаем двунаправленный буфер обмена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для копирования текста в и из ВМ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1719852" y="2256491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5039813" y="2256491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268582" y="2256491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1" name="Google Shape;321;p19"/>
          <p:cNvCxnSpPr/>
          <p:nvPr/>
        </p:nvCxnSpPr>
        <p:spPr>
          <a:xfrm rot="10800000">
            <a:off x="2729920" y="2694828"/>
            <a:ext cx="2127088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9"/>
          <p:cNvCxnSpPr/>
          <p:nvPr/>
        </p:nvCxnSpPr>
        <p:spPr>
          <a:xfrm rot="10800000">
            <a:off x="6096000" y="2694828"/>
            <a:ext cx="1975556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9"/>
          <p:cNvCxnSpPr/>
          <p:nvPr/>
        </p:nvCxnSpPr>
        <p:spPr>
          <a:xfrm rot="10800000">
            <a:off x="9277476" y="2694828"/>
            <a:ext cx="1211137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/>
          <p:nvPr/>
        </p:nvSpPr>
        <p:spPr>
          <a:xfrm>
            <a:off x="1703388" y="5142178"/>
            <a:ext cx="7272337" cy="898728"/>
          </a:xfrm>
          <a:prstGeom prst="roundRect">
            <a:avLst>
              <a:gd fmla="val 16667" name="adj"/>
            </a:avLst>
          </a:prstGeom>
          <a:solidFill>
            <a:srgbClr val="CEE6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0"/>
          <p:cNvSpPr txBox="1"/>
          <p:nvPr>
            <p:ph idx="1" type="body"/>
          </p:nvPr>
        </p:nvSpPr>
        <p:spPr>
          <a:xfrm>
            <a:off x="1725849" y="999207"/>
            <a:ext cx="662792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Последним этапом нужно включить двунаправленный буфер обмена для копирования текста в и из ВМ </a:t>
            </a:r>
            <a:endParaRPr/>
          </a:p>
        </p:txBody>
      </p:sp>
      <p:sp>
        <p:nvSpPr>
          <p:cNvPr id="330" name="Google Shape;330;p20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УСТАНОВКА UBUNTU 22.04 LTS</a:t>
            </a:r>
            <a:endParaRPr/>
          </a:p>
        </p:txBody>
      </p:sp>
      <p:sp>
        <p:nvSpPr>
          <p:cNvPr id="331" name="Google Shape;331;p20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1703388" y="3334512"/>
            <a:ext cx="295275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Перезагружаем компьютер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6096000" y="3334512"/>
            <a:ext cx="3415564" cy="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8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Закрываем экран с ВМ и выбираем пункт «Сохранить состояние ВМ»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2612990" y="5331470"/>
            <a:ext cx="5707062" cy="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следующем видео мы рассмотрим варианты установки Постгреса и установим его на нашей ВМ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719852" y="2256491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096000" y="2256491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20"/>
          <p:cNvCxnSpPr/>
          <p:nvPr/>
        </p:nvCxnSpPr>
        <p:spPr>
          <a:xfrm rot="10800000">
            <a:off x="2765547" y="2694828"/>
            <a:ext cx="3160241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8" name="Google Shape;3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353" y="5370404"/>
            <a:ext cx="481672" cy="481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ЕСЛИ ВОЗНИКЛИ ПРОБЛЕМЫ</a:t>
            </a:r>
            <a:endParaRPr/>
          </a:p>
        </p:txBody>
      </p:sp>
      <p:sp>
        <p:nvSpPr>
          <p:cNvPr id="344" name="Google Shape;344;p21"/>
          <p:cNvSpPr txBox="1"/>
          <p:nvPr>
            <p:ph idx="12" type="sldNum"/>
          </p:nvPr>
        </p:nvSpPr>
        <p:spPr>
          <a:xfrm>
            <a:off x="250594" y="6446580"/>
            <a:ext cx="1883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1725849" y="3326275"/>
            <a:ext cx="3500907" cy="907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Чтобы вернуть захваченную ВМ мышку или клавиатуру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Нажимайте правый CTRL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6094649" y="3326275"/>
            <a:ext cx="4234684" cy="907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есть другие проблемы </a:t>
            </a:r>
            <a:br>
              <a:rPr b="1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установке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Обратитесь к статье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204" y="2447306"/>
            <a:ext cx="704108" cy="70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5451" y="2447306"/>
            <a:ext cx="704108" cy="704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"/>
          <p:cNvSpPr txBox="1"/>
          <p:nvPr>
            <p:ph idx="1" type="body"/>
          </p:nvPr>
        </p:nvSpPr>
        <p:spPr>
          <a:xfrm>
            <a:off x="1725849" y="2013488"/>
            <a:ext cx="44844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accent1"/>
                </a:solidFill>
              </a:rPr>
              <a:t>Рассмотрели</a:t>
            </a:r>
            <a:endParaRPr/>
          </a:p>
        </p:txBody>
      </p:sp>
      <p:sp>
        <p:nvSpPr>
          <p:cNvPr id="354" name="Google Shape;354;p22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355" name="Google Shape;355;p22"/>
          <p:cNvSpPr txBox="1"/>
          <p:nvPr>
            <p:ph idx="12" type="sldNum"/>
          </p:nvPr>
        </p:nvSpPr>
        <p:spPr>
          <a:xfrm>
            <a:off x="250594" y="6446580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1703389" y="2547567"/>
            <a:ext cx="2714232" cy="2071527"/>
          </a:xfrm>
          <a:prstGeom prst="roundRect">
            <a:avLst>
              <a:gd fmla="val 5760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3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 из себя представляет Виртуальная машина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4738885" y="2547567"/>
            <a:ext cx="2714232" cy="2071527"/>
          </a:xfrm>
          <a:prstGeom prst="roundRect">
            <a:avLst>
              <a:gd fmla="val 5215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3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 такое Линукс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 почему именно его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мы установим в качестве операционной системы на ВМ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7774381" y="2547567"/>
            <a:ext cx="2714232" cy="2071527"/>
          </a:xfrm>
          <a:prstGeom prst="roundRect">
            <a:avLst>
              <a:gd fmla="val 6305" name="adj"/>
            </a:avLst>
          </a:prstGeom>
          <a:solidFill>
            <a:srgbClr val="D0DBFE"/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3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Преимущества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Ubuntu 22.04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 txBox="1"/>
          <p:nvPr>
            <p:ph idx="1" type="body"/>
          </p:nvPr>
        </p:nvSpPr>
        <p:spPr>
          <a:xfrm>
            <a:off x="1725849" y="2013488"/>
            <a:ext cx="448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accent5"/>
                </a:solidFill>
              </a:rPr>
              <a:t>Разобрали</a:t>
            </a:r>
            <a:endParaRPr/>
          </a:p>
        </p:txBody>
      </p:sp>
      <p:sp>
        <p:nvSpPr>
          <p:cNvPr id="364" name="Google Shape;364;p23"/>
          <p:cNvSpPr txBox="1"/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365" name="Google Shape;365;p23"/>
          <p:cNvSpPr txBox="1"/>
          <p:nvPr>
            <p:ph idx="12" type="sldNum"/>
          </p:nvPr>
        </p:nvSpPr>
        <p:spPr>
          <a:xfrm>
            <a:off x="250594" y="6446580"/>
            <a:ext cx="1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1703389" y="2547567"/>
            <a:ext cx="2714100" cy="2071500"/>
          </a:xfrm>
          <a:prstGeom prst="roundRect">
            <a:avLst>
              <a:gd fmla="val 5760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установить менеджер ВМ - VirtualBox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4738885" y="2547567"/>
            <a:ext cx="2714100" cy="2071500"/>
          </a:xfrm>
          <a:prstGeom prst="roundRect">
            <a:avLst>
              <a:gd fmla="val 5215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скачать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 установить Ubuntu22.04 на ВМ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7774381" y="2547567"/>
            <a:ext cx="2714100" cy="2071500"/>
          </a:xfrm>
          <a:prstGeom prst="roundRect">
            <a:avLst>
              <a:gd fmla="val 6305" name="adj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anchorCtr="0" anchor="t" bIns="144000" lIns="180000" spcFirstLastPara="1" rIns="108000" wrap="square" tIns="108000">
            <a:noAutofit/>
          </a:bodyPr>
          <a:lstStyle/>
          <a:p>
            <a:pPr indent="0" lvl="0" marL="111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b="0" i="0" lang="ru-RU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112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включить двунаправленный буфер копирования между ВМ и хостовой машиной</a:t>
            </a:r>
            <a:endParaRPr b="0" i="0" sz="1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/>
          <p:nvPr>
            <p:ph idx="1" type="body"/>
          </p:nvPr>
        </p:nvSpPr>
        <p:spPr>
          <a:xfrm>
            <a:off x="1725849" y="999207"/>
            <a:ext cx="644346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/>
              <a:t>Необходимо подготовить ВМ для дальнейшей установки Постгреса и прохождения остальных уроков курса. Необходимо повторить все продемонстрированные на уроке действия, а именно:</a:t>
            </a:r>
            <a:endParaRPr/>
          </a:p>
        </p:txBody>
      </p:sp>
      <p:sp>
        <p:nvSpPr>
          <p:cNvPr id="374" name="Google Shape;374;p24"/>
          <p:cNvSpPr txBox="1"/>
          <p:nvPr>
            <p:ph type="title"/>
          </p:nvPr>
        </p:nvSpPr>
        <p:spPr>
          <a:xfrm>
            <a:off x="1725849" y="502442"/>
            <a:ext cx="764481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1703388" y="2856003"/>
            <a:ext cx="2451982" cy="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Установить менеджер ВМ - VirtualBox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4772113" y="2856003"/>
            <a:ext cx="2647774" cy="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Скачать и установить Ubuntu 22.04 на ВМ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8268581" y="2856003"/>
            <a:ext cx="2309107" cy="1108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Включить двунаправ-ленный буфер копирования между ВМ и хостовой машиной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1703388" y="4699393"/>
            <a:ext cx="2451982" cy="82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Закрепить консоль </a:t>
            </a:r>
            <a:b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избранном – появится в левой панели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4772113" y="4699393"/>
            <a:ext cx="2647774" cy="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113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Настроить комфортное разрешение экрана ВМ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1703388" y="2327935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4783988" y="2326327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8268581" y="2324719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4"/>
          <p:cNvSpPr txBox="1"/>
          <p:nvPr/>
        </p:nvSpPr>
        <p:spPr>
          <a:xfrm>
            <a:off x="1703388" y="4140390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4783988" y="4138782"/>
            <a:ext cx="612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2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24"/>
          <p:cNvCxnSpPr/>
          <p:nvPr/>
        </p:nvCxnSpPr>
        <p:spPr>
          <a:xfrm rot="10800000">
            <a:off x="2315688" y="2587951"/>
            <a:ext cx="2220686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4"/>
          <p:cNvCxnSpPr/>
          <p:nvPr/>
        </p:nvCxnSpPr>
        <p:spPr>
          <a:xfrm rot="10800000">
            <a:off x="5486400" y="2587951"/>
            <a:ext cx="2553195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4"/>
          <p:cNvCxnSpPr/>
          <p:nvPr/>
        </p:nvCxnSpPr>
        <p:spPr>
          <a:xfrm rot="10800000">
            <a:off x="2315688" y="4388532"/>
            <a:ext cx="2220686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4"/>
          <p:cNvCxnSpPr/>
          <p:nvPr/>
        </p:nvCxnSpPr>
        <p:spPr>
          <a:xfrm rot="10800000">
            <a:off x="8880881" y="2587951"/>
            <a:ext cx="1607732" cy="0"/>
          </a:xfrm>
          <a:prstGeom prst="straightConnector1">
            <a:avLst/>
          </a:prstGeom>
          <a:noFill/>
          <a:ln cap="rnd" cmpd="sng" w="254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/>
          <p:nvPr>
            <p:ph type="title"/>
          </p:nvPr>
        </p:nvSpPr>
        <p:spPr>
          <a:xfrm>
            <a:off x="1609724" y="3118888"/>
            <a:ext cx="7520627" cy="79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</a:pPr>
            <a:r>
              <a:rPr lang="ru-RU"/>
              <a:t>СПАСИБО</a:t>
            </a:r>
            <a:endParaRPr/>
          </a:p>
        </p:txBody>
      </p:sp>
      <p:sp>
        <p:nvSpPr>
          <p:cNvPr id="394" name="Google Shape;394;p25"/>
          <p:cNvSpPr txBox="1"/>
          <p:nvPr>
            <p:ph idx="1" type="body"/>
          </p:nvPr>
        </p:nvSpPr>
        <p:spPr>
          <a:xfrm>
            <a:off x="1612209" y="4166475"/>
            <a:ext cx="73234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/>
              <a:t>На следующем занятии мы установим PostgreSQL </a:t>
            </a:r>
            <a:br>
              <a:rPr lang="ru-RU"/>
            </a:br>
            <a:r>
              <a:rPr lang="ru-RU"/>
              <a:t>на созданной нами ВМ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