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notesSlides/notesSlide11.xml" ContentType="application/vnd.openxmlformats-officedocument.presentationml.notesSlide+xml"/>
  <Override PartName="/ppt/tags/tag13.xml" ContentType="application/vnd.openxmlformats-officedocument.presentationml.tags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notesMasterIdLst>
    <p:notesMasterId r:id="rId14"/>
  </p:notesMasterIdLst>
  <p:sldIdLst>
    <p:sldId id="256" r:id="rId2"/>
    <p:sldId id="257" r:id="rId3"/>
    <p:sldId id="26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Arial Black" panose="020B0A04020102020204" pitchFamily="34" charset="0"/>
      <p:regular r:id="rId15"/>
      <p:bold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Helvetica Neue" panose="020B0604020202020204" charset="0"/>
      <p:regular r:id="rId21"/>
      <p:bold r:id="rId22"/>
      <p:italic r:id="rId23"/>
      <p:boldItalic r:id="rId24"/>
    </p:embeddedFont>
    <p:embeddedFont>
      <p:font typeface="Open Sans" panose="020B0604020202020204" charset="0"/>
      <p:regular r:id="rId25"/>
      <p:bold r:id="rId26"/>
      <p:italic r:id="rId27"/>
      <p:boldItalic r:id="rId28"/>
    </p:embeddedFont>
    <p:embeddedFont>
      <p:font typeface="Proxima Nova" panose="020B0604020202020204" charset="0"/>
      <p:regular r:id="rId29"/>
      <p:bold r:id="rId30"/>
      <p:italic r:id="rId31"/>
      <p:boldItalic r:id="rId32"/>
    </p:embeddedFont>
  </p:embeddedFontLst>
  <p:custDataLst>
    <p:tags r:id="rId33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863">
          <p15:clr>
            <a:srgbClr val="A4A3A4"/>
          </p15:clr>
        </p15:guide>
        <p15:guide id="2" pos="1118">
          <p15:clr>
            <a:srgbClr val="A4A3A4"/>
          </p15:clr>
        </p15:guide>
        <p15:guide id="3" pos="7333">
          <p15:clr>
            <a:srgbClr val="A4A3A4"/>
          </p15:clr>
        </p15:guide>
        <p15:guide id="4" orient="horz" pos="278">
          <p15:clr>
            <a:srgbClr val="A4A3A4"/>
          </p15:clr>
        </p15:guide>
        <p15:guide id="5" orient="horz" pos="404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84" y="1296"/>
      </p:cViewPr>
      <p:guideLst>
        <p:guide pos="3863"/>
        <p:guide pos="1118"/>
        <p:guide pos="7333"/>
        <p:guide orient="horz" pos="278"/>
        <p:guide orient="horz" pos="404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21" Type="http://schemas.openxmlformats.org/officeDocument/2006/relationships/font" Target="fonts/font7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font" Target="fonts/font18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font" Target="fonts/font1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2" name="Google Shape;11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fdaf37af43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gfdaf37af43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" name="Google Shape;135;gfdaf37af43_0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964102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44046d44ee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g144046d44ee_0_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8" name="Google Shape;158;g144046d44ee_0_3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4402e917ad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g14402e917ad_0_6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7" name="Google Shape;177;g14402e917ad_0_6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144046d44ee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5" name="Google Shape;195;g144046d44ee_0_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6" name="Google Shape;196;g144046d44ee_0_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144046d44ee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g144046d44ee_0_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5" name="Google Shape;215;g144046d44ee_0_5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144046d44ee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3" name="Google Shape;233;g144046d44ee_0_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4" name="Google Shape;234;g144046d44ee_0_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144046d44ee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2" name="Google Shape;252;g144046d44ee_0_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3" name="Google Shape;253;g144046d44ee_0_7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1" name="Google Shape;27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5" name="Google Shape;285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6" name="Google Shape;286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4" name="Google Shape;304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5" name="Google Shape;305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 1">
  <p:cSld name="Пустой слайд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 1">
  <p:cSld name="Заголовок и объект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>
            <a:spLocks noGrp="1"/>
          </p:cNvSpPr>
          <p:nvPr>
            <p:ph type="title"/>
          </p:nvPr>
        </p:nvSpPr>
        <p:spPr>
          <a:xfrm>
            <a:off x="677333" y="469564"/>
            <a:ext cx="9062100" cy="12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Open Sans"/>
              <a:buNone/>
              <a:defRPr sz="3600">
                <a:solidFill>
                  <a:schemeClr val="accent2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5"/>
          <p:cNvSpPr txBox="1">
            <a:spLocks noGrp="1"/>
          </p:cNvSpPr>
          <p:nvPr>
            <p:ph type="body" idx="1"/>
          </p:nvPr>
        </p:nvSpPr>
        <p:spPr>
          <a:xfrm>
            <a:off x="677334" y="1722475"/>
            <a:ext cx="8596800" cy="43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02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2000" b="0"/>
            </a:lvl1pPr>
            <a:lvl2pPr marL="914400" lvl="1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2pPr>
            <a:lvl3pPr marL="1371600" lvl="2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3pPr>
            <a:lvl4pPr marL="1828800" lvl="3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4pPr>
            <a:lvl5pPr marL="2286000" lvl="4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5pPr>
            <a:lvl6pPr marL="2743200" lvl="5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6pPr>
            <a:lvl7pPr marL="3200400" lvl="6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7pPr>
            <a:lvl8pPr marL="3657600" lvl="7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8pPr>
            <a:lvl9pPr marL="4114800" lvl="8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10" Type="http://schemas.openxmlformats.org/officeDocument/2006/relationships/image" Target="../media/image12.jp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10" Type="http://schemas.openxmlformats.org/officeDocument/2006/relationships/image" Target="../media/image13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10" Type="http://schemas.openxmlformats.org/officeDocument/2006/relationships/image" Target="../media/image13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10" Type="http://schemas.openxmlformats.org/officeDocument/2006/relationships/hyperlink" Target="https://ora2pg.darold.net/" TargetMode="External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Relationship Id="rId6" Type="http://schemas.openxmlformats.org/officeDocument/2006/relationships/image" Target="../media/image4.png"/><Relationship Id="rId5" Type="http://schemas.openxmlformats.org/officeDocument/2006/relationships/image" Target="../media/image9.png"/><Relationship Id="rId10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Relationship Id="rId6" Type="http://schemas.openxmlformats.org/officeDocument/2006/relationships/image" Target="../media/image10.png"/><Relationship Id="rId5" Type="http://schemas.openxmlformats.org/officeDocument/2006/relationships/image" Target="../media/image2.png"/><Relationship Id="rId10" Type="http://schemas.openxmlformats.org/officeDocument/2006/relationships/image" Target="../media/image4.png"/><Relationship Id="rId4" Type="http://schemas.openxmlformats.org/officeDocument/2006/relationships/image" Target="../media/image9.png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0095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6" descr="Shape, circle, rectang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625" y="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6" descr="Shape, circle, rectang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99951" y="525145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6" descr="Shape, circle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02549" y="3640932"/>
            <a:ext cx="800100" cy="800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7" name="Google Shape;97;p16"/>
          <p:cNvGrpSpPr/>
          <p:nvPr/>
        </p:nvGrpSpPr>
        <p:grpSpPr>
          <a:xfrm>
            <a:off x="0" y="0"/>
            <a:ext cx="12202649" cy="6858000"/>
            <a:chOff x="0" y="0"/>
            <a:chExt cx="24405297" cy="13716000"/>
          </a:xfrm>
        </p:grpSpPr>
        <p:sp>
          <p:nvSpPr>
            <p:cNvPr id="98" name="Google Shape;98;p16"/>
            <p:cNvSpPr/>
            <p:nvPr/>
          </p:nvSpPr>
          <p:spPr>
            <a:xfrm>
              <a:off x="0" y="6670450"/>
              <a:ext cx="24382799" cy="375100"/>
            </a:xfrm>
            <a:prstGeom prst="rect">
              <a:avLst/>
            </a:prstGeom>
            <a:solidFill>
              <a:srgbClr val="170095"/>
            </a:solidFill>
            <a:ln>
              <a:noFill/>
            </a:ln>
          </p:spPr>
          <p:txBody>
            <a:bodyPr spcFirstLastPara="1" wrap="square" lIns="35700" tIns="35700" rIns="35700" bIns="3570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endParaRPr sz="75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99" name="Google Shape;99;p16" descr="Logo&#10;&#10;Description automatically generated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1728929" y="834956"/>
              <a:ext cx="2146300" cy="146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" name="Google Shape;101;p16" descr="A picture containing shape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 rot="10800000">
              <a:off x="0" y="0"/>
              <a:ext cx="3238500" cy="3238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" name="Google Shape;102;p16" descr="Background pattern&#10;&#10;Description automatically generated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7953697" y="7264400"/>
              <a:ext cx="6451600" cy="6451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3" name="Google Shape;103;p16"/>
          <p:cNvGrpSpPr/>
          <p:nvPr/>
        </p:nvGrpSpPr>
        <p:grpSpPr>
          <a:xfrm>
            <a:off x="8992643" y="6057900"/>
            <a:ext cx="800100" cy="800100"/>
            <a:chOff x="18033834" y="12096001"/>
            <a:chExt cx="1600200" cy="1600200"/>
          </a:xfrm>
        </p:grpSpPr>
        <p:pic>
          <p:nvPicPr>
            <p:cNvPr id="104" name="Google Shape;104;p16" descr="Shape, circle&#10;&#10;Description automatically generated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18033834" y="12096001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" name="Google Shape;105;p16"/>
            <p:cNvSpPr txBox="1"/>
            <p:nvPr/>
          </p:nvSpPr>
          <p:spPr>
            <a:xfrm>
              <a:off x="18117946" y="12522493"/>
              <a:ext cx="1511670" cy="7290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700" tIns="35700" rIns="35700" bIns="3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ru-RU" sz="1900" b="0" i="0" u="none" strike="noStrike" cap="none">
                  <a:solidFill>
                    <a:schemeClr val="l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begin</a:t>
              </a:r>
              <a:endParaRPr sz="19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pic>
        <p:nvPicPr>
          <p:cNvPr id="106" name="Google Shape;106;p16" descr="Shape, circle&#10;&#10;Description automatically generated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599431" y="445135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6" descr="Shape, circle&#10;&#10;Description automatically generated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1412708" y="6051550"/>
            <a:ext cx="800100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81;p1">
            <a:extLst>
              <a:ext uri="{FF2B5EF4-FFF2-40B4-BE49-F238E27FC236}">
                <a16:creationId xmlns:a16="http://schemas.microsoft.com/office/drawing/2014/main" id="{D527F96B-4B11-4B85-83FC-50747F6EC401}"/>
              </a:ext>
            </a:extLst>
          </p:cNvPr>
          <p:cNvSpPr txBox="1">
            <a:spLocks/>
          </p:cNvSpPr>
          <p:nvPr/>
        </p:nvSpPr>
        <p:spPr>
          <a:xfrm>
            <a:off x="1631720" y="2371464"/>
            <a:ext cx="6308826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1pPr>
            <a:lvl2pPr marL="914400" indent="-228600">
              <a:buClr>
                <a:srgbClr val="FFFFFF"/>
              </a:buClr>
              <a:buSzPts val="2500"/>
              <a:buNone/>
              <a:defRPr sz="2500">
                <a:solidFill>
                  <a:srgbClr val="FFFFFF"/>
                </a:solidFill>
              </a:defRPr>
            </a:lvl2pPr>
            <a:lvl3pPr marL="1371600" indent="-228600">
              <a:buClr>
                <a:srgbClr val="FFFFFF"/>
              </a:buClr>
              <a:buSzPts val="2500"/>
              <a:buNone/>
              <a:defRPr sz="2500">
                <a:solidFill>
                  <a:srgbClr val="FFFFFF"/>
                </a:solidFill>
              </a:defRPr>
            </a:lvl3pPr>
            <a:lvl4pPr marL="1828800" indent="-228600">
              <a:buClr>
                <a:srgbClr val="FFFFFF"/>
              </a:buClr>
              <a:buSzPts val="2500"/>
              <a:buNone/>
              <a:defRPr sz="2500">
                <a:solidFill>
                  <a:srgbClr val="FFFFFF"/>
                </a:solidFill>
              </a:defRPr>
            </a:lvl4pPr>
            <a:lvl5pPr marL="2286000" indent="-228600">
              <a:buClr>
                <a:srgbClr val="FFFFFF"/>
              </a:buClr>
              <a:buSzPts val="2500"/>
              <a:buNone/>
              <a:defRPr sz="2500">
                <a:solidFill>
                  <a:srgbClr val="FFFFFF"/>
                </a:solidFill>
              </a:defRPr>
            </a:lvl5pPr>
            <a:lvl6pPr marL="2743200" indent="-431164">
              <a:spcBef>
                <a:spcPts val="2950"/>
              </a:spcBef>
              <a:buSzPts val="3190"/>
              <a:buChar char="•"/>
              <a:defRPr sz="2200"/>
            </a:lvl6pPr>
            <a:lvl7pPr marL="3200400" indent="-431164">
              <a:spcBef>
                <a:spcPts val="2950"/>
              </a:spcBef>
              <a:buSzPts val="3190"/>
              <a:buChar char="•"/>
              <a:defRPr sz="2200"/>
            </a:lvl7pPr>
            <a:lvl8pPr marL="3657600" indent="-431164">
              <a:spcBef>
                <a:spcPts val="2950"/>
              </a:spcBef>
              <a:buSzPts val="3190"/>
              <a:buChar char="•"/>
              <a:defRPr sz="2200"/>
            </a:lvl8pPr>
            <a:lvl9pPr marL="4114800" indent="-431165">
              <a:spcBef>
                <a:spcPts val="2950"/>
              </a:spcBef>
              <a:buSzPts val="3190"/>
              <a:buChar char="•"/>
              <a:defRPr sz="2200"/>
            </a:lvl9pPr>
          </a:lstStyle>
          <a:p>
            <a:pPr lvl="0">
              <a:buClr>
                <a:srgbClr val="000000"/>
              </a:buClr>
              <a:buSzPts val="2000"/>
            </a:pPr>
            <a:r>
              <a:rPr lang="ru-RU" sz="2800" dirty="0"/>
              <a:t>БЛОК 12. МИГРАЦИЯ ДАННЫХ</a:t>
            </a:r>
          </a:p>
        </p:txBody>
      </p:sp>
      <p:sp>
        <p:nvSpPr>
          <p:cNvPr id="18" name="Google Shape;82;p1">
            <a:extLst>
              <a:ext uri="{FF2B5EF4-FFF2-40B4-BE49-F238E27FC236}">
                <a16:creationId xmlns:a16="http://schemas.microsoft.com/office/drawing/2014/main" id="{88DD96BE-66D3-4C61-810E-CEDDDFD2097C}"/>
              </a:ext>
            </a:extLst>
          </p:cNvPr>
          <p:cNvSpPr txBox="1">
            <a:spLocks/>
          </p:cNvSpPr>
          <p:nvPr/>
        </p:nvSpPr>
        <p:spPr>
          <a:xfrm>
            <a:off x="1619250" y="3038656"/>
            <a:ext cx="8358240" cy="1412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85000"/>
              </a:lnSpc>
              <a:buClr>
                <a:schemeClr val="lt1"/>
              </a:buClr>
              <a:buSzPts val="5400"/>
              <a:buFont typeface="Arial Black"/>
              <a:buNone/>
              <a:defRPr sz="54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r>
              <a:rPr lang="ru-RU" dirty="0">
                <a:solidFill>
                  <a:srgbClr val="FFFFFF"/>
                </a:solidFill>
              </a:rPr>
              <a:t>ПРОБЛЕМЫ </a:t>
            </a:r>
          </a:p>
          <a:p>
            <a:r>
              <a:rPr lang="ru-RU" dirty="0">
                <a:solidFill>
                  <a:srgbClr val="FFFFFF"/>
                </a:solidFill>
              </a:rPr>
              <a:t>И РЕШЕНИЯ</a:t>
            </a:r>
            <a:endParaRPr lang="ru-RU" dirty="0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/>
          <p:nvPr/>
        </p:nvSpPr>
        <p:spPr>
          <a:xfrm>
            <a:off x="1654928" y="385255"/>
            <a:ext cx="1845300" cy="4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2500" b="1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ЦЕЛЬ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7"/>
          <p:cNvSpPr txBox="1"/>
          <p:nvPr/>
        </p:nvSpPr>
        <p:spPr>
          <a:xfrm>
            <a:off x="11442668" y="6193270"/>
            <a:ext cx="277640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8" name="Google Shape;118;p17"/>
          <p:cNvGrpSpPr/>
          <p:nvPr/>
        </p:nvGrpSpPr>
        <p:grpSpPr>
          <a:xfrm>
            <a:off x="0" y="0"/>
            <a:ext cx="1501503" cy="1501503"/>
            <a:chOff x="22497" y="0"/>
            <a:chExt cx="3238500" cy="3238500"/>
          </a:xfrm>
        </p:grpSpPr>
        <p:pic>
          <p:nvPicPr>
            <p:cNvPr id="119" name="Google Shape;119;p17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" name="Google Shape;120;p17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7" y="0"/>
              <a:ext cx="3238500" cy="3238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2" name="Google Shape;122;p17"/>
          <p:cNvGrpSpPr/>
          <p:nvPr/>
        </p:nvGrpSpPr>
        <p:grpSpPr>
          <a:xfrm>
            <a:off x="9945440" y="4637973"/>
            <a:ext cx="2246560" cy="2246816"/>
            <a:chOff x="19553897" y="8864600"/>
            <a:chExt cx="4851400" cy="4851952"/>
          </a:xfrm>
        </p:grpSpPr>
        <p:pic>
          <p:nvPicPr>
            <p:cNvPr id="123" name="Google Shape;123;p17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4" name="Google Shape;124;p17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5" name="Google Shape;125;p17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6" name="Google Shape;126;p17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127" name="Google Shape;127;p17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8" name="Google Shape;128;p17"/>
              <p:cNvSpPr txBox="1"/>
              <p:nvPr/>
            </p:nvSpPr>
            <p:spPr>
              <a:xfrm>
                <a:off x="21231326" y="12448438"/>
                <a:ext cx="1511670" cy="9761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2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129" name="Google Shape;129;p17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82;p2">
            <a:extLst>
              <a:ext uri="{FF2B5EF4-FFF2-40B4-BE49-F238E27FC236}">
                <a16:creationId xmlns:a16="http://schemas.microsoft.com/office/drawing/2014/main" id="{496A08AC-796E-4B8F-B70C-FBE53F1E7FD1}"/>
              </a:ext>
            </a:extLst>
          </p:cNvPr>
          <p:cNvSpPr/>
          <p:nvPr/>
        </p:nvSpPr>
        <p:spPr>
          <a:xfrm>
            <a:off x="1719852" y="2410702"/>
            <a:ext cx="4326386" cy="1822800"/>
          </a:xfrm>
          <a:prstGeom prst="roundRect">
            <a:avLst>
              <a:gd name="adj" fmla="val 7748"/>
            </a:avLst>
          </a:prstGeom>
          <a:solidFill>
            <a:srgbClr val="CEE6FF"/>
          </a:solidFill>
          <a:ln>
            <a:noFill/>
          </a:ln>
        </p:spPr>
        <p:txBody>
          <a:bodyPr spcFirstLastPara="1" wrap="square" lIns="144000" tIns="756000" rIns="144000" bIns="144000" anchor="t" anchorCtr="0">
            <a:noAutofit/>
          </a:bodyPr>
          <a:lstStyle/>
          <a:p>
            <a:pPr marL="114300" lvl="0">
              <a:buClr>
                <a:schemeClr val="dk1"/>
              </a:buClr>
              <a:buSzPts val="1800"/>
            </a:pPr>
            <a:r>
              <a:rPr lang="ru-RU" sz="1800" dirty="0">
                <a:solidFill>
                  <a:schemeClr val="dk1"/>
                </a:solidFill>
              </a:rPr>
              <a:t>Понять, какие существуют проблемы миграции данных </a:t>
            </a:r>
          </a:p>
          <a:p>
            <a:pPr marL="114300" lvl="0">
              <a:buClr>
                <a:schemeClr val="dk1"/>
              </a:buClr>
              <a:buSzPts val="1800"/>
            </a:pPr>
            <a:r>
              <a:rPr lang="ru-RU" sz="1800" dirty="0">
                <a:solidFill>
                  <a:schemeClr val="dk1"/>
                </a:solidFill>
              </a:rPr>
              <a:t>из других СУБД</a:t>
            </a:r>
          </a:p>
        </p:txBody>
      </p:sp>
      <p:sp>
        <p:nvSpPr>
          <p:cNvPr id="21" name="Google Shape;283;p2">
            <a:extLst>
              <a:ext uri="{FF2B5EF4-FFF2-40B4-BE49-F238E27FC236}">
                <a16:creationId xmlns:a16="http://schemas.microsoft.com/office/drawing/2014/main" id="{D4EFA150-F3E4-47C4-BE28-0F327FD97512}"/>
              </a:ext>
            </a:extLst>
          </p:cNvPr>
          <p:cNvSpPr/>
          <p:nvPr/>
        </p:nvSpPr>
        <p:spPr>
          <a:xfrm>
            <a:off x="6461361" y="2410713"/>
            <a:ext cx="3827907" cy="1822800"/>
          </a:xfrm>
          <a:prstGeom prst="roundRect">
            <a:avLst>
              <a:gd name="adj" fmla="val 6634"/>
            </a:avLst>
          </a:prstGeom>
          <a:solidFill>
            <a:srgbClr val="CCF3E9"/>
          </a:solidFill>
          <a:ln>
            <a:noFill/>
          </a:ln>
        </p:spPr>
        <p:txBody>
          <a:bodyPr spcFirstLastPara="1" wrap="square" lIns="144000" tIns="756000" rIns="144000" bIns="144000" anchor="t" anchorCtr="0">
            <a:noAutofit/>
          </a:bodyPr>
          <a:lstStyle/>
          <a:p>
            <a:pPr marL="114300" lvl="0">
              <a:buClr>
                <a:schemeClr val="dk1"/>
              </a:buClr>
              <a:buSzPts val="1800"/>
            </a:pPr>
            <a:r>
              <a:rPr lang="ru-RU" sz="1800" dirty="0">
                <a:solidFill>
                  <a:schemeClr val="dk1"/>
                </a:solidFill>
              </a:rPr>
              <a:t>Узнать пути их решения</a:t>
            </a:r>
          </a:p>
        </p:txBody>
      </p:sp>
      <p:sp>
        <p:nvSpPr>
          <p:cNvPr id="22" name="Google Shape;288;p2">
            <a:extLst>
              <a:ext uri="{FF2B5EF4-FFF2-40B4-BE49-F238E27FC236}">
                <a16:creationId xmlns:a16="http://schemas.microsoft.com/office/drawing/2014/main" id="{D752777A-67B6-4E74-B03E-66334A188388}"/>
              </a:ext>
            </a:extLst>
          </p:cNvPr>
          <p:cNvSpPr/>
          <p:nvPr/>
        </p:nvSpPr>
        <p:spPr>
          <a:xfrm>
            <a:off x="1902732" y="2515320"/>
            <a:ext cx="876600" cy="6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1B4EFC"/>
                </a:solidFill>
                <a:sym typeface="Arial"/>
              </a:rPr>
              <a:t>01</a:t>
            </a:r>
            <a:endParaRPr sz="1500" b="0" i="0" u="none" strike="noStrike" cap="none" dirty="0">
              <a:solidFill>
                <a:srgbClr val="1B4E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" name="Google Shape;289;p2">
            <a:extLst>
              <a:ext uri="{FF2B5EF4-FFF2-40B4-BE49-F238E27FC236}">
                <a16:creationId xmlns:a16="http://schemas.microsoft.com/office/drawing/2014/main" id="{37C016D1-63F7-4B45-A7E4-39E67641EAF3}"/>
              </a:ext>
            </a:extLst>
          </p:cNvPr>
          <p:cNvSpPr/>
          <p:nvPr/>
        </p:nvSpPr>
        <p:spPr>
          <a:xfrm>
            <a:off x="6644247" y="2515320"/>
            <a:ext cx="876600" cy="6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00C290"/>
                </a:solidFill>
                <a:sym typeface="Arial"/>
              </a:rPr>
              <a:t>02</a:t>
            </a:r>
            <a:endParaRPr sz="1500" b="0" i="0" u="none" strike="noStrike" cap="none" dirty="0">
              <a:solidFill>
                <a:srgbClr val="00C29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8"/>
          <p:cNvSpPr/>
          <p:nvPr/>
        </p:nvSpPr>
        <p:spPr>
          <a:xfrm>
            <a:off x="1651000" y="336950"/>
            <a:ext cx="87024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 sz="2500" b="0" i="0" u="none" strike="noStrike" cap="none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СОДЕРЖАНИЕ УРОКА</a:t>
            </a:r>
            <a:endParaRPr sz="2500" b="1" i="0" u="none" strike="noStrike" cap="none" dirty="0">
              <a:solidFill>
                <a:srgbClr val="030124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25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139" name="Google Shape;139;p18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140" name="Google Shape;140;p18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1" name="Google Shape;141;p18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2" name="Google Shape;142;p18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143" name="Google Shape;143;p18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4" name="Google Shape;144;p18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" name="Google Shape;145;p18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6" name="Google Shape;146;p18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147" name="Google Shape;147;p18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8" name="Google Shape;148;p18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3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149" name="Google Shape;149;p1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101;p3">
            <a:extLst>
              <a:ext uri="{FF2B5EF4-FFF2-40B4-BE49-F238E27FC236}">
                <a16:creationId xmlns:a16="http://schemas.microsoft.com/office/drawing/2014/main" id="{88FD5655-B965-4C79-BEC6-14645A4B61B4}"/>
              </a:ext>
            </a:extLst>
          </p:cNvPr>
          <p:cNvSpPr/>
          <p:nvPr/>
        </p:nvSpPr>
        <p:spPr>
          <a:xfrm>
            <a:off x="2863612" y="3582888"/>
            <a:ext cx="31455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>
              <a:buClr>
                <a:schemeClr val="dk1"/>
              </a:buClr>
              <a:buSzPts val="2000"/>
            </a:pPr>
            <a:r>
              <a:rPr lang="ru-RU" sz="2000" dirty="0">
                <a:solidFill>
                  <a:schemeClr val="dk1"/>
                </a:solidFill>
              </a:rPr>
              <a:t>Проблемы миграции</a:t>
            </a:r>
            <a:endParaRPr sz="2000" dirty="0">
              <a:solidFill>
                <a:schemeClr val="dk1"/>
              </a:solidFill>
            </a:endParaRPr>
          </a:p>
        </p:txBody>
      </p:sp>
      <p:sp>
        <p:nvSpPr>
          <p:cNvPr id="21" name="Google Shape;102;p3">
            <a:extLst>
              <a:ext uri="{FF2B5EF4-FFF2-40B4-BE49-F238E27FC236}">
                <a16:creationId xmlns:a16="http://schemas.microsoft.com/office/drawing/2014/main" id="{87D38ADD-6CE3-46D8-AA1F-6CEA5BEE20F5}"/>
              </a:ext>
            </a:extLst>
          </p:cNvPr>
          <p:cNvSpPr/>
          <p:nvPr/>
        </p:nvSpPr>
        <p:spPr>
          <a:xfrm>
            <a:off x="2863612" y="4955105"/>
            <a:ext cx="206457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>
              <a:buClr>
                <a:schemeClr val="dk1"/>
              </a:buClr>
              <a:buSzPts val="2000"/>
            </a:pPr>
            <a:r>
              <a:rPr lang="ru-RU" sz="2000" dirty="0">
                <a:solidFill>
                  <a:schemeClr val="dk1"/>
                </a:solidFill>
              </a:rPr>
              <a:t>Пути решения</a:t>
            </a:r>
            <a:endParaRPr sz="2000" dirty="0">
              <a:solidFill>
                <a:schemeClr val="dk1"/>
              </a:solidFill>
            </a:endParaRPr>
          </a:p>
        </p:txBody>
      </p:sp>
      <p:sp>
        <p:nvSpPr>
          <p:cNvPr id="22" name="Google Shape;103;p3">
            <a:extLst>
              <a:ext uri="{FF2B5EF4-FFF2-40B4-BE49-F238E27FC236}">
                <a16:creationId xmlns:a16="http://schemas.microsoft.com/office/drawing/2014/main" id="{C6904316-5937-4004-BB0D-FD882A7BC000}"/>
              </a:ext>
            </a:extLst>
          </p:cNvPr>
          <p:cNvSpPr/>
          <p:nvPr/>
        </p:nvSpPr>
        <p:spPr>
          <a:xfrm>
            <a:off x="1719852" y="1797011"/>
            <a:ext cx="876674" cy="876674"/>
          </a:xfrm>
          <a:prstGeom prst="ellipse">
            <a:avLst/>
          </a:prstGeom>
          <a:solidFill>
            <a:srgbClr val="CEE6FF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" name="Google Shape;104;p3">
            <a:extLst>
              <a:ext uri="{FF2B5EF4-FFF2-40B4-BE49-F238E27FC236}">
                <a16:creationId xmlns:a16="http://schemas.microsoft.com/office/drawing/2014/main" id="{F2DC0E89-807D-4E8F-8EEC-C0317A6FD755}"/>
              </a:ext>
            </a:extLst>
          </p:cNvPr>
          <p:cNvSpPr/>
          <p:nvPr/>
        </p:nvSpPr>
        <p:spPr>
          <a:xfrm>
            <a:off x="1719852" y="3233001"/>
            <a:ext cx="876674" cy="876674"/>
          </a:xfrm>
          <a:prstGeom prst="ellipse">
            <a:avLst/>
          </a:prstGeom>
          <a:solidFill>
            <a:srgbClr val="CCF3E9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00C391"/>
                </a:solidFill>
                <a:sym typeface="Arial"/>
              </a:rPr>
              <a:t>2</a:t>
            </a:r>
            <a:endParaRPr sz="1500" b="0" i="0" u="none" strike="noStrike" cap="none" dirty="0">
              <a:solidFill>
                <a:srgbClr val="00C3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" name="Google Shape;105;p3">
            <a:extLst>
              <a:ext uri="{FF2B5EF4-FFF2-40B4-BE49-F238E27FC236}">
                <a16:creationId xmlns:a16="http://schemas.microsoft.com/office/drawing/2014/main" id="{2300191B-5F61-4D50-96A4-C84258109CD8}"/>
              </a:ext>
            </a:extLst>
          </p:cNvPr>
          <p:cNvSpPr/>
          <p:nvPr/>
        </p:nvSpPr>
        <p:spPr>
          <a:xfrm>
            <a:off x="1719852" y="4668990"/>
            <a:ext cx="876674" cy="876674"/>
          </a:xfrm>
          <a:prstGeom prst="ellipse">
            <a:avLst/>
          </a:prstGeom>
          <a:solidFill>
            <a:srgbClr val="E5E0F6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836ED3"/>
                </a:solidFill>
                <a:sym typeface="Arial"/>
              </a:rPr>
              <a:t>3</a:t>
            </a:r>
            <a:endParaRPr sz="1500" b="0" i="0" u="none" strike="noStrike" cap="none" dirty="0">
              <a:solidFill>
                <a:srgbClr val="836ED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" name="Google Shape;106;p3">
            <a:extLst>
              <a:ext uri="{FF2B5EF4-FFF2-40B4-BE49-F238E27FC236}">
                <a16:creationId xmlns:a16="http://schemas.microsoft.com/office/drawing/2014/main" id="{B03F45F1-0BF6-4AF4-A1D3-99C7306F30B2}"/>
              </a:ext>
            </a:extLst>
          </p:cNvPr>
          <p:cNvSpPr txBox="1"/>
          <p:nvPr/>
        </p:nvSpPr>
        <p:spPr>
          <a:xfrm>
            <a:off x="2863612" y="2079793"/>
            <a:ext cx="322217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000" dirty="0">
                <a:solidFill>
                  <a:schemeClr val="dk1"/>
                </a:solidFill>
              </a:rPr>
              <a:t>Причины миграции</a:t>
            </a:r>
            <a:endParaRPr sz="4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" name="Google Shape;107;p3">
            <a:extLst>
              <a:ext uri="{FF2B5EF4-FFF2-40B4-BE49-F238E27FC236}">
                <a16:creationId xmlns:a16="http://schemas.microsoft.com/office/drawing/2014/main" id="{8FA5528F-A67E-43F3-A2EE-78FC296A5E58}"/>
              </a:ext>
            </a:extLst>
          </p:cNvPr>
          <p:cNvCxnSpPr/>
          <p:nvPr/>
        </p:nvCxnSpPr>
        <p:spPr>
          <a:xfrm rot="10800000">
            <a:off x="2158189" y="2770917"/>
            <a:ext cx="0" cy="384265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" name="Google Shape;108;p3">
            <a:extLst>
              <a:ext uri="{FF2B5EF4-FFF2-40B4-BE49-F238E27FC236}">
                <a16:creationId xmlns:a16="http://schemas.microsoft.com/office/drawing/2014/main" id="{AB156BEB-C166-4E87-9F4B-680FA378DDBB}"/>
              </a:ext>
            </a:extLst>
          </p:cNvPr>
          <p:cNvCxnSpPr/>
          <p:nvPr/>
        </p:nvCxnSpPr>
        <p:spPr>
          <a:xfrm rot="10800000">
            <a:off x="2158189" y="4209909"/>
            <a:ext cx="0" cy="384265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" name="Google Shape;354;p41">
            <a:extLst>
              <a:ext uri="{FF2B5EF4-FFF2-40B4-BE49-F238E27FC236}">
                <a16:creationId xmlns:a16="http://schemas.microsoft.com/office/drawing/2014/main" id="{05DBB814-00DC-454C-A5EB-20F47EB48E0A}"/>
              </a:ext>
            </a:extLst>
          </p:cNvPr>
          <p:cNvSpPr/>
          <p:nvPr/>
        </p:nvSpPr>
        <p:spPr>
          <a:xfrm>
            <a:off x="6632052" y="1361364"/>
            <a:ext cx="3643200" cy="4461900"/>
          </a:xfrm>
          <a:prstGeom prst="roundRect">
            <a:avLst>
              <a:gd name="adj" fmla="val 5294"/>
            </a:avLst>
          </a:pr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95902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9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9"/>
          <p:cNvSpPr/>
          <p:nvPr/>
        </p:nvSpPr>
        <p:spPr>
          <a:xfrm>
            <a:off x="1651000" y="336950"/>
            <a:ext cx="63567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95000"/>
              </a:lnSpc>
              <a:buClr>
                <a:schemeClr val="dk1"/>
              </a:buClr>
              <a:buSzPts val="1400"/>
            </a:pPr>
            <a:r>
              <a:rPr lang="ru-RU" sz="2500" dirty="0">
                <a:solidFill>
                  <a:srgbClr val="030124"/>
                </a:solidFill>
                <a:latin typeface="Arial Black"/>
                <a:sym typeface="Arial Black"/>
              </a:rPr>
              <a:t>ЧТО ТАКОЕ МИГРАЦИЯ ДАННЫХ</a:t>
            </a:r>
          </a:p>
          <a:p>
            <a:pPr>
              <a:lnSpc>
                <a:spcPct val="95000"/>
              </a:lnSpc>
              <a:buClr>
                <a:schemeClr val="dk1"/>
              </a:buClr>
              <a:buSzPts val="1400"/>
            </a:pPr>
            <a:endParaRPr lang="ru-RU" sz="2500" dirty="0">
              <a:solidFill>
                <a:srgbClr val="030124"/>
              </a:solidFill>
              <a:latin typeface="Arial Black"/>
              <a:sym typeface="Arial Black"/>
            </a:endParaRPr>
          </a:p>
        </p:txBody>
      </p:sp>
      <p:grpSp>
        <p:nvGrpSpPr>
          <p:cNvPr id="162" name="Google Shape;162;p19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163" name="Google Shape;163;p19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4" name="Google Shape;164;p19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5" name="Google Shape;165;p19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166" name="Google Shape;166;p19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7" name="Google Shape;167;p19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8" name="Google Shape;168;p19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69" name="Google Shape;169;p19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170" name="Google Shape;170;p19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1" name="Google Shape;171;p19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4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172" name="Google Shape;172;p19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A896DFB-02CF-4118-B1E9-34C127F59766}"/>
              </a:ext>
            </a:extLst>
          </p:cNvPr>
          <p:cNvSpPr txBox="1"/>
          <p:nvPr/>
        </p:nvSpPr>
        <p:spPr>
          <a:xfrm>
            <a:off x="2382417" y="3043047"/>
            <a:ext cx="83223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1600" dirty="0">
                <a:solidFill>
                  <a:schemeClr val="dk1"/>
                </a:solidFill>
              </a:rPr>
              <a:t>Это перенос уже существующих исторических данных в новое хранилище, систему или формат. При этом источник данных после миграции упраздняется.</a:t>
            </a:r>
          </a:p>
        </p:txBody>
      </p:sp>
      <p:cxnSp>
        <p:nvCxnSpPr>
          <p:cNvPr id="17" name="Google Shape;163;p7">
            <a:extLst>
              <a:ext uri="{FF2B5EF4-FFF2-40B4-BE49-F238E27FC236}">
                <a16:creationId xmlns:a16="http://schemas.microsoft.com/office/drawing/2014/main" id="{7273FD9C-86DE-4160-B749-1DFB4F54AD1D}"/>
              </a:ext>
            </a:extLst>
          </p:cNvPr>
          <p:cNvCxnSpPr/>
          <p:nvPr/>
        </p:nvCxnSpPr>
        <p:spPr>
          <a:xfrm>
            <a:off x="1774825" y="1513118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" name="Google Shape;163;p7">
            <a:extLst>
              <a:ext uri="{FF2B5EF4-FFF2-40B4-BE49-F238E27FC236}">
                <a16:creationId xmlns:a16="http://schemas.microsoft.com/office/drawing/2014/main" id="{B3C065FF-331A-40C0-87CB-C669CF6636C9}"/>
              </a:ext>
            </a:extLst>
          </p:cNvPr>
          <p:cNvCxnSpPr/>
          <p:nvPr/>
        </p:nvCxnSpPr>
        <p:spPr>
          <a:xfrm>
            <a:off x="1774825" y="5157751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9" name="Google Shape;373;p43">
            <a:extLst>
              <a:ext uri="{FF2B5EF4-FFF2-40B4-BE49-F238E27FC236}">
                <a16:creationId xmlns:a16="http://schemas.microsoft.com/office/drawing/2014/main" id="{7D20A5A4-8E11-4A2A-9221-C123CA1C24A5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716079" y="3092749"/>
            <a:ext cx="485372" cy="485372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0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1651000" y="336950"/>
            <a:ext cx="63567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95000"/>
              </a:lnSpc>
              <a:buClr>
                <a:schemeClr val="dk1"/>
              </a:buClr>
              <a:buSzPts val="1400"/>
            </a:pPr>
            <a:r>
              <a:rPr lang="ru-RU" sz="2500" dirty="0">
                <a:solidFill>
                  <a:srgbClr val="030124"/>
                </a:solidFill>
                <a:latin typeface="Arial Black"/>
                <a:sym typeface="Arial Black"/>
              </a:rPr>
              <a:t>ПРИЧИНЫ МИГРАЦИИ</a:t>
            </a:r>
          </a:p>
          <a:p>
            <a:pPr>
              <a:lnSpc>
                <a:spcPct val="95000"/>
              </a:lnSpc>
              <a:buClr>
                <a:schemeClr val="dk1"/>
              </a:buClr>
              <a:buSzPts val="1400"/>
            </a:pPr>
            <a:endParaRPr lang="ru-RU" sz="2500" dirty="0">
              <a:solidFill>
                <a:srgbClr val="030124"/>
              </a:solidFill>
              <a:latin typeface="Arial Black"/>
              <a:sym typeface="Arial Black"/>
            </a:endParaRPr>
          </a:p>
        </p:txBody>
      </p:sp>
      <p:grpSp>
        <p:nvGrpSpPr>
          <p:cNvPr id="181" name="Google Shape;181;p20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182" name="Google Shape;182;p20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3" name="Google Shape;183;p20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4" name="Google Shape;184;p20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185" name="Google Shape;185;p20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6" name="Google Shape;186;p20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7" name="Google Shape;187;p20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88" name="Google Shape;188;p20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189" name="Google Shape;189;p20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0" name="Google Shape;190;p20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5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191" name="Google Shape;191;p2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" name="Google Shape;163;p7">
            <a:extLst>
              <a:ext uri="{FF2B5EF4-FFF2-40B4-BE49-F238E27FC236}">
                <a16:creationId xmlns:a16="http://schemas.microsoft.com/office/drawing/2014/main" id="{CB5E9479-97CD-4B03-8133-A7A0D8D67642}"/>
              </a:ext>
            </a:extLst>
          </p:cNvPr>
          <p:cNvCxnSpPr/>
          <p:nvPr/>
        </p:nvCxnSpPr>
        <p:spPr>
          <a:xfrm>
            <a:off x="1774825" y="1513118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63;p7">
            <a:extLst>
              <a:ext uri="{FF2B5EF4-FFF2-40B4-BE49-F238E27FC236}">
                <a16:creationId xmlns:a16="http://schemas.microsoft.com/office/drawing/2014/main" id="{4A5C9C65-72F5-4D57-9A28-656134D05233}"/>
              </a:ext>
            </a:extLst>
          </p:cNvPr>
          <p:cNvCxnSpPr/>
          <p:nvPr/>
        </p:nvCxnSpPr>
        <p:spPr>
          <a:xfrm>
            <a:off x="1774825" y="5157751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A597E21-11CE-4D0B-926D-52F7163FF9F9}"/>
              </a:ext>
            </a:extLst>
          </p:cNvPr>
          <p:cNvSpPr txBox="1"/>
          <p:nvPr/>
        </p:nvSpPr>
        <p:spPr>
          <a:xfrm>
            <a:off x="1567542" y="2613392"/>
            <a:ext cx="4368504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lvl="0" indent="-342900">
              <a:spcBef>
                <a:spcPts val="600"/>
              </a:spcBef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dk1"/>
                </a:solidFill>
              </a:rPr>
              <a:t>Импортозамещение</a:t>
            </a:r>
          </a:p>
          <a:p>
            <a:pPr marL="457200" lvl="0" indent="-342900">
              <a:spcBef>
                <a:spcPts val="600"/>
              </a:spcBef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dk1"/>
                </a:solidFill>
              </a:rPr>
              <a:t>Модернизация или замена старого ПО</a:t>
            </a:r>
          </a:p>
          <a:p>
            <a:pPr marL="457200" lvl="0" indent="-342900">
              <a:spcBef>
                <a:spcPts val="600"/>
              </a:spcBef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dk1"/>
                </a:solidFill>
              </a:rPr>
              <a:t>Перенос инфраструктуры в облако</a:t>
            </a:r>
          </a:p>
          <a:p>
            <a:pPr marL="457200" lvl="0" indent="-342900">
              <a:spcBef>
                <a:spcPts val="600"/>
              </a:spcBef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dk1"/>
                </a:solidFill>
              </a:rPr>
              <a:t>Выросшие размеры хранилища</a:t>
            </a:r>
          </a:p>
          <a:p>
            <a:pPr marL="457200" lvl="0" indent="-342900">
              <a:spcBef>
                <a:spcPts val="600"/>
              </a:spcBef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dk1"/>
                </a:solidFill>
              </a:rPr>
              <a:t>Слияние или поглощение</a:t>
            </a: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1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1651000" y="336950"/>
            <a:ext cx="63567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ru-RU" sz="2500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ПРОБЛЕМЫ МИГРАЦИИ</a:t>
            </a:r>
            <a:endParaRPr lang="ru-RU" sz="2500" b="1" i="0" u="none" strike="noStrike" cap="none" dirty="0">
              <a:solidFill>
                <a:srgbClr val="030124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lang="ru-RU" sz="25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200" name="Google Shape;200;p21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201" name="Google Shape;201;p21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2" name="Google Shape;202;p21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3" name="Google Shape;203;p21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204" name="Google Shape;204;p21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5" name="Google Shape;205;p21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6" name="Google Shape;206;p21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07" name="Google Shape;207;p21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208" name="Google Shape;208;p21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09" name="Google Shape;209;p21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6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210" name="Google Shape;210;p21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BBCA01C-240E-4499-84D5-41769160E86F}"/>
              </a:ext>
            </a:extLst>
          </p:cNvPr>
          <p:cNvSpPr txBox="1"/>
          <p:nvPr/>
        </p:nvSpPr>
        <p:spPr>
          <a:xfrm>
            <a:off x="1710611" y="1246143"/>
            <a:ext cx="7295587" cy="28469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ru-RU" sz="1600" b="1" dirty="0">
                <a:solidFill>
                  <a:schemeClr val="dk1"/>
                </a:solidFill>
              </a:rPr>
              <a:t>Несовместимость: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ru-RU" sz="1600" dirty="0">
              <a:solidFill>
                <a:schemeClr val="dk1"/>
              </a:solidFill>
            </a:endParaRPr>
          </a:p>
          <a:p>
            <a:pPr marL="457200" lvl="0" indent="-342900">
              <a:spcBef>
                <a:spcPts val="600"/>
              </a:spcBef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dk1"/>
                </a:solidFill>
              </a:rPr>
              <a:t>архитектур в целом</a:t>
            </a:r>
          </a:p>
          <a:p>
            <a:pPr marL="457200" lvl="0" indent="-342900">
              <a:spcBef>
                <a:spcPts val="600"/>
              </a:spcBef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dk1"/>
                </a:solidFill>
              </a:rPr>
              <a:t>форматов кластеризации/репликации/</a:t>
            </a:r>
            <a:r>
              <a:rPr lang="ru-RU" sz="1600" dirty="0" err="1">
                <a:solidFill>
                  <a:schemeClr val="dk1"/>
                </a:solidFill>
              </a:rPr>
              <a:t>бэкапов</a:t>
            </a:r>
            <a:endParaRPr lang="ru-RU" sz="1600" dirty="0">
              <a:solidFill>
                <a:schemeClr val="dk1"/>
              </a:solidFill>
            </a:endParaRPr>
          </a:p>
          <a:p>
            <a:pPr marL="457200" lvl="0" indent="-342900">
              <a:spcBef>
                <a:spcPts val="600"/>
              </a:spcBef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dk1"/>
                </a:solidFill>
              </a:rPr>
              <a:t>форматов данных</a:t>
            </a:r>
          </a:p>
          <a:p>
            <a:pPr marL="457200" lvl="0" indent="-342900">
              <a:spcBef>
                <a:spcPts val="600"/>
              </a:spcBef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dk1"/>
                </a:solidFill>
              </a:rPr>
              <a:t>форматов процедурных языков</a:t>
            </a:r>
          </a:p>
          <a:p>
            <a:pPr marL="457200" lvl="0" indent="-342900">
              <a:spcBef>
                <a:spcPts val="600"/>
              </a:spcBef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dk1"/>
                </a:solidFill>
              </a:rPr>
              <a:t>различие функционала</a:t>
            </a:r>
          </a:p>
          <a:p>
            <a:pPr marL="457200" lvl="0" indent="-342900">
              <a:spcBef>
                <a:spcPts val="600"/>
              </a:spcBef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dk1"/>
                </a:solidFill>
              </a:rPr>
              <a:t>желательно минимальный </a:t>
            </a:r>
            <a:r>
              <a:rPr lang="ru-RU" sz="1600" dirty="0" err="1">
                <a:solidFill>
                  <a:schemeClr val="dk1"/>
                </a:solidFill>
              </a:rPr>
              <a:t>даунтайм</a:t>
            </a:r>
            <a:r>
              <a:rPr lang="ru-RU" sz="1600" dirty="0">
                <a:solidFill>
                  <a:schemeClr val="dk1"/>
                </a:solidFill>
              </a:rPr>
              <a:t> при переходе на новую систему</a:t>
            </a:r>
          </a:p>
          <a:p>
            <a:pPr marL="457200" lvl="0" indent="-342900">
              <a:spcBef>
                <a:spcPts val="600"/>
              </a:spcBef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dk1"/>
                </a:solidFill>
              </a:rPr>
              <a:t>поддержка софтом новой СУБД</a:t>
            </a:r>
          </a:p>
        </p:txBody>
      </p:sp>
      <p:cxnSp>
        <p:nvCxnSpPr>
          <p:cNvPr id="18" name="Google Shape;163;p7">
            <a:extLst>
              <a:ext uri="{FF2B5EF4-FFF2-40B4-BE49-F238E27FC236}">
                <a16:creationId xmlns:a16="http://schemas.microsoft.com/office/drawing/2014/main" id="{254388B5-EF11-47F7-AE8D-CFFDFDA143DB}"/>
              </a:ext>
            </a:extLst>
          </p:cNvPr>
          <p:cNvCxnSpPr/>
          <p:nvPr/>
        </p:nvCxnSpPr>
        <p:spPr>
          <a:xfrm>
            <a:off x="1774825" y="4312302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CC30EBF4-D4B7-4CB4-8736-4BCD1720B8E2}"/>
              </a:ext>
            </a:extLst>
          </p:cNvPr>
          <p:cNvGrpSpPr/>
          <p:nvPr/>
        </p:nvGrpSpPr>
        <p:grpSpPr>
          <a:xfrm>
            <a:off x="1774825" y="4685132"/>
            <a:ext cx="8497200" cy="717900"/>
            <a:chOff x="3881705" y="4731057"/>
            <a:chExt cx="8497200" cy="717900"/>
          </a:xfrm>
        </p:grpSpPr>
        <p:sp>
          <p:nvSpPr>
            <p:cNvPr id="20" name="Google Shape;372;p43">
              <a:extLst>
                <a:ext uri="{FF2B5EF4-FFF2-40B4-BE49-F238E27FC236}">
                  <a16:creationId xmlns:a16="http://schemas.microsoft.com/office/drawing/2014/main" id="{81D90414-B6C3-48CE-AEFC-E09DF49F9BA6}"/>
                </a:ext>
              </a:extLst>
            </p:cNvPr>
            <p:cNvSpPr/>
            <p:nvPr/>
          </p:nvSpPr>
          <p:spPr>
            <a:xfrm>
              <a:off x="3881705" y="4731057"/>
              <a:ext cx="8497200" cy="717900"/>
            </a:xfrm>
            <a:prstGeom prst="roundRect">
              <a:avLst>
                <a:gd name="adj" fmla="val 16667"/>
              </a:avLst>
            </a:prstGeom>
            <a:solidFill>
              <a:srgbClr val="E5E0F6"/>
            </a:solidFill>
            <a:ln>
              <a:noFill/>
            </a:ln>
          </p:spPr>
          <p:txBody>
            <a:bodyPr spcFirstLastPara="1" wrap="square" lIns="684000" tIns="108000" rIns="180000" bIns="108000" anchor="ctr" anchorCtr="0">
              <a:noAutofit/>
            </a:bodyPr>
            <a:lstStyle/>
            <a:p>
              <a:pPr lvl="0"/>
              <a:r>
                <a:rPr lang="ru-RU" dirty="0">
                  <a:solidFill>
                    <a:schemeClr val="dk1"/>
                  </a:solidFill>
                </a:rPr>
                <a:t>Только перелить данные не поможет!!!</a:t>
              </a:r>
            </a:p>
            <a:p>
              <a:pPr lvl="0"/>
              <a:r>
                <a:rPr lang="ru-RU" dirty="0">
                  <a:solidFill>
                    <a:schemeClr val="dk1"/>
                  </a:solidFill>
                </a:rPr>
                <a:t>Полностью переписывать все хранимые процедуры/функции минимум</a:t>
              </a:r>
            </a:p>
          </p:txBody>
        </p:sp>
        <p:pic>
          <p:nvPicPr>
            <p:cNvPr id="21" name="Google Shape;373;p43">
              <a:extLst>
                <a:ext uri="{FF2B5EF4-FFF2-40B4-BE49-F238E27FC236}">
                  <a16:creationId xmlns:a16="http://schemas.microsoft.com/office/drawing/2014/main" id="{4D3A757E-FF42-41B7-8CFE-04007172B4FA}"/>
                </a:ext>
              </a:extLst>
            </p:cNvPr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4004325" y="4831421"/>
              <a:ext cx="485372" cy="485372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2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2"/>
          <p:cNvSpPr/>
          <p:nvPr/>
        </p:nvSpPr>
        <p:spPr>
          <a:xfrm>
            <a:off x="1651000" y="336950"/>
            <a:ext cx="82950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95000"/>
              </a:lnSpc>
              <a:buClr>
                <a:schemeClr val="dk1"/>
              </a:buClr>
              <a:buSzPts val="3500"/>
            </a:pPr>
            <a:r>
              <a:rPr lang="ru-RU" sz="2500" dirty="0">
                <a:solidFill>
                  <a:srgbClr val="030124"/>
                </a:solidFill>
                <a:latin typeface="Arial Black"/>
                <a:sym typeface="Arial Black"/>
              </a:rPr>
              <a:t>ЕСЛИ МОЖНО НЕ МИГРИРОВАТЬ, ТО ЛУЧШЕ НЕ МИГРИРОВАТЬ</a:t>
            </a:r>
          </a:p>
          <a:p>
            <a:pPr>
              <a:lnSpc>
                <a:spcPct val="95000"/>
              </a:lnSpc>
              <a:buClr>
                <a:schemeClr val="dk1"/>
              </a:buClr>
              <a:buSzPts val="3500"/>
            </a:pPr>
            <a:endParaRPr lang="ru-RU" sz="2500" dirty="0">
              <a:solidFill>
                <a:srgbClr val="030124"/>
              </a:solidFill>
              <a:latin typeface="Arial Black"/>
              <a:sym typeface="Arial Black"/>
            </a:endParaRPr>
          </a:p>
        </p:txBody>
      </p:sp>
      <p:grpSp>
        <p:nvGrpSpPr>
          <p:cNvPr id="219" name="Google Shape;219;p22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220" name="Google Shape;220;p22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1" name="Google Shape;221;p22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2" name="Google Shape;222;p22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223" name="Google Shape;223;p22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4" name="Google Shape;224;p22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5" name="Google Shape;225;p22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26" name="Google Shape;226;p22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227" name="Google Shape;227;p22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8" name="Google Shape;228;p22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7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229" name="Google Shape;229;p22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F400EC3-4331-4F0C-8B03-AEE70C08E398}"/>
              </a:ext>
            </a:extLst>
          </p:cNvPr>
          <p:cNvSpPr txBox="1"/>
          <p:nvPr/>
        </p:nvSpPr>
        <p:spPr>
          <a:xfrm>
            <a:off x="1564722" y="2298753"/>
            <a:ext cx="8717612" cy="2046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0050" indent="-285750">
              <a:spcBef>
                <a:spcPts val="600"/>
              </a:spcBef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dk1"/>
                </a:solidFill>
              </a:rPr>
              <a:t>Бизнес цикл приложения 5-7 лет</a:t>
            </a:r>
          </a:p>
          <a:p>
            <a:pPr marL="400050" indent="-285750">
              <a:spcBef>
                <a:spcPts val="600"/>
              </a:spcBef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dk1"/>
                </a:solidFill>
              </a:rPr>
              <a:t>Несмотря на наличие языка PL/</a:t>
            </a:r>
            <a:r>
              <a:rPr lang="ru-RU" sz="1600" dirty="0" err="1">
                <a:solidFill>
                  <a:schemeClr val="dk1"/>
                </a:solidFill>
              </a:rPr>
              <a:t>pgSQL</a:t>
            </a:r>
            <a:r>
              <a:rPr lang="ru-RU" sz="1600" dirty="0">
                <a:solidFill>
                  <a:schemeClr val="dk1"/>
                </a:solidFill>
              </a:rPr>
              <a:t> - это не полный аналог </a:t>
            </a:r>
            <a:r>
              <a:rPr lang="ru-RU" sz="1600" dirty="0" err="1">
                <a:solidFill>
                  <a:schemeClr val="dk1"/>
                </a:solidFill>
              </a:rPr>
              <a:t>Ораклового</a:t>
            </a:r>
            <a:r>
              <a:rPr lang="ru-RU" sz="1600" dirty="0">
                <a:solidFill>
                  <a:schemeClr val="dk1"/>
                </a:solidFill>
              </a:rPr>
              <a:t> PLSQL - многих фичей нет и архитектура отличается</a:t>
            </a:r>
          </a:p>
          <a:p>
            <a:pPr marL="400050" lvl="0" indent="-285750">
              <a:spcBef>
                <a:spcPts val="600"/>
              </a:spcBef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dk1"/>
                </a:solidFill>
              </a:rPr>
              <a:t>Новые фичи лучше уже добавлять на новый продукт, не тратя время на внедрение на старой платформе</a:t>
            </a:r>
          </a:p>
          <a:p>
            <a:pPr marL="400050" lvl="0" indent="-285750">
              <a:spcBef>
                <a:spcPts val="600"/>
              </a:spcBef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dk1"/>
                </a:solidFill>
              </a:rPr>
              <a:t>Однозначно будут проблемы при конвертации, настройке безопасности и производительности</a:t>
            </a:r>
          </a:p>
        </p:txBody>
      </p:sp>
      <p:cxnSp>
        <p:nvCxnSpPr>
          <p:cNvPr id="21" name="Google Shape;163;p7">
            <a:extLst>
              <a:ext uri="{FF2B5EF4-FFF2-40B4-BE49-F238E27FC236}">
                <a16:creationId xmlns:a16="http://schemas.microsoft.com/office/drawing/2014/main" id="{39B68872-EC8D-4A28-B53E-671AC984D1A9}"/>
              </a:ext>
            </a:extLst>
          </p:cNvPr>
          <p:cNvCxnSpPr/>
          <p:nvPr/>
        </p:nvCxnSpPr>
        <p:spPr>
          <a:xfrm>
            <a:off x="1774825" y="1513118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" name="Google Shape;163;p7">
            <a:extLst>
              <a:ext uri="{FF2B5EF4-FFF2-40B4-BE49-F238E27FC236}">
                <a16:creationId xmlns:a16="http://schemas.microsoft.com/office/drawing/2014/main" id="{9EFCA051-8A49-43F4-99B8-CD18A9A2D3A1}"/>
              </a:ext>
            </a:extLst>
          </p:cNvPr>
          <p:cNvCxnSpPr/>
          <p:nvPr/>
        </p:nvCxnSpPr>
        <p:spPr>
          <a:xfrm>
            <a:off x="1774825" y="5157751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3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3"/>
          <p:cNvSpPr/>
          <p:nvPr/>
        </p:nvSpPr>
        <p:spPr>
          <a:xfrm>
            <a:off x="1651000" y="336950"/>
            <a:ext cx="63567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95000"/>
              </a:lnSpc>
              <a:buClr>
                <a:schemeClr val="dk1"/>
              </a:buClr>
              <a:buSzPts val="3500"/>
            </a:pPr>
            <a:r>
              <a:rPr lang="ru-RU" sz="2500" dirty="0">
                <a:solidFill>
                  <a:srgbClr val="030124"/>
                </a:solidFill>
                <a:latin typeface="Arial Black"/>
                <a:sym typeface="Arial Black"/>
              </a:rPr>
              <a:t>ПУТИ РЕШЕНИЯ</a:t>
            </a:r>
          </a:p>
          <a:p>
            <a:pPr>
              <a:lnSpc>
                <a:spcPct val="95000"/>
              </a:lnSpc>
              <a:buClr>
                <a:schemeClr val="dk1"/>
              </a:buClr>
              <a:buSzPts val="3500"/>
            </a:pPr>
            <a:endParaRPr lang="ru-RU" sz="2500" dirty="0">
              <a:solidFill>
                <a:srgbClr val="030124"/>
              </a:solidFill>
              <a:latin typeface="Arial Black"/>
              <a:sym typeface="Arial Black"/>
            </a:endParaRPr>
          </a:p>
        </p:txBody>
      </p:sp>
      <p:grpSp>
        <p:nvGrpSpPr>
          <p:cNvPr id="238" name="Google Shape;238;p23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239" name="Google Shape;239;p23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0" name="Google Shape;240;p23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1" name="Google Shape;241;p23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242" name="Google Shape;242;p23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3" name="Google Shape;243;p23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4" name="Google Shape;244;p23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45" name="Google Shape;245;p23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246" name="Google Shape;246;p23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47" name="Google Shape;247;p23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8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248" name="Google Shape;248;p23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74A84AB-9F5E-4012-9AE9-C91859589DFF}"/>
              </a:ext>
            </a:extLst>
          </p:cNvPr>
          <p:cNvSpPr txBox="1"/>
          <p:nvPr/>
        </p:nvSpPr>
        <p:spPr>
          <a:xfrm>
            <a:off x="1684915" y="4727496"/>
            <a:ext cx="7241628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b="1" dirty="0">
                <a:solidFill>
                  <a:schemeClr val="dk1"/>
                </a:solidFill>
              </a:rPr>
              <a:t>Не забываем! Перед миграцией:</a:t>
            </a:r>
          </a:p>
          <a:p>
            <a:pPr lvl="0">
              <a:spcBef>
                <a:spcPts val="600"/>
              </a:spcBef>
            </a:pPr>
            <a:endParaRPr lang="ru-RU" dirty="0">
              <a:solidFill>
                <a:schemeClr val="dk1"/>
              </a:solidFill>
            </a:endParaRPr>
          </a:p>
          <a:p>
            <a:pPr marL="457200" lvl="0" indent="-342900">
              <a:spcBef>
                <a:spcPts val="600"/>
              </a:spcBef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</a:rPr>
              <a:t>проведите обучение своих сотрудников (разработчиков, администраторов, архитекторов, руководителей проектов и </a:t>
            </a:r>
            <a:r>
              <a:rPr lang="ru-RU" dirty="0" err="1">
                <a:solidFill>
                  <a:schemeClr val="dk1"/>
                </a:solidFill>
              </a:rPr>
              <a:t>тд</a:t>
            </a:r>
            <a:r>
              <a:rPr lang="ru-RU" dirty="0">
                <a:solidFill>
                  <a:schemeClr val="dk1"/>
                </a:solidFill>
              </a:rPr>
              <a:t>) навыками работы с </a:t>
            </a:r>
            <a:r>
              <a:rPr lang="ru-RU" dirty="0" err="1">
                <a:solidFill>
                  <a:schemeClr val="dk1"/>
                </a:solidFill>
              </a:rPr>
              <a:t>Постгресом</a:t>
            </a:r>
            <a:endParaRPr lang="ru-RU" dirty="0">
              <a:solidFill>
                <a:schemeClr val="dk1"/>
              </a:solidFill>
            </a:endParaRPr>
          </a:p>
          <a:p>
            <a:pPr marL="457200" lvl="0" indent="-342900">
              <a:spcBef>
                <a:spcPts val="600"/>
              </a:spcBef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</a:rPr>
              <a:t>целесообразно доверить миграцию тем, кто будет в дальнейшем осуществлять техническую поддержку этого проекта</a:t>
            </a:r>
          </a:p>
        </p:txBody>
      </p:sp>
      <p:cxnSp>
        <p:nvCxnSpPr>
          <p:cNvPr id="18" name="Google Shape;163;p7">
            <a:extLst>
              <a:ext uri="{FF2B5EF4-FFF2-40B4-BE49-F238E27FC236}">
                <a16:creationId xmlns:a16="http://schemas.microsoft.com/office/drawing/2014/main" id="{7A22509B-ED66-45D5-AB3B-BB90A95CA63C}"/>
              </a:ext>
            </a:extLst>
          </p:cNvPr>
          <p:cNvCxnSpPr/>
          <p:nvPr/>
        </p:nvCxnSpPr>
        <p:spPr>
          <a:xfrm>
            <a:off x="1774825" y="4559682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EEF9301-593A-4A46-B7D0-9A69E7CB416A}"/>
              </a:ext>
            </a:extLst>
          </p:cNvPr>
          <p:cNvSpPr/>
          <p:nvPr/>
        </p:nvSpPr>
        <p:spPr>
          <a:xfrm>
            <a:off x="1570135" y="1501370"/>
            <a:ext cx="292100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4300" lvl="0">
              <a:spcBef>
                <a:spcPts val="600"/>
              </a:spcBef>
              <a:buSzPct val="100000"/>
            </a:pPr>
            <a:r>
              <a:rPr lang="ru-RU" dirty="0">
                <a:solidFill>
                  <a:schemeClr val="dk1"/>
                </a:solidFill>
              </a:rPr>
              <a:t>Используем автоматизированные утилиты для миграции. Например для </a:t>
            </a:r>
            <a:r>
              <a:rPr lang="ru-RU" dirty="0" err="1">
                <a:solidFill>
                  <a:schemeClr val="dk1"/>
                </a:solidFill>
              </a:rPr>
              <a:t>Оракл</a:t>
            </a:r>
            <a:r>
              <a:rPr lang="ru-RU" dirty="0">
                <a:solidFill>
                  <a:schemeClr val="dk1"/>
                </a:solidFill>
              </a:rPr>
              <a:t> это ora2pg (</a:t>
            </a:r>
            <a:r>
              <a:rPr lang="ru-RU" u="sng" dirty="0">
                <a:solidFill>
                  <a:schemeClr val="hlink"/>
                </a:solidFill>
                <a:hlinkClick r:id="rId10"/>
              </a:rPr>
              <a:t>https://ora2pg.darold.net/</a:t>
            </a:r>
            <a:r>
              <a:rPr lang="ru-RU" dirty="0">
                <a:solidFill>
                  <a:schemeClr val="dk1"/>
                </a:solidFill>
              </a:rPr>
              <a:t>)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5E9EC445-8B28-4F2A-AA35-50B6A6F77657}"/>
              </a:ext>
            </a:extLst>
          </p:cNvPr>
          <p:cNvSpPr/>
          <p:nvPr/>
        </p:nvSpPr>
        <p:spPr>
          <a:xfrm>
            <a:off x="5179786" y="1501370"/>
            <a:ext cx="183242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4300" lvl="0">
              <a:spcBef>
                <a:spcPts val="600"/>
              </a:spcBef>
              <a:buClr>
                <a:schemeClr val="dk1"/>
              </a:buClr>
              <a:buSzPct val="100000"/>
            </a:pPr>
            <a:r>
              <a:rPr lang="ru-RU" dirty="0">
                <a:solidFill>
                  <a:schemeClr val="dk1"/>
                </a:solidFill>
              </a:rPr>
              <a:t>Находим несовместимости и устраняем их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85AE05CC-99F3-43BC-87EB-F5E2EE20E5AA}"/>
              </a:ext>
            </a:extLst>
          </p:cNvPr>
          <p:cNvSpPr/>
          <p:nvPr/>
        </p:nvSpPr>
        <p:spPr>
          <a:xfrm>
            <a:off x="7757461" y="1501370"/>
            <a:ext cx="218847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4300" lvl="0">
              <a:spcBef>
                <a:spcPts val="600"/>
              </a:spcBef>
              <a:buClr>
                <a:schemeClr val="dk1"/>
              </a:buClr>
              <a:buSzPct val="100000"/>
            </a:pPr>
            <a:r>
              <a:rPr lang="ru-RU" dirty="0">
                <a:solidFill>
                  <a:schemeClr val="dk1"/>
                </a:solidFill>
              </a:rPr>
              <a:t>Переписываем хранимые процедуры и функции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92E7D86B-27EF-4D52-BF7B-E8C23DF07EBB}"/>
              </a:ext>
            </a:extLst>
          </p:cNvPr>
          <p:cNvSpPr/>
          <p:nvPr/>
        </p:nvSpPr>
        <p:spPr>
          <a:xfrm>
            <a:off x="1570135" y="3437762"/>
            <a:ext cx="255399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4300" lvl="0">
              <a:spcBef>
                <a:spcPts val="600"/>
              </a:spcBef>
              <a:buClr>
                <a:schemeClr val="dk1"/>
              </a:buClr>
              <a:buSzPct val="100000"/>
            </a:pPr>
            <a:r>
              <a:rPr lang="ru-RU" dirty="0">
                <a:solidFill>
                  <a:schemeClr val="dk1"/>
                </a:solidFill>
              </a:rPr>
              <a:t>Уделяем много! внимания на тестирование и профилирование запросов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F8477C63-179A-4199-A5D7-E2530D681043}"/>
              </a:ext>
            </a:extLst>
          </p:cNvPr>
          <p:cNvSpPr/>
          <p:nvPr/>
        </p:nvSpPr>
        <p:spPr>
          <a:xfrm>
            <a:off x="5179786" y="3437762"/>
            <a:ext cx="183242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4300" lvl="0">
              <a:spcBef>
                <a:spcPts val="600"/>
              </a:spcBef>
              <a:buClr>
                <a:schemeClr val="dk1"/>
              </a:buClr>
              <a:buSzPct val="100000"/>
            </a:pPr>
            <a:r>
              <a:rPr lang="ru-RU" dirty="0">
                <a:solidFill>
                  <a:schemeClr val="dk1"/>
                </a:solidFill>
              </a:rPr>
              <a:t>Разрабатываем функциональное и нагрузочное тестирование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CC3D0FF0-FF7A-4F65-AA2E-9B9240931F98}"/>
              </a:ext>
            </a:extLst>
          </p:cNvPr>
          <p:cNvSpPr/>
          <p:nvPr/>
        </p:nvSpPr>
        <p:spPr>
          <a:xfrm>
            <a:off x="7757461" y="3437762"/>
            <a:ext cx="2623905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4300" lvl="0">
              <a:spcBef>
                <a:spcPts val="600"/>
              </a:spcBef>
              <a:buClr>
                <a:schemeClr val="dk1"/>
              </a:buClr>
              <a:buSzPct val="100000"/>
            </a:pPr>
            <a:r>
              <a:rPr lang="ru-RU" dirty="0">
                <a:solidFill>
                  <a:schemeClr val="dk1"/>
                </a:solidFill>
              </a:rPr>
              <a:t>Не торопитесь выключать исходную систему после миграции</a:t>
            </a:r>
          </a:p>
        </p:txBody>
      </p:sp>
      <p:sp>
        <p:nvSpPr>
          <p:cNvPr id="25" name="Google Shape;288;p2">
            <a:extLst>
              <a:ext uri="{FF2B5EF4-FFF2-40B4-BE49-F238E27FC236}">
                <a16:creationId xmlns:a16="http://schemas.microsoft.com/office/drawing/2014/main" id="{DB6F5688-F32F-48AA-91CB-9D0EE63E5B01}"/>
              </a:ext>
            </a:extLst>
          </p:cNvPr>
          <p:cNvSpPr/>
          <p:nvPr/>
        </p:nvSpPr>
        <p:spPr>
          <a:xfrm>
            <a:off x="1774825" y="946292"/>
            <a:ext cx="876600" cy="6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1B4EFC"/>
                </a:solidFill>
                <a:sym typeface="Arial"/>
              </a:rPr>
              <a:t>01</a:t>
            </a:r>
            <a:endParaRPr sz="1500" b="0" i="0" u="none" strike="noStrike" cap="none" dirty="0">
              <a:solidFill>
                <a:srgbClr val="1B4E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" name="Google Shape;288;p2">
            <a:extLst>
              <a:ext uri="{FF2B5EF4-FFF2-40B4-BE49-F238E27FC236}">
                <a16:creationId xmlns:a16="http://schemas.microsoft.com/office/drawing/2014/main" id="{08FD525F-2A7F-4D35-8450-F32FA77E11D5}"/>
              </a:ext>
            </a:extLst>
          </p:cNvPr>
          <p:cNvSpPr/>
          <p:nvPr/>
        </p:nvSpPr>
        <p:spPr>
          <a:xfrm>
            <a:off x="5372929" y="946292"/>
            <a:ext cx="876600" cy="6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1B4EFC"/>
                </a:solidFill>
                <a:sym typeface="Arial"/>
              </a:rPr>
              <a:t>02</a:t>
            </a:r>
            <a:endParaRPr sz="1500" b="0" i="0" u="none" strike="noStrike" cap="none" dirty="0">
              <a:solidFill>
                <a:srgbClr val="1B4E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" name="Google Shape;288;p2">
            <a:extLst>
              <a:ext uri="{FF2B5EF4-FFF2-40B4-BE49-F238E27FC236}">
                <a16:creationId xmlns:a16="http://schemas.microsoft.com/office/drawing/2014/main" id="{45B233EE-4872-40EA-9032-091243E7DB9B}"/>
              </a:ext>
            </a:extLst>
          </p:cNvPr>
          <p:cNvSpPr/>
          <p:nvPr/>
        </p:nvSpPr>
        <p:spPr>
          <a:xfrm>
            <a:off x="7919115" y="946292"/>
            <a:ext cx="876600" cy="6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1B4EFC"/>
                </a:solidFill>
                <a:sym typeface="Arial"/>
              </a:rPr>
              <a:t>03</a:t>
            </a:r>
            <a:endParaRPr sz="1500" b="0" i="0" u="none" strike="noStrike" cap="none" dirty="0">
              <a:solidFill>
                <a:srgbClr val="1B4E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" name="Google Shape;288;p2">
            <a:extLst>
              <a:ext uri="{FF2B5EF4-FFF2-40B4-BE49-F238E27FC236}">
                <a16:creationId xmlns:a16="http://schemas.microsoft.com/office/drawing/2014/main" id="{2363E27B-244E-4DFF-9357-70B6241A06F5}"/>
              </a:ext>
            </a:extLst>
          </p:cNvPr>
          <p:cNvSpPr/>
          <p:nvPr/>
        </p:nvSpPr>
        <p:spPr>
          <a:xfrm>
            <a:off x="1774825" y="2834882"/>
            <a:ext cx="876600" cy="6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1B4EFC"/>
                </a:solidFill>
                <a:sym typeface="Arial"/>
              </a:rPr>
              <a:t>04</a:t>
            </a:r>
            <a:endParaRPr sz="1500" b="0" i="0" u="none" strike="noStrike" cap="none" dirty="0">
              <a:solidFill>
                <a:srgbClr val="1B4E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" name="Google Shape;288;p2">
            <a:extLst>
              <a:ext uri="{FF2B5EF4-FFF2-40B4-BE49-F238E27FC236}">
                <a16:creationId xmlns:a16="http://schemas.microsoft.com/office/drawing/2014/main" id="{822AC784-5449-4FB9-9BF0-C819328A876C}"/>
              </a:ext>
            </a:extLst>
          </p:cNvPr>
          <p:cNvSpPr/>
          <p:nvPr/>
        </p:nvSpPr>
        <p:spPr>
          <a:xfrm>
            <a:off x="5372929" y="2834882"/>
            <a:ext cx="876600" cy="6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1B4EFC"/>
                </a:solidFill>
                <a:sym typeface="Arial"/>
              </a:rPr>
              <a:t>05</a:t>
            </a:r>
            <a:endParaRPr sz="1500" b="0" i="0" u="none" strike="noStrike" cap="none" dirty="0">
              <a:solidFill>
                <a:srgbClr val="1B4E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" name="Google Shape;288;p2">
            <a:extLst>
              <a:ext uri="{FF2B5EF4-FFF2-40B4-BE49-F238E27FC236}">
                <a16:creationId xmlns:a16="http://schemas.microsoft.com/office/drawing/2014/main" id="{F121A156-D4CE-43CA-B752-E183B8B4332F}"/>
              </a:ext>
            </a:extLst>
          </p:cNvPr>
          <p:cNvSpPr/>
          <p:nvPr/>
        </p:nvSpPr>
        <p:spPr>
          <a:xfrm>
            <a:off x="7919115" y="2834882"/>
            <a:ext cx="876600" cy="6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1B4EFC"/>
                </a:solidFill>
                <a:sym typeface="Arial"/>
              </a:rPr>
              <a:t>06</a:t>
            </a:r>
            <a:endParaRPr sz="1500" b="0" i="0" u="none" strike="noStrike" cap="none" dirty="0">
              <a:solidFill>
                <a:srgbClr val="1B4E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4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4"/>
          <p:cNvSpPr/>
          <p:nvPr/>
        </p:nvSpPr>
        <p:spPr>
          <a:xfrm>
            <a:off x="1651000" y="336950"/>
            <a:ext cx="63567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ru-RU" sz="2500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ЗАКЛЮЧЕНИЕ</a:t>
            </a:r>
            <a:endParaRPr lang="ru-RU" sz="2500" b="1" i="0" u="none" strike="noStrike" cap="none" dirty="0">
              <a:solidFill>
                <a:srgbClr val="030124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lang="ru-RU" sz="25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257" name="Google Shape;257;p24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258" name="Google Shape;258;p24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9" name="Google Shape;259;p24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0" name="Google Shape;260;p24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261" name="Google Shape;261;p24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2" name="Google Shape;262;p24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3" name="Google Shape;263;p24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64" name="Google Shape;264;p24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265" name="Google Shape;265;p24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66" name="Google Shape;266;p24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9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267" name="Google Shape;267;p24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096E64D-D1F8-468F-91B8-3C33F31B24A8}"/>
              </a:ext>
            </a:extLst>
          </p:cNvPr>
          <p:cNvSpPr txBox="1"/>
          <p:nvPr/>
        </p:nvSpPr>
        <p:spPr>
          <a:xfrm>
            <a:off x="1595470" y="2367171"/>
            <a:ext cx="877394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342900">
              <a:spcBef>
                <a:spcPts val="600"/>
              </a:spcBef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dk1"/>
                </a:solidFill>
              </a:rPr>
              <a:t>Миграция данных очень сложный многоэтапный подход, который требует тщательного планирования</a:t>
            </a:r>
          </a:p>
          <a:p>
            <a:pPr marL="457200" lvl="0" indent="-342900">
              <a:spcBef>
                <a:spcPts val="600"/>
              </a:spcBef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dk1"/>
                </a:solidFill>
              </a:rPr>
              <a:t>Каждый этап важен и влияет на исходный результат</a:t>
            </a:r>
          </a:p>
          <a:p>
            <a:pPr marL="457200" lvl="0" indent="-342900">
              <a:spcBef>
                <a:spcPts val="600"/>
              </a:spcBef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dk1"/>
                </a:solidFill>
              </a:rPr>
              <a:t>Нужно оценивать каждый этап и закладывать время на </a:t>
            </a:r>
            <a:r>
              <a:rPr lang="ru-RU" sz="1600" dirty="0" err="1">
                <a:solidFill>
                  <a:schemeClr val="dk1"/>
                </a:solidFill>
              </a:rPr>
              <a:t>факапы</a:t>
            </a:r>
            <a:endParaRPr lang="ru-RU" sz="1600" dirty="0">
              <a:solidFill>
                <a:schemeClr val="dk1"/>
              </a:solidFill>
            </a:endParaRPr>
          </a:p>
          <a:p>
            <a:pPr marL="457200" lvl="0" indent="-342900">
              <a:spcBef>
                <a:spcPts val="600"/>
              </a:spcBef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dk1"/>
                </a:solidFill>
              </a:rPr>
              <a:t>Желательно совмещать проект и модернизировать ИТ инфраструктуру, очищаться от старых данных, пересмотреть концепцию безопасности</a:t>
            </a:r>
          </a:p>
          <a:p>
            <a:pPr marL="457200" lvl="0" indent="-342900">
              <a:spcBef>
                <a:spcPts val="600"/>
              </a:spcBef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dk1"/>
                </a:solidFill>
              </a:rPr>
              <a:t>Тестирование, тестирование и еще раз тестирование!</a:t>
            </a:r>
          </a:p>
        </p:txBody>
      </p:sp>
      <p:cxnSp>
        <p:nvCxnSpPr>
          <p:cNvPr id="17" name="Google Shape;163;p7">
            <a:extLst>
              <a:ext uri="{FF2B5EF4-FFF2-40B4-BE49-F238E27FC236}">
                <a16:creationId xmlns:a16="http://schemas.microsoft.com/office/drawing/2014/main" id="{B1AEA85D-5A18-4718-8025-4D73074CA9F3}"/>
              </a:ext>
            </a:extLst>
          </p:cNvPr>
          <p:cNvCxnSpPr/>
          <p:nvPr/>
        </p:nvCxnSpPr>
        <p:spPr>
          <a:xfrm>
            <a:off x="1774825" y="1513118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" name="Google Shape;163;p7">
            <a:extLst>
              <a:ext uri="{FF2B5EF4-FFF2-40B4-BE49-F238E27FC236}">
                <a16:creationId xmlns:a16="http://schemas.microsoft.com/office/drawing/2014/main" id="{5DD7FBEF-57D5-421D-9D06-70C027ABF850}"/>
              </a:ext>
            </a:extLst>
          </p:cNvPr>
          <p:cNvCxnSpPr/>
          <p:nvPr/>
        </p:nvCxnSpPr>
        <p:spPr>
          <a:xfrm>
            <a:off x="1774825" y="5157751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0095"/>
        </a:solidFill>
        <a:effectLst/>
      </p:bgPr>
    </p:bg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25" descr="Shape, circ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96604" y="5254901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5" descr="Shape, circle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249" y="809625"/>
            <a:ext cx="800100" cy="800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5" name="Google Shape;275;p25"/>
          <p:cNvGrpSpPr/>
          <p:nvPr/>
        </p:nvGrpSpPr>
        <p:grpSpPr>
          <a:xfrm>
            <a:off x="1" y="0"/>
            <a:ext cx="12202649" cy="6858000"/>
            <a:chOff x="0" y="0"/>
            <a:chExt cx="24405297" cy="13716000"/>
          </a:xfrm>
        </p:grpSpPr>
        <p:sp>
          <p:nvSpPr>
            <p:cNvPr id="276" name="Google Shape;276;p25"/>
            <p:cNvSpPr/>
            <p:nvPr/>
          </p:nvSpPr>
          <p:spPr>
            <a:xfrm>
              <a:off x="0" y="6670450"/>
              <a:ext cx="24382799" cy="375100"/>
            </a:xfrm>
            <a:prstGeom prst="rect">
              <a:avLst/>
            </a:prstGeom>
            <a:solidFill>
              <a:srgbClr val="170095"/>
            </a:solidFill>
            <a:ln>
              <a:noFill/>
            </a:ln>
          </p:spPr>
          <p:txBody>
            <a:bodyPr spcFirstLastPara="1" wrap="square" lIns="35700" tIns="35700" rIns="35700" bIns="3570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endParaRPr sz="75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277" name="Google Shape;277;p25" descr="Logo&#10;&#10;Description automatically generated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1728929" y="834956"/>
              <a:ext cx="2146300" cy="146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8" name="Google Shape;278;p25" descr="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7953697" y="7264400"/>
              <a:ext cx="6451600" cy="645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9" name="Google Shape;279;p25" descr="A picture containing shape&#10;&#10;Description automatically generated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 rot="10800000">
              <a:off x="22497" y="0"/>
              <a:ext cx="3238500" cy="3238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0" name="Google Shape;280;p25" descr="Icon&#10;&#10;Description automatically generated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1" name="Google Shape;281;p25" descr="Shape, circle&#10;&#10;Description automatically generated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21204897" y="105219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2" name="Google Shape;282;p25"/>
            <p:cNvSpPr txBox="1"/>
            <p:nvPr/>
          </p:nvSpPr>
          <p:spPr>
            <a:xfrm>
              <a:off x="3260998" y="5445306"/>
              <a:ext cx="16917839" cy="28253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marL="0" indent="0">
                <a:lnSpc>
                  <a:spcPct val="85000"/>
                </a:lnSpc>
                <a:buClr>
                  <a:schemeClr val="lt1"/>
                </a:buClr>
                <a:buSzPts val="5400"/>
                <a:buFont typeface="Arial Black"/>
                <a:buNone/>
                <a:defRPr sz="5400">
                  <a:solidFill>
                    <a:srgbClr val="FFFFFF"/>
                  </a:solidFill>
                  <a:latin typeface="Arial Black"/>
                  <a:ea typeface="Arial Black"/>
                  <a:cs typeface="Arial Black"/>
                </a:defRPr>
              </a:lvl1pPr>
              <a:lvl2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2pPr>
              <a:lvl3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3pPr>
              <a:lvl4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4pPr>
              <a:lvl5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5pPr>
              <a:lvl6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6pPr>
              <a:lvl7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7pPr>
              <a:lvl8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8pPr>
              <a:lvl9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9pPr>
            </a:lstStyle>
            <a:p>
              <a:r>
                <a:rPr lang="ru-RU" dirty="0">
                  <a:sym typeface="Arial Black"/>
                </a:rPr>
                <a:t>ПОДВЕДЕНИЕ </a:t>
              </a:r>
              <a:endParaRPr dirty="0"/>
            </a:p>
            <a:p>
              <a:r>
                <a:rPr lang="ru-RU" dirty="0">
                  <a:sym typeface="Arial Black"/>
                </a:rPr>
                <a:t>ИТОГОВ</a:t>
              </a:r>
              <a:endParaRPr dirty="0">
                <a:sym typeface="Calibri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6"/>
          <p:cNvSpPr txBox="1"/>
          <p:nvPr/>
        </p:nvSpPr>
        <p:spPr>
          <a:xfrm>
            <a:off x="11442668" y="6193270"/>
            <a:ext cx="277640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6"/>
          <p:cNvSpPr/>
          <p:nvPr/>
        </p:nvSpPr>
        <p:spPr>
          <a:xfrm>
            <a:off x="1651000" y="336950"/>
            <a:ext cx="63567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ru-RU" sz="2500" b="0" i="0" u="none" strike="noStrike" cap="none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ИТОГИ ЗАНЯТИЯ</a:t>
            </a:r>
            <a:endParaRPr lang="ru-RU" sz="2500" b="1" i="0" u="none" strike="noStrike" cap="none" dirty="0">
              <a:solidFill>
                <a:srgbClr val="030124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lang="ru-RU" sz="25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290" name="Google Shape;290;p26"/>
          <p:cNvGrpSpPr/>
          <p:nvPr/>
        </p:nvGrpSpPr>
        <p:grpSpPr>
          <a:xfrm>
            <a:off x="0" y="0"/>
            <a:ext cx="1501503" cy="1501503"/>
            <a:chOff x="22497" y="0"/>
            <a:chExt cx="3238500" cy="3238500"/>
          </a:xfrm>
        </p:grpSpPr>
        <p:pic>
          <p:nvPicPr>
            <p:cNvPr id="291" name="Google Shape;291;p26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2" name="Google Shape;292;p26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7" y="0"/>
              <a:ext cx="3238500" cy="3238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3" name="Google Shape;293;p26"/>
          <p:cNvGrpSpPr/>
          <p:nvPr/>
        </p:nvGrpSpPr>
        <p:grpSpPr>
          <a:xfrm>
            <a:off x="9945440" y="4637973"/>
            <a:ext cx="2246560" cy="2246816"/>
            <a:chOff x="19553897" y="8864600"/>
            <a:chExt cx="4851400" cy="4851952"/>
          </a:xfrm>
        </p:grpSpPr>
        <p:pic>
          <p:nvPicPr>
            <p:cNvPr id="294" name="Google Shape;294;p26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5" name="Google Shape;295;p26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6" name="Google Shape;296;p26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97" name="Google Shape;297;p26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298" name="Google Shape;298;p26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99" name="Google Shape;299;p26"/>
              <p:cNvSpPr txBox="1"/>
              <p:nvPr/>
            </p:nvSpPr>
            <p:spPr>
              <a:xfrm>
                <a:off x="21231326" y="12448438"/>
                <a:ext cx="1511670" cy="9761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11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300" name="Google Shape;300;p26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531;g142b2dfbfff_0_351">
            <a:extLst>
              <a:ext uri="{FF2B5EF4-FFF2-40B4-BE49-F238E27FC236}">
                <a16:creationId xmlns:a16="http://schemas.microsoft.com/office/drawing/2014/main" id="{C5FBC46C-1705-4D40-A059-D89370FB4ECD}"/>
              </a:ext>
            </a:extLst>
          </p:cNvPr>
          <p:cNvSpPr/>
          <p:nvPr/>
        </p:nvSpPr>
        <p:spPr>
          <a:xfrm>
            <a:off x="1725839" y="2530986"/>
            <a:ext cx="4108904" cy="1607400"/>
          </a:xfrm>
          <a:prstGeom prst="roundRect">
            <a:avLst>
              <a:gd name="adj" fmla="val 5760"/>
            </a:avLst>
          </a:prstGeom>
          <a:solidFill>
            <a:srgbClr val="0CC596">
              <a:alpha val="20000"/>
            </a:srgbClr>
          </a:solidFill>
          <a:ln>
            <a:noFill/>
          </a:ln>
        </p:spPr>
        <p:txBody>
          <a:bodyPr spcFirstLastPara="1" wrap="square" lIns="180000" tIns="108000" rIns="108000" bIns="144000" anchor="t" anchorCtr="0">
            <a:noAutofit/>
          </a:bodyPr>
          <a:lstStyle/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2800" b="0" i="0" u="none" strike="noStrike" cap="none" dirty="0">
                <a:solidFill>
                  <a:srgbClr val="0CC596"/>
                </a:solidFill>
                <a:sym typeface="Arial"/>
              </a:rPr>
              <a:t>01</a:t>
            </a:r>
            <a:endParaRPr lang="ru-RU" sz="1500" b="0" i="0" u="none" strike="noStrike" cap="none" dirty="0">
              <a:solidFill>
                <a:srgbClr val="0CC596"/>
              </a:solidFill>
              <a:latin typeface="Helvetica Neue"/>
              <a:sym typeface="Helvetica Neue"/>
            </a:endParaRPr>
          </a:p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1800" dirty="0">
                <a:solidFill>
                  <a:schemeClr val="dk1"/>
                </a:solidFill>
              </a:rPr>
              <a:t>Поняли, какие существуют проблемы миграции данных </a:t>
            </a:r>
          </a:p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1800" dirty="0">
                <a:solidFill>
                  <a:schemeClr val="dk1"/>
                </a:solidFill>
              </a:rPr>
              <a:t>из других СУБД</a:t>
            </a:r>
          </a:p>
        </p:txBody>
      </p:sp>
      <p:sp>
        <p:nvSpPr>
          <p:cNvPr id="17" name="Google Shape;532;g142b2dfbfff_0_351">
            <a:extLst>
              <a:ext uri="{FF2B5EF4-FFF2-40B4-BE49-F238E27FC236}">
                <a16:creationId xmlns:a16="http://schemas.microsoft.com/office/drawing/2014/main" id="{150EFE28-48F1-48E9-A725-92A83A97BFC6}"/>
              </a:ext>
            </a:extLst>
          </p:cNvPr>
          <p:cNvSpPr/>
          <p:nvPr/>
        </p:nvSpPr>
        <p:spPr>
          <a:xfrm>
            <a:off x="6239540" y="2530975"/>
            <a:ext cx="3705900" cy="1607400"/>
          </a:xfrm>
          <a:prstGeom prst="roundRect">
            <a:avLst>
              <a:gd name="adj" fmla="val 5215"/>
            </a:avLst>
          </a:prstGeom>
          <a:solidFill>
            <a:srgbClr val="0CC596">
              <a:alpha val="20000"/>
            </a:srgbClr>
          </a:solidFill>
          <a:ln>
            <a:noFill/>
          </a:ln>
        </p:spPr>
        <p:txBody>
          <a:bodyPr spcFirstLastPara="1" wrap="square" lIns="180000" tIns="108000" rIns="108000" bIns="144000" anchor="t" anchorCtr="0">
            <a:noAutofit/>
          </a:bodyPr>
          <a:lstStyle/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2800" b="0" i="0" u="none" strike="noStrike" cap="none" dirty="0">
                <a:solidFill>
                  <a:srgbClr val="0CC596"/>
                </a:solidFill>
                <a:sym typeface="Arial"/>
              </a:rPr>
              <a:t>02</a:t>
            </a:r>
            <a:endParaRPr lang="ru-RU" sz="1500" b="0" i="0" u="none" strike="noStrike" cap="none" dirty="0">
              <a:solidFill>
                <a:srgbClr val="0CC596"/>
              </a:solidFill>
              <a:latin typeface="Helvetica Neue"/>
              <a:sym typeface="Helvetica Neue"/>
            </a:endParaRPr>
          </a:p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1800" dirty="0">
                <a:solidFill>
                  <a:schemeClr val="dk1"/>
                </a:solidFill>
              </a:rPr>
              <a:t>Узнали пути их решения</a:t>
            </a:r>
          </a:p>
        </p:txBody>
      </p:sp>
      <p:pic>
        <p:nvPicPr>
          <p:cNvPr id="18" name="Google Shape;534;g142b2dfbfff_0_351">
            <a:extLst>
              <a:ext uri="{FF2B5EF4-FFF2-40B4-BE49-F238E27FC236}">
                <a16:creationId xmlns:a16="http://schemas.microsoft.com/office/drawing/2014/main" id="{0A8DFDE7-EBFC-47C0-A5C1-B5F2825B56CD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286182" y="2696466"/>
            <a:ext cx="383005" cy="383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535;g142b2dfbfff_0_351">
            <a:extLst>
              <a:ext uri="{FF2B5EF4-FFF2-40B4-BE49-F238E27FC236}">
                <a16:creationId xmlns:a16="http://schemas.microsoft.com/office/drawing/2014/main" id="{534F2590-46C1-4987-84CB-736962AE6F13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372789" y="2696466"/>
            <a:ext cx="383005" cy="38300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0095"/>
        </a:solidFill>
        <a:effectLst/>
      </p:bgPr>
    </p:bg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7"/>
          <p:cNvSpPr/>
          <p:nvPr/>
        </p:nvSpPr>
        <p:spPr>
          <a:xfrm>
            <a:off x="0" y="3323684"/>
            <a:ext cx="12191400" cy="210633"/>
          </a:xfrm>
          <a:prstGeom prst="rect">
            <a:avLst/>
          </a:prstGeom>
          <a:solidFill>
            <a:srgbClr val="170095"/>
          </a:solidFill>
          <a:ln>
            <a:noFill/>
          </a:ln>
        </p:spPr>
        <p:txBody>
          <a:bodyPr spcFirstLastPara="1" wrap="square" lIns="35700" tIns="35700" rIns="35700" bIns="3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08" name="Google Shape;308;p27" descr="Shape, circ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83094" y="605790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27" descr="Shape, circle, rectangle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391300" y="4449796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27" descr="A picture containing background pattern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65700" y="4432300"/>
            <a:ext cx="2425700" cy="2425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7"/>
          <p:cNvSpPr txBox="1"/>
          <p:nvPr/>
        </p:nvSpPr>
        <p:spPr>
          <a:xfrm>
            <a:off x="1721050" y="2934462"/>
            <a:ext cx="7480200" cy="778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00" tIns="35700" rIns="35700" bIns="35700" anchor="t" anchorCtr="0">
            <a:spAutoFit/>
          </a:bodyPr>
          <a:lstStyle/>
          <a:p>
            <a:pPr lvl="0">
              <a:lnSpc>
                <a:spcPct val="85000"/>
              </a:lnSpc>
              <a:buClr>
                <a:schemeClr val="lt1"/>
              </a:buClr>
              <a:buSzPts val="5400"/>
            </a:pPr>
            <a:r>
              <a:rPr lang="ru-RU" sz="5400" dirty="0">
                <a:solidFill>
                  <a:srgbClr val="FFFFFF"/>
                </a:solidFill>
                <a:latin typeface="Arial Black"/>
              </a:rPr>
              <a:t>СПАСИБО!</a:t>
            </a:r>
            <a:endParaRPr sz="5400" dirty="0">
              <a:solidFill>
                <a:srgbClr val="FFFFFF"/>
              </a:solidFill>
              <a:latin typeface="Arial Black"/>
            </a:endParaRPr>
          </a:p>
        </p:txBody>
      </p:sp>
      <p:pic>
        <p:nvPicPr>
          <p:cNvPr id="312" name="Google Shape;312;p27" descr="Shape, circle, rectangle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2975" y="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27" descr="A picture containing shape&#10;&#10;Description automatically generated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10800000">
            <a:off x="0" y="0"/>
            <a:ext cx="1619250" cy="161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27" descr="Shape, circle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0" y="5254901"/>
            <a:ext cx="800100" cy="800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5" name="Google Shape;315;p27"/>
          <p:cNvGrpSpPr/>
          <p:nvPr/>
        </p:nvGrpSpPr>
        <p:grpSpPr>
          <a:xfrm>
            <a:off x="9769698" y="6067243"/>
            <a:ext cx="801286" cy="800100"/>
            <a:chOff x="15228655" y="2672088"/>
            <a:chExt cx="1602572" cy="1600200"/>
          </a:xfrm>
        </p:grpSpPr>
        <p:pic>
          <p:nvPicPr>
            <p:cNvPr id="316" name="Google Shape;316;p27" descr="Shape, circle&#10;&#10;Description automatically generated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15231027" y="2672088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7" name="Google Shape;317;p27"/>
            <p:cNvSpPr txBox="1"/>
            <p:nvPr/>
          </p:nvSpPr>
          <p:spPr>
            <a:xfrm>
              <a:off x="15228655" y="3030724"/>
              <a:ext cx="1511670" cy="8829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700" tIns="35700" rIns="35700" bIns="3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ru-RU" sz="2400" b="0" i="0" u="none" strike="noStrike" cap="none">
                  <a:solidFill>
                    <a:schemeClr val="l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end</a:t>
              </a:r>
              <a:endPara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pic>
        <p:nvPicPr>
          <p:cNvPr id="318" name="Google Shape;318;p27" descr="Logo&#10;&#10;Description automatically generated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27" descr="Shape, circ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0100" y="6038668"/>
            <a:ext cx="800100" cy="80010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1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392</Words>
  <Application>Microsoft Office PowerPoint</Application>
  <PresentationFormat>Широкоэкранный</PresentationFormat>
  <Paragraphs>103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9" baseType="lpstr">
      <vt:lpstr>Helvetica Neue</vt:lpstr>
      <vt:lpstr>Arial Black</vt:lpstr>
      <vt:lpstr>Proxima Nova</vt:lpstr>
      <vt:lpstr>Arial</vt:lpstr>
      <vt:lpstr>Open Sans</vt:lpstr>
      <vt:lpstr>Calibri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Кузьмичев Даниил Михайлович</cp:lastModifiedBy>
  <cp:revision>8</cp:revision>
  <dcterms:modified xsi:type="dcterms:W3CDTF">2022-09-15T10:59:20Z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94CF30D8-42E7-4BA5-9229-D7DD3BBB8D05</vt:lpwstr>
  </property>
  <property fmtid="{D5CDD505-2E9C-101B-9397-08002B2CF9AE}" pid="3" name="ArticulatePath">
    <vt:lpwstr>40 Проблемы и решения</vt:lpwstr>
  </property>
</Properties>
</file>