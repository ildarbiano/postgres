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8BFC"/>
    <a:srgbClr val="836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46F390-0730-43D4-AB14-CFF06BECAD90}">
  <a:tblStyle styleId="{F946F390-0730-43D4-AB14-CFF06BECAD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90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0502478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0502478e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0502478ee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225c374a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225c374a3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225c374a3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225c374a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14225c374a3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14225c374a3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225c374a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225c374a3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14225c374a3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225c374a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14225c374a3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14225c374a3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225c374a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225c374a3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g14225c374a3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hyperlink" Target="https://habr.com/ru/post/254773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B642D623-E773-48E7-A675-AD9DDDE141C9}"/>
              </a:ext>
            </a:extLst>
          </p:cNvPr>
          <p:cNvSpPr txBox="1">
            <a:spLocks/>
          </p:cNvSpPr>
          <p:nvPr/>
        </p:nvSpPr>
        <p:spPr>
          <a:xfrm>
            <a:off x="1622194" y="2685341"/>
            <a:ext cx="57552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7. ВЫПОЛНЕНИЕ ЗАПРОСОВ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819EF293-1A45-4AEF-A5EE-BF1058C10111}"/>
              </a:ext>
            </a:extLst>
          </p:cNvPr>
          <p:cNvSpPr txBox="1">
            <a:spLocks/>
          </p:cNvSpPr>
          <p:nvPr/>
        </p:nvSpPr>
        <p:spPr>
          <a:xfrm>
            <a:off x="1609724" y="3260121"/>
            <a:ext cx="835824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6000"/>
              <a:buFont typeface="Arial Black"/>
              <a:buNone/>
              <a:defRPr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/>
              <a:t>НОРМАЛИЗАЦИЯ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403596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48;p6">
            <a:extLst>
              <a:ext uri="{FF2B5EF4-FFF2-40B4-BE49-F238E27FC236}">
                <a16:creationId xmlns:a16="http://schemas.microsoft.com/office/drawing/2014/main" id="{38553D46-686F-42D4-8522-21CDD215832B}"/>
              </a:ext>
            </a:extLst>
          </p:cNvPr>
          <p:cNvSpPr/>
          <p:nvPr/>
        </p:nvSpPr>
        <p:spPr>
          <a:xfrm>
            <a:off x="5929745" y="2035592"/>
            <a:ext cx="4045276" cy="2377889"/>
          </a:xfrm>
          <a:prstGeom prst="roundRect">
            <a:avLst>
              <a:gd name="adj" fmla="val 5272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80000" tIns="144000" rIns="144000" bIns="18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endParaRPr lang="ru-RU" sz="16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accent6"/>
              </a:buClr>
              <a:buSzPts val="3200"/>
            </a:pPr>
            <a:r>
              <a:rPr lang="ru-RU" sz="1600" dirty="0">
                <a:solidFill>
                  <a:schemeClr val="dk1"/>
                </a:solidFill>
              </a:rPr>
              <a:t>Научиться приводить таблицу </a:t>
            </a:r>
          </a:p>
          <a:p>
            <a:pPr>
              <a:buClr>
                <a:schemeClr val="accent6"/>
              </a:buClr>
              <a:buSzPts val="3200"/>
            </a:pPr>
            <a:r>
              <a:rPr lang="ru-RU" sz="1600" dirty="0">
                <a:solidFill>
                  <a:schemeClr val="dk1"/>
                </a:solidFill>
              </a:rPr>
              <a:t>к 3 нормальной форме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endParaRPr sz="16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49;p6">
            <a:extLst>
              <a:ext uri="{FF2B5EF4-FFF2-40B4-BE49-F238E27FC236}">
                <a16:creationId xmlns:a16="http://schemas.microsoft.com/office/drawing/2014/main" id="{BA0CB8F2-9E6D-49FC-8925-84AB95A99C8A}"/>
              </a:ext>
            </a:extLst>
          </p:cNvPr>
          <p:cNvSpPr/>
          <p:nvPr/>
        </p:nvSpPr>
        <p:spPr>
          <a:xfrm>
            <a:off x="1703387" y="2035592"/>
            <a:ext cx="4045275" cy="2377889"/>
          </a:xfrm>
          <a:prstGeom prst="roundRect">
            <a:avLst>
              <a:gd name="adj" fmla="val 6194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80000" tIns="144000" rIns="144000" bIns="18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48BFC"/>
                </a:solidFill>
                <a:sym typeface="Arial"/>
              </a:rPr>
              <a:t>01</a:t>
            </a:r>
            <a:endParaRPr lang="ru-RU" sz="1500" dirty="0">
              <a:solidFill>
                <a:srgbClr val="148BFC"/>
              </a:solidFill>
              <a:latin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endParaRPr lang="ru-RU" sz="1500" dirty="0">
              <a:solidFill>
                <a:schemeClr val="dk1"/>
              </a:solidFill>
              <a:latin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Понять, что такое нормальные формы и почему это важно для реляционной СУБД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E62E541C-743E-4292-8894-F82D3F4F0DB7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Виды неформальных зон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5502DC0D-286D-4319-83EC-CBA43E8ABB95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0639356F-AAB6-4E4E-A4A8-0B20A6ACD2A2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9F07DAE1-75B5-481B-8757-AFCBF6A806E0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5BBD4446-96A5-4D4E-9E8A-808E7F18B0D6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7BCB998D-6A61-4BCD-A006-5BB237B8CF00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Нормализация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54CFF107-2CE6-4F29-B0E9-C76C542991FB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F904F2F6-ED3D-4A5B-AF15-D0502752D137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D64ADA82-C809-4B7D-8D46-60DC58E8FF7D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654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Нормализация</a:t>
            </a:r>
            <a:endParaRPr sz="3600" b="1" i="0" u="none" strike="noStrike" cap="none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1FDCBA-BE8E-4C17-BAD1-342E66B0F164}"/>
              </a:ext>
            </a:extLst>
          </p:cNvPr>
          <p:cNvSpPr/>
          <p:nvPr/>
        </p:nvSpPr>
        <p:spPr>
          <a:xfrm>
            <a:off x="6417906" y="1762311"/>
            <a:ext cx="438072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600" b="1" dirty="0">
                <a:solidFill>
                  <a:srgbClr val="111111"/>
                </a:solidFill>
                <a:highlight>
                  <a:srgbClr val="FFFFFF"/>
                </a:highlight>
              </a:rPr>
              <a:t>Нормальная форма</a:t>
            </a:r>
          </a:p>
          <a:p>
            <a:pPr lvl="0" algn="just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</a:p>
          <a:p>
            <a:pPr lvl="0" algn="just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— требование, предъявляемое к структуре таблиц в теории реляционных баз данных для устранения из базы избыточных функциональных зависимостей между атрибутами (полями таблиц).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65D7A-50E8-4DB7-A0CC-2DF872A753AF}"/>
              </a:ext>
            </a:extLst>
          </p:cNvPr>
          <p:cNvSpPr txBox="1"/>
          <p:nvPr/>
        </p:nvSpPr>
        <p:spPr>
          <a:xfrm>
            <a:off x="1669661" y="4243319"/>
            <a:ext cx="883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1600" dirty="0">
                <a:solidFill>
                  <a:srgbClr val="111111"/>
                </a:solidFill>
              </a:rPr>
              <a:t>Процесс проектирования БД является итерационным и заключается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ru-RU" sz="1600" dirty="0">
                <a:solidFill>
                  <a:srgbClr val="111111"/>
                </a:solidFill>
              </a:rPr>
              <a:t>в последовательном переводе отношения из 1НФ в НФ более высокого порядка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ru-RU" sz="1600" dirty="0">
                <a:solidFill>
                  <a:srgbClr val="111111"/>
                </a:solidFill>
              </a:rPr>
              <a:t>по определенным правилам. 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4CB4357F-A356-4697-9238-0D4733A281C3}"/>
              </a:ext>
            </a:extLst>
          </p:cNvPr>
          <p:cNvCxnSpPr/>
          <p:nvPr/>
        </p:nvCxnSpPr>
        <p:spPr>
          <a:xfrm>
            <a:off x="1774825" y="393837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959F3F-3626-4AF0-A22C-D79B7EBEF6A9}"/>
              </a:ext>
            </a:extLst>
          </p:cNvPr>
          <p:cNvSpPr/>
          <p:nvPr/>
        </p:nvSpPr>
        <p:spPr>
          <a:xfrm>
            <a:off x="1669661" y="1763442"/>
            <a:ext cx="44628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solidFill>
                  <a:srgbClr val="111111"/>
                </a:solidFill>
                <a:highlight>
                  <a:srgbClr val="FFFFFF"/>
                </a:highlight>
              </a:rPr>
              <a:t>Цель нормализации</a:t>
            </a:r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:</a:t>
            </a:r>
          </a:p>
          <a:p>
            <a:pPr lvl="0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</a:p>
          <a:p>
            <a:pPr lvl="0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исключить избыточное дублирование данных, которое является возможной причиной аномалий, возникших при добавлении, редактировании и удалении кортежей(строк таблицы).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65722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ВИДЫ НОРМАЛЬНЫХ ФОРМ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544126-15D4-44BB-B33E-559E16405BF1}"/>
              </a:ext>
            </a:extLst>
          </p:cNvPr>
          <p:cNvSpPr txBox="1"/>
          <p:nvPr/>
        </p:nvSpPr>
        <p:spPr>
          <a:xfrm>
            <a:off x="1706400" y="3232514"/>
            <a:ext cx="64235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На практике используются только первые 3 нормальные формы.</a:t>
            </a:r>
          </a:p>
          <a:p>
            <a:pPr lvl="0" algn="just"/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Рассмотрим их и методы приведения таблиц в эти формы.</a:t>
            </a:r>
          </a:p>
          <a:p>
            <a:pPr lvl="0" algn="just"/>
            <a:endParaRPr lang="ru-RU" sz="160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lvl="0" algn="just"/>
            <a:r>
              <a:rPr lang="ru-RU" sz="1600" u="sng" dirty="0">
                <a:solidFill>
                  <a:schemeClr val="hlink"/>
                </a:solidFill>
                <a:highlight>
                  <a:srgbClr val="FFFFFF"/>
                </a:highlight>
                <a:hlinkClick r:id="rId10"/>
              </a:rPr>
              <a:t>Нормализация отношений. Шесть нормальных форм / </a:t>
            </a:r>
            <a:r>
              <a:rPr lang="ru-RU" sz="1600" u="sng" dirty="0" err="1">
                <a:solidFill>
                  <a:schemeClr val="hlink"/>
                </a:solidFill>
                <a:highlight>
                  <a:srgbClr val="FFFFFF"/>
                </a:highlight>
                <a:hlinkClick r:id="rId10"/>
              </a:rPr>
              <a:t>Хабр</a:t>
            </a:r>
            <a:r>
              <a:rPr lang="ru-RU" sz="1600" dirty="0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228BF083-7D90-4512-A2EB-0357A5157187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1E7158F0-20F6-4419-978D-3DDD80F23068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372;p43">
            <a:extLst>
              <a:ext uri="{FF2B5EF4-FFF2-40B4-BE49-F238E27FC236}">
                <a16:creationId xmlns:a16="http://schemas.microsoft.com/office/drawing/2014/main" id="{DB9C1F0B-31AC-47D9-A8CD-92209C65716E}"/>
              </a:ext>
            </a:extLst>
          </p:cNvPr>
          <p:cNvSpPr/>
          <p:nvPr/>
        </p:nvSpPr>
        <p:spPr>
          <a:xfrm>
            <a:off x="1706400" y="2300973"/>
            <a:ext cx="8497200" cy="717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lvl="0" algn="just"/>
            <a:r>
              <a:rPr lang="ru-RU" dirty="0">
                <a:solidFill>
                  <a:srgbClr val="111111"/>
                </a:solidFill>
              </a:rPr>
              <a:t>Всего существует 6 нормальных форм</a:t>
            </a:r>
          </a:p>
        </p:txBody>
      </p:sp>
      <p:pic>
        <p:nvPicPr>
          <p:cNvPr id="23" name="Google Shape;373;p43">
            <a:extLst>
              <a:ext uri="{FF2B5EF4-FFF2-40B4-BE49-F238E27FC236}">
                <a16:creationId xmlns:a16="http://schemas.microsoft.com/office/drawing/2014/main" id="{D3AF5E1B-4F27-4E29-9C76-28C8E0A50E3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29020" y="2401337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5;p11">
            <a:extLst>
              <a:ext uri="{FF2B5EF4-FFF2-40B4-BE49-F238E27FC236}">
                <a16:creationId xmlns:a16="http://schemas.microsoft.com/office/drawing/2014/main" id="{2C144BFB-D5FC-437A-8ABA-C1ED70F328C3}"/>
              </a:ext>
            </a:extLst>
          </p:cNvPr>
          <p:cNvSpPr/>
          <p:nvPr/>
        </p:nvSpPr>
        <p:spPr>
          <a:xfrm>
            <a:off x="1689101" y="1583309"/>
            <a:ext cx="8889906" cy="3403557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4" name="Google Shape;204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7" name="Google Shape;207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" name="Google Shape;210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1" name="Google Shape;211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" name="Google Shape;212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3" name="Google Shape;213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1 НОРМАЛЬНАЯ ФОРМА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10397" y="1879411"/>
            <a:ext cx="8447314" cy="281135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5;p11">
            <a:extLst>
              <a:ext uri="{FF2B5EF4-FFF2-40B4-BE49-F238E27FC236}">
                <a16:creationId xmlns:a16="http://schemas.microsoft.com/office/drawing/2014/main" id="{7FDF6771-756C-4C7D-9531-E749315DEF90}"/>
              </a:ext>
            </a:extLst>
          </p:cNvPr>
          <p:cNvSpPr/>
          <p:nvPr/>
        </p:nvSpPr>
        <p:spPr>
          <a:xfrm>
            <a:off x="1689101" y="1041601"/>
            <a:ext cx="8889906" cy="4755819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5" name="Google Shape;225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8" name="Google Shape;228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1" name="Google Shape;231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2" name="Google Shape;232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4" name="Google Shape;234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2 НОРМАЛЬНАЯ ФОРМА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38" name="Google Shape;23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76874" y="1361677"/>
            <a:ext cx="7089645" cy="411566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6" name="Google Shape;246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49" name="Google Shape;249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2" name="Google Shape;252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3" name="Google Shape;253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4" name="Google Shape;254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5" name="Google Shape;255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1651000" y="336951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3 НОРМАЛЬНАЯ ФОРМА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" name="Google Shape;225;p11">
            <a:extLst>
              <a:ext uri="{FF2B5EF4-FFF2-40B4-BE49-F238E27FC236}">
                <a16:creationId xmlns:a16="http://schemas.microsoft.com/office/drawing/2014/main" id="{A6202AAB-88AD-41EC-A57A-9AC856D43C10}"/>
              </a:ext>
            </a:extLst>
          </p:cNvPr>
          <p:cNvSpPr/>
          <p:nvPr/>
        </p:nvSpPr>
        <p:spPr>
          <a:xfrm>
            <a:off x="1689101" y="1041601"/>
            <a:ext cx="8889906" cy="4755819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68370" y="1605507"/>
            <a:ext cx="8531368" cy="348487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67" name="Google Shape;267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0" name="Google Shape;270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3" name="Google Shape;273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4" name="Google Shape;274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6" name="Google Shape;276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РЕШИМ ЗАДАЧУ НА ПРАКТИКЕ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280" name="Google Shape;280;p24"/>
          <p:cNvGraphicFramePr/>
          <p:nvPr>
            <p:extLst>
              <p:ext uri="{D42A27DB-BD31-4B8C-83A1-F6EECF244321}">
                <p14:modId xmlns:p14="http://schemas.microsoft.com/office/powerpoint/2010/main" val="3234342942"/>
              </p:ext>
            </p:extLst>
          </p:nvPr>
        </p:nvGraphicFramePr>
        <p:xfrm>
          <a:off x="1774825" y="1487064"/>
          <a:ext cx="9117112" cy="3533551"/>
        </p:xfrm>
        <a:graphic>
          <a:graphicData uri="http://schemas.openxmlformats.org/drawingml/2006/table">
            <a:tbl>
              <a:tblPr>
                <a:noFill/>
                <a:tableStyleId>{F946F390-0730-43D4-AB14-CFF06BECAD90}</a:tableStyleId>
              </a:tblPr>
              <a:tblGrid>
                <a:gridCol w="2279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901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Фирма производитель</a:t>
                      </a:r>
                      <a:endParaRPr b="1" dirty="0"/>
                    </a:p>
                  </a:txBody>
                  <a:tcPr marL="91425" marR="91425" marT="91425" marB="914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Модель телефона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solidFill>
                            <a:schemeClr val="dk1"/>
                          </a:solidFill>
                        </a:rPr>
                        <a:t>Дилер фирмы производителя и его номер телефона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Скидка (зависит от производителя)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8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err="1"/>
                        <a:t>Apple</a:t>
                      </a:r>
                      <a:endParaRPr dirty="0"/>
                    </a:p>
                  </a:txBody>
                  <a:tcPr marL="91425" marR="91425" marT="91425" marB="914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Iphone13, Iphone14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Svyaznoi (8-800), MTC (100-500)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5%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5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Xiaomi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Mi11, Mi12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MTC (100-500)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10%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5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88" name="Google Shape;288;p25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89" name="Google Shape;289;p25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5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25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5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5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5"/>
            <p:cNvSpPr txBox="1"/>
            <p:nvPr/>
          </p:nvSpPr>
          <p:spPr>
            <a:xfrm>
              <a:off x="3475466" y="5475890"/>
              <a:ext cx="16917839" cy="3139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6000"/>
                <a:buFont typeface="Arial Black"/>
                <a:buNone/>
                <a:defRPr sz="60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02" name="Google Shape;302;p26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03" name="Google Shape;303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26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06" name="Google Shape;306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9" name="Google Shape;309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10" name="Google Shape;310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26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12" name="Google Shape;312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8;p53">
            <a:extLst>
              <a:ext uri="{FF2B5EF4-FFF2-40B4-BE49-F238E27FC236}">
                <a16:creationId xmlns:a16="http://schemas.microsoft.com/office/drawing/2014/main" id="{04E987C8-AAFA-43B9-AB31-3046839906E1}"/>
              </a:ext>
            </a:extLst>
          </p:cNvPr>
          <p:cNvSpPr/>
          <p:nvPr/>
        </p:nvSpPr>
        <p:spPr>
          <a:xfrm>
            <a:off x="1774824" y="2377374"/>
            <a:ext cx="3817323" cy="1951500"/>
          </a:xfrm>
          <a:prstGeom prst="roundRect">
            <a:avLst>
              <a:gd name="adj" fmla="val 5760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0C492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0C492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endParaRPr lang="ru-RU" sz="1500" dirty="0">
              <a:solidFill>
                <a:srgbClr val="00C492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Поняли,  что такое нормальные формы и почему это важно для реляционной СУБД</a:t>
            </a:r>
          </a:p>
        </p:txBody>
      </p:sp>
      <p:pic>
        <p:nvPicPr>
          <p:cNvPr id="17" name="Google Shape;510;p53">
            <a:extLst>
              <a:ext uri="{FF2B5EF4-FFF2-40B4-BE49-F238E27FC236}">
                <a16:creationId xmlns:a16="http://schemas.microsoft.com/office/drawing/2014/main" id="{06746D96-A46C-4110-B6B2-9F8B25C9D5A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68924" y="2542865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508;p53">
            <a:extLst>
              <a:ext uri="{FF2B5EF4-FFF2-40B4-BE49-F238E27FC236}">
                <a16:creationId xmlns:a16="http://schemas.microsoft.com/office/drawing/2014/main" id="{E5EE83E3-23C6-4A0A-B4D8-376FD935AD4D}"/>
              </a:ext>
            </a:extLst>
          </p:cNvPr>
          <p:cNvSpPr/>
          <p:nvPr/>
        </p:nvSpPr>
        <p:spPr>
          <a:xfrm>
            <a:off x="6128117" y="2377374"/>
            <a:ext cx="3817323" cy="1951500"/>
          </a:xfrm>
          <a:prstGeom prst="roundRect">
            <a:avLst>
              <a:gd name="adj" fmla="val 5760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0C492"/>
                </a:solidFill>
                <a:sym typeface="Arial"/>
              </a:rPr>
              <a:t>0</a:t>
            </a:r>
            <a:r>
              <a:rPr lang="en-US" sz="2800" b="0" i="0" u="none" strike="noStrike" cap="none" dirty="0">
                <a:solidFill>
                  <a:srgbClr val="00C492"/>
                </a:solidFill>
                <a:sym typeface="Arial"/>
              </a:rPr>
              <a:t>2</a:t>
            </a:r>
            <a:endParaRPr lang="ru-RU" sz="1500" b="0" i="0" u="none" strike="noStrike" cap="none" dirty="0">
              <a:solidFill>
                <a:srgbClr val="00C492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endParaRPr lang="ru-RU" sz="1500" dirty="0">
              <a:solidFill>
                <a:srgbClr val="00C492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Научились приводить таблицу </a:t>
            </a:r>
            <a:endParaRPr lang="en-US" sz="1600" dirty="0">
              <a:solidFill>
                <a:schemeClr val="dk1"/>
              </a:solidFill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к 3 нормальной форме</a:t>
            </a:r>
          </a:p>
        </p:txBody>
      </p:sp>
      <p:pic>
        <p:nvPicPr>
          <p:cNvPr id="19" name="Google Shape;510;p53">
            <a:extLst>
              <a:ext uri="{FF2B5EF4-FFF2-40B4-BE49-F238E27FC236}">
                <a16:creationId xmlns:a16="http://schemas.microsoft.com/office/drawing/2014/main" id="{2F8F0D10-4D3E-49FD-BAAD-86F46CFA063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22217" y="2542865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ЗАДАНИЕ ДЛЯ САМОПРОВЕРКИ</a:t>
            </a:r>
          </a:p>
        </p:txBody>
      </p:sp>
      <p:grpSp>
        <p:nvGrpSpPr>
          <p:cNvPr id="321" name="Google Shape;321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22" name="Google Shape;322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25" name="Google Shape;325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8" name="Google Shape;328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29" name="Google Shape;329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0" name="Google Shape;330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31" name="Google Shape;331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/>
          <p:nvPr/>
        </p:nvSpPr>
        <p:spPr>
          <a:xfrm>
            <a:off x="1719424" y="977185"/>
            <a:ext cx="4886649" cy="60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Нормализовать таблицу к 3 нормальной форме</a:t>
            </a:r>
            <a:endParaRPr sz="1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graphicFrame>
        <p:nvGraphicFramePr>
          <p:cNvPr id="333" name="Google Shape;333;p27"/>
          <p:cNvGraphicFramePr/>
          <p:nvPr>
            <p:extLst>
              <p:ext uri="{D42A27DB-BD31-4B8C-83A1-F6EECF244321}">
                <p14:modId xmlns:p14="http://schemas.microsoft.com/office/powerpoint/2010/main" val="1089852565"/>
              </p:ext>
            </p:extLst>
          </p:nvPr>
        </p:nvGraphicFramePr>
        <p:xfrm>
          <a:off x="1774824" y="2680293"/>
          <a:ext cx="8787776" cy="2246679"/>
        </p:xfrm>
        <a:graphic>
          <a:graphicData uri="http://schemas.openxmlformats.org/drawingml/2006/table">
            <a:tbl>
              <a:tblPr>
                <a:noFill/>
                <a:tableStyleId>{F946F390-0730-43D4-AB14-CFF06BECAD90}</a:tableStyleId>
              </a:tblPr>
              <a:tblGrid>
                <a:gridCol w="219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53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Фирма производитель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Модель авто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/>
                        <a:t>Дилер фирмы производителя и его номер телефона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Скидка (зависит от производителя)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BMW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X6, X7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BMW (8-800), MEGA (100-500)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2%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8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6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AUDI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Q3, Q5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AUDI (7-700), MEGA (100-500)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3%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EA51A3-7447-40AA-A829-46EF4C16D816}"/>
              </a:ext>
            </a:extLst>
          </p:cNvPr>
          <p:cNvSpPr/>
          <p:nvPr/>
        </p:nvSpPr>
        <p:spPr>
          <a:xfrm>
            <a:off x="1675880" y="5077213"/>
            <a:ext cx="7085395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 startAt="2"/>
            </a:pPr>
            <a:r>
              <a:rPr lang="ru-RU" sz="1600" dirty="0">
                <a:solidFill>
                  <a:schemeClr val="dk1"/>
                </a:solidFill>
              </a:rPr>
              <a:t>Разделить на нужное количество таблиц в 3 нормальной форме </a:t>
            </a:r>
          </a:p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 startAt="2"/>
            </a:pPr>
            <a:r>
              <a:rPr lang="ru-RU" sz="1600" dirty="0">
                <a:solidFill>
                  <a:schemeClr val="dk1"/>
                </a:solidFill>
              </a:rPr>
              <a:t>Создать эти таблицы. Эталонное решение приложено к уроку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C2D0084-903D-424B-83A2-120B612A15D1}"/>
              </a:ext>
            </a:extLst>
          </p:cNvPr>
          <p:cNvSpPr/>
          <p:nvPr/>
        </p:nvSpPr>
        <p:spPr>
          <a:xfrm>
            <a:off x="1719424" y="1763885"/>
            <a:ext cx="6096000" cy="6617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ts val="600"/>
              </a:spcBef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Взять за основу таблицу ниже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7CB5F3-8FB0-4DE9-A2F9-34D01E88C9C6}"/>
              </a:ext>
            </a:extLst>
          </p:cNvPr>
          <p:cNvSpPr/>
          <p:nvPr/>
        </p:nvSpPr>
        <p:spPr>
          <a:xfrm>
            <a:off x="1651000" y="5889174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5DEAB2DD-59BD-4EF9-951A-F5DBEB1AB278}"/>
              </a:ext>
            </a:extLst>
          </p:cNvPr>
          <p:cNvCxnSpPr/>
          <p:nvPr/>
        </p:nvCxnSpPr>
        <p:spPr>
          <a:xfrm>
            <a:off x="1774825" y="1644173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0" name="Google Shape;340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 txBox="1"/>
          <p:nvPr/>
        </p:nvSpPr>
        <p:spPr>
          <a:xfrm>
            <a:off x="1721050" y="2992223"/>
            <a:ext cx="8044650" cy="23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600" dirty="0">
                <a:solidFill>
                  <a:schemeClr val="lt1"/>
                </a:solidFill>
              </a:rPr>
              <a:t>рассмотрим новый блок Индексы, включающий темы</a:t>
            </a:r>
            <a:r>
              <a:rPr lang="ru-RU" sz="1600" i="0" u="none" strike="noStrike" cap="none" dirty="0">
                <a:solidFill>
                  <a:schemeClr val="lt1"/>
                </a:solidFill>
              </a:rPr>
              <a:t>:</a:t>
            </a: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Виды, плюсы и минусы использования индексов</a:t>
            </a:r>
            <a:endParaRPr sz="16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B-</a:t>
            </a:r>
            <a:r>
              <a:rPr lang="ru-RU" sz="1600" dirty="0" err="1">
                <a:solidFill>
                  <a:schemeClr val="lt1"/>
                </a:solidFill>
              </a:rPr>
              <a:t>tree</a:t>
            </a:r>
            <a:endParaRPr sz="16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Составной индекс, по выражениям и частичный</a:t>
            </a:r>
            <a:endParaRPr sz="16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Полнотекстовый поиск</a:t>
            </a:r>
            <a:endParaRPr sz="16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Статистика</a:t>
            </a:r>
            <a:endParaRPr sz="16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lt1"/>
                </a:solidFill>
              </a:rPr>
              <a:t>Обслуживание индексов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344" name="Google Shape;344;p28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28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48" name="Google Shape;348;p28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28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50" name="Google Shape;350;p28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343;p28">
            <a:extLst>
              <a:ext uri="{FF2B5EF4-FFF2-40B4-BE49-F238E27FC236}">
                <a16:creationId xmlns:a16="http://schemas.microsoft.com/office/drawing/2014/main" id="{ECF0D760-8E59-4A7E-A559-13D657161439}"/>
              </a:ext>
            </a:extLst>
          </p:cNvPr>
          <p:cNvSpPr txBox="1"/>
          <p:nvPr/>
        </p:nvSpPr>
        <p:spPr>
          <a:xfrm>
            <a:off x="1721050" y="2104372"/>
            <a:ext cx="748020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85000"/>
              </a:lnSpc>
              <a:buClr>
                <a:schemeClr val="lt1"/>
              </a:buClr>
              <a:buSzPts val="6000"/>
              <a:buFont typeface="Arial Black"/>
              <a:buNone/>
              <a:defRPr sz="6000">
                <a:solidFill>
                  <a:schemeClr val="lt1"/>
                </a:solidFill>
                <a:latin typeface="Arial Black"/>
                <a:ea typeface="Arial Black"/>
                <a:cs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</a:defRPr>
            </a:lvl9pPr>
          </a:lstStyle>
          <a:p>
            <a:r>
              <a:rPr lang="ru-RU" dirty="0"/>
              <a:t>СПАСИБО!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386</Words>
  <Application>Microsoft Office PowerPoint</Application>
  <PresentationFormat>Широкоэкранный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Helvetica Neue</vt:lpstr>
      <vt:lpstr>Open Sans</vt:lpstr>
      <vt:lpstr>Proxima Nova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12</cp:revision>
  <dcterms:modified xsi:type="dcterms:W3CDTF">2022-08-29T14:45:31Z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859B47A9-1CC9-4D97-9DF0-6D61C7ABC727</vt:lpwstr>
  </property>
  <property fmtid="{D5CDD505-2E9C-101B-9397-08002B2CF9AE}" pid="3" name="ArticulatePath">
    <vt:lpwstr>23 Нормализация</vt:lpwstr>
  </property>
</Properties>
</file>