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8"/>
  </p:notesMasterIdLst>
  <p:sldIdLst>
    <p:sldId id="256" r:id="rId2"/>
    <p:sldId id="257" r:id="rId3"/>
    <p:sldId id="272" r:id="rId4"/>
    <p:sldId id="273" r:id="rId5"/>
    <p:sldId id="260" r:id="rId6"/>
    <p:sldId id="274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1" r:id="rId17"/>
  </p:sldIdLst>
  <p:sldSz cx="12192000" cy="6858000"/>
  <p:notesSz cx="6858000" cy="9144000"/>
  <p:custDataLst>
    <p:tags r:id="rId1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AFF"/>
    <a:srgbClr val="00C492"/>
    <a:srgbClr val="CCF3E9"/>
    <a:srgbClr val="138AFB"/>
    <a:srgbClr val="0042C5"/>
    <a:srgbClr val="836ED3"/>
    <a:srgbClr val="E5E0F6"/>
    <a:srgbClr val="00C391"/>
    <a:srgbClr val="00C2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70" autoAdjust="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3604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0502478e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0502478ee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0502478ee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6640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41fce54f03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141fce54f03_0_2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141fce54f03_0_2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1fce54f03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1fce54f03_0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141fce54f03_0_1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5443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41fce54f03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141fce54f03_0_2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2" name="Google Shape;222;g141fce54f03_0_2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41fce54f03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141fce54f03_0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g141fce54f03_0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41fce54f03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141fce54f03_0_2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141fce54f03_0_2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41fce54f03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g141fce54f03_0_3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g141fce54f03_0_3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41fce54f03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141fce54f03_0_3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g141fce54f03_0_3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41fce54f0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141fce54f03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141fce54f03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1207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hyperlink" Target="https://postgrespro.ru/docs/postgresql/14/datatype-numeric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11" Type="http://schemas.openxmlformats.org/officeDocument/2006/relationships/hyperlink" Target="https://habr.com/ru/company/tensor/blog/508038/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postgrespro.ru/docs/postgresql/14/datatype-money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11" Type="http://schemas.openxmlformats.org/officeDocument/2006/relationships/image" Target="../media/image16.png"/><Relationship Id="rId5" Type="http://schemas.openxmlformats.org/officeDocument/2006/relationships/image" Target="../media/image5.png"/><Relationship Id="rId10" Type="http://schemas.openxmlformats.org/officeDocument/2006/relationships/hyperlink" Target="https://postgrespro.ru/docs/postgresql/14/datatype-character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hyperlink" Target="https://postgrespro.ru/docs/postgresql/14/datatype-datetime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postgrespro.ru/docs/postgresql/14/datatype-boolean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postgrespro.ru/docs/postgresql/14/datatype-json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png"/><Relationship Id="rId11" Type="http://schemas.openxmlformats.org/officeDocument/2006/relationships/hyperlink" Target="https://postgrespro.ru/docs/postgresql/14/functions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postgrespro.ru/docs/postgresql/14/typeconv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76C26F0F-609D-462F-A48B-70B3836F3B67}"/>
              </a:ext>
            </a:extLst>
          </p:cNvPr>
          <p:cNvSpPr txBox="1">
            <a:spLocks/>
          </p:cNvSpPr>
          <p:nvPr/>
        </p:nvSpPr>
        <p:spPr>
          <a:xfrm>
            <a:off x="1622194" y="2923360"/>
            <a:ext cx="6308826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r>
              <a:rPr lang="ru-RU" dirty="0"/>
              <a:t>БЛОК </a:t>
            </a:r>
            <a:r>
              <a:rPr lang="en-US" dirty="0"/>
              <a:t>6</a:t>
            </a:r>
            <a:r>
              <a:rPr lang="ru-RU" dirty="0"/>
              <a:t>. ВЫПОЛНЕНИЕ ЗАПРОСОВ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3B880345-4897-4E69-B7AE-843F06FF3C30}"/>
              </a:ext>
            </a:extLst>
          </p:cNvPr>
          <p:cNvSpPr txBox="1">
            <a:spLocks/>
          </p:cNvSpPr>
          <p:nvPr/>
        </p:nvSpPr>
        <p:spPr>
          <a:xfrm>
            <a:off x="1609724" y="3498140"/>
            <a:ext cx="8358240" cy="70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/>
              <a:t>ТИПЫ ДАННЫХ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6068" y="397696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7255536" y="2870582"/>
            <a:ext cx="3448698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какие существуют типы данных и в каком случае правильно применять тот или иной тип данных, в т.ч. JSONB, денежные типы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0" name="Google Shape;91;p2">
            <a:extLst>
              <a:ext uri="{FF2B5EF4-FFF2-40B4-BE49-F238E27FC236}">
                <a16:creationId xmlns:a16="http://schemas.microsoft.com/office/drawing/2014/main" id="{5EBFB4A3-EA36-48CB-A5EC-3FD96AFB912C}"/>
              </a:ext>
            </a:extLst>
          </p:cNvPr>
          <p:cNvSpPr/>
          <p:nvPr/>
        </p:nvSpPr>
        <p:spPr>
          <a:xfrm>
            <a:off x="1703388" y="1338994"/>
            <a:ext cx="5089298" cy="4313202"/>
          </a:xfrm>
          <a:prstGeom prst="roundRect">
            <a:avLst>
              <a:gd name="adj" fmla="val 3341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69660" y="35561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01;p3">
            <a:extLst>
              <a:ext uri="{FF2B5EF4-FFF2-40B4-BE49-F238E27FC236}">
                <a16:creationId xmlns:a16="http://schemas.microsoft.com/office/drawing/2014/main" id="{28DE659B-AEAF-47AA-B3BB-BA3BA15EB8ED}"/>
              </a:ext>
            </a:extLst>
          </p:cNvPr>
          <p:cNvSpPr/>
          <p:nvPr/>
        </p:nvSpPr>
        <p:spPr>
          <a:xfrm>
            <a:off x="2863612" y="3517449"/>
            <a:ext cx="31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Денежные типы данных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2;p3">
            <a:extLst>
              <a:ext uri="{FF2B5EF4-FFF2-40B4-BE49-F238E27FC236}">
                <a16:creationId xmlns:a16="http://schemas.microsoft.com/office/drawing/2014/main" id="{6053094F-D258-4225-9992-2B116431531A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103;p3">
            <a:extLst>
              <a:ext uri="{FF2B5EF4-FFF2-40B4-BE49-F238E27FC236}">
                <a16:creationId xmlns:a16="http://schemas.microsoft.com/office/drawing/2014/main" id="{FD45FA10-6ACF-4AB2-9501-1299DA5C21F7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4;p3">
            <a:extLst>
              <a:ext uri="{FF2B5EF4-FFF2-40B4-BE49-F238E27FC236}">
                <a16:creationId xmlns:a16="http://schemas.microsoft.com/office/drawing/2014/main" id="{DB5080FB-2767-465C-BBFD-6B97C35A0C47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5;p3">
            <a:extLst>
              <a:ext uri="{FF2B5EF4-FFF2-40B4-BE49-F238E27FC236}">
                <a16:creationId xmlns:a16="http://schemas.microsoft.com/office/drawing/2014/main" id="{30901F96-141E-41FF-AE45-2E64E4D92B46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106;p3">
            <a:extLst>
              <a:ext uri="{FF2B5EF4-FFF2-40B4-BE49-F238E27FC236}">
                <a16:creationId xmlns:a16="http://schemas.microsoft.com/office/drawing/2014/main" id="{65A46D18-9DD4-4A5A-AD72-51E5759D2FCC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Типы данных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107;p3">
            <a:extLst>
              <a:ext uri="{FF2B5EF4-FFF2-40B4-BE49-F238E27FC236}">
                <a16:creationId xmlns:a16="http://schemas.microsoft.com/office/drawing/2014/main" id="{ACF7900F-63B1-45EC-879E-79566F277F75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108;p3">
            <a:extLst>
              <a:ext uri="{FF2B5EF4-FFF2-40B4-BE49-F238E27FC236}">
                <a16:creationId xmlns:a16="http://schemas.microsoft.com/office/drawing/2014/main" id="{63AB6A5D-77C2-4A52-8AC9-1AEAD326CE5C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54;p41">
            <a:extLst>
              <a:ext uri="{FF2B5EF4-FFF2-40B4-BE49-F238E27FC236}">
                <a16:creationId xmlns:a16="http://schemas.microsoft.com/office/drawing/2014/main" id="{A020F138-A595-43BF-A0CC-9F0BDE0854C7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7033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25;p11">
            <a:extLst>
              <a:ext uri="{FF2B5EF4-FFF2-40B4-BE49-F238E27FC236}">
                <a16:creationId xmlns:a16="http://schemas.microsoft.com/office/drawing/2014/main" id="{6B59104A-CBEE-406B-930D-6ACCFB4105BF}"/>
              </a:ext>
            </a:extLst>
          </p:cNvPr>
          <p:cNvSpPr/>
          <p:nvPr/>
        </p:nvSpPr>
        <p:spPr>
          <a:xfrm>
            <a:off x="1782716" y="1806529"/>
            <a:ext cx="3916264" cy="2782486"/>
          </a:xfrm>
          <a:prstGeom prst="roundRect">
            <a:avLst>
              <a:gd name="adj" fmla="val 5760"/>
            </a:avLst>
          </a:prstGeom>
          <a:solidFill>
            <a:srgbClr val="D0DBFE"/>
          </a:solidFill>
          <a:ln>
            <a:noFill/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" name="Google Shape;226;p11">
            <a:extLst>
              <a:ext uri="{FF2B5EF4-FFF2-40B4-BE49-F238E27FC236}">
                <a16:creationId xmlns:a16="http://schemas.microsoft.com/office/drawing/2014/main" id="{607318C3-5CBC-4B9B-80FB-574B2FCF897D}"/>
              </a:ext>
            </a:extLst>
          </p:cNvPr>
          <p:cNvSpPr/>
          <p:nvPr/>
        </p:nvSpPr>
        <p:spPr>
          <a:xfrm>
            <a:off x="6096000" y="1806528"/>
            <a:ext cx="4860989" cy="2782485"/>
          </a:xfrm>
          <a:prstGeom prst="roundRect">
            <a:avLst>
              <a:gd name="adj" fmla="val 5215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ТИПЫ ДАННЫХ </a:t>
            </a: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POSTGRESQL</a:t>
            </a:r>
            <a:endParaRPr lang="en-US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854954" y="1960166"/>
            <a:ext cx="3946590" cy="143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</a:rPr>
              <a:t>Посмотрим сколько всего типов данных в </a:t>
            </a:r>
            <a:r>
              <a:rPr lang="ru-RU" sz="1600" b="1" dirty="0" err="1">
                <a:solidFill>
                  <a:schemeClr val="dk1"/>
                </a:solidFill>
              </a:rPr>
              <a:t>Постгрес</a:t>
            </a:r>
            <a:r>
              <a:rPr lang="ru-RU" sz="1600" b="1" dirty="0">
                <a:solidFill>
                  <a:schemeClr val="dk1"/>
                </a:solidFill>
              </a:rPr>
              <a:t>:</a:t>
            </a:r>
            <a:endParaRPr lang="en-US" sz="1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dk1"/>
                </a:solidFill>
              </a:rPr>
              <a:t>select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dirty="0" err="1">
                <a:solidFill>
                  <a:schemeClr val="dk1"/>
                </a:solidFill>
              </a:rPr>
              <a:t>count</a:t>
            </a:r>
            <a:r>
              <a:rPr lang="ru-RU" sz="1600" dirty="0">
                <a:solidFill>
                  <a:schemeClr val="dk1"/>
                </a:solidFill>
              </a:rPr>
              <a:t>(*) </a:t>
            </a:r>
            <a:r>
              <a:rPr lang="ru-RU" sz="1600" dirty="0" err="1">
                <a:solidFill>
                  <a:schemeClr val="dk1"/>
                </a:solidFill>
              </a:rPr>
              <a:t>from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dirty="0" err="1">
                <a:solidFill>
                  <a:schemeClr val="dk1"/>
                </a:solidFill>
              </a:rPr>
              <a:t>pg_type</a:t>
            </a:r>
            <a:r>
              <a:rPr lang="ru-RU" sz="1600" dirty="0">
                <a:solidFill>
                  <a:schemeClr val="dk1"/>
                </a:solidFill>
              </a:rPr>
              <a:t>;</a:t>
            </a:r>
            <a:endParaRPr sz="1600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600+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A6EC731-29A6-4A89-9251-67561B442631}"/>
              </a:ext>
            </a:extLst>
          </p:cNvPr>
          <p:cNvSpPr/>
          <p:nvPr/>
        </p:nvSpPr>
        <p:spPr>
          <a:xfrm>
            <a:off x="6212091" y="1960166"/>
            <a:ext cx="434806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b="1" dirty="0">
                <a:solidFill>
                  <a:schemeClr val="dk1"/>
                </a:solidFill>
              </a:rPr>
              <a:t>Основные типы, которые используются в 99,999% проектов:</a:t>
            </a:r>
            <a:endParaRPr lang="en-US" sz="1600" b="1" dirty="0">
              <a:solidFill>
                <a:schemeClr val="dk1"/>
              </a:solidFill>
            </a:endParaRPr>
          </a:p>
          <a:p>
            <a:pPr lvl="0"/>
            <a:endParaRPr lang="ru-RU" sz="1600" b="1" dirty="0">
              <a:solidFill>
                <a:schemeClr val="dk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Числовые - 100, 500, 800.1530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Денежные - 100Р, 100 рублей 50 копеек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Символьные - ‘Иванов Иван’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Дата/время - ‘2022.08.08 14:54:00’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Логический - да/нет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FBEACB-81CA-4043-963C-6F8E59A7E919}"/>
              </a:ext>
            </a:extLst>
          </p:cNvPr>
          <p:cNvSpPr/>
          <p:nvPr/>
        </p:nvSpPr>
        <p:spPr>
          <a:xfrm>
            <a:off x="1689100" y="5089026"/>
            <a:ext cx="486099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u="sng" dirty="0">
                <a:solidFill>
                  <a:schemeClr val="hlink"/>
                </a:solidFill>
              </a:rPr>
              <a:t>https://postgrespro.ru/docs/postgresql/14/datatype</a:t>
            </a:r>
            <a:endParaRPr lang="ru-RU" sz="1600" dirty="0">
              <a:solidFill>
                <a:schemeClr val="dk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3765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3" name="Google Shape;183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6" name="Google Shape;186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" name="Google Shape;189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0" name="Google Shape;190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" name="Google Shape;191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2" name="Google Shape;192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ЧИСЛОВОЙ ТИП ДАННЫХ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689100" y="1275517"/>
            <a:ext cx="8445600" cy="451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https://postgrespro.ru/docs/postgresql/14/datatype-numeric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197" name="Google Shape;197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56936" y="2089556"/>
            <a:ext cx="8678127" cy="306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25;p11">
            <a:extLst>
              <a:ext uri="{FF2B5EF4-FFF2-40B4-BE49-F238E27FC236}">
                <a16:creationId xmlns:a16="http://schemas.microsoft.com/office/drawing/2014/main" id="{7CD5EBAA-DA2B-4743-BEC2-489141EA5817}"/>
              </a:ext>
            </a:extLst>
          </p:cNvPr>
          <p:cNvSpPr/>
          <p:nvPr/>
        </p:nvSpPr>
        <p:spPr>
          <a:xfrm>
            <a:off x="1756936" y="1961269"/>
            <a:ext cx="8889906" cy="3403557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5" name="Google Shape;205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08" name="Google Shape;208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1" name="Google Shape;211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2" name="Google Shape;212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3" name="Google Shape;213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4" name="Google Shape;214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>
            <a:spLocks noGrp="1"/>
          </p:cNvSpPr>
          <p:nvPr>
            <p:ph type="title"/>
          </p:nvPr>
        </p:nvSpPr>
        <p:spPr>
          <a:xfrm>
            <a:off x="1676043" y="345404"/>
            <a:ext cx="3997242" cy="518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SzPts val="3500"/>
              <a:buFont typeface="Arial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"/>
              </a:rPr>
              <a:t>ДЕНЕЖНЫЕ ТИПЫ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02BDEBA-6A3C-478D-936E-C9A1D831F63E}"/>
              </a:ext>
            </a:extLst>
          </p:cNvPr>
          <p:cNvSpPr/>
          <p:nvPr/>
        </p:nvSpPr>
        <p:spPr>
          <a:xfrm>
            <a:off x="1676044" y="3643817"/>
            <a:ext cx="549899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dk1"/>
                </a:solidFill>
              </a:rPr>
              <a:t>SHOW </a:t>
            </a:r>
            <a:r>
              <a:rPr lang="ru-RU" dirty="0" err="1">
                <a:solidFill>
                  <a:schemeClr val="dk1"/>
                </a:solidFill>
              </a:rPr>
              <a:t>lc_monetary</a:t>
            </a:r>
            <a:r>
              <a:rPr lang="ru-RU" dirty="0">
                <a:solidFill>
                  <a:schemeClr val="dk1"/>
                </a:solidFill>
              </a:rPr>
              <a:t> - текущие параметры </a:t>
            </a:r>
            <a:r>
              <a:rPr lang="ru-RU" dirty="0" err="1">
                <a:solidFill>
                  <a:schemeClr val="dk1"/>
                </a:solidFill>
              </a:rPr>
              <a:t>локали</a:t>
            </a:r>
            <a:endParaRPr lang="ru-RU" dirty="0">
              <a:solidFill>
                <a:schemeClr val="dk1"/>
              </a:solidFill>
            </a:endParaRPr>
          </a:p>
          <a:p>
            <a:pPr lvl="0">
              <a:spcBef>
                <a:spcPts val="600"/>
              </a:spcBef>
            </a:pPr>
            <a:r>
              <a:rPr lang="ru-RU" u="sng" dirty="0">
                <a:solidFill>
                  <a:schemeClr val="hlink"/>
                </a:solidFill>
                <a:hlinkClick r:id="rId10"/>
              </a:rPr>
              <a:t>https://postgrespro.ru/docs/postgresql/14/datatype-money</a:t>
            </a:r>
            <a:r>
              <a:rPr lang="ru-RU" dirty="0"/>
              <a:t> </a:t>
            </a:r>
            <a:endParaRPr lang="ru-RU" dirty="0">
              <a:solidFill>
                <a:schemeClr val="dk1"/>
              </a:solidFill>
            </a:endParaRPr>
          </a:p>
          <a:p>
            <a:pPr lvl="0">
              <a:spcBef>
                <a:spcPts val="600"/>
              </a:spcBef>
            </a:pPr>
            <a:r>
              <a:rPr lang="ru-RU" u="sng" dirty="0">
                <a:solidFill>
                  <a:schemeClr val="hlink"/>
                </a:solidFill>
                <a:hlinkClick r:id="rId11"/>
              </a:rPr>
              <a:t>https://habr.com/ru/company/tensor/blog/508038/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7A8B4-4A2A-4040-A1A7-3E257568FF58}"/>
              </a:ext>
            </a:extLst>
          </p:cNvPr>
          <p:cNvSpPr txBox="1"/>
          <p:nvPr/>
        </p:nvSpPr>
        <p:spPr>
          <a:xfrm>
            <a:off x="1676043" y="1038253"/>
            <a:ext cx="90765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b="1" dirty="0"/>
              <a:t>m</a:t>
            </a:r>
            <a:r>
              <a:rPr lang="ru-RU" sz="1600" b="1" dirty="0" err="1"/>
              <a:t>oney</a:t>
            </a:r>
            <a:endParaRPr lang="en-US" sz="1600" b="1" dirty="0"/>
          </a:p>
          <a:p>
            <a:pPr lvl="0"/>
            <a:endParaRPr lang="ru-RU" sz="1600" b="1" dirty="0"/>
          </a:p>
          <a:p>
            <a:pPr lvl="0"/>
            <a:r>
              <a:rPr lang="ru-RU" sz="1600" dirty="0"/>
              <a:t>Отличие американской системы от остального мира: в Америке считаем до 1/1000 доллара </a:t>
            </a:r>
          </a:p>
          <a:p>
            <a:pPr lvl="0"/>
            <a:r>
              <a:rPr lang="ru-RU" sz="1600" dirty="0"/>
              <a:t>в отличие от остального мира, где 1/100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D539AF-36E6-41F8-85D5-35138B0C40A8}"/>
              </a:ext>
            </a:extLst>
          </p:cNvPr>
          <p:cNvSpPr txBox="1"/>
          <p:nvPr/>
        </p:nvSpPr>
        <p:spPr>
          <a:xfrm>
            <a:off x="1676043" y="2805089"/>
            <a:ext cx="1368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600" dirty="0"/>
              <a:t>1.5-&gt;2	</a:t>
            </a:r>
          </a:p>
          <a:p>
            <a:pPr lvl="0"/>
            <a:r>
              <a:rPr lang="ru-RU" sz="1600" dirty="0"/>
              <a:t>2.5-&gt;2	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CAAB79-2CE6-4FD3-BB9E-2B79D5CC9405}"/>
              </a:ext>
            </a:extLst>
          </p:cNvPr>
          <p:cNvSpPr txBox="1"/>
          <p:nvPr/>
        </p:nvSpPr>
        <p:spPr>
          <a:xfrm>
            <a:off x="3116805" y="2805089"/>
            <a:ext cx="1308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1.5-&gt;2</a:t>
            </a:r>
          </a:p>
          <a:p>
            <a:r>
              <a:rPr lang="ru-RU" sz="1600" dirty="0"/>
              <a:t>2.5-&gt;3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BF278-E8EB-436A-A10A-57B6E3936C1A}"/>
              </a:ext>
            </a:extLst>
          </p:cNvPr>
          <p:cNvSpPr txBox="1"/>
          <p:nvPr/>
        </p:nvSpPr>
        <p:spPr>
          <a:xfrm>
            <a:off x="1676043" y="2310546"/>
            <a:ext cx="8044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ru-RU" sz="1600" dirty="0"/>
              <a:t>В Америке - округление к ближайшему четному, в остальном мире к ближайшему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06C41-0607-4773-9A39-BAAFA96E6BFE}"/>
              </a:ext>
            </a:extLst>
          </p:cNvPr>
          <p:cNvSpPr txBox="1"/>
          <p:nvPr/>
        </p:nvSpPr>
        <p:spPr>
          <a:xfrm>
            <a:off x="1676043" y="5819747"/>
            <a:ext cx="4424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ru-RU" dirty="0"/>
              <a:t>Посмотрим на практике, почему не REAL/DOUBLE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50D88580-197E-4AA9-AA47-57D68E1823A8}"/>
              </a:ext>
            </a:extLst>
          </p:cNvPr>
          <p:cNvGrpSpPr/>
          <p:nvPr/>
        </p:nvGrpSpPr>
        <p:grpSpPr>
          <a:xfrm>
            <a:off x="1774825" y="4856872"/>
            <a:ext cx="8497200" cy="717900"/>
            <a:chOff x="3881705" y="4731057"/>
            <a:chExt cx="8497200" cy="717900"/>
          </a:xfrm>
        </p:grpSpPr>
        <p:sp>
          <p:nvSpPr>
            <p:cNvPr id="27" name="Google Shape;372;p43">
              <a:extLst>
                <a:ext uri="{FF2B5EF4-FFF2-40B4-BE49-F238E27FC236}">
                  <a16:creationId xmlns:a16="http://schemas.microsoft.com/office/drawing/2014/main" id="{0884EA47-F834-4116-AAC6-73D6B99E6C21}"/>
                </a:ext>
              </a:extLst>
            </p:cNvPr>
            <p:cNvSpPr/>
            <p:nvPr/>
          </p:nvSpPr>
          <p:spPr>
            <a:xfrm>
              <a:off x="3881705" y="4731057"/>
              <a:ext cx="8497200" cy="717900"/>
            </a:xfrm>
            <a:prstGeom prst="roundRect">
              <a:avLst>
                <a:gd name="adj" fmla="val 16667"/>
              </a:avLst>
            </a:prstGeom>
            <a:solidFill>
              <a:srgbClr val="E5E0F6"/>
            </a:solidFill>
            <a:ln>
              <a:noFill/>
            </a:ln>
          </p:spPr>
          <p:txBody>
            <a:bodyPr spcFirstLastPara="1" wrap="square" lIns="684000" tIns="108000" rIns="180000" bIns="108000" anchor="ctr" anchorCtr="0">
              <a:noAutofit/>
            </a:bodyPr>
            <a:lstStyle/>
            <a:p>
              <a:pPr lvl="0"/>
              <a:r>
                <a:rPr lang="ru-RU" dirty="0"/>
                <a:t>Поэтому общая рекомендация использовать </a:t>
              </a:r>
              <a:r>
                <a:rPr lang="ru-RU" b="1" dirty="0">
                  <a:solidFill>
                    <a:srgbClr val="836ED3"/>
                  </a:solidFill>
                </a:rPr>
                <a:t>DECIMAL/NUMERIC !</a:t>
              </a:r>
            </a:p>
          </p:txBody>
        </p:sp>
        <p:pic>
          <p:nvPicPr>
            <p:cNvPr id="28" name="Google Shape;373;p43">
              <a:extLst>
                <a:ext uri="{FF2B5EF4-FFF2-40B4-BE49-F238E27FC236}">
                  <a16:creationId xmlns:a16="http://schemas.microsoft.com/office/drawing/2014/main" id="{13CD34D6-3D31-4615-84CE-3FD0E2C66EBC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004325" y="4831421"/>
              <a:ext cx="485372" cy="48537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" name="Google Shape;163;p7">
            <a:extLst>
              <a:ext uri="{FF2B5EF4-FFF2-40B4-BE49-F238E27FC236}">
                <a16:creationId xmlns:a16="http://schemas.microsoft.com/office/drawing/2014/main" id="{CAA47616-C799-474D-9493-59C1A5C59F1E}"/>
              </a:ext>
            </a:extLst>
          </p:cNvPr>
          <p:cNvCxnSpPr>
            <a:cxnSpLocks/>
          </p:cNvCxnSpPr>
          <p:nvPr/>
        </p:nvCxnSpPr>
        <p:spPr>
          <a:xfrm>
            <a:off x="1774825" y="1437176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45158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26" name="Google Shape;226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" name="Google Shape;228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29" name="Google Shape;229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2" name="Google Shape;232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33" name="Google Shape;233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4" name="Google Shape;234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35" name="Google Shape;235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СИМВОЛЬНЫЕ ТИПЫ ДАННЫХ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1689100" y="1897801"/>
            <a:ext cx="8445600" cy="494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https://postgrespro.ru/docs/postgresql/14/datatype-character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240" name="Google Shape;240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74825" y="2734571"/>
            <a:ext cx="769620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25;p11">
            <a:extLst>
              <a:ext uri="{FF2B5EF4-FFF2-40B4-BE49-F238E27FC236}">
                <a16:creationId xmlns:a16="http://schemas.microsoft.com/office/drawing/2014/main" id="{F45DF264-6A09-436E-B234-1710C4EEB0EE}"/>
              </a:ext>
            </a:extLst>
          </p:cNvPr>
          <p:cNvSpPr/>
          <p:nvPr/>
        </p:nvSpPr>
        <p:spPr>
          <a:xfrm>
            <a:off x="1689101" y="2575514"/>
            <a:ext cx="8889906" cy="1895187"/>
          </a:xfrm>
          <a:prstGeom prst="roundRect">
            <a:avLst>
              <a:gd name="adj" fmla="val 8577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225;p11">
            <a:extLst>
              <a:ext uri="{FF2B5EF4-FFF2-40B4-BE49-F238E27FC236}">
                <a16:creationId xmlns:a16="http://schemas.microsoft.com/office/drawing/2014/main" id="{2C194BBD-FA7F-4D77-903C-7035B5BE2452}"/>
              </a:ext>
            </a:extLst>
          </p:cNvPr>
          <p:cNvSpPr/>
          <p:nvPr/>
        </p:nvSpPr>
        <p:spPr>
          <a:xfrm>
            <a:off x="1689101" y="2115988"/>
            <a:ext cx="8889906" cy="3240509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7" name="Google Shape;247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48" name="Google Shape;248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" name="Google Shape;250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51" name="Google Shape;251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4" name="Google Shape;254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55" name="Google Shape;255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6" name="Google Shape;256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57" name="Google Shape;257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ТИПЫ ДАННЫХ ДАТА/ВРЕМЯ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1689100" y="1501503"/>
            <a:ext cx="8445600" cy="40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https://postgrespro.ru/docs/postgresql/14/datatype-datetime</a:t>
            </a:r>
            <a:r>
              <a:rPr lang="ru-RU" sz="1600" dirty="0">
                <a:solidFill>
                  <a:schemeClr val="dk1"/>
                </a:solidFill>
              </a:rPr>
              <a:t>  </a:t>
            </a: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262" name="Google Shape;262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54636" y="2296198"/>
            <a:ext cx="8482728" cy="283836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" name="Google Shape;269;p24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70" name="Google Shape;270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" name="Google Shape;272;p24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73" name="Google Shape;273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6" name="Google Shape;276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77" name="Google Shape;277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8" name="Google Shape;278;p24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79" name="Google Shape;279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ЛОГИЧЕСКИЙ ТИП ДАННЫХ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1689100" y="1501503"/>
            <a:ext cx="8445600" cy="534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https://postgrespro.ru/docs/postgresql/14/datatype-boolean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704BFE0-1AD3-4629-85C8-F59BF62B7088}"/>
              </a:ext>
            </a:extLst>
          </p:cNvPr>
          <p:cNvSpPr/>
          <p:nvPr/>
        </p:nvSpPr>
        <p:spPr>
          <a:xfrm>
            <a:off x="1689100" y="2973554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1600" b="1" dirty="0">
                <a:solidFill>
                  <a:schemeClr val="dk1"/>
                </a:solidFill>
              </a:rPr>
              <a:t>b</a:t>
            </a:r>
            <a:r>
              <a:rPr lang="ru-RU" sz="1600" b="1" dirty="0" err="1">
                <a:solidFill>
                  <a:schemeClr val="dk1"/>
                </a:solidFill>
              </a:rPr>
              <a:t>oolean</a:t>
            </a:r>
            <a:endParaRPr lang="ru-RU" sz="1600" b="1" dirty="0">
              <a:solidFill>
                <a:schemeClr val="dk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22DF4FB-FA6B-4799-8089-600345629F87}"/>
              </a:ext>
            </a:extLst>
          </p:cNvPr>
          <p:cNvSpPr/>
          <p:nvPr/>
        </p:nvSpPr>
        <p:spPr>
          <a:xfrm>
            <a:off x="1689100" y="3582789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ru-RU" sz="1600" dirty="0">
                <a:solidFill>
                  <a:schemeClr val="dk1"/>
                </a:solidFill>
              </a:rPr>
              <a:t>1 байт</a:t>
            </a:r>
          </a:p>
          <a:p>
            <a:pPr lvl="0"/>
            <a:r>
              <a:rPr lang="ru-RU" sz="1600" dirty="0">
                <a:solidFill>
                  <a:schemeClr val="dk1"/>
                </a:solidFill>
              </a:rPr>
              <a:t>состояние: истина (</a:t>
            </a:r>
            <a:r>
              <a:rPr lang="ru-RU" sz="1600" dirty="0" err="1">
                <a:solidFill>
                  <a:schemeClr val="dk1"/>
                </a:solidFill>
              </a:rPr>
              <a:t>true</a:t>
            </a:r>
            <a:r>
              <a:rPr lang="ru-RU" sz="1600" dirty="0">
                <a:solidFill>
                  <a:schemeClr val="dk1"/>
                </a:solidFill>
              </a:rPr>
              <a:t>, 1) или ложь (</a:t>
            </a:r>
            <a:r>
              <a:rPr lang="ru-RU" sz="1600" dirty="0" err="1">
                <a:solidFill>
                  <a:schemeClr val="dk1"/>
                </a:solidFill>
              </a:rPr>
              <a:t>false</a:t>
            </a:r>
            <a:r>
              <a:rPr lang="ru-RU" sz="1600" dirty="0">
                <a:solidFill>
                  <a:schemeClr val="dk1"/>
                </a:solidFill>
              </a:rPr>
              <a:t>, 0)</a:t>
            </a:r>
          </a:p>
        </p:txBody>
      </p: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8D6A926B-2D68-4C50-8377-650375A28784}"/>
              </a:ext>
            </a:extLst>
          </p:cNvPr>
          <p:cNvCxnSpPr>
            <a:cxnSpLocks/>
          </p:cNvCxnSpPr>
          <p:nvPr/>
        </p:nvCxnSpPr>
        <p:spPr>
          <a:xfrm>
            <a:off x="1774825" y="3432837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25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91" name="Google Shape;291;p25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5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25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94" name="Google Shape;294;p25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5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5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7" name="Google Shape;297;p25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98" name="Google Shape;298;p25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9" name="Google Shape;299;p25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10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00" name="Google Shape;300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/>
          <p:nvPr/>
        </p:nvSpPr>
        <p:spPr>
          <a:xfrm>
            <a:off x="1669078" y="345534"/>
            <a:ext cx="104829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НАИБОЛЕЕ ИСПОЛЬЗУЕМЫЕ ТИПЫ ДАННЫХ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B27C8B-B298-428E-88CD-FFE220D5AB0A}"/>
              </a:ext>
            </a:extLst>
          </p:cNvPr>
          <p:cNvSpPr txBox="1"/>
          <p:nvPr/>
        </p:nvSpPr>
        <p:spPr>
          <a:xfrm>
            <a:off x="1669078" y="2351259"/>
            <a:ext cx="3847528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Целое число - </a:t>
            </a:r>
            <a:r>
              <a:rPr lang="en-US" sz="1600" b="1" dirty="0">
                <a:solidFill>
                  <a:schemeClr val="dk1"/>
                </a:solidFill>
              </a:rPr>
              <a:t>integer </a:t>
            </a:r>
            <a:r>
              <a:rPr lang="en-US" sz="1600" dirty="0">
                <a:solidFill>
                  <a:schemeClr val="dk1"/>
                </a:solidFill>
              </a:rPr>
              <a:t>(</a:t>
            </a:r>
            <a:r>
              <a:rPr lang="ru-RU" sz="1600" dirty="0">
                <a:solidFill>
                  <a:schemeClr val="dk1"/>
                </a:solidFill>
              </a:rPr>
              <a:t>в т.ч. </a:t>
            </a:r>
            <a:r>
              <a:rPr lang="en-US" sz="1600" b="1" dirty="0">
                <a:solidFill>
                  <a:schemeClr val="dk1"/>
                </a:solidFill>
              </a:rPr>
              <a:t>serial</a:t>
            </a:r>
            <a:r>
              <a:rPr lang="en-US" sz="1600" dirty="0">
                <a:solidFill>
                  <a:schemeClr val="dk1"/>
                </a:solidFill>
              </a:rPr>
              <a:t>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Дата - </a:t>
            </a:r>
            <a:r>
              <a:rPr lang="en-US" sz="1600" b="1" dirty="0">
                <a:solidFill>
                  <a:schemeClr val="dk1"/>
                </a:solidFill>
              </a:rPr>
              <a:t>date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dk1"/>
                </a:solidFill>
              </a:rPr>
              <a:t>Дата+время</a:t>
            </a:r>
            <a:r>
              <a:rPr lang="ru-RU" sz="1600" dirty="0">
                <a:solidFill>
                  <a:schemeClr val="dk1"/>
                </a:solidFill>
              </a:rPr>
              <a:t> - </a:t>
            </a:r>
            <a:r>
              <a:rPr lang="en-US" sz="1600" b="1" dirty="0">
                <a:solidFill>
                  <a:schemeClr val="dk1"/>
                </a:solidFill>
              </a:rPr>
              <a:t>timestamp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Текст - </a:t>
            </a:r>
            <a:r>
              <a:rPr lang="en-US" sz="1600" b="1" dirty="0">
                <a:solidFill>
                  <a:schemeClr val="dk1"/>
                </a:solidFill>
              </a:rPr>
              <a:t>text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Деньги - </a:t>
            </a:r>
            <a:r>
              <a:rPr lang="en-US" sz="1600" b="1" dirty="0">
                <a:solidFill>
                  <a:schemeClr val="dk1"/>
                </a:solidFill>
              </a:rPr>
              <a:t>decimal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Логический - </a:t>
            </a:r>
            <a:r>
              <a:rPr lang="en-US" sz="1600" b="1" dirty="0" err="1">
                <a:solidFill>
                  <a:schemeClr val="dk1"/>
                </a:solidFill>
              </a:rPr>
              <a:t>boolean</a:t>
            </a:r>
            <a:endParaRPr lang="en-US" sz="1600" b="1" dirty="0">
              <a:solidFill>
                <a:schemeClr val="dk1"/>
              </a:solidFill>
            </a:endParaRP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67BA490F-590E-46DE-B400-A593AA30936C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C0C4424A-787D-409E-80BC-7A558E1DD3F0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p26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12" name="Google Shape;312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4" name="Google Shape;314;p26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15" name="Google Shape;315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8" name="Google Shape;318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19" name="Google Shape;319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0" name="Google Shape;320;p26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11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21" name="Google Shape;321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НОВЫЙ ТИП </a:t>
            </a: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JSON</a:t>
            </a:r>
            <a:endParaRPr lang="en-US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1F55A8-CFD2-41C7-822C-15B37CDE5B9B}"/>
              </a:ext>
            </a:extLst>
          </p:cNvPr>
          <p:cNvSpPr txBox="1"/>
          <p:nvPr/>
        </p:nvSpPr>
        <p:spPr>
          <a:xfrm>
            <a:off x="1694582" y="2098490"/>
            <a:ext cx="8875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1600" b="1" dirty="0" err="1">
                <a:solidFill>
                  <a:schemeClr val="dk1"/>
                </a:solidFill>
              </a:rPr>
              <a:t>json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dirty="0">
                <a:solidFill>
                  <a:schemeClr val="dk1"/>
                </a:solidFill>
              </a:rPr>
              <a:t>и </a:t>
            </a:r>
            <a:r>
              <a:rPr lang="ru-RU" sz="1600" b="1" dirty="0" err="1">
                <a:solidFill>
                  <a:schemeClr val="dk1"/>
                </a:solidFill>
              </a:rPr>
              <a:t>jsonb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dirty="0">
                <a:solidFill>
                  <a:schemeClr val="dk1"/>
                </a:solidFill>
              </a:rPr>
              <a:t>принимают на вход </a:t>
            </a:r>
            <a:r>
              <a:rPr lang="ru-RU" sz="1600" b="1" dirty="0">
                <a:solidFill>
                  <a:srgbClr val="138AFB"/>
                </a:solidFill>
              </a:rPr>
              <a:t>почти</a:t>
            </a:r>
            <a:r>
              <a:rPr lang="ru-RU" sz="1600" dirty="0">
                <a:solidFill>
                  <a:schemeClr val="dk1"/>
                </a:solidFill>
              </a:rPr>
              <a:t> одинаковые наборы значений,  отличаются с точки зрения эффективности.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92317-8D80-4751-8C49-EF2B7D8290FE}"/>
              </a:ext>
            </a:extLst>
          </p:cNvPr>
          <p:cNvSpPr txBox="1"/>
          <p:nvPr/>
        </p:nvSpPr>
        <p:spPr>
          <a:xfrm>
            <a:off x="1694582" y="1452581"/>
            <a:ext cx="5195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u="sng" dirty="0">
                <a:solidFill>
                  <a:schemeClr val="hlink"/>
                </a:solidFill>
                <a:hlinkClick r:id="rId10"/>
              </a:rPr>
              <a:t>https://postgrespro.ru/docs/postgresql/14/datatype-json</a:t>
            </a:r>
            <a:endParaRPr lang="en-US" sz="1600" dirty="0">
              <a:solidFill>
                <a:schemeClr val="dk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EFA9D4-02EC-4362-AFE0-59DBAC436674}"/>
              </a:ext>
            </a:extLst>
          </p:cNvPr>
          <p:cNvSpPr txBox="1"/>
          <p:nvPr/>
        </p:nvSpPr>
        <p:spPr>
          <a:xfrm>
            <a:off x="1567768" y="3058222"/>
            <a:ext cx="88758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42900" algn="just">
              <a:buClr>
                <a:schemeClr val="dk1"/>
              </a:buClr>
              <a:buSzPts val="1800"/>
              <a:buChar char="➔"/>
            </a:pPr>
            <a:r>
              <a:rPr lang="ru-RU" sz="1600" b="1" dirty="0" err="1">
                <a:solidFill>
                  <a:schemeClr val="dk1"/>
                </a:solidFill>
              </a:rPr>
              <a:t>json</a:t>
            </a:r>
            <a:r>
              <a:rPr lang="ru-RU" sz="1600" dirty="0">
                <a:solidFill>
                  <a:schemeClr val="dk1"/>
                </a:solidFill>
              </a:rPr>
              <a:t> сохраняет точную копию введённого текста, которую функции обработки должны разбирать заново при каждом выполнении запроса, </a:t>
            </a:r>
          </a:p>
          <a:p>
            <a:pPr marL="457200" lvl="0" indent="-342900" algn="just">
              <a:buClr>
                <a:schemeClr val="dk1"/>
              </a:buClr>
              <a:buSzPts val="1800"/>
              <a:buChar char="➔"/>
            </a:pPr>
            <a:endParaRPr lang="ru-RU" sz="1600" dirty="0">
              <a:solidFill>
                <a:schemeClr val="dk1"/>
              </a:solidFill>
            </a:endParaRPr>
          </a:p>
          <a:p>
            <a:pPr marL="457200" indent="-342900" algn="just">
              <a:buClr>
                <a:schemeClr val="dk1"/>
              </a:buClr>
              <a:buSzPts val="1800"/>
              <a:buFont typeface="Arial"/>
              <a:buChar char="➔"/>
            </a:pPr>
            <a:r>
              <a:rPr lang="ru-RU" sz="1600" b="1" dirty="0" err="1">
                <a:solidFill>
                  <a:schemeClr val="dk1"/>
                </a:solidFill>
              </a:rPr>
              <a:t>jsonb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254B2A8-50B8-4502-A592-48F78B7BD13E}"/>
              </a:ext>
            </a:extLst>
          </p:cNvPr>
          <p:cNvSpPr/>
          <p:nvPr/>
        </p:nvSpPr>
        <p:spPr>
          <a:xfrm>
            <a:off x="1868115" y="4125294"/>
            <a:ext cx="8830637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 indent="-288000" algn="just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сохраняются в разобранном двоичном формате, что несколько замедляет ввод из-за преобразования, но значительно ускоряет обработку, не требуя многократного разбора текста. </a:t>
            </a:r>
          </a:p>
          <a:p>
            <a:pPr marL="457200" lvl="2" indent="-288000" algn="just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поддерживает индексацию. </a:t>
            </a:r>
          </a:p>
        </p:txBody>
      </p:sp>
      <p:cxnSp>
        <p:nvCxnSpPr>
          <p:cNvPr id="22" name="Google Shape;163;p7">
            <a:extLst>
              <a:ext uri="{FF2B5EF4-FFF2-40B4-BE49-F238E27FC236}">
                <a16:creationId xmlns:a16="http://schemas.microsoft.com/office/drawing/2014/main" id="{826154B0-FC1D-4E65-91B9-06B9FBAE5130}"/>
              </a:ext>
            </a:extLst>
          </p:cNvPr>
          <p:cNvCxnSpPr/>
          <p:nvPr/>
        </p:nvCxnSpPr>
        <p:spPr>
          <a:xfrm>
            <a:off x="1774825" y="2878857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27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33" name="Google Shape;333;p2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2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5" name="Google Shape;335;p27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36" name="Google Shape;336;p2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2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2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9" name="Google Shape;339;p2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40" name="Google Shape;340;p2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1" name="Google Shape;341;p27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12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42" name="Google Shape;342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7"/>
          <p:cNvSpPr txBox="1">
            <a:spLocks noGrp="1"/>
          </p:cNvSpPr>
          <p:nvPr>
            <p:ph type="title"/>
          </p:nvPr>
        </p:nvSpPr>
        <p:spPr>
          <a:xfrm>
            <a:off x="1662695" y="334680"/>
            <a:ext cx="9062100" cy="495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ts val="3200"/>
              <a:buFont typeface="Arial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"/>
              </a:rPr>
              <a:t>ПРЕОБРАЗОВАНИЕ ТИПОВ</a:t>
            </a:r>
          </a:p>
        </p:txBody>
      </p:sp>
      <p:sp>
        <p:nvSpPr>
          <p:cNvPr id="346" name="Google Shape;346;p27"/>
          <p:cNvSpPr txBox="1">
            <a:spLocks noGrp="1"/>
          </p:cNvSpPr>
          <p:nvPr>
            <p:ph type="body" idx="1"/>
          </p:nvPr>
        </p:nvSpPr>
        <p:spPr>
          <a:xfrm>
            <a:off x="1724465" y="2346267"/>
            <a:ext cx="9299100" cy="216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123::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123::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123::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numeric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(17,2);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https://postgrespro.ru/docs/postgresql/14/typeconv</a:t>
            </a:r>
            <a:r>
              <a:rPr lang="ru-RU" sz="160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1600" dirty="0"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Функции для работы с типами данных: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https://postgrespro.ru/docs/postgresql/14/functions</a:t>
            </a:r>
            <a:endParaRPr sz="1600" dirty="0"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7F2034CD-5601-4267-828F-2A8F075A0321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829677B5-CCFF-4E34-BF62-9815ECB6777F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8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28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354" name="Google Shape;354;p28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355" name="Google Shape;355;p28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28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28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28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28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28"/>
            <p:cNvSpPr txBox="1"/>
            <p:nvPr/>
          </p:nvSpPr>
          <p:spPr>
            <a:xfrm>
              <a:off x="3475466" y="5742282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68" name="Google Shape;368;p29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369" name="Google Shape;369;p2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2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1" name="Google Shape;371;p29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372" name="Google Shape;372;p2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2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2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5" name="Google Shape;375;p2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76" name="Google Shape;376;p2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7" name="Google Shape;377;p29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78" name="Google Shape;378;p2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08;p53">
            <a:extLst>
              <a:ext uri="{FF2B5EF4-FFF2-40B4-BE49-F238E27FC236}">
                <a16:creationId xmlns:a16="http://schemas.microsoft.com/office/drawing/2014/main" id="{B506DED5-CD7F-4458-9C49-85FB7EB01478}"/>
              </a:ext>
            </a:extLst>
          </p:cNvPr>
          <p:cNvSpPr/>
          <p:nvPr/>
        </p:nvSpPr>
        <p:spPr>
          <a:xfrm>
            <a:off x="1774824" y="2453250"/>
            <a:ext cx="8929409" cy="1951500"/>
          </a:xfrm>
          <a:prstGeom prst="roundRect">
            <a:avLst>
              <a:gd name="adj" fmla="val 5760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0C492"/>
                </a:solidFill>
                <a:sym typeface="Arial"/>
              </a:rPr>
              <a:t>01</a:t>
            </a:r>
            <a:endParaRPr lang="ru-RU" sz="1500" dirty="0">
              <a:solidFill>
                <a:srgbClr val="00C492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endParaRPr lang="ru-RU" sz="1500" dirty="0">
              <a:solidFill>
                <a:schemeClr val="dk1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Поняли, какие существуют типы данных и в каком случае правильно применять тот или иной тип данных, в т.ч. JSONB, денежные типы</a:t>
            </a:r>
          </a:p>
        </p:txBody>
      </p:sp>
      <p:pic>
        <p:nvPicPr>
          <p:cNvPr id="17" name="Google Shape;510;p53">
            <a:extLst>
              <a:ext uri="{FF2B5EF4-FFF2-40B4-BE49-F238E27FC236}">
                <a16:creationId xmlns:a16="http://schemas.microsoft.com/office/drawing/2014/main" id="{72D59045-D257-4A8C-BFC8-BAC27499806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19895" y="261874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0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 ДЛЯ САМОПРОВЕРКИ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87" name="Google Shape;387;p3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88" name="Google Shape;388;p3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3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0" name="Google Shape;390;p3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91" name="Google Shape;391;p3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3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3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4" name="Google Shape;394;p3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95" name="Google Shape;395;p3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6" name="Google Shape;396;p3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97" name="Google Shape;397;p3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A1D6A0-D985-4E2D-9702-7E60B88740AE}"/>
              </a:ext>
            </a:extLst>
          </p:cNvPr>
          <p:cNvSpPr txBox="1"/>
          <p:nvPr/>
        </p:nvSpPr>
        <p:spPr>
          <a:xfrm>
            <a:off x="1684370" y="1348239"/>
            <a:ext cx="71769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проверить, как научились выбирать правильные типы данных для полей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DC8E6-C818-458F-BFB8-323BF3B99699}"/>
              </a:ext>
            </a:extLst>
          </p:cNvPr>
          <p:cNvSpPr txBox="1"/>
          <p:nvPr/>
        </p:nvSpPr>
        <p:spPr>
          <a:xfrm>
            <a:off x="1684370" y="2236118"/>
            <a:ext cx="7220246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Зайти под пользователем </a:t>
            </a:r>
            <a:r>
              <a:rPr lang="ru-RU" sz="1600" dirty="0" err="1">
                <a:solidFill>
                  <a:schemeClr val="dk1"/>
                </a:solidFill>
              </a:rPr>
              <a:t>postgres</a:t>
            </a:r>
            <a:r>
              <a:rPr lang="ru-RU" sz="1600" dirty="0">
                <a:solidFill>
                  <a:schemeClr val="dk1"/>
                </a:solidFill>
              </a:rPr>
              <a:t> в </a:t>
            </a:r>
            <a:r>
              <a:rPr lang="ru-RU" sz="1600" dirty="0" err="1">
                <a:solidFill>
                  <a:schemeClr val="dk1"/>
                </a:solidFill>
              </a:rPr>
              <a:t>psql</a:t>
            </a:r>
            <a:endParaRPr lang="ru-RU" sz="1600" dirty="0">
              <a:solidFill>
                <a:schemeClr val="dk1"/>
              </a:solidFill>
            </a:endParaRPr>
          </a:p>
          <a:p>
            <a:pPr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Создать таблицу </a:t>
            </a:r>
            <a:r>
              <a:rPr lang="ru-RU" sz="1600" dirty="0" err="1">
                <a:solidFill>
                  <a:schemeClr val="dk1"/>
                </a:solidFill>
              </a:rPr>
              <a:t>accounts</a:t>
            </a:r>
            <a:r>
              <a:rPr lang="ru-RU" sz="1600" dirty="0">
                <a:solidFill>
                  <a:schemeClr val="dk1"/>
                </a:solidFill>
              </a:rPr>
              <a:t> с полями (выберите корректный тип сами):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4EF84-CA79-4C8B-831A-28EC26DCD459}"/>
              </a:ext>
            </a:extLst>
          </p:cNvPr>
          <p:cNvSpPr txBox="1"/>
          <p:nvPr/>
        </p:nvSpPr>
        <p:spPr>
          <a:xfrm>
            <a:off x="2055732" y="3708851"/>
            <a:ext cx="267893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 indent="-342900">
              <a:buClr>
                <a:schemeClr val="dk1"/>
              </a:buClr>
              <a:buSzPct val="100000"/>
              <a:buAutoNum type="alphaLcPeriod"/>
            </a:pPr>
            <a:r>
              <a:rPr lang="ru-RU" sz="1300" dirty="0">
                <a:solidFill>
                  <a:schemeClr val="dk1"/>
                </a:solidFill>
              </a:rPr>
              <a:t>счетчик с </a:t>
            </a:r>
            <a:r>
              <a:rPr lang="ru-RU" sz="1300" dirty="0" err="1">
                <a:solidFill>
                  <a:schemeClr val="dk1"/>
                </a:solidFill>
              </a:rPr>
              <a:t>автоувеличением</a:t>
            </a:r>
            <a:endParaRPr lang="ru-RU" sz="1300" dirty="0">
              <a:solidFill>
                <a:schemeClr val="dk1"/>
              </a:solidFill>
            </a:endParaRPr>
          </a:p>
          <a:p>
            <a:pPr lvl="1" indent="-342900">
              <a:buClr>
                <a:schemeClr val="dk1"/>
              </a:buClr>
              <a:buSzPct val="100000"/>
              <a:buAutoNum type="alphaLcPeriod"/>
            </a:pPr>
            <a:r>
              <a:rPr lang="ru-RU" sz="1300" dirty="0">
                <a:solidFill>
                  <a:schemeClr val="dk1"/>
                </a:solidFill>
              </a:rPr>
              <a:t>фамилия и инициалы</a:t>
            </a:r>
          </a:p>
          <a:p>
            <a:pPr lvl="1" indent="-342900">
              <a:buClr>
                <a:schemeClr val="dk1"/>
              </a:buClr>
              <a:buSzPct val="100000"/>
              <a:buAutoNum type="alphaLcPeriod"/>
            </a:pPr>
            <a:r>
              <a:rPr lang="ru-RU" sz="1300" dirty="0">
                <a:solidFill>
                  <a:schemeClr val="dk1"/>
                </a:solidFill>
              </a:rPr>
              <a:t>дата создания</a:t>
            </a:r>
          </a:p>
          <a:p>
            <a:pPr lvl="1" indent="-342900">
              <a:buClr>
                <a:schemeClr val="dk1"/>
              </a:buClr>
              <a:buSzPct val="100000"/>
              <a:buAutoNum type="alphaLcPeriod"/>
            </a:pPr>
            <a:r>
              <a:rPr lang="ru-RU" sz="1300" dirty="0">
                <a:solidFill>
                  <a:schemeClr val="dk1"/>
                </a:solidFill>
              </a:rPr>
              <a:t>количество денег на счете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8BEDAC-1A09-412A-9255-CB4CBCF4E44A}"/>
              </a:ext>
            </a:extLst>
          </p:cNvPr>
          <p:cNvSpPr txBox="1"/>
          <p:nvPr/>
        </p:nvSpPr>
        <p:spPr>
          <a:xfrm>
            <a:off x="1684370" y="4843031"/>
            <a:ext cx="4591321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 startAt="3"/>
            </a:pPr>
            <a:r>
              <a:rPr lang="ru-RU" sz="1600" dirty="0">
                <a:solidFill>
                  <a:schemeClr val="dk1"/>
                </a:solidFill>
              </a:rPr>
              <a:t>Посмотреть структуру созданной таблицы</a:t>
            </a:r>
          </a:p>
          <a:p>
            <a:pPr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 startAt="3"/>
            </a:pPr>
            <a:r>
              <a:rPr lang="ru-RU" sz="1600" dirty="0">
                <a:solidFill>
                  <a:schemeClr val="dk1"/>
                </a:solidFill>
              </a:rPr>
              <a:t>Эталонное решение приложено к уроку</a:t>
            </a:r>
          </a:p>
        </p:txBody>
      </p:sp>
      <p:cxnSp>
        <p:nvCxnSpPr>
          <p:cNvPr id="21" name="Google Shape;163;p7">
            <a:extLst>
              <a:ext uri="{FF2B5EF4-FFF2-40B4-BE49-F238E27FC236}">
                <a16:creationId xmlns:a16="http://schemas.microsoft.com/office/drawing/2014/main" id="{786824F8-9857-42CD-82BA-70CD1F20C913}"/>
              </a:ext>
            </a:extLst>
          </p:cNvPr>
          <p:cNvCxnSpPr/>
          <p:nvPr/>
        </p:nvCxnSpPr>
        <p:spPr>
          <a:xfrm>
            <a:off x="1774825" y="2097946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E2632A-6980-4E73-8D07-474F980E07A7}"/>
              </a:ext>
            </a:extLst>
          </p:cNvPr>
          <p:cNvSpPr/>
          <p:nvPr/>
        </p:nvSpPr>
        <p:spPr>
          <a:xfrm>
            <a:off x="1684370" y="5773558"/>
            <a:ext cx="2031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5578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1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5" name="Google Shape;405;p31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1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1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1"/>
          <p:cNvSpPr txBox="1"/>
          <p:nvPr/>
        </p:nvSpPr>
        <p:spPr>
          <a:xfrm>
            <a:off x="1721050" y="3429000"/>
            <a:ext cx="7480200" cy="64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600" dirty="0">
                <a:solidFill>
                  <a:schemeClr val="lt1"/>
                </a:solidFill>
              </a:rPr>
              <a:t>рассмотрим тему</a:t>
            </a:r>
            <a:r>
              <a:rPr lang="ru-RU" sz="1600" i="0" u="none" strike="noStrike" cap="none" dirty="0">
                <a:solidFill>
                  <a:schemeClr val="lt1"/>
                </a:solidFill>
              </a:rPr>
              <a:t>:</a:t>
            </a:r>
            <a:endParaRPr sz="1600" dirty="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lt1"/>
                </a:solidFill>
              </a:rPr>
              <a:t>Нормализация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409" name="Google Shape;409;p31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1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1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2" name="Google Shape;412;p31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413" name="Google Shape;413;p31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1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415" name="Google Shape;415;p31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1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408;p31">
            <a:extLst>
              <a:ext uri="{FF2B5EF4-FFF2-40B4-BE49-F238E27FC236}">
                <a16:creationId xmlns:a16="http://schemas.microsoft.com/office/drawing/2014/main" id="{7FAC7A39-D5F0-4DE1-98C0-E1F6C655E65E}"/>
              </a:ext>
            </a:extLst>
          </p:cNvPr>
          <p:cNvSpPr txBox="1"/>
          <p:nvPr/>
        </p:nvSpPr>
        <p:spPr>
          <a:xfrm>
            <a:off x="1721050" y="2722653"/>
            <a:ext cx="7480200" cy="70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9pPr>
          </a:lstStyle>
          <a:p>
            <a:r>
              <a:rPr lang="ru-RU" dirty="0"/>
              <a:t>СПАСИБО!</a:t>
            </a: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624</Words>
  <Application>Microsoft Office PowerPoint</Application>
  <PresentationFormat>Широкоэкранный</PresentationFormat>
  <Paragraphs>139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Helvetica Neue</vt:lpstr>
      <vt:lpstr>Open Sans</vt:lpstr>
      <vt:lpstr>Proxima Nova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ДЕНЕЖНЫЕ ТИПЫ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ПРЕОБРАЗОВАНИЕ ТИПОВ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Бондарь Илья Викторович</cp:lastModifiedBy>
  <cp:revision>19</cp:revision>
  <dcterms:modified xsi:type="dcterms:W3CDTF">2026-01-02T10:17:08Z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BE5955D1-A288-4956-AA51-1B8B262AD5D3</vt:lpwstr>
  </property>
  <property fmtid="{D5CDD505-2E9C-101B-9397-08002B2CF9AE}" pid="3" name="ArticulatePath">
    <vt:lpwstr>22 Типы данных</vt:lpwstr>
  </property>
</Properties>
</file>